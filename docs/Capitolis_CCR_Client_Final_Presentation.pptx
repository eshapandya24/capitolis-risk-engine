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Relative standard error of PFE99 falls as 1/sqrt(N)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Rel. SE of PFE99 (%)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1,000</c:v>
                </c:pt>
                <c:pt idx="1">
                  <c:v>5,000</c:v>
                </c:pt>
                <c:pt idx="2">
                  <c:v>10,000</c:v>
                </c:pt>
                <c:pt idx="3">
                  <c:v>20,000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0.29</c:v>
                </c:pt>
                <c:pt idx="2">
                  <c:v>0.21</c:v>
                </c:pt>
                <c:pt idx="3">
                  <c:v>0.09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(USD M)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Earlier version</c:v>
                </c:pt>
                <c:pt idx="1">
                  <c:v>+USDJPY drift fix</c:v>
                </c:pt>
                <c:pt idx="2">
                  <c:v>+vol fit &amp; correl.</c:v>
                </c:pt>
                <c:pt idx="3">
                  <c:v>+Bloomberg splice</c:v>
                </c:pt>
                <c:pt idx="4">
                  <c:v>+JPY HW factor (final)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45.7</c:v>
                </c:pt>
                <c:pt idx="1">
                  <c:v>47.8</c:v>
                </c:pt>
                <c:pt idx="2">
                  <c:v>52.7</c:v>
                </c:pt>
                <c:pt idx="3">
                  <c:v>52.1</c:v>
                </c:pt>
                <c:pt idx="4">
                  <c:v>51.5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Portfolio MPE99 % change per perturbation (2,000 scenarios)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change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+0;-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G2++ vs HW1F</c:v>
                </c:pt>
                <c:pt idx="1">
                  <c:v>USD mean rev. x3</c:v>
                </c:pt>
                <c:pt idx="2">
                  <c:v>USD rate sigma x1.25</c:v>
                </c:pt>
                <c:pt idx="3">
                  <c:v>Equity/FX vols x1.25</c:v>
                </c:pt>
                <c:pt idx="4">
                  <c:v>Equity correl. +30% to 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</c:v>
                </c:pt>
                <c:pt idx="1">
                  <c:v>-5</c:v>
                </c:pt>
                <c:pt idx="2">
                  <c:v>9</c:v>
                </c:pt>
                <c:pt idx="3">
                  <c:v>19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built, validated and stress-tested the full CCR engine the brief asked for; headline portfolio MPE99 is $51.0M, concentrated in the first four months.</a:t>
            </a:r>
          </a:p>
          <a:p/>
          <a:p>
            <a:r>
              <a:t>- Peak EE $11.6M, peak median PFE $8.2M, MPE99 $51.0M -- all on the brief's 10-day close-out definition</a:t>
            </a:r>
          </a:p>
          <a:p>
            <a:r>
              <a:t>- CVA $11.7k (close-out) / $247k (uncollateralized); SA-CVA capital $0.10M / $2.23M; 142 automated tests pass</a:t>
            </a:r>
          </a:p>
          <a:p>
            <a:r>
              <a:t>- One trade (BF_0003, $500M bond forward) dominates concentration -- CPTY_C is 96% of today's exposure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book before anything else -- every number in this deck traces back to these 16 rows.</a:t>
            </a:r>
          </a:p>
          <a:p/>
          <a:p>
            <a:r>
              <a:t>- BF_0003 ($121.3M NPV) is more than 20x the next-largest position -- this single trade is why CPTY_C dominates concentration throughout the deck</a:t>
            </a:r>
          </a:p>
          <a:p>
            <a:r>
              <a:t>- 8 Equity TRS, 4 Bond Forwards, 4 Bond TRS; maturities cluster in late 2026, with BTRS_0001 and EQTRS_0008 running into 2027/2028</a:t>
            </a:r>
          </a:p>
          <a:p>
            <a:r>
              <a:t>- This table is Section 2.1 of the report -- supplied by Capitolis in trade_data/, unmodified by us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Set scope and agenda; this is a readout, not a first look -- we move quickly through concepts the audience already knows.</a:t>
            </a:r>
          </a:p>
          <a:p/>
          <a:p>
            <a:r>
              <a:t>- Book: 8 Equity TRS, 4 Bond Forwards, 4 Bond TRS across CPTY_A/B/C</a:t>
            </a:r>
          </a:p>
          <a:p>
            <a:r>
              <a:t>- Agenda mirrors the brief's own structure: data, pipeline, models, trade-offs, feedback, results, conclusions</a:t>
            </a:r>
          </a:p>
          <a:p>
            <a:r>
              <a:t>- This is the final readout after ~7 weeks and two rounds of feedback -- not an introduction to the concepts</a:t>
            </a:r>
          </a:p>
          <a:p/>
          <a:p>
            <a:r>
              <a:t>TIME: ~1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the brief and our delivered scope.</a:t>
            </a:r>
          </a:p>
          <a:p/>
          <a:p>
            <a:r>
              <a:t>- Two deliverables: engine codebase + technical report</a:t>
            </a:r>
          </a:p>
          <a:p>
            <a:r>
              <a:t>- Two extra-credit items flagged at kickoff: xVA, risky bonds + CDS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brief's own assumptions exactly as given, because every modelling choice downstream traces back to them.</a:t>
            </a:r>
          </a:p>
          <a:p/>
          <a:p>
            <a:r>
              <a:t>- Exposure = max(V(t+10bd) - V(t-1bd), 0): variation margin is the prior-day NPV, no initial margin</a:t>
            </a:r>
          </a:p>
          <a:p>
            <a:r>
              <a:t>- Capitolis is strictly the seller: falling market values increase counterparty exposure to us</a:t>
            </a:r>
          </a:p>
          <a:p>
            <a:r>
              <a:t>- Scenario count is our choice but must evidence convergence -- this governs our N=1k/5k/10k decision later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brief's own checklist against our delivery, ending on the two extra-credit items both being complete.</a:t>
            </a:r>
          </a:p>
          <a:p/>
          <a:p>
            <a:r>
              <a:t>- Every core objective delivered; both extra-credit items (xVA, risky bonds) delivered despite no CDS data being obtainable</a:t>
            </a:r>
          </a:p>
          <a:p>
            <a:r>
              <a:t>- SA-CCR and SA-CVA were not explicitly asked for by name but follow directly from the xVA extra-credit ask</a:t>
            </a:r>
          </a:p>
          <a:p>
            <a:r>
              <a:t>- This mapping is why we can say nothing in the plan was left undone -- what remains is data Capitolis holds, not engineering (Section 15)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data.</a:t>
            </a:r>
          </a:p>
          <a:p/>
          <a:p>
            <a:r>
              <a:t>- Real data wherever verifiable; documented proxy where not</a:t>
            </a:r>
          </a:p>
          <a:p>
            <a:r>
              <a:t>- Two real bugs were found and fixed via cross-checks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data table left to right: live feeds for the backbone, licensed snapshots for the long end and JPY, public series for validation and backtesting.</a:t>
            </a:r>
          </a:p>
          <a:p/>
          <a:p>
            <a:r>
              <a:t>- USD curve bootstrapped from 33 live CME SOFR futures (Databento), cross-checked against Treasury.gov</a:t>
            </a:r>
          </a:p>
          <a:p>
            <a:r>
              <a:t>- Licensed Bloomberg data used only for derived numbers (curve splice, swaption-implied mean reversion) -- never redistributed raw</a:t>
            </a:r>
          </a:p>
          <a:p>
            <a:r>
              <a:t>- JPY OIS history (35 tenors, since 2011) provided by the project team is the most complete JPY source and drives the JPY factor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builds credibility: we show the actual process of catching errors, not just the final clean numbers.</a:t>
            </a:r>
          </a:p>
          <a:p/>
          <a:p>
            <a:r>
              <a:t>- The flat long-end extrapolation understated BF_0003 (the $500M 2049 bond forward) by about 16% -- found by repricing on Bloomberg's own curve</a:t>
            </a:r>
          </a:p>
          <a:p>
            <a:r>
              <a:t>- USDJPY drift sign error found by deriving drifts from the martingale condition, not by chance -- the earlier martingale test only covered 6 high-vol names</a:t>
            </a:r>
          </a:p>
          <a:p>
            <a:r>
              <a:t>- 13 total defects logged and fixed in Section 12 of the report; every one was caught by an independent cross-check, not assumed away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curve-construction process -- this curve discounts every trade and drives the Hull-White fit.</a:t>
            </a:r>
          </a:p>
          <a:p/>
          <a:p>
            <a:r>
              <a:t>- Each 3-month SOFR future gives an implied forward rate for its reference quarter; chaining consecutive quarters multiplies discount factors</a:t>
            </a:r>
          </a:p>
          <a:p>
            <a:r>
              <a:t>- Futures end at about 6.5 years; beyond that the curve follows the forward structure of Bloomberg's own zero curve, joined continuously -- not flat extrapolation</a:t>
            </a:r>
          </a:p>
          <a:p>
            <a:r>
              <a:t>- The splice matters in dollars: BF_0003's NPV moves from $101.4M (flat) to $121.3M (spliced), within 0.4% of repricing on Bloomberg's own curve directly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Volatility is the key diffusion input for every risk factor; show both the equity cross-section and the rate-vol fitting decision.</a:t>
            </a:r>
          </a:p>
          <a:p/>
          <a:p>
            <a:r>
              <a:t>- 37 equities span an order of magnitude in realised vol (a handful of names at 50-76%) -- these dominate tail exposure wherever they appear</a:t>
            </a:r>
          </a:p>
          <a:p>
            <a:r>
              <a:t>- USD Hull-White sigma is fitted to realised 2y-30y Treasury yield vol (96bp), not the overnight SOFR fixing (63bp) -- the overnight rate moves in discrete Fed-date steps and says little about the long end the book actually depends on</a:t>
            </a:r>
          </a:p>
          <a:p>
            <a:r>
              <a:t>- This fix (Section 3.2) was itself one of the defects corrected: the original overnight-SOFR calibration understated 10-day 20y-yield moves (11bp modelled vs 15bp realised)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Explain how the correlation matrix was actually built, including the cross-market calendar-join subtlety.</a:t>
            </a:r>
          </a:p>
          <a:p/>
          <a:p>
            <a:r>
              <a:t>- US and Tokyo trade on different calendars, so series are joined by calendar date, not timestamp -- an earlier version joined by timestamp and silently emptied ~70% of the table (defect #4)</a:t>
            </a:r>
          </a:p>
          <a:p>
            <a:r>
              <a:t>- 741 pairwise correlations center on 0.14 -- a broad positive market block, not a few isolated pairs</a:t>
            </a:r>
          </a:p>
          <a:p>
            <a:r>
              <a:t>- The USD rate row uses 10-year Treasury yield changes, not the overnight SOFR fixing, because the fixing moves in Fed-date steps and correlates with nothing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single consolidated slide of every number in the engine that is an assumption, not a measurement -- full transparency in one place.</a:t>
            </a:r>
          </a:p>
          <a:p/>
          <a:p>
            <a:r>
              <a:t>- None of these are hidden inside a formula -- each is named here and its sensitivity is shown somewhere else in this deck</a:t>
            </a:r>
          </a:p>
          <a:p>
            <a:r>
              <a:t>- The two biggest-impact assumptions are the counterparty credit rating (drives every CVA/SA-CVA number) and whether the book is margined at all (drives the choice of exposure convention)</a:t>
            </a:r>
          </a:p>
          <a:p>
            <a:r>
              <a:t>- Every other input in the engine -- curves, vols, correlations, trade terms -- is measured from real data, not assumed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pipeline.</a:t>
            </a:r>
          </a:p>
          <a:p/>
          <a:p>
            <a:r>
              <a:t>- calibrate -&gt; grid -&gt; draw -&gt; step -&gt; reprice -&gt; aggregate</a:t>
            </a:r>
          </a:p>
          <a:p>
            <a:r>
              <a:t>- Pricers are a black box by design: correctness first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pipeline left to right; emphasize that the pricing library is never modified -- a deliberate design choice so errors cannot hide inside re-implemented pricing.</a:t>
            </a:r>
          </a:p>
          <a:p/>
          <a:p>
            <a:r>
              <a:t>- Every pricer is a pure function npv = pricer.npv(MarketState) -- the simulation never contains its own pricing logic</a:t>
            </a:r>
          </a:p>
          <a:p>
            <a:r>
              <a:t>- Dates use pillar tenors (O/N..10Y) plus every trade's own event date forced onto the grid -- 42 nodes for this book, denser than a plain monthly grid (18) and exact on cash-flow dates</a:t>
            </a:r>
          </a:p>
          <a:p>
            <a:r>
              <a:t>- This is the same pipeline that produces exposure, Greeks, stress, CVA/DVA/FVA/KVA, SA-CVA and SA-CCR -- one consistent engine, not bolted-on add-ons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Explain the date-grid design choice: not a plain monthly grid, but market pillar dates with every trade's own cash-flow date forced in.</a:t>
            </a:r>
          </a:p>
          <a:p/>
          <a:p>
            <a:r>
              <a:t>- Monthly steps are simple but blunt -- they spend nodes evenly when risk actually changes fastest near-term, and a trade's own reset or maturity rarely falls on a month-end</a:t>
            </a:r>
          </a:p>
          <a:p>
            <a:r>
              <a:t>- Following Capitolis' guidance, we adopt pillar dates: the same standard market curve tenors used to build the SOFR curve (O/N, T/N, 1W, 2W, 1M, 2M, 3M, 6M, 9M, 1Y, 18M, 2Y...) -- dense short-term, sparse long-term, mirroring production CCR practice</a:t>
            </a:r>
          </a:p>
          <a:p>
            <a:r>
              <a:t>- Every trade's own reset/settlement/maturity date is forced onto the grid in addition, so exposure jumps at real cash-flow dates are captured exactly, not smoothed over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actual build order: repo and data layer first, then the risk-factor models, then calibration, then the simulation engine that ties them together.</a:t>
            </a:r>
          </a:p>
          <a:p/>
          <a:p>
            <a:r>
              <a:t>- Each step maps to a real Python package in the repository -- this isn't a conceptual diagram, it's the literal module structure</a:t>
            </a:r>
          </a:p>
          <a:p>
            <a:r>
              <a:t>- Steps 1-2 are almost entirely about getting real market data right; steps 3-4 turn that data into calibrated, simulatable models</a:t>
            </a:r>
          </a:p>
          <a:p>
            <a:r>
              <a:t>- The next slide covers steps 5-8: pricing integration through to validation and testing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Second half of the build: integrate the given pricing library, compute Greeks, layer on credit risk and capital, then validate everything independently.</a:t>
            </a:r>
          </a:p>
          <a:p/>
          <a:p>
            <a:r>
              <a:t>- Step 6 (pricing) deliberately reuses the Capitolis-supplied library unmodified -- a MarketState is built from simulated factors and handed to pricer.npv()</a:t>
            </a:r>
          </a:p>
          <a:p>
            <a:r>
              <a:t>- Steps 7-8 (Greeks, exposure/credit) are built on the same simulated paths as step 5 -- not separate re-simulations, so every output is mutually consistent</a:t>
            </a:r>
          </a:p>
          <a:p>
            <a:r>
              <a:t>- Step 9 (validation) closes the loop with checks that are independent of the engine's own outputs -- martingale tests, a parametric VaR benchmark, and a historical backtest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models.</a:t>
            </a:r>
          </a:p>
          <a:p/>
          <a:p>
            <a:r>
              <a:t>- HW1F for USD, GBM for equity/FX, a real JPY factor, exposure built to the brief's exact definition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backbone of the whole engine: every discount factor at every scenario and node comes from this model.</a:t>
            </a:r>
          </a:p>
          <a:p/>
          <a:p>
            <a:r>
              <a:t>- Analytic bond prices mean one function evaluation per (scenario,node) -- 10x faster than building a curve object, and exact</a:t>
            </a:r>
          </a:p>
          <a:p>
            <a:r>
              <a:t>- Gaussian, so it supports negative rates -- essential for JPY, harmless for USD</a:t>
            </a:r>
          </a:p>
          <a:p>
            <a:r>
              <a:t>- sigma fitted to realised 2y-30y Treasury yield vol (96bp), not the overnight SOFR fixing (63bp), because the book's risk comes from the long end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Equity and FX dynamics are standard GBM, but the drifts are derived, not assumed -- and verified by martingale tests.</a:t>
            </a:r>
          </a:p>
          <a:p/>
          <a:p>
            <a:r>
              <a:t>- Drifts follow from the martingale condition on every USD-denominated tradable asset -- including the quanto correction for JPY-listed names</a:t>
            </a:r>
          </a:p>
          <a:p>
            <a:r>
              <a:t>- One static 39x39 correlation matrix from 616 aligned daily dates, applied via Cholesky -- the USD rate row uses 10-year-yield changes, not the overnight SOFR fixing, which correlates with nothing</a:t>
            </a:r>
          </a:p>
          <a:p>
            <a:r>
              <a:t>- This drift derivation is exactly where the USDJPY sign error (defect #11) was caught and fixed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JPY used to just be a constant differential off the USD rate -- we built a real second factor from the actual JPY curve history.</a:t>
            </a:r>
          </a:p>
          <a:p/>
          <a:p>
            <a:r>
              <a:t>- Real TONA history shows JPY rates were at or below zero for most of 25 years -- a model with a floor could not represent this</a:t>
            </a:r>
          </a:p>
          <a:p>
            <a:r>
              <a:t>- Mean reversion calibrated at its lower bound (0.001) because every real JPY calibration route gives a negative value -- a genuine structural finding, not bad data</a:t>
            </a:r>
          </a:p>
          <a:p>
            <a:r>
              <a:t>- Only 2 of 16 trades hold JPY names, so the effect is confined to their netting sets -- quantified in the attribution on the Results section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implemented the brief's definition precisely, including the subtleties (settlement-window exclusion, netting-before-max).</a:t>
            </a:r>
          </a:p>
          <a:p/>
          <a:p>
            <a:r>
              <a:t>- exposure(t) = max(V(t+10bd) - V(t-1bd), 0), netted by counterparty before taking the positive part</a:t>
            </a:r>
          </a:p>
          <a:p>
            <a:r>
              <a:t>- A trade settling inside a close-out window is excluded from both legs of that window -- its value drop to zero is a cash settlement, not a market move</a:t>
            </a:r>
          </a:p>
          <a:p>
            <a:r>
              <a:t>- This was itself a defect fix (#9): the earlier version reported the uncollateralized level exposure as the headline, found by reviewing the work against the kickoff deck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trade-offs.</a:t>
            </a:r>
          </a:p>
          <a:p/>
          <a:p>
            <a:r>
              <a:t>- Five sampling methods tested; two rate models compared; two correlation methods compared; four Greeks methods compared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tested five real alternatives, not just picked one by convention.</a:t>
            </a:r>
          </a:p>
          <a:p/>
          <a:p>
            <a:r>
              <a:t>- Controlled European-call test: LHS has 50.6x lower RMSE than pseudo-random, the clear winner</a:t>
            </a:r>
          </a:p>
          <a:p>
            <a:r>
              <a:t>- On the real 663-dimensional engine the advantages compress -- no single method wins both PFE99 and median PFE</a:t>
            </a:r>
          </a:p>
          <a:p>
            <a:r>
              <a:t>- LHS is the only method that is both best on the controlled test AND better than pseudo-random on both real-engine statistics -- that consistency is why it was selected over Sobol, the controlled-test runner-up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Error falls as 1/sqrt(N); we picked the count where further scenarios stop being worth the runtime.</a:t>
            </a:r>
          </a:p>
          <a:p/>
          <a:p>
            <a:r>
              <a:t>- Monte Carlo error follows 1/sqrt(N) exactly -- shown on the chart</a:t>
            </a:r>
          </a:p>
          <a:p>
            <a:r>
              <a:t>- N=5,000 gives 0.29% relative SE at 8 minutes; N=10,000 gives 0.21% at 15 minutes for sign-off</a:t>
            </a:r>
          </a:p>
          <a:p>
            <a:r>
              <a:t>- Beyond ~15-20k scenarios, returns diminish sharply while cost keeps scaling linearly -- and the remaining sampling error is an order of magnitude smaller than the model sensitivities in Section 7.9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implemented and fully calibrated the two-factor alternative, not just discussed it -- and it does not justify its added complexity here.</a:t>
            </a:r>
          </a:p>
          <a:p/>
          <a:p>
            <a:r>
              <a:t>- G2++ lets the curve change slope independently of its level, but fits the realised yield covariance with a 16% Frobenius error -- it cannot reproduce the hump near 5 years</a:t>
            </a:r>
          </a:p>
          <a:p>
            <a:r>
              <a:t>- The effect on the headline number is small: -3% on portfolio MPE99, -1% to -3% by counterparty</a:t>
            </a:r>
          </a:p>
          <a:p>
            <a:r>
              <a:t>- One-factor Hull-White retained as the default: materially simpler, calibrates cleanly to the swaption cube, and the model-risk study (Section 7.9) shows equity volatility and rate-equity dependence matter far more than this choice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second genuine alternative we built and measured, and rejected as the default on evidence, not intuition. Also show what the factors themselves mean economically -- that's what 'explainability' requires.</a:t>
            </a:r>
          </a:p>
          <a:p/>
          <a:p>
            <a:r>
              <a:t>- A 5-factor PCA model explains only 47% of variance and understates netting-set vol by up to 3.9% -- it approximates, does not replicate, the empirical matrix</a:t>
            </a:r>
          </a:p>
          <a:p>
            <a:r>
              <a:t>- Counter to the usual argument for factor models: correlated-shock timing shows PCA is NOT faster (2.08s for 5 factors vs 1.91s full) because it trades a 39x39 matrix product for more random draws</a:t>
            </a:r>
          </a:p>
          <a:p>
            <a:r>
              <a:t>- Factor 1 (20% of variance) is a broad market mode; factor 2 (8.9%) cleanly separates Japan from US listings -- the factors are economically readable, not just statistical artifacts</a:t>
            </a:r>
          </a:p>
          <a:p>
            <a:r>
              <a:t>- Kept as a documented robustness option (corr_mode='factor'), not the default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Four Greeks methods were considered; CRN bump-and-reprice is the production method because it works on the black-box pricers for every measure including quantiles.</a:t>
            </a:r>
          </a:p>
          <a:p/>
          <a:p>
            <a:r>
              <a:t>- Common random numbers cut the EE delta estimator's standard deviation from $245k to $1k -- 282x -- this, not the sampling scheme, is what controls Greeks precision</a:t>
            </a:r>
          </a:p>
          <a:p>
            <a:r>
              <a:t>- Pathwise is validated and used as a free cross-check for equity/FX (0.2-0.4s vs ~260s) but cannot reach rates without differentiating the pricers</a:t>
            </a:r>
          </a:p>
          <a:p>
            <a:r>
              <a:t>- Adjoint differentiation is the asymptotically fastest method but needs a differentiable port of the supplied black-box pricers -- listed as future work, not adopted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feedback.</a:t>
            </a:r>
          </a:p>
          <a:p/>
          <a:p>
            <a:r>
              <a:t>- 11 items across 2 meetings, all addressed</a:t>
            </a:r>
          </a:p>
          <a:p>
            <a:r>
              <a:t>- Next 2 slides condense the full tracker; items also tagged inline on model/results slides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Give the full tracker as a single visual before drilling into highlights -- this is the 'you said / we did' overview.</a:t>
            </a:r>
          </a:p>
          <a:p/>
          <a:p>
            <a:r>
              <a:t>- 5 items from the earlier meeting, 6 from the most recent -- all 11 closed</a:t>
            </a:r>
          </a:p>
          <a:p>
            <a:r>
              <a:t>- Every item has a quantified result, not just a narrative response</a:t>
            </a:r>
          </a:p>
          <a:p>
            <a:r>
              <a:t>- The next slide pulls out the highlights with their numbers; all 11 are also tagged inline where they appear in the Models/Trade-offs/Results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the tracker with the three most technical items -- the DV01 Jacobian fix is the single biggest methodology correction from feedback.</a:t>
            </a:r>
          </a:p>
          <a:p/>
          <a:p>
            <a:r>
              <a:t>- DV01 Jacobian fix moved 28 points of portfolio DV01 attribution from the 10y bucket into the 30y bucket where the 2049 bond forward actually lives</a:t>
            </a:r>
          </a:p>
          <a:p>
            <a:r>
              <a:t>- The Excel parametric check (item 11) is an independent, non-Monte-Carlo validation that the audience can reproduce themselves</a:t>
            </a:r>
          </a:p>
          <a:p>
            <a:r>
              <a:t>- Every item on this tracker is also tagged 'Feedback-driven' inline where it reappears in the Models, Trade-offs and 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Go deep on item 10 -- this is the single biggest methodology correction from feedback, and it has a real hedging consequence, not just a cosmetic one.</a:t>
            </a:r>
          </a:p>
          <a:p/>
          <a:p>
            <a:r>
              <a:t>- A 'Jacobian' here means the DV01 to each of the curve's own ~45 construction instruments (SOFR futures + Bloomberg long-end points), not to 8 interpolated zero-rate tenors</a:t>
            </a:r>
          </a:p>
          <a:p>
            <a:r>
              <a:t>- The old method's 10y bucket (39% of DV01) was an artifact of where the zero-rate grid happened to sample the fitted curve, not of where the book's rate risk actually sits</a:t>
            </a:r>
          </a:p>
          <a:p>
            <a:r>
              <a:t>- Practical consequence: a hedger following the old attribution would buy/sell 10y instruments to offset CPTY_C's rate risk -- but 82% of the real risk is in the 30y bucket, where the 2049 bond forward actually lives, leaving the position effectively unhedged against a curve twist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results, the core of the deck.</a:t>
            </a:r>
          </a:p>
          <a:p/>
          <a:p>
            <a:r>
              <a:t>- Headline KPIs, profiles, diversification, attribution, model risk, stress, Greeks, validation, backtest, xVA, capital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headline with full precision and immediately explain the diversification number -- this is the single most important slide in the deck.</a:t>
            </a:r>
          </a:p>
          <a:p/>
          <a:p>
            <a:r>
              <a:t>- MPE99 $51.0M at 2026-09-20 on the brief's close-out definition; peak EE $11.6M; peak median PFE $8.2M</a:t>
            </a:r>
          </a:p>
          <a:p>
            <a:r>
              <a:t>- 78% of the sum of counterparty MPE99s ($65.1M) -- little diversification because netting never crosses counterparties and the three books peak within about 24 days of each other</a:t>
            </a:r>
          </a:p>
          <a:p>
            <a:r>
              <a:t>- Current exposure today (uncollateralized, no margin) is $129.8M -- 96% of it is CPTY_C, driven by the single $500M BF_0003 bond forward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time profile -- almost all counterparty credit risk sits in the next four months.</a:t>
            </a:r>
          </a:p>
          <a:p/>
          <a:p>
            <a:r>
              <a:t>- Nearly the whole book matures within ~4 months; only BTRS_0001 and EQTRS_0008 run past mid-2027</a:t>
            </a:r>
          </a:p>
          <a:p>
            <a:r>
              <a:t>- Portfolio EE falls by more than 90% by end of December 2026</a:t>
            </a:r>
          </a:p>
          <a:p>
            <a:r>
              <a:t>- This is why monitoring should concentrate on the next four months, not a flat one-year horizon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Drill from counterparty to trade level -- shows the per-trade numbers do not simply sum to the counterparty figures.</a:t>
            </a:r>
          </a:p>
          <a:p/>
          <a:p>
            <a:r>
              <a:t>- Per-trade figures do not add up to the counterparty figures: netting and the tail of a sum differ from the sum of tails</a:t>
            </a:r>
          </a:p>
          <a:p>
            <a:r>
              <a:t>- BF_0003's own peak EE ($4.5M) and MPE ($25.6M) dominate CPTY_C's netting set</a:t>
            </a:r>
          </a:p>
          <a:p>
            <a:r>
              <a:t>- Largest equity-driven trades: EQTRS_0003 (CPTY_A, peak MPE $12.0M) and EQTRS_0007 (CPTY_C, $11.4M)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4 directly with the evidence -- A is equity risk, C is rate risk plus meaningful equity, and all three share a common driver.</a:t>
            </a:r>
          </a:p>
          <a:p/>
          <a:p>
            <a:r>
              <a:t>- Every netting set holds pay-equity swaps, so all three gain when the equity market falls -- that common exposure is why dependence is positive</a:t>
            </a:r>
          </a:p>
          <a:p>
            <a:r>
              <a:t>- CPTY_C is not a pure rate netting set: DV01 $594k/bp dominated by BF_0003, but its equity delta ($1.24M) is comparable to CPTY_B's</a:t>
            </a:r>
          </a:p>
          <a:p>
            <a:r>
              <a:t>- At the portfolio's peak date, standalone PFE99 are A $25.9M + C $28.5M = $54.4M (107% of the $51.0M portfolio figure) -- the portfolio is close to A+C, with B adding little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attribution waterfall -- every number change is traced to a specific, named correction, run on identical random numbers.</a:t>
            </a:r>
          </a:p>
          <a:p/>
          <a:p>
            <a:r>
              <a:t>- Each correction introduced one at a time on the same 2,000 scenarios and random draws, so differences are attributable, not noise</a:t>
            </a:r>
          </a:p>
          <a:p>
            <a:r>
              <a:t>- Largest single move: the long-end volatility fit and 10-year-yield correlation correction (+$4.9M portfolio), because it re-derives sigma from where the book's risk actually sits</a:t>
            </a:r>
          </a:p>
          <a:p>
            <a:r>
              <a:t>- Monte Carlo noise between runs of different size is a few percent, so only differences larger than that should be read as a real correction effect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ranks the real sources of model uncertainty -- important for the audience because it tells them where to focus review effort.</a:t>
            </a:r>
          </a:p>
          <a:p/>
          <a:p>
            <a:r>
              <a:t>- A 25% rise in equity/FX volatility moves portfolio MPE99 by +19%; a 30%-of-the-way-to-one move in equity correlations moves it by +22%</a:t>
            </a:r>
          </a:p>
          <a:p>
            <a:r>
              <a:t>- The two-factor rates model (G2++) changes the headline by only -3% -- so rate-model choice is a minor source of uncertainty here</a:t>
            </a:r>
          </a:p>
          <a:p>
            <a:r>
              <a:t>- Each row is a one-at-a-time perturbation on 2,000 scenarios, same random numbers -- not a vague sensitivity statement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1 -- a structured stress programme, not a paragraph. Key finding: margin, not the shock, is what dampens the close-out measure.</a:t>
            </a:r>
          </a:p>
          <a:p/>
          <a:p>
            <a:r>
              <a:t>- Close-out exposure is structurally far less sensitive to instantaneous shocks than the level exposure, because 10-day moves from a margined start are what's being measured</a:t>
            </a:r>
          </a:p>
          <a:p>
            <a:r>
              <a:t>- Product-specific: equity TRS respond only to equity/FX shocks; bond forwards/TRS respond only to rate shocks, exactly as trade structure implies</a:t>
            </a:r>
          </a:p>
          <a:p>
            <a:r>
              <a:t>- Largest close-out move: Stagflation -24%; largest level move: Stagflation +86% for the opposite reason (level exposure keeps the whole MTM at risk)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t=0 Greeks by netting set, validated against analytic values -- sets up the DV01 Jacobian fix on the next data point.</a:t>
            </a:r>
          </a:p>
          <a:p/>
          <a:p>
            <a:r>
              <a:t>- Portfolio equity delta -$4.46M per +1% (we gain when equities fall, consistent with being pay-equity)</a:t>
            </a:r>
          </a:p>
          <a:p>
            <a:r>
              <a:t>- DV01 dominated by CPTY_C ($594k of the $622k portfolio total) via the BF_0003 bond forward</a:t>
            </a:r>
          </a:p>
          <a:p>
            <a:r>
              <a:t>- t=0 equity delta validated against the analytic value (shares x spot x 1%) to a maximum relative error of 1.6e-2 across all 41 trade-name pairs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how we know the engine is right, independent of the headline results themselves.</a:t>
            </a:r>
          </a:p>
          <a:p/>
          <a:p>
            <a:r>
              <a:t>- t=0 self-check: simulated EE(0) equals the directly computed current exposure to 0.0000%</a:t>
            </a:r>
          </a:p>
          <a:p>
            <a:r>
              <a:t>- Delta-normal VaR benchmark: $12.6M (independent method) vs $12.1M from the Monte Carlo P&amp;L distribution, ratio 1.04 -- within the accepted 0.3-1.3x range</a:t>
            </a:r>
          </a:p>
          <a:p>
            <a:r>
              <a:t>- 142 automated tests pass, covering curve fit, GBM martingale property, 1/sqrt(N) error law, negative-rate behaviour, close-out exposure convention, and more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Kupiec backtest against realised history, out of sample -- CPTY_B is the one borderline case, consistent with GBM understating fat tails.</a:t>
            </a:r>
          </a:p>
          <a:p/>
          <a:p>
            <a:r>
              <a:t>- Equity leg: exceptions 4/6/2 (A/B/C) against 2.4 expected over 242 non-overlapping 10-day windows at the 99% level</a:t>
            </a:r>
          </a:p>
          <a:p>
            <a:r>
              <a:t>- Kupiec test does not reject for 2 of 3 netting sets at the 5% significance level; CPTY_B (6 exceptions) is borderline -- consistent with GBM understating fat tails</a:t>
            </a:r>
          </a:p>
          <a:p>
            <a:r>
              <a:t>- Rates leg: the long-end yield-vol fit (96bp) is the more stable calibration across the 2020-2026 backtest window than the overnight-SOFR calibration (63bp)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full xVA suite, on both exposure conventions, all consistent because they reuse the same simulated paths.</a:t>
            </a:r>
          </a:p>
          <a:p/>
          <a:p>
            <a:r>
              <a:t>- Close-out: CVA and DVA nearly cancel ($11.7k vs $11.2k) because both are 10-day moves around a margined start; KVA ($22.4k at 10% CoC) exceeds CVA because it scales the whole EPE profile, not a small IG default probability</a:t>
            </a:r>
          </a:p>
          <a:p>
            <a:r>
              <a:t>- Uncollateralized level exposure is far larger: CVA $247k, dominated by CPTY_C's $121M bond forward sitting at risk with no margin</a:t>
            </a:r>
          </a:p>
          <a:p>
            <a:r>
              <a:t>- CVA proxy is BBB; CVA scales roughly linearly with spread -- AAA $5.0k to B $32.8k, a 2.6x range between AA and BB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second kickoff extra-credit item -- a sample risky-bond trade outside the 16-trade book, pricing issuer credit risk directly into the bond.</a:t>
            </a:r>
          </a:p>
          <a:p/>
          <a:p>
            <a:r>
              <a:t>- Issuer credit and counterparty CVA are two different things: issuer credit lowers the bond's own value; counterparty CVA (shown on the previous slide) is the risk that the other side of the trade defaults</a:t>
            </a:r>
          </a:p>
          <a:p>
            <a:r>
              <a:t>- No CDS quotes were obtainable for the issuer, so the same proxy method as the counterparty spreads is reused: ICE BofA BBB option-adjusted spreads with the pricing library's credit-triangle survival curve</a:t>
            </a:r>
          </a:p>
          <a:p>
            <a:r>
              <a:t>- The risky bond is worth $934k less than the risk-free version -- issuer credit is not a small effect here, it flips the forward's sign (from +$654k to -$280k)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Regulatory capital view -- both computed, both dominated by counterparty credit spread risk, not by market risk.</a:t>
            </a:r>
          </a:p>
          <a:p/>
          <a:p>
            <a:r>
              <a:t>- SA-CVA requirement is dominated by counterparty credit spread delta (88% of the total) -- a 5% risk weight on spreads is large relative to a ~100bp spread level</a:t>
            </a:r>
          </a:p>
          <a:p>
            <a:r>
              <a:t>- SA-CCR EAD $260.3M is a different quantity from Monte Carlo MPE99: replacement cost is today's full MTM, add-on is a one-year supervisory approximation -- included as an independent order-of-magnitude check and the regulatory view of the same book</a:t>
            </a:r>
          </a:p>
          <a:p>
            <a:r>
              <a:t>- RWA (12.5x capital): $1.2M close-out, $27.8M uncollateralized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conclusions.</a:t>
            </a:r>
          </a:p>
          <a:p/>
          <a:p>
            <a:r>
              <a:t>- Validated, reproducible engine; limitations disclosed; next steps depend on data Capitolis holds, not more engineering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with both sides honestly -- what we're confident in, and what still depends on data or assumptions.</a:t>
            </a:r>
          </a:p>
          <a:p/>
          <a:p>
            <a:r>
              <a:t>- Every limitation here has a quantified impact shown earlier in the deck -- none is a vague caveat</a:t>
            </a:r>
          </a:p>
          <a:p>
            <a:r>
              <a:t>- The single biggest open question is whether any trade is margined -- MPOR illustration shows it would move CPTY_C's MPE99 by 82%</a:t>
            </a:r>
          </a:p>
          <a:p>
            <a:r>
              <a:t>- This is deliberately a balanced slide: confidence in engineering, honesty about what the data cannot tell us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End on the single highest-leverage open question, then the concrete roadmap items in priority order.</a:t>
            </a:r>
          </a:p>
          <a:p/>
          <a:p>
            <a:r>
              <a:t>- Confirming whether any trade is margined matters more than any further modelling refinement -- it changes CPTY_C's number several-fold</a:t>
            </a:r>
          </a:p>
          <a:p>
            <a:r>
              <a:t>- Real counterparty ratings or CDS would remove the single largest assumption in the credit numbers</a:t>
            </a:r>
          </a:p>
          <a:p>
            <a:r>
              <a:t>- Everything else listed is scope and data, not engineering -- the plan as given has been fully executed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Backup detail on the 2008/2015 historical scenarios added for feedback item 6.</a:t>
            </a:r>
          </a:p>
          <a:p/>
          <a:p>
            <a:r>
              <a:t>- 28 of 37 names have price history back to 2007</a:t>
            </a:r>
          </a:p>
          <a:p>
            <a:r>
              <a:t>- 2008: -23% median / -44% worst single name; moves close-out MPE99 -13%, level +56%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2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91440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Monte Carlo Counterparty Credit Risk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37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Final Client Readout -- ESF Derivatives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9CED6"/>
                </a:solidFill>
                <a:latin typeface="Calibri"/>
              </a:rPr>
              <a:t>Berkeley MFE Industry Project  |  Prepared for Capitolis Risk, Quant &amp;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Valuation date 2026-08-28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Portfolio MPE99 of $51.0M on the Brief's Close-Out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peak 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Expected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close-out, 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$129.8M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Current Exposure (t=0)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uncollateralized, no margin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$11.7k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CVA (close-out, BBB proxy)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SA-CVA capital $0.10M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063240"/>
            <a:ext cx="108813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What we built: a validated Monte Carlo engine simulating USD short rate (Hull-White 1F), JPY short rate, 37 equities and USDJPY (correlated GBM), repricing all 16 trades at every scenario and date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Headline result: portfolio MPE99 $51.0M on the brief's definition -- 78% of the sum of the three counterparties' own MPE99s, because netting never crosses counterparties and the books peak within days of each other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Validated: t=0 self-check to 0.0000%, martingale tests, delta-normal VaR benchmark (1.04x), Kupiec backtest, 142 automated tests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Key conclusion: risk is short-dated (~4 months) and concentrated in one $500M bond forward (BF_0003) at CPTY_C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Book: 16 Trades, Dominated in Size by One $500M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4846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756"/>
                <a:gridCol w="1650492"/>
                <a:gridCol w="694944"/>
                <a:gridCol w="1303020"/>
                <a:gridCol w="1824228"/>
              </a:tblGrid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Ends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$148,605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2027-07-22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$2,217,998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$512,531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-$357,505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2026-12-06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$1,973,388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2028-01-15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$119,460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2027-01-15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2027-04-09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$28,844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$36,376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71600"/>
            <a:ext cx="4114800" cy="22759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3675887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Life span of every trade: nearly all exposure disappears within 4 months.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4206240"/>
            <a:ext cx="4114800" cy="201168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4206240"/>
            <a:ext cx="44450" cy="201168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31596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ONE TRADE DOMINATES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681728"/>
            <a:ext cx="3794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BF_0003: 500M notional short forward on a 2.88% 2049 Treasury, struck at 100, trading ~25pts below par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This single position is why CPTY_C drives concentration, SA-CCR EAD and CVA throughout the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16 Trades, 3 Counterparties, 37 Equities and USDJPY, One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0170"/>
                <a:gridCol w="1040130"/>
                <a:gridCol w="1360170"/>
                <a:gridCol w="264033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Instrument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Counterparties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 factors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8 (incl. 1 JPY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+ equity spots (+ USDJPY for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 (risk-free bonds)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371600"/>
            <a:ext cx="4434840" cy="24529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3858768"/>
            <a:ext cx="4434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Trade life spans: most of the book matures within ~4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37 unique equities (31 USD, 6 JPY) + USDJPY + 5 Treasury bonds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Capitolis is strictly the seller: falling market values increase counterparty exposure to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Today's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0060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The brief and what we delivered against it  •  Data sourcing  •  Pipeline and architecture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Modelling choices  •  Trade-offs and alternatives considered  •  Feedback incorporated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Results (the core of this deck)  •  Conclusions and next steps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What Capitolis Gave Us, and Asked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The brief, the deliverables, and how every ask maps to 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Brief: No Initial Margin, 10-Day Close-Out, Capitolis Is Seller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Deliverables (kickoff, slide 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engine codebase: modular Python, extensible to new asset classes / model types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Technical report: calibration methodology, model choices, key results, production-hardening suggestions, performance/convergence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Key assumptions specified by Capitolis (slide 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5532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initial margin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Variation margin on date t = NPV on the prior day on the path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10-business-day close-out period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Scenario count is our choice; must evidence convergence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Falling market values increase counterparty exposure to us (we are strictly the seller)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57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4 core objectives (kickoff, slide 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114800"/>
          <a:ext cx="11201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239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 Stochastic models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 factor models (our choice), simulate correlated paths; defend every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2. Pricing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Feed simulated market states into the supplied pricer library to generate scenario NPVs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3. Exposure and 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PFE, MPE, EE profiles + efficient Greeks across scenarios. Extra credit: xVA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4. Performance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Optimise the engine for speed and scalability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Every Ask Mapped to What We Delivered, Including Both Extra-Credit Items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2013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623"/>
                <a:gridCol w="5988867"/>
                <a:gridCol w="2439908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Stochastic models for rates, equity, FX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Hull-White 1F (+G2++ alternative); correlated GBM + quanto; JPY factor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Sections 4, 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Pricing model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Every scenario repriced via the supplied capitolis_pricers library, unmodified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2.2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Exposure profiles: PFE, MPE, EE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Close-out (headline) + uncollateralized level, by trade/counterparty/portfolio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Efficient Greeks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cross-check + exact analytic rate Greek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Performance / scalability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10.6x curve speed-up, 7.7x combined; multiprocessing across scenarios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5.3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xVA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CVA, DVA, FVA, KVA; SA-CVA capital; SA-CCR EAD -- on both exposure conventions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risky bonds + CDS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Risky-bond sample trade on a bond-index issuer-curve proxy (no CDS data obtainable)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8.9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Data Sourcing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input, what it is used for, how it was cleaned, and what we assumed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Real Market Data Everywhere Verifiable; Proxies Documented Where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770"/>
                <a:gridCol w="2249424"/>
                <a:gridCol w="3856155"/>
                <a:gridCol w="257077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SOFR futures (33 live)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Discount curve, HW1F fit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cross-checked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37 equity spots &amp; dividends, USDJPY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GBM start values &amp; drift, vol,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 realised volatilities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3y daily returns (above)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Diffusion size for GBM/HW1F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Proxy: no options data available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39x39 correlation matrix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616 aligned daily dates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Cholesky / PCA simulation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Static; USD row on 10y-yield changes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curve long end,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 (2026-08-31)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Curve splice beyond 6.5y; mean reversion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tenors, 2011-26)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Bloomberg, provided by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curve, JPY factor vol, mean-rev. test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yields, TONA, JGB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FRED / Bank of Japan /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Rate vol, backtest, G2++ calibration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 Real Bugs Found by Cross-Checking Against Independent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017519"/>
                <a:gridCol w="4937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Issue found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How caught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Fix / 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curve extrapolated flat beyond ~6.5y futures range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Repricing BF_0003 on Bloomberg's own zero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long-end splice; BF_0003 NPV moved $101.4M -&gt; $121.3M (within 0.4% of Bloomberg reprice)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USDJPY drift had the wrong 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Deriving JPY drifts from the martingale condition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names were drifting ~2x2.6%/yr too low in USD; corrected, quanto term added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 sigma from overnight SOFR understated 2-30y yield moves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10-day realised vs modelled yield-move comparison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sigma refit to realised 2y-30y Treasury yield vol: 63bp -&gt; 96bp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SOFR futures bootstrap: serial-future wraparound gap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Cross-check vs Treasury.gov par curve (73bp vs 56bp at 10Y)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400-day plausibility threshold; curve coverage 3.6y -&gt; 6.3y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66344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Data quality checks throughout: self-check EE(0) vs direct exposure to 0.0000%; Hull-White curve refit to 1e-9; positive semi-definite correlation matrix verified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Assumptions disclosed, not hidden: counterparty rating BBB, LGD 60%, static correlation, JPY mean reversion at its lower bound (every real calibration route gave a negative value)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USD Curve: 33 Live Futures Bootstrapped, Spliced at the Long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fig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01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133087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Bootstrapped USD SOFR curve: zero rate and instantaneous forward, 0-6.5y.</a:t>
            </a:r>
          </a:p>
        </p:txBody>
      </p:sp>
      <p:pic>
        <p:nvPicPr>
          <p:cNvPr id="8" name="Picture 7" descr="fig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371600"/>
            <a:ext cx="5577840" cy="27453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187952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Zero curve before (flat) and after the Bloomberg long-end splice. Identical inside the futures range.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11247120" cy="1737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663440"/>
            <a:ext cx="44450" cy="1737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73168"/>
            <a:ext cx="10927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SPLICING, NOT EXTRAPOLATING FLAT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38928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A 22-year bond has duration ~13 -- a flat long end understates discounting of exactly the trade (BF_0003) that dominates the book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The splice is joined continuously at the last futures pillar: nothing inside the live futures range changes, only the part we had no market data for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Validated independently: BF_0003's NPV on the spliced curve ($121.3M) lands within 0.4% of repricing it directly on Bloomberg's own zero curve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Licensed Bloomberg data is used only to extend the shape beyond the live futures range -- we never redistribute the raw licensed numbers, only this derived splice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Volatility: 3-Year Realised, Fitted to Where the Book's Risk Actually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fig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120640" cy="24906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8679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3-year realised lognormal volatility per equity (orange = JPY-quoted).</a:t>
            </a:r>
          </a:p>
        </p:txBody>
      </p:sp>
      <p:pic>
        <p:nvPicPr>
          <p:cNvPr id="8" name="Picture 7" descr="fig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71600"/>
            <a:ext cx="4846320" cy="26201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3995928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Realised Treasury yield vol by tenor vs. the Hull-White implied shape for both sigma choices.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26280"/>
            <a:ext cx="11155680" cy="16002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26280"/>
            <a:ext cx="44450" cy="1600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36008"/>
            <a:ext cx="10835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NO OPTIONS DATA 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01768"/>
            <a:ext cx="108356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Implied vol is the pricing-industry norm, but we had no single-name options data (Bloomberg export has only SPX/TOPIX index vols, which would need a per-name basis assumption)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3-year realised is a reproducible, documented proxy; its backward-looking limitation is disclosed and stress-tested directly (vols x1.25/x2 in 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 years balances responsiveness against noise: long enough to average out idiosyncratic single-day jumps, short enough to reflect the current vol regime rather than a decade-old one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The same convention is applied to every one of the 37 names, so the cross-section stays comparable rather than mixing proxy quality name by name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Correlation: One Static 39x39 Matrix From 616 Aligned Trading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fi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71600"/>
            <a:ext cx="6675120" cy="3413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0" y="4809744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39x39 matrix reordered by first principal component. Right: distribution of the 741 pairwise correlations.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Assumed constant over the one-year simulation horizon -- correlations tend to rise in stress; this is stressed directly in the model-risk study (Section 7.9: +30% toward 1 moves portfolio MPE99 by +22%)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 tiny eigenvalue clip guards against CSV round-off making the matrix numerically non-positive-semi-definite before Cholesky factorisation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Every Assumption Not Sourced From Data, Stated Explicitly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/>
                <a:gridCol w="2286000"/>
                <a:gridCol w="2743200"/>
                <a:gridCol w="4114800"/>
              </a:tblGrid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Assumption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Value used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Where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Sensitivity shown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Counterparty credit rating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BBB (proxy, all 3 counterparties)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DVA, FVA,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AAA $5.0k to B $32.8k (2.6x AA-BB range)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Loss given default (LGD)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60% (40% recovery)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 default-probability triangle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Market-consensus value for senior unsecured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Margin period of risk (MPOR)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 business days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Close-out exposure window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Per the brief; not varied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Collateral / CSA terms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None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Headline vs. level exposure choice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MPOR illustration: CPTY_C moves 82% if margined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 structure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Static over 1-year horizon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All joint 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+30% toward 1: portfolio MPE99 +22%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mean reversion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0.001 (lower bound)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factor dynamics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Every real calibration route gave a negative value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Own credit / funding spread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= BBB counterparty proxy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DVA, FVA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Shown across AA to BB in Section 8.5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Pipeline and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Six stages, data to outputs; modular, reproducible, and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Six Stages From Real Market Data to Every Risk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1. Calibrate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Curve (futures + long end), sigma, a, JPY factor, vols, correlation -- all from real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49424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40864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40864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32304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2. 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2304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Pillar dates + every trade's reset/maturity + t-1bd / t+10bd nodes around each reporting date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33088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3. Draw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Random numbers (Latin Hypercube) -&gt; correlated shocks via Cholesky (or PCA)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6752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08192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08192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2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4.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Advance USD and JPY short rates, 37 equities and USDJPY along every path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00416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83296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5. Reprice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3296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For every (scenario, node): build a MarketState, call npv() of all 16 trades -- unmodified pricer library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84080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87552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552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6. Aggregate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max(V(t+10bd)-V(t-1bd),0), netted by counterparty -&gt; EE, median PFE, PFE99, MPE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Speed: three bottlenecks fixed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57200" y="4343400"/>
          <a:ext cx="1124711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474719"/>
                <a:gridCol w="1920239"/>
                <a:gridCol w="2560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Bottleneck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Discount curve per (scenario, node)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Analytic Hull-White bond price, not a Curve object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0.206 ms/call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0.019 ms/call (10.6x, exact)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Pure-Python pricers (~1.2ms each)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Multiprocessing over scenarios, 8 workers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113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51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Combined, 2,000 scenarios x 16 trades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Both fixes together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~12 min projected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93s (7.7x)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Simulation Dates: Pillar Tenors Plus Every Trade's Own Event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pic>
        <p:nvPicPr>
          <p:cNvPr id="6" name="Picture 5" descr="fig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949440" cy="3881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30352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Four candidate grids for this book: dense near-term, sparse far-term, with event dates forced in.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11479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5268"/>
                <a:gridCol w="541421"/>
                <a:gridCol w="232811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Node count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Monthly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Simple, but spends nodes evenly and rarely lands on a trade's own dates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Pillar dates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Standard market tenors (O/N..10Y); dense short-term, sparse long-term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Pillar + trade event dates (used)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Pillar tenors plus every trade's reset/settlement/maturity forced 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Trade event dates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Exact on cash flows, but no systematic curve-tenor coverage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89520" y="3931920"/>
            <a:ext cx="4114800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3931920"/>
            <a:ext cx="44450" cy="22860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04164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PILLAR + TRADE EVENT DATES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407408"/>
            <a:ext cx="37947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Industry convention (pillar tenors) plus exactness on this book's own cash flows -- neither alone is enough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Dense near-term, where the close-out window and most trade maturities sit, matches where risk actually changes fastest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trade settling inside a close-out window is excluded from both legs of that window -- forcing its date onto the grid is what makes that exclusion possible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1-4: From Raw Data to Calibrated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Repository &amp; data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Ingest Capitolis-supplied trades/pricers; pull SOFR futures, equity/FX spots, Treasury/JPY/BOJ/MOF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
  sofr, equities, fx, vols,
  correlations, boj, mof_jgb,
  bloomberg, credit_spreads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Market data assembly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Bootstrap the USD curve, compute realised vols, build the 39x39 correlation matrix, proxy credit spreads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market/sofr.py
market/equities.py
market/credit_spreads.py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Risk-factor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Implement Hull-White 1F (+G2++), correlated GBM for equity/FX, the JPY Hull-White factor, PCA factor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rates, g2pp, equity_fx,
  equity_factor_model, credit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Calibration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Fit sigma/a to swaption cube and realised yield vol; fit JPY factor to the real OIS history; least-squares G2++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calibration, hw_calibration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Simulation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Build the date grid (pillars + trade events + MPOR nodes), draw correlated shocks, step every factor jointly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simulation/
  engine, random_numbers,
  parallel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384048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82433"/>
                </a:solidFill>
                <a:latin typeface="Calibri"/>
              </a:rPr>
              <a:t>Design principle -- modularity: each package has one job and is independently testable (the 142 tests target these modules directly).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5-8: Pricing Through to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Pricing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At every (scenario, node): build a MarketState from simulated rates/spots/FX, call the unmodified pricer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capitolis_pricers
  (given, independently
   reviewed, never modified)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Aggregation &amp;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Net by counterparty, apply the close-out/level exposure definitions, compute EE/median PFE/PFE99/MPE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spec_exposure, aggregate,
  collateral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Greeks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Bump-and-reprice with common random numbers; pathwise cross-check for equity/FX; exact analytic rate Greek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greeks/
  book, exposure, pathwise,
  bumps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Credit risk &amp; capital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CVA/DVA/FVA/KVA on the same paths; Basel SA-CVA capital; SA-CCR EAD; the risky-bond extra-credit trade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cva, xva, sa_cva, sa_ccr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Stress, backtest &amp;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13 stress scenarios; Kupiec/Christoffersen backtests against realised history; 142 automated unit/statistical 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stress/scenarios.py
validation/backtest.py
tests/  (142 tests)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384048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82433"/>
                </a:solidFill>
                <a:latin typeface="Calibri"/>
              </a:rPr>
              <a:t>Design principle -- reproducibility: every number regenerates from one command per stage (Appendix A10), nothing is one-off or hand-tuned.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Modelling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implemented, with the exact parameters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USD Short Rate: Hull-White 1F, Fitted Exactly to Today's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82433"/>
                </a:solidFill>
                <a:latin typeface="Courier New"/>
              </a:rPr>
              <a:t>dr(t) = [theta(t) - a r(t)] dt + sigma dW(t)
r(t) = x(t) + alpha(t)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240280"/>
          <a:ext cx="54863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260"/>
                <a:gridCol w="1113182"/>
                <a:gridCol w="2782956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0.96%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Fitted to realised 2y-30y Treasury yield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0.0167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USD swaption cube (1M expiry, 1Y-15Y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r(0)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3.69%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Bootstrapped SOFR futures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794760"/>
            <a:ext cx="5486400" cy="27432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794760"/>
            <a:ext cx="44450" cy="2743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0448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WHY HULL-WHITE 1F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70248"/>
            <a:ext cx="5166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Reproduces today's curve to 1e-9, so discounting is exact at t=0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Analytic bond price at every node -- 10x faster than a curve object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Gaussian: supports negative rates, essential for JPY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Only 2 parameters (a, sigma) to fit and defend -- fewer than the data (a few years of swaption/yield history) can comfortably support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Industry-standard and well understood, which lowers the model-validation burden for a reviewer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Rejected: CIR/BK (floored at zero, invalid for JPY); LMM/HJM (too many parameters for our data and slower); constant rate (ignores funding-leg and bond-forward rate risk)</a:t>
            </a:r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394960" cy="2854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4434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 short rate fan (3,000 scenarios); median tracks today's forward curve.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84632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82433"/>
                </a:solidFill>
                <a:latin typeface="Calibri"/>
              </a:rPr>
              <a:t>A two-factor alternative (G2++) is implemented, fully calibrated and compared in the next section -- it is not the default because it changes the headline by only -3%.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Equities, FX and Correlation: GBM Driven by the Simulated Rates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82433"/>
                </a:solidFill>
                <a:latin typeface="Courier New"/>
              </a:rPr>
              <a:t>dS_i/S_i = (r_USD - q_i) dt + sigma_i dW_i
dX/X = (r_JPY - r_USD + sigma_X^2) dt + sigma_X dW_X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5486400" cy="26517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44450" cy="26517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GBM + CHOLESKY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61488"/>
            <a:ext cx="51663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Matches the lognormal vol convention we measure and the market default for equity CCR; needs only one vol per name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Drifts derived from the martingale condition, not assumed -- verified independently by martingale tests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No unobservable parameters beyond that single vol -- Heston (vol-of-vol), SABR (beta, rho) and jump models all need inputs we don't have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Keeps paths exactly rescalable under a spot bump, which is what later makes equity/FX Greeks ~100x cheaper than naive resimulation (Section 6)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Rejected: Heston/SABR (no option surfaces available); jump models (unobservable parameters) -- both disclosed as understating fat 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741 pairwise correlations, mean 0.14; first PCA factor (a 'market' mode) explains 20% of variance alone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37 equities span an order of magnitude in vol (a few names at 50-76%), dominating tail exposure of the trades referencing them</a:t>
            </a:r>
          </a:p>
        </p:txBody>
      </p:sp>
      <p:pic>
        <p:nvPicPr>
          <p:cNvPr id="12" name="Picture 11" descr="fi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94960" cy="23087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3639312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USDJPY and two equities (low-vol vs. highest-vol name), 1-99% and 25-75% bands.</a:t>
            </a:r>
          </a:p>
        </p:txBody>
      </p:sp>
      <p:pic>
        <p:nvPicPr>
          <p:cNvPr id="14" name="Picture 13" descr="fig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023360"/>
            <a:ext cx="4572000" cy="22055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60" y="6263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Cholesky demo: independent draws (left) become correlated draws (right), target corr. 0.82.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JPY: a Genuine Negative-Rate-Capable Hull-White 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554480"/>
                <a:gridCol w="237744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Source / 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JPY OIS zero curve, 2026-08-28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Bootstrapped; matches Bloomberg's own curve to 1bp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0.267%/yr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Realised vol of the overnight call rate, 3y window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0.0010 (lower bound)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All 3 real JPY calibration routes gave a negative 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USD-JPY rate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-0.040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 SOFR vs TONA daily changes (n=1983); statistically zero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91840"/>
            <a:ext cx="5669280" cy="32918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44450" cy="32918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015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LOWER-BOUND MEAN REVERSION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5349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For two decades the BOJ pinned the short end (zero / negative policy, YCC), so long tenors moved more freely than short -- the reverse of what a mean-reverting factor assumes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Confirmed by three independent real data sources (daily OIS history, 52 years of JGB yields, a 2026 swaption cube), every one giving a negative fitted a -- not a one-off artifact of noisy data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negative a was rejected outright: it would make the simulated short rate diverge over the horizon, which is both numerically unstable and economically meaningless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single Gaussian factor cannot produce the observed shape; a=0.001 (the Ho-Lee limit, flat vol across tenors) is the closest a one-factor model can get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The lower bound keeps the model fully analytic and negative-rate capable, so no other part of the engine needs to change to accommodate it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Rejected: constant USD-rate differential (cannot represent JPY's own dynamics); a two-factor or regime-dependent model would match the shape but is listed as future work</a:t>
            </a:r>
          </a:p>
        </p:txBody>
      </p:sp>
      <p:pic>
        <p:nvPicPr>
          <p:cNvPr id="11" name="Picture 10" descr="fig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303520" cy="22793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7033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Real Bank of Japan TONA, 1998-2026: at or below zero for most of 25 years -- a model with a floor could not represent this.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Built to the Brief's Exact Definition, Not a Simplification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2433"/>
                </a:solidFill>
                <a:latin typeface="Courier New"/>
              </a:rPr>
              <a:t>exposure(t) = max( V(t + 10bd) - V(t - 1bd), 0 ),  V(t-1bd) = variation margin,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applied to value before the positive part -- a +10M and a -6M trade with the same counterparty give exposure 4M, not 10M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never crosses counterparties: portfolio exposure is the SUM over counterparties of each one's own max(sum of trades, 0)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EE = mean across scenarios; median PFE = 50th pct; PFE99 = 99th pct; MPE = peak of the PFE curve over all 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grid carries 3 nodes around every reporting date (t-1bd, t, t+10bd) on the same simulated path -- 42 reporting dates for this book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Standard market pillar dates (O/N to 10Y) used, not a plain monthly grid -- denser near term, where risk changes fastest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trade's own reset/settlement/maturity date forced onto the grid so exposure jumps at cash-flow dates are not smoothed over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Trade-Offs, Alternatives and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tried and rejected, and why; every choice measured, not asserted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Latin Hypercube Beats Four Other Sampling Methods on a Controlled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216152"/>
                <a:gridCol w="1216152"/>
                <a:gridCol w="1216152"/>
                <a:gridCol w="1216152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Call RMSE (Test 1)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PFE99 noise (Test 2)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Median noise (Test 2)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Pseudo-random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1.0x (baseline)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2.60%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Antithetic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1.4x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1.98%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0.39%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Modest, real engine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Moment-matched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6.3x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2.49%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0.35%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Median only, no PFE99 gain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Sobol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28.7x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1.64%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0.70%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Best PFE99, no median gain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50.6x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2.25%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0.42%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Best on both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Test 1: European call price vs. Black-Scholes, RMSE relative to pseudo-random. Test 2: relative standard deviation of the real 663-dim engine's estimator across 8 repeats (% of reference value).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78308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103120"/>
            <a:ext cx="4023360" cy="18288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0" y="2103120"/>
            <a:ext cx="44450" cy="1828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12848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LATIN HYPERCUBE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78608"/>
            <a:ext cx="37033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Best controlled-test error, 50.6x vs pseudo-random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Only method better than pseudo-random on BOTH real-engine statistics -- the deciding factor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Negligible extra cost over pseudo-random -- ~40 factors is cheap next to repricing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Stratifies every marginal so tails are sampled, unlike Sobol's joint-distribution assumptions</a:t>
            </a:r>
          </a:p>
        </p:txBody>
      </p:sp>
      <p:pic>
        <p:nvPicPr>
          <p:cNvPr id="13" name="Picture 12" descr="fig_sampling_gre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0"/>
            <a:ext cx="6400800" cy="23118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51x lower RMSE vs Black-Scholes. Right: real-engine estimator noise by method.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114800"/>
            <a:ext cx="40233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On the real 663-dimensional engine, advantages compress -- no single method wins both PFE99 and the median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Sobol is the controlled-test runner-up (28.7x) but loses its edge on the median PFE and is less robust at this dimensionality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Scenario Count: N=5,000 for Reporting, N=10,000 for Limit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67512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463040"/>
          <a:ext cx="42976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52"/>
                <a:gridCol w="809707"/>
                <a:gridCol w="996563"/>
                <a:gridCol w="1868556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Rel. SE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Est. time (8 cores)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Iteration / what-if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standard reporting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929s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limit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20,000+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0.09%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1,829s+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Diminishing returns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406640" y="4114800"/>
            <a:ext cx="4297680" cy="2377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4450" cy="2377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4224528"/>
            <a:ext cx="3977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5,000 / 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590288"/>
            <a:ext cx="3977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Cost grows linearly; error falls only as 1/sqrt(N) -- diminishing returns past ~15-20k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Remaining sampling error (&lt;0.4%) is an order of magnitude smaller than the model-risk sensitivities (Section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N=5,000 keeps a full reporting run to ~8 minutes on 8 cores -- practical for routine, repeated use, not just a one-off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Three tiers (1k/5k/10k) match three real use cases -- iteration, standard reporting, limit sign-off -- rather than one setting for everything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Two-Factor Rates (G2++) Changes the Portfolio MPE99 by Only -3%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3093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808"/>
                <a:gridCol w="1104138"/>
                <a:gridCol w="1104138"/>
                <a:gridCol w="1104138"/>
                <a:gridCol w="1104138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Curve fit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Negative rates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Calibration error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Hull-White 1F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N/A (level only)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2 (a, sigma)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G2++ (2-factor)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16% (Frobenius, yield covariance)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5 (a,b,sigma,eta,rho)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78892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82549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Hull-White 1F (default)</a:t>
            </a:r>
          </a:p>
        </p:txBody>
      </p:sp>
      <p:pic>
        <p:nvPicPr>
          <p:cNvPr id="9" name="Picture 8" descr="fig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46120"/>
            <a:ext cx="4572000" cy="23233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605272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G2++ fit to realised yield-change vol by tenor: matches level/slope, not the 5y hump.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371600"/>
          <a:ext cx="5212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1280160"/>
                <a:gridCol w="10972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MPE99 1F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MPE99 2F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$26.0M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$51.5M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$50.0M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92240" y="2971800"/>
            <a:ext cx="5212080" cy="37033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971800"/>
            <a:ext cx="44450" cy="37033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081528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HULL-WHITE 1F OVER G2++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47288"/>
            <a:ext cx="489204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-3% on the headline doesn't justify 3 extra parameters (2 vs 5) -- no demonstrable accuracy gain for the added complexity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G2++'s own calibration carries a 16% fit error -- it trades one uncertainty (1F's missing slope factor) for another (2F's imperfect fit), not a clear improvement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HW1F calibrates to the forward-looking swaption cube; G2++ fits realised covariance only, with just 616 days of data to pin down 5 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Both are Gaussian and support negative rates and analytic bond pricing -- no capability is lost by staying 1F; fewer parameters means less to validate and govern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Model risk here is dominated by equity volatility and rate-equity dependence, not rate-model choice (Section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G2++ is already implemented, calibrated and left selectable (rates_model='g2pp') -- defaulting to 1F is a reversible choice, not a one-way door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Full-Rank Correlation Kept: PCA Factor Model Adds No Speed, No Consistent Accuracy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363"/>
                <a:gridCol w="1803783"/>
                <a:gridCol w="2015993"/>
                <a:gridCol w="2015993"/>
                <a:gridCol w="2015993"/>
                <a:gridCol w="2015993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Factors 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Var. explained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CPTY_A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CPTY_B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CPTY_C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Shock-step time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(39)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$52.9M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$19.6M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$25.4M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1.91s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$53.5M (+1.1%)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$19.9M (+1.5%)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$25.8M (+1.7%)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2.29s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$52.9M (+0.0%)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$19.9M (+1.7%)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$26.4M (+3.9%)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2.08s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$53.2M (+0.6%)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$20.0M (+2.1%)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$26.3M (+3.4%)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88036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91693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Full-rank Cholesky (default)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101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82433"/>
                </a:solidFill>
                <a:latin typeface="Cambria"/>
              </a:rPr>
              <a:t>What the PCA factors actually are, economically: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5943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731520"/>
                <a:gridCol w="4572000"/>
              </a:tblGrid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Var.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Market factor: every name, both regions (NXPI/BAC/JPM highest)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Japan vs US (6902.T/5108.T/7751.T highest; NXPI/KLAC lowest)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growth tech (KO/PG/BRK.B vs KLAC/VST)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(MPC/XOM/RATE_USD vs HDB/IBN)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 (CEG/NFLX/VST vs WBS/NXPI)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fi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611880"/>
            <a:ext cx="5120640" cy="23137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Eigenvalue scree, cumulative variance explained, reconstruction error vs. 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These are statistical factors, but their loadings read off the real data -- a risk reviewer can sanity-check each 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Common Random Numbers Make Bump-and-Reprice 282x Less Noisy Than Independent Draws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621536"/>
                <a:gridCol w="1621536"/>
                <a:gridCol w="1621536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Works as black box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Covers quantiles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Bump, independent draws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1x, but 282x noisier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Bump, CRN (used)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1x, cost measured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Pathwise (eq/FX check)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~1000x faster, eq/FX only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Adjoint (not adopted)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6B728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3-5x one valuation -- needs differentiable pricers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69164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373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CRN bump-and-reprice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103120"/>
            <a:ext cx="4114800" cy="1737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2103120"/>
            <a:ext cx="44450" cy="1737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21284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CRN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578608"/>
            <a:ext cx="3794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Works on any pricer as a black box, for every measure including PFE99, which has no pathwise derivative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282x lower estimator noise at zero extra simulation cost -- same number of paths, just reused random numbers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Generalises automatically to every new risk factor (e.g. the JPY factor) without new Greeks code</a:t>
            </a:r>
          </a:p>
        </p:txBody>
      </p:sp>
      <p:pic>
        <p:nvPicPr>
          <p:cNvPr id="13" name="Picture 12" descr="fig_greeks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66160"/>
            <a:ext cx="3931920" cy="23931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598932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Cost per Greeks method, measured at N=300, 8 cores.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566160"/>
            <a:ext cx="65836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82 of 91 total factor bumps (equity+FX) cost 88s total via exact GBM path rescaling -- vs ~8,166s naive resimulation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Rate/vol bumps still need resimulation (~109s each, 13 needed) -- the exact analytic rate Greek (feedback item 7, next section) removes even that cost for curve-only bumps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Feedback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item raised across two rounds of review, addressed and evidenced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11 Feedback Items Across Two Rounds, All Addressed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301"/>
                <a:gridCol w="2533135"/>
                <a:gridCol w="4255667"/>
                <a:gridCol w="4053016"/>
              </a:tblGrid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You said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 did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Make stress testing robust and structured, not a paragraph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13 scenarios (8 round-number + 5 historical), full MC re-run from shocked state, same random draws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moves -24%/+23%; level moves up to +89% -- margin is why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Explain Greeks: method, cost, faster alternative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bump-and-reprice; pathwise cross-check for eq/FX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cuts noise $245k-&gt;$1k (282x); pathwise 1000x faster, &lt;0.4% difference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Improve PCA explainability, quantify its speed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Factor-by-factor variance table; measured correlated-shock timing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 factors = 47% variance; PCA is SLOWER (2.08s vs 1.91s), not faster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Confirm what drives each counterparty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delta / DV01 table by netting set; rank correlations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 is equity, C is rates (+equity); portfolio MPE99 close to A+C, not A+B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Walk through the CVA calc end to end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CPTY_C step-by-step table: exposure -&gt; spread -&gt; PD -&gt; 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CPTY_C close-out CVA $8k; rating sensitivity AA $7k to BB $18k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more historical testing periods (incl. 2008)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Extended price history to 2007; found 2008 GFC and 2015 deval. windows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2008 moves close-out MPE99 -13% -- inside range existing scenarios covered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Can Latin Hypercube calculate a sensitivity directly?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Derived the exact analytic rate-shift Greek (x(t) unchanged by curve bumps)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No resimulation; validated to 1e-15 relative precision vs true resimulation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KVA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K(t)=8%xRWxalphaxEPE(t), cost-of-capital swept 8/10/12%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KVA $22.4k (close-out) vs CVA $11.7k at 10% CoC -- exceeds CVA by design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Items 9-11: CVA Sensitivities, DV01 via a Jacobian, Excel Parametric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7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59"/>
                <a:gridCol w="2651759"/>
                <a:gridCol w="4206239"/>
                <a:gridCol w="402336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You said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We did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CVA is for understanding sensitivities, not just a number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Delivered CVA01, full rating table, SA-CVA weighted sensitivities by risk class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Rating table AAA $5.0k to B $32.8k; ccs delta is 88% of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Compute DV01 via a proper par-instrument Jacobian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the curve's own ~45 native pillars, not 8 hand-picked zero-rate tenors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30y bucket: 82% of DV01 (new) vs 54% (old)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Validate with an independent Excel parametric test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one equity's vol +-1%, compare closed-form Black vs Monte Carlo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Level match ~3%; vega match ~7%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0"/>
            <a:ext cx="5212080" cy="23684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080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10: old zero-grid DV01 bucketing vs the new par-instrument Jacobian.</a:t>
            </a:r>
          </a:p>
        </p:txBody>
      </p:sp>
      <p:pic>
        <p:nvPicPr>
          <p:cNvPr id="9" name="Picture 8" descr="fig_kva_comp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657600"/>
            <a:ext cx="4480560" cy="27271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6400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8: KVA vs CVA at 8/10/12% cost of capital.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DV01 via a Jacobian: Full Before/After, and Why It Changes Hedging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152144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82433"/>
                </a:solidFill>
                <a:latin typeface="Calibri"/>
              </a:rPr>
              <a:t>A Jacobian is the matrix of sensitivities of one set of quantities to another. Here: dNPV / d(each of the curve's own ~45 native build instruments), summed into the 8 standard tenor buckets by the same chain-rule weights used to build the curve itself.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377440"/>
          <a:ext cx="5394960" cy="411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2103120"/>
              </a:tblGrid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 Jacobian)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Parallel bump (check)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035040" y="2377440"/>
            <a:ext cx="5669280" cy="23317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0" y="2377440"/>
            <a:ext cx="44450" cy="23317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4871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BENEFIT, CONCRETELY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852928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Correct tenor attribution means a hedge actually offsets the risk that exists -- old grid would have left the real 30y exposure open while 'hedging' a bucket with little real risk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Total portfolio DV01 itself moves from $46.6k to $57.7k/bp -- the par-instrument method captures curvature the old linear zero-rate interpolation missed, not just a reallocation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Each method is internally consistent (bucket sum matches its own parallel-shift check to within 0.05%) -- the two totals differ because they measure genuinely different things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The par-instrument pillars are the curve's own construction instruments (SOFR futures + Bloomberg long end) -- bumping them is the sensitivity a trader would actually hedge against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SA-CVA interest-rate delta uses the same tenor bucketing -- the old grid would have misallocated regulatory capital by tenor in exactly the same way</a:t>
            </a:r>
          </a:p>
        </p:txBody>
      </p:sp>
      <p:pic>
        <p:nvPicPr>
          <p:cNvPr id="13" name="Picture 12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754880"/>
            <a:ext cx="4023360" cy="182828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0" y="6601968"/>
            <a:ext cx="5577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Bucketed DV01, old vs new method.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Exposure, validation, Greeks, stress, credit -- the full output of the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Peak Portfolio MPE99 is $51.0M, 78% of the Sum of Counterparty MPE99s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9272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EE (close-out)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$8.2M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median PFE (close-out)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50th pct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3416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$65.1M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Sum of standalone MPE99s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vs $51.0M portfolio: 78%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83464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371600"/>
                <a:gridCol w="137160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median PFE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date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$1.8M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$29.6M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$8.2M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27" name="Picture 26" descr="fig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788920"/>
            <a:ext cx="4389120" cy="207564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493776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Peak PFE99 by counterparty under three exposure definitions.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Close-out MPE99 is far below the level exposure because the prior-day value is margined: CPTY_C's $121.3M bond forward has a 99th-pct 10-day move that peaks at just $25.6M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CPTY_A and CPTY_B are driven by the equity swap baskets; their peak occurs in the first weeks, when the baskets are largest, and falls as trades mature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Runs Off Within Four Months as the Book's Trades Mature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  <p:pic>
        <p:nvPicPr>
          <p:cNvPr id="6" name="Picture 5" descr="fig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400800" cy="4434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521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Close-out EE, median PFE and PFE99 by counterparty and for the portfolio (Report Fig. 25).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63040"/>
            <a:ext cx="37033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CPTY_C concentration: one trade, BF_0003, accounts for 90% of the portfolio's peak PFE99 and 96% of today's exposure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is concentration risk, not diversified counterparty risk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Per-Trade Detail: BF_0003 Alone Drives CPTY_C's $29.6M Peak MPE99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6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7814"/>
                <a:gridCol w="1065516"/>
                <a:gridCol w="2722986"/>
                <a:gridCol w="2367814"/>
                <a:gridCol w="2722986"/>
              </a:tblGrid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$2,219,389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$12,021,160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$1,903,453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$10,500,714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$1,694,458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$9,348,743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$2,071,358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$11,351,099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$4,547,555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$25,557,208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$1,306,113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$7,021,957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$860,053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$4,850,697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$63,404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$126,670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Why the Portfolio is Close to A+C, Not A+B: All Three Are Pay-Equity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76071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779"/>
                <a:gridCol w="1541601"/>
                <a:gridCol w="1217053"/>
                <a:gridCol w="1947285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fall, yen weakens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 AND yields rise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4846320" cy="23037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675887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Probability of positive exposure by counterparty -- why median PFE differs from 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Rank correlation of exposures: A-B 0.34, A-C 0.33, B-C 0.12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Yield-equity correlation in our data is ~0.00 -- the 'bonds vs equities inversely' intuition is regime-dependent, not fixed</a:t>
            </a:r>
          </a:p>
        </p:txBody>
      </p:sp>
      <p:pic>
        <p:nvPicPr>
          <p:cNvPr id="10" name="Picture 9" descr="fig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0"/>
            <a:ext cx="4114800" cy="18973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510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Expected NPV by trade through time -- BF_0003 dominates, disappears Dec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5720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Standalone PFE99 at portfolio peak date: A $25.9M, B $9.1M, C $28.5M -- A+C = $54.4M (107% of portfolio)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Rate-equity dependence stress: flight-to-quality moves portfolio MPE to 70% of sum; both-fall-together moves it to 85%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Corrections Moved the Headline From $45.7M to $51.5M, One Fix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1124712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Rows are cumulative. Final model portfolio MPE99: $51.5M (2,000-scenario comparison run); headline reporting run (5,000 scenarios) gives $51.0M.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Model Risk: Equity Volatility and Rate-Equity Dependence Dominate, Not the Rate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76656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1371600"/>
          <a:ext cx="420623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698"/>
                <a:gridCol w="680421"/>
                <a:gridCol w="680421"/>
                <a:gridCol w="680421"/>
                <a:gridCol w="742277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Perturbation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Equity/FX vols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correl. +30% to 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rate sigma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mean reversion x3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G2++ vs 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Model risk in the headline is dominated by equity volatility and by the (unobservable) rate-equity dependence, not by the choice of rate model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directly supports retaining the simpler one-factor Hull-White: the bigger uncertainty lives elsewhere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Stress Testing: Close-Out MPE99 Moves at Most -24% / +23%, Level Moves Up to +86%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5120638" cy="210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554479"/>
                <a:gridCol w="1554479"/>
              </a:tblGrid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Close-out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Level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Base case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$49.2M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$201.7M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-30%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+60%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Rates -200bp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-68%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Flight to quality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Stagflation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+86%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Hist. equity crash (2020)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-15%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+53%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94760"/>
            <a:ext cx="5120640" cy="24263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2636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Close-out PFE99 ratio to base, by scenario, through the first year -- margin dampens the shock.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554480"/>
            <a:ext cx="59436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13 scenarios total: 8 round-number hypothetical + 5 historical replays (2020 crash, 2022 rate spike, 2024 yen surge, and newly added 2008 GFC, 2015 China deval. -- see Appendix A3)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Each scenario is a full Monte Carlo re-run from the shocked state, with the same random numbers as the base case -- so the difference is the shock, not sampling noise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Flight-to-quality and stagflation apply the same equity shock with opposite rate shocks -- CPTY_A/B move similarly in both; CPTY_C moves oppositely because a 22-year bond gains duration value as yields fall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Book Greeks Today: DV01 of $622k/bp Dominated by the CPTY_C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1124711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6925"/>
                <a:gridCol w="2627831"/>
                <a:gridCol w="2627831"/>
                <a:gridCol w="2102265"/>
                <a:gridCol w="210226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FX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$3,572,955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$1,145,975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$125,116,984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$129,835,914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-$4,455,835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$621,983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Efficiency: equity/FX Greeks cost almost nothing extra -- 78 bumps in 88s (1.1s each) because a spot bump rescales every GBM path exactly, no resimulation needed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vs ~8,166s if each were a naive resimulation -- 93x cheaper; only 13 rate/vol bumps need true resimulation at ~109s each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Full Greeks set (~91 factor bumps) costs ~1,614s at N=300 (8 cores) against ~9,690s naive -- 6.0x; at production N=1,000 the whole set costs roughly 1.5 hours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Validation: Self-Check to 0.0000%, Martingale Tests, and a 1.04x VaR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3035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t=0 self-consistency (EE(0) vs direct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Matches to 0.0000%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Martingale / no-arbitrage (bank-account check, 8,000 paths)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Max relative difference 0.85bp across nodes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JPY bank-account martingale (valued in USD)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z = +0.03 (|z|&lt;~2 expected under null)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Delta-normal VaR benchmark (99%, 1-day)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$12.6M (parametric) vs $12.1M (Monte Carlo); ratio 1.04x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Automated statistical and unit 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142 pass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8056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Each check isolates one layer of the engine (paths, pricing, calibration, aggregation) so a failure points directly at where to look. Validation rests on independent methods -- parametric VaR, hand-calculated analytic bond prices, and martingale conditions derived from first principles -- not circular checks of the engine against itself.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Backtest: 99% Quantiles Close to Calibrated, 4/6/2 Exceptions vs 2.4 Expected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41247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0427"/>
                <a:gridCol w="966951"/>
                <a:gridCol w="1450427"/>
                <a:gridCol w="1257037"/>
                <a:gridCol w="1063646"/>
                <a:gridCol w="222398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Kupiec p-value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0.35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 of 242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0.05 (borderline)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0.78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49039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At the 95% level the model is conservative for CPTY_A and CPTY_C (mean exception rates 3.0%/3.2% against a 5% nominal) -- a Kupiec test is two-sided, so over-conservatism also registers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Rates leg (10-day yield-change quantiles at 5/10/20y): both sigma calibrations pass on average over 2020-2026, but the long-end fit is more stable (5.7%/1.5% exception rates at 95%/99% vs nominal 5%/1%) than the overnight-SOFR calibration, which was too wide on average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Calibrated using only data up to each as-of date (trailing 3-year window); non-overlapping windows; starting phase shifted over 10 offsets to check robustness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CVA $11.7k / DVA $11.2k / FVA $0.5k / KVA $22.4k on the Close-Out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548639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2675"/>
                <a:gridCol w="1702675"/>
                <a:gridCol w="208104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Close-out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$247,133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DVA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$11,244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$7,500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FVA (FCA-FBA)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$503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KVA (10% CoC)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$470,000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645920"/>
          <a:ext cx="5394959" cy="2011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726"/>
                <a:gridCol w="2082265"/>
                <a:gridCol w="1892968"/>
              </a:tblGrid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Rating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Portfolio CVA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Multiple of BBB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$4,970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0.42x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$7,028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$7,997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0.68x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1.00x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$18,150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1.55x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$32,847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2.80x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840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CVA concentrated where exposure is: CPTY_C carries 68% of the $11,747 close-out total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Own credit and funding spread are assumed (BBB proxy, funding = own spread) -- disclosed, with sensitivity shown</a:t>
            </a:r>
          </a:p>
        </p:txBody>
      </p:sp>
      <p:pic>
        <p:nvPicPr>
          <p:cNvPr id="10" name="Picture 9" descr="fig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886200"/>
            <a:ext cx="5394960" cy="2370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63093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Discounted EE, CVA by counterparty, and portfolio CVA by assumed rating.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Extra Credit: Pricing a Risky Bond With an Issuer-Credit Proxy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Sample trade: a long forward on a 5% BBB corporate bond, $25M notional, forward date 2027-02-26 -- not part of the ESF book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Issuer curve: same BBB proxy method as counterparty spreads (0.5y 59bp -&gt; 10y 118bp), re-anchored at every simulated node with a deterministic term structure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Priced two ways: risk-free (ignore issuer credit) vs. risky (issuer credit priced in) -- same forward, same simulation, only the discount/survival treatment differs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57600"/>
          <a:ext cx="6492240" cy="2743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828800"/>
                <a:gridCol w="18288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Risk-free bond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Risky bond (issuer credit)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t=0 NPV of the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$653,843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-$280,309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Forward clean price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102.6666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98.8568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Issuer credit charge at t=0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$934,152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CS01 (NPV per +1bp issuer spread)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-$10,998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(counterparty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Peak level PFE99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1371600"/>
            <a:ext cx="5394960" cy="21031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44450" cy="21031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5074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WHAT'S MISSING VS. A FULL CDS BUILD-OUT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47088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Issuer credit is deterministic here (the spread curve doesn't move in the simulation) -- a stochastic issuer-spread factor is listed as future 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No CDS instrument pricer exists in the supplied library, so CDS themselves (as opposed to a risky bond) could not be added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65760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Counterparty exposure (close-out MPE99 $0.5M) is almost unchanged between the two versions -- it's driven by the forward's market-risk move, not by issuer credit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Peak level PFE99 falls from $2.1M to $1.3M on the risky bond: issuer credit lowers the bond's value, which lowers the level of exposure at risk, even though CS01 adds a new risk dimension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SA-CVA Capital $0.10M (Close-Out) / $2.23M (Level); SA-CCR EAD $260.3M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  <a:gridCol w="192024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 class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Close-out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$74,837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$5,284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fx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$2,351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ccs delta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$85,198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$2,032,731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$2,068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$110,371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$3,256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$6,278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Total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$96,675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$2,226,821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5669280" cy="23062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28232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CVA sensitivity to USD yields and counterparty spreads; SA-CVA capital by risk class.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371600"/>
          <a:ext cx="52120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46"/>
                <a:gridCol w="1516241"/>
                <a:gridCol w="1231946"/>
                <a:gridCol w="123194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Replacement cost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EAD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$16.8M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$28.4M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$14.0M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$125.1M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$217.8M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$56.3M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34290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CPTY_C the replacement cost of BF_0003 dominates SA-CCR EAD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the equity netting sets SA-CCR PFE is of the same order as the Monte Carlo level-exposure MPE -- an independent cross-check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SA-CVA requirement dominated by ccs delta (88% of the total) -- a 5% risk weight on credit spreads is large relative to a ~100bp spread level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Conclusions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know, what we assumed, and what Capitolis needs to decide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Validated and Reproducible; Limitations Disclosed, Not Hidden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7A4C"/>
                </a:solidFill>
                <a:latin typeface="Cambria"/>
              </a:rPr>
              <a:t>What we are confident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Engine validated: t=0 self-check 0.0000%, martingale tests, 1.04x VaR benchmark, Kupiec backtest, 142 automated tests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Portfolio MPE99 $51.0M on the brief's exact definition, reproducible with a single command per stage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modelling choice is backed by a quantified alternative comparison, not asserted (Section 6)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All 11 feedback items closed with evidence; both extra-credit items (xVA, risky bonds)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A2A"/>
                </a:solidFill>
                <a:latin typeface="Cambria"/>
              </a:rPr>
              <a:t>What depends on data we don't have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CSA data: threshold, minimum transfer amount, initial margin all unknown -- the two exposure definitions bracket the answer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Counterparty ratings are a BBB proxy (bond-index spreads, not CDS) -- every credit number scales with this assumption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Volatility is 3-year realised, not implied (no single-name options data); correlation is one static matrix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GBM understates fat tails (seen in the CPTY_B backtest); no wrong-way risk modelled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Recommended Next Steps: Confirm Margin Terms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/>
                <a:gridCol w="2743200"/>
                <a:gridCol w="4114800"/>
                <a:gridCol w="3840479"/>
              </a:tblGrid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What's needed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Confirm whether any trade is margined, and on what terms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Changes CPTY_C's MPE99 by up to 82% (Section 7.7 MPOR illustration)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CSA terms per netting set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Real counterparty ratings or CDS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BBB proxy drives every CVA/SA-CVA number; AA-BB spans a 2.6x range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Names, ratings, or CDS quotes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Wrong-way risk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Independence of exposure and default is currently assumed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dependence model and the counterparties it applies to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 own credit and funding curve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DVA/FVA rest on a BBB proxy assumption (own credit = counterparty proxy)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Capitolis' own credit and funding spread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Adjoint Greeks / two-factor rates as default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Cheapest route for all-factor Greeks; G2++ already implemented and compared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differentiable pricer port; decision on G2++ adoption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Questions and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Berkeley MFE Industry Project  |  Monte Carlo Counterparty Credit Risk Engine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82433"/>
                </a:solidFill>
                <a:latin typeface="Cambr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Backup material for Q&amp;A -- not presented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A1. The Full Decision Register (Report Section 10)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840479"/>
                <a:gridCol w="57607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Alternatives considered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Risk-neutral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Real-world drifts (needs unobservable risk premia)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Exposure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Brief's close-out definition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Level max(V,0) only; same-day full-VM MPOR shift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Hull-White 1F, sigma from realised 2y-30y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CIR, Black-Karasinski, LMM/HJM, G2++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Equities/FX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Correlated GBM + quanto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Heston, SABR, jump models (no option data)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One static 39x39 matrix, Cholesky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Time-varying DCC, stressed, PCA factor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Sampling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Pseudo-random, antithetic, moment-matched, Sobol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Scenario count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5,000 report / 1,000 iter. / 10,000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30,000-scenario pool (diminishing returns)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rates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 JPY Hull-White factor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Constant differential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check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Independent draws, likelihood ratio, adjoint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A2. Full Data Lineage (Report Appendix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846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931919"/>
              </a:tblGrid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Trades (16) and underlyings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trade_data/*.csv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Pricing library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capitolis_pricers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Given, independently reviewed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SOFR futures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validated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Equity/FX spots, 3y history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(DGS series)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Bloomberg, via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USD/JPY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TONA (JPY overnight)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Bank of Japan API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JGB par yields 1Y-40Y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Japan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1974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Credit spreads by rating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(ICE BofA OAS)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A3. 2008 GFC and 2015 China Devaluation: Full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_hist_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146304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GFC window: Sep 29 - Oct 10, 2008; -23% median / -44% worst single-name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2015 China devaluation window: August 2015; -6.8% median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Both found by the same objective rule as the existing replays (worst 10-day window by rule, not hand-picked)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moves close-out MPE99 by -13%, level exposure by +56% -- both land inside the range the existing 2020/2022/2024 scenarios already covered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Conclusion: leaving out 2008 from the original scenario set was not quietly understating the tail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A4. Per-Trade Stress Sensitivity Heat Map (Report Figure 34)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833148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A5. DV01 Bucket Detail: Old Zero-Grid vs New Par-Instrument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6400800" cy="47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286000"/>
              </a:tblGrid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Parallel bump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463040"/>
            <a:ext cx="4572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Old method bumped the fitted zero curve at 8 hand-picked tenors with triangular interpolation -- disconnected from how the curve is actually built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New method bumps the curve's own ~45 native construction pillars (SOFR futures + Bloomberg long end), grouped into the same 8 buckets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Both sum to the same total DV01 within 0.05% -- total risk was always right, attribution across tenor was wrong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A6. G2++ Two-Factor Rate Model: Full Calibration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82433"/>
                </a:solidFill>
                <a:latin typeface="Courier New"/>
              </a:rPr>
              <a:t>r(t) = x(t) + y(t) + phi(t);  dx = -a x dt + sigma dW1;  dy = -b y dt + eta dW2;  corr(dW1,dW2) = rho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457200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0.039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1.44%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-0.95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Relative Frobenius fit error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2286000"/>
            <a:ext cx="6217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Calibrated to the realised covariance of 3-month to 30-year Treasury yield changes (3-year window), least squares on the whole covariance matrix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Reproduces the level and slope of the volatility term structure but not the hump around the 5-year point, which no two-factor Gaussian model can produce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A7. PCA Factor Loadings: What the Factors Actually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4114800"/>
                <a:gridCol w="4846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Var. share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Highest loadings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NXPI +0.25, BAC +0.25, JPM +0.24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 factor: all names, both regions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6902.T +0.43, 5108.T +0.43, 7751.T +0.42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Japan vs US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KO +0.40, PG +0.35, BRK.B +0.32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high-growth tech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MPC +0.44, XOM +0.43, RATE_USD +0.34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group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CEG +0.39, NFLX +0.39, VST +0.37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389120"/>
            <a:ext cx="4654388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A8. Backtest: Rates Leg Detail (10-Day Yield-Change Quantiles)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8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7744"/>
                <a:gridCol w="2811780"/>
                <a:gridCol w="2379198"/>
                <a:gridCol w="2379198"/>
                <a:gridCol w="2379198"/>
              </a:tblGrid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Sigma calibration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95%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Nominal exception rates are 1% at the 99% level and 5% at the 95% level. The long-end fit is the more stable calibration across the full 2020-2026 window.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A9. Code Map (Report Appendix 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3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sofr, equities, fx, vols, correlations; boj, mof_jgb, bloomberg (JPY); credit_spreads, equity_buckets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models/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rates (Hull-White), g2pp, equity_fx (GBM+JPY drift), calibration, equity_factor_model (PCA), credit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simulation/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engine (grid, paths, MPOR), random_numbers (5 sampling schemes), parallel (multiprocessing)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greeks/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book, exposure, pathwise, bumps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stress/, validation/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scenarios; backtest (Kupiec, Christoffersen)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exposure/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spec_exposure, aggregate, collateral, cva, xva, sa_cva, sa_ccr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142 tests across engine, calibration, exposure, Greeks, xVA, backtests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A10. Reproducing Every Result (Report Appendix 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82433"/>
                </a:solidFill>
                <a:latin typeface="Courier New"/>
              </a:rPr>
              <a:t>python scripts/generate_report_data.py --scenarios 3000   # simulation + figure arrays
python scripts/run_simulation.py --scenarios 3000          # EE/PFE99/MPE profiles
python scripts/run_spec_simulation.py --scenarios 5000     # close-out exposure (headline)
python scripts/run_greeks.py --scenarios 1000              # book and exposure Greeks
python scripts/run_sa_cva.py --scenarios 1000               # CVA and SA-CVA capital
python scripts/run_xva.py &amp;&amp; python scripts/run_sa_ccr.py   # CVA/DVA/FVA and SA-CCR
python scripts/run_stress.py --scenarios 1000               # stress test
python scripts/run_backtest.py                              # Kupiec backtest
python -m pytest tests                                       # all 142 automated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