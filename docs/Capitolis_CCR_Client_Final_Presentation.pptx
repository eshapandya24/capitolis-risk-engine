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the date-grid design choice: not a plain monthly grid, but market pillar dates with every trade's own cash-flow date forced in.</a:t>
            </a:r>
          </a:p>
          <a:p/>
          <a:p>
            <a:r>
              <a:t>- Monthly steps are simple but blunt -- they spend nodes evenly when risk actually changes fastest near-term, and a trade's own reset or maturity rarely falls on a month-end</a:t>
            </a:r>
          </a:p>
          <a:p>
            <a:r>
              <a:t>- Following Capitolis' guidance, we adopt pillar dates: the same standard market curve tenors used to build the SOFR curve (O/N, T/N, 1W, 2W, 1M, 2M, 3M, 6M, 9M, 1Y, 18M, 2Y...) -- dense short-term, sparse long-term, mirroring production CCR practice</a:t>
            </a:r>
          </a:p>
          <a:p>
            <a:r>
              <a:t>- Every trade's own reset/settlement/maturity date is forced onto the grid in addition, so exposure jumps at real cash-flow dates are captured exactly, not smoothed over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Two forms of checking the engine in one slide: independent validation of correctness, then a structured stress programme (feedback item 1) showing how the results move under shocks.</a:t>
            </a:r>
          </a:p>
          <a:p/>
          <a:p>
            <a:r>
              <a:t>- Validation: t=0 self-check to 0.0000%, martingale tests, a 1.04x delta-normal VaR benchmark, and 142 automated tests -- each isolates one layer of the engine, independent of the headline results</a:t>
            </a:r>
          </a:p>
          <a:p>
            <a:r>
              <a:t>- Stress: 13 scenarios (8 hypothetical + 5 historical, incl. 2008 GFC) run as a full Monte Carlo re-run from the shocked state, same random numbers as the base case</a:t>
            </a:r>
          </a:p>
          <a:p>
            <a:r>
              <a:t>- Close-out MPE99 moves at most -24%/+23%; level MPE99 moves up to +86% -- margin is why the close-out measure is far less sensitive to instantaneous shocks</a:t>
            </a:r>
          </a:p>
          <a:p/>
          <a:p>
            <a:r>
              <a:t>TIME: ~2.5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7316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Validated independently: BF_0003's NPV on the spliced curve ($121.3M) lands within 0.4% of repricing it directly on Bloomberg's own zero curve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Licensed Bloomberg data is used only to extend the shape beyond the live futures range -- we never redistribute the raw licensed numbers, only this derived splice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vols, which would need a per-name basis assumption)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directly (vols x1.25/x2 in 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 years balances responsiveness against noise: long enough to average out idiosyncratic single-day jumps, short enough to reflect the current vol regime rather than a decade-old one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same convention is applied to every one of the 37 names, so the cross-section stays comparable rather than mixing proxy quality name by name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Simulation Dates: Pillar Tenors Plus Every Trade's Own Event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fi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949440" cy="3881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Four candidate grids for this book: dense near-term, sparse far-term, with event dates forced in.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7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268"/>
                <a:gridCol w="541421"/>
                <a:gridCol w="232811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Node 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Monthly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Simple, but spends nodes evenly and rarely lands on a trade's own dates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Standard market tenors (O/N..10Y); dense short-term, sparse long-term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+ trade event dates (used)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tenors plus every trade's reset/settlement/maturity forced 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Trade event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Exact on cash flows, but no systematic curve-tenor coverage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3931920"/>
            <a:ext cx="411480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93192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0416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PILLAR + TRADE EVENT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407408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Industry convention (pillar tenors) plus exactness on this book's own cash flows -- neither alone is enough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Dense near-term, where the close-out window and most trade maturities sit, matches where risk actually changes fastest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trade settling inside a close-out window is excluded from both legs of that window -- forcing its date onto the grid is what makes that exclusion possible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modularity: each package has one job and is independently testable (the 142 tests target these modules directly).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reproducibility: every number regenerates from one command per stage (Appendix A10), nothing is one-off or hand-tuned.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743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743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Only 2 parameters (a, sigma) to fit and defend -- fewer than the data (a few years of swaption/yield history) can comfortably support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Industry-standard and well understood, which lowers the model-validation burden for a reviewer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 and slower);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2651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2651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Matches the lognormal vol convention we measure and the market default for equity CCR;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Drifts derived from the martingale condition, not assumed -- verified independently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No unobservable parameters beyond that single vol -- Heston (vol-of-vol), SABR (beta, rho) and jump models all need inputs we don't have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Keeps paths exactly rescalable under a spot bump, which is what later makes equity/FX Greeks ~100x cheaper than naive resimulation (Section 6)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2918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2918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Confirmed by three independent real data sources (daily OIS history, 52 years of JGB yields, a 2026 swaption cube), every one giving a negative fitted a -- not a one-off artifact of noisy data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negative a was rejected outright: it would make the simulated short rate diverge over the horizon, which is both numerically unstable and economically meaningless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single Gaussian factor cannot produce the observed shape; a=0.001 (the Ho-Lee limit, flat vol across tenors) is the closest a one-factor model can get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lower bound keeps the model fully analytic and negative-rate capable, so no other part of the engine needs to change to accommodate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RMSE vs pseudo-random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PFE99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Median PFE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Two studies, same table: a controlled European-call benchmark (RMSE vs. Black-Scholes, relative to pseudo-random) and the real 663-dim engine's own estimator noise (relative standard error, 8 repeats).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103120"/>
            <a:ext cx="402336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103120"/>
            <a:ext cx="44450" cy="1828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1284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78608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the deciding factor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Negligible extra cost over pseudo-random -- ~40 factors is cheap next to repricing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Stratifies every marginal so tails are sampled, unlike Sobol's joint-distribution assumptions</a:t>
            </a:r>
          </a:p>
        </p:txBody>
      </p:sp>
      <p:pic>
        <p:nvPicPr>
          <p:cNvPr id="13" name="Picture 12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6400800" cy="23118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14800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N=5,000 keeps a full reporting run to ~8 minutes on 8 cores -- practical for routine, repeated use, not just a one-off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Three tiers (1k/5k/10k) match three real use cases -- iteration, standard reporting, limit sign-off -- rather than one setting for everything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309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1104138"/>
                <a:gridCol w="1104138"/>
                <a:gridCol w="1104138"/>
                <a:gridCol w="110413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78892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8254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60527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371600"/>
          <a:ext cx="5212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2971800"/>
            <a:ext cx="5212080" cy="37033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971800"/>
            <a:ext cx="44450" cy="37033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81528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47288"/>
            <a:ext cx="48920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-3% on the headline doesn't justify 3 extra parameters (2 vs 5)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HW1F calibrates to the forward-looking swaption cube; G2++ fits realised covariance only, with just 616 days of data to pin down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fewer parameters means less to validate and govern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Model risk here is dominated by equity volatility and rate-equity dependence, not rate-model choice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 is already implemented, calibrated and left selectable (rates_model='g2pp') -- defaulting to 1F is a reversible choice, not a one-way door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Validated on a European call against the known Black-Scholes answer (Section 11.6):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37360"/>
          <a:ext cx="64922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26"/>
                <a:gridCol w="1195938"/>
                <a:gridCol w="1452211"/>
                <a:gridCol w="1281363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Estimator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Std of estimate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Time/trial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Pathwise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0.470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common random numbers (used)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0.327 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independent random numbers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-0.003502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0.096885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0.850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004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CRN is statistically indistinguishable from pathwise (26x lower std than independent draws) -- and works on any pricer.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82433"/>
                </a:solidFill>
                <a:latin typeface="Cambria"/>
              </a:rPr>
              <a:t>All 5 Greeks methods considered: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6492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independent draws -- unbiased, but noise swamps the signal on the real book (282x higher std): rejected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common random numbers (used) -- same draws in base and bumped runs; works as a black box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Pathwise (infinitesimal perturbation) -- differentiates the payoff along each path, no repricing; exact for linear equity/FX deltas, but can't reach rates without differentiating the pricers: used as a free cross-check only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Likelihood ratio -- differentiates the path density instead of the payoff; suits vega-type parameters but has high variance over many time steps: not adopted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Adjoint (algorithmic) differentiation -- asymptotically fastest (all Greeks for ~3-5x one valuation) but needs a differentiable port of the black-box pricers: not possible here, listed as future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716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4081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783080"/>
            <a:ext cx="429768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178308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258568"/>
            <a:ext cx="3977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282x lower estimator noise at zero extra simulation cost -- same number of paths, just reused random numbers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Generalises automatically to every new risk factor (e.g. the JPY factor) without new Greeks code</a:t>
            </a:r>
          </a:p>
        </p:txBody>
      </p:sp>
      <p:pic>
        <p:nvPicPr>
          <p:cNvPr id="17" name="Picture 16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0"/>
            <a:ext cx="3840480" cy="233751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06640" y="6035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Cost per Greeks method, measured at N=300, 8 cores. 82 of 91 factor bumps cost 88s total via exact GBM path rescaling -- vs ~8,166s naive resimulation.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331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331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par-instrument pillars are the curve's own construction instruments (SOFR futures + Bloomberg long end) -- bumping them is the sensitivity a trader would actually hedge against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SA-CVA interest-rate delta uses the same tenor bucketing -- the old grid would have misallocated regulatory capital by tenor in exactly the same way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to 0.0000%, Then Stress-Tested Across 13 Scenarios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Validation: 5 independent checks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27632"/>
          <a:ext cx="1124711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Each check isolates one layer (paths, pricing, calibration, aggregation) and rests on an independent method, not a circular check of the engine against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 testing: 13 scenarios, close-out vs. level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703320"/>
          <a:ext cx="4663440" cy="17373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5376"/>
                <a:gridCol w="1399032"/>
                <a:gridCol w="1399032"/>
              </a:tblGrid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703320"/>
            <a:ext cx="4297680" cy="20364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03520" y="577900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Close-out PFE99 ratio to base, by scenario -- margin dampens the shock.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703320"/>
            <a:ext cx="1965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13 scenarios: 8 hypothetical + 5 historical (incl. 2008 GFC, 2015 China deval. -- Appendix A3)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Same random numbers as base case -- the difference is the shock, not noise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Flight-to-quality / stagflation: same equity shock, opposite rate shocks -- CPTY_C moves oppositely (22-year bond duration)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