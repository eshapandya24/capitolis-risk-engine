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latin typeface="Calibri"/>
              </a:rPr>
              <a:t>Portfolio close-out exposure (USD M) -- illustrative shape from Fig. 25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PFE99</c:v>
                </c:pt>
              </c:strCache>
            </c:strRef>
          </c:tx>
          <c:spPr>
            <a:ln w="28575">
              <a:solidFill>
                <a:srgbClr val="D2006F"/>
              </a:solidFill>
            </a:ln>
          </c:spPr>
          <c:marker>
            <c:spPr>
              <a:solidFill>
                <a:srgbClr val="D2006F"/>
              </a:solidFill>
            </c:spPr>
          </c:marker>
          <c:cat>
            <c:strRef>
              <c:f>Sheet1!$A$2:$A$9</c:f>
              <c:strCache>
                <c:ptCount val="8"/>
                <c:pt idx="0">
                  <c:v>t=0</c:v>
                </c:pt>
                <c:pt idx="1">
                  <c:v>1mo</c:v>
                </c:pt>
                <c:pt idx="2">
                  <c:v>2mo</c:v>
                </c:pt>
                <c:pt idx="3">
                  <c:v>3mo (peak)</c:v>
                </c:pt>
                <c:pt idx="4">
                  <c:v>4mo</c:v>
                </c:pt>
                <c:pt idx="5">
                  <c:v>6mo</c:v>
                </c:pt>
                <c:pt idx="6">
                  <c:v>9mo</c:v>
                </c:pt>
                <c:pt idx="7">
                  <c:v>12mo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38</c:v>
                </c:pt>
                <c:pt idx="2">
                  <c:v>48</c:v>
                </c:pt>
                <c:pt idx="3">
                  <c:v>51</c:v>
                </c:pt>
                <c:pt idx="4">
                  <c:v>30</c:v>
                </c:pt>
                <c:pt idx="5">
                  <c:v>8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EE</c:v>
                </c:pt>
              </c:strCache>
            </c:strRef>
          </c:tx>
          <c:spPr>
            <a:ln w="28575">
              <a:solidFill>
                <a:srgbClr val="182433"/>
              </a:solidFill>
            </a:ln>
          </c:spPr>
          <c:marker>
            <c:spPr>
              <a:solidFill>
                <a:srgbClr val="182433"/>
              </a:solidFill>
            </c:spPr>
          </c:marker>
          <c:cat>
            <c:strRef>
              <c:f>Sheet1!$A$2:$A$9</c:f>
              <c:strCache>
                <c:ptCount val="8"/>
                <c:pt idx="0">
                  <c:v>t=0</c:v>
                </c:pt>
                <c:pt idx="1">
                  <c:v>1mo</c:v>
                </c:pt>
                <c:pt idx="2">
                  <c:v>2mo</c:v>
                </c:pt>
                <c:pt idx="3">
                  <c:v>3mo (peak)</c:v>
                </c:pt>
                <c:pt idx="4">
                  <c:v>4mo</c:v>
                </c:pt>
                <c:pt idx="5">
                  <c:v>6mo</c:v>
                </c:pt>
                <c:pt idx="6">
                  <c:v>9mo</c:v>
                </c:pt>
                <c:pt idx="7">
                  <c:v>12mo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9</c:v>
                </c:pt>
                <c:pt idx="2">
                  <c:v>11</c:v>
                </c:pt>
                <c:pt idx="3">
                  <c:v>11.6</c:v>
                </c:pt>
                <c:pt idx="4">
                  <c:v>7</c:v>
                </c:pt>
                <c:pt idx="5">
                  <c:v>2</c:v>
                </c:pt>
                <c:pt idx="6">
                  <c:v>1</c:v>
                </c:pt>
                <c:pt idx="7">
                  <c:v>0.3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Median PFE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pPr>
              <a:solidFill>
                <a:srgbClr val="6B7280"/>
              </a:solidFill>
            </c:spPr>
          </c:marker>
          <c:cat>
            <c:strRef>
              <c:f>Sheet1!$A$2:$A$9</c:f>
              <c:strCache>
                <c:ptCount val="8"/>
                <c:pt idx="0">
                  <c:v>t=0</c:v>
                </c:pt>
                <c:pt idx="1">
                  <c:v>1mo</c:v>
                </c:pt>
                <c:pt idx="2">
                  <c:v>2mo</c:v>
                </c:pt>
                <c:pt idx="3">
                  <c:v>3mo (peak)</c:v>
                </c:pt>
                <c:pt idx="4">
                  <c:v>4mo</c:v>
                </c:pt>
                <c:pt idx="5">
                  <c:v>6mo</c:v>
                </c:pt>
                <c:pt idx="6">
                  <c:v>9mo</c:v>
                </c:pt>
                <c:pt idx="7">
                  <c:v>12mo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6</c:v>
                </c:pt>
                <c:pt idx="2">
                  <c:v>7.5</c:v>
                </c:pt>
                <c:pt idx="3">
                  <c:v>8.2</c:v>
                </c:pt>
                <c:pt idx="4">
                  <c:v>5</c:v>
                </c:pt>
                <c:pt idx="5">
                  <c:v>1.5</c:v>
                </c:pt>
                <c:pt idx="6">
                  <c:v>0.5</c:v>
                </c:pt>
                <c:pt idx="7">
                  <c:v>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MPE99 (USD M)</c:v>
                </c:pt>
              </c:strCache>
            </c:strRef>
          </c:tx>
          <c:spPr>
            <a:solidFill>
              <a:srgbClr val="D2006F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Earlier version</c:v>
                </c:pt>
                <c:pt idx="1">
                  <c:v>+USDJPY drift fix</c:v>
                </c:pt>
                <c:pt idx="2">
                  <c:v>+vol fit &amp; correl.</c:v>
                </c:pt>
                <c:pt idx="3">
                  <c:v>+Bloomberg splice</c:v>
                </c:pt>
                <c:pt idx="4">
                  <c:v>+JPY HW factor (final)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45.7</c:v>
                </c:pt>
                <c:pt idx="1">
                  <c:v>47.8</c:v>
                </c:pt>
                <c:pt idx="2">
                  <c:v>52.7</c:v>
                </c:pt>
                <c:pt idx="3">
                  <c:v>52.1</c:v>
                </c:pt>
                <c:pt idx="4">
                  <c:v>51.5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8EAED"/>
            </a:solidFill>
          </a:ln>
        </c:spPr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8EAED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We built, validated and stress-tested the full CCR engine the brief asked for; headline portfolio MPE99 is $51.0M, concentrated in the first four months.</a:t>
            </a:r>
          </a:p>
          <a:p/>
          <a:p>
            <a:r>
              <a:t>- Peak EE $11.6M, peak median PFE $8.2M, MPE99 $51.0M -- all on the brief's 10-day close-out definition</a:t>
            </a:r>
          </a:p>
          <a:p>
            <a:r>
              <a:t>- CVA $11.7k (close-out) / $247k (uncollateralized); SA-CVA capital $0.10M / $2.23M; 142 automated tests pass</a:t>
            </a:r>
          </a:p>
          <a:p>
            <a:r>
              <a:t>- One trade (BF_0003, $500M bond forward) dominates concentration -- CPTY_C is 96% of today's exposure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Set scope and agenda; this is a readout, not a first look -- we move quickly through concepts the audience already knows.</a:t>
            </a:r>
          </a:p>
          <a:p/>
          <a:p>
            <a:r>
              <a:t>- Book: 8 Equity TRS, 4 Bond Forwards, 4 Bond TRS across CPTY_A/B/C</a:t>
            </a:r>
          </a:p>
          <a:p>
            <a:r>
              <a:t>- Agenda mirrors the brief's own structure: data, pipeline, models, trade-offs, feedback, results, conclusions</a:t>
            </a:r>
          </a:p>
          <a:p>
            <a:r>
              <a:t>- This is the final readout after ~7 weeks and two rounds of feedback -- not an introduction to the concepts</a:t>
            </a:r>
          </a:p>
          <a:p/>
          <a:p>
            <a:r>
              <a:t>TIME: ~1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the brief and our delivered scope.</a:t>
            </a:r>
          </a:p>
          <a:p/>
          <a:p>
            <a:r>
              <a:t>- Two deliverables: engine codebase + technical report</a:t>
            </a:r>
          </a:p>
          <a:p>
            <a:r>
              <a:t>- Two extra-credit items flagged at kickoff: xVA, risky bonds + CDS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Restate the brief's own assumptions exactly as given, because every modelling choice downstream traces back to them.</a:t>
            </a:r>
          </a:p>
          <a:p/>
          <a:p>
            <a:r>
              <a:t>- Exposure = max(V(t+10bd) - V(t-1bd), 0): variation margin is the prior-day NPV, no initial margin</a:t>
            </a:r>
          </a:p>
          <a:p>
            <a:r>
              <a:t>- Capitolis is strictly the seller: falling market values increase counterparty exposure to us</a:t>
            </a:r>
          </a:p>
          <a:p>
            <a:r>
              <a:t>- Scenario count is our choice but must evidence convergence -- this governs our N=1k/5k/10k decision later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Walk the brief's own checklist against our delivery, ending on the two extra-credit items both being complete.</a:t>
            </a:r>
          </a:p>
          <a:p/>
          <a:p>
            <a:r>
              <a:t>- Every core objective delivered; both extra-credit items (xVA, risky bonds) delivered despite no CDS data being obtainable</a:t>
            </a:r>
          </a:p>
          <a:p>
            <a:r>
              <a:t>- SA-CCR and SA-CVA were not explicitly asked for by name but follow directly from the xVA extra-credit ask</a:t>
            </a:r>
          </a:p>
          <a:p>
            <a:r>
              <a:t>- This mapping is why we can say nothing in the plan was left undone -- what remains is data Capitolis holds, not engineering (Section 15)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data.</a:t>
            </a:r>
          </a:p>
          <a:p/>
          <a:p>
            <a:r>
              <a:t>- Real data wherever verifiable; documented proxy where not</a:t>
            </a:r>
          </a:p>
          <a:p>
            <a:r>
              <a:t>- Two real bugs were found and fixed via cross-checks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Walk the data table left to right: live feeds for the backbone, licensed snapshots for the long end and JPY, public series for validation and backtesting.</a:t>
            </a:r>
          </a:p>
          <a:p/>
          <a:p>
            <a:r>
              <a:t>- USD curve bootstrapped from 33 live CME SOFR futures (Databento), cross-checked against Treasury.gov</a:t>
            </a:r>
          </a:p>
          <a:p>
            <a:r>
              <a:t>- Licensed Bloomberg data used only for derived numbers (curve splice, swaption-implied mean reversion) -- never redistributed raw</a:t>
            </a:r>
          </a:p>
          <a:p>
            <a:r>
              <a:t>- JPY OIS history (35 tenors, since 2011) provided by the project team is the most complete JPY source and drives the JPY factor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slide builds credibility: we show the actual process of catching errors, not just the final clean numbers.</a:t>
            </a:r>
          </a:p>
          <a:p/>
          <a:p>
            <a:r>
              <a:t>- The flat long-end extrapolation understated BF_0003 (the $500M 2049 bond forward) by about 16% -- found by repricing on Bloomberg's own curve</a:t>
            </a:r>
          </a:p>
          <a:p>
            <a:r>
              <a:t>- USDJPY drift sign error found by deriving drifts from the martingale condition, not by chance -- the earlier martingale test only covered 6 high-vol names</a:t>
            </a:r>
          </a:p>
          <a:p>
            <a:r>
              <a:t>- 13 total defects logged and fixed in Section 12 of the report; every one was caught by an independent cross-check, not assumed away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pipeline.</a:t>
            </a:r>
          </a:p>
          <a:p/>
          <a:p>
            <a:r>
              <a:t>- calibrate -&gt; grid -&gt; draw -&gt; step -&gt; reprice -&gt; aggregate</a:t>
            </a:r>
          </a:p>
          <a:p>
            <a:r>
              <a:t>- Pricers are a black box by design: correctness first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Walk the pipeline left to right; emphasize that the pricing library is never modified -- a deliberate design choice so errors cannot hide inside re-implemented pricing.</a:t>
            </a:r>
          </a:p>
          <a:p/>
          <a:p>
            <a:r>
              <a:t>- Every pricer is a pure function npv = pricer.npv(MarketState) -- the simulation never contains its own pricing logic</a:t>
            </a:r>
          </a:p>
          <a:p>
            <a:r>
              <a:t>- Dates use pillar tenors (O/N..10Y) plus every trade's own event date forced onto the grid -- 42 nodes for this book, denser than a plain monthly grid (18) and exact on cash-flow dates</a:t>
            </a:r>
          </a:p>
          <a:p>
            <a:r>
              <a:t>- This is the same pipeline that produces exposure, Greeks, stress, CVA/DVA/FVA/KVA, SA-CVA and SA-CCR -- one consistent engine, not bolted-on add-ons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models.</a:t>
            </a:r>
          </a:p>
          <a:p/>
          <a:p>
            <a:r>
              <a:t>- HW1F for USD, GBM for equity/FX, a real JPY factor, exposure built to the brief's exact definition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is the backbone of the whole engine: every discount factor at every scenario and node comes from this model.</a:t>
            </a:r>
          </a:p>
          <a:p/>
          <a:p>
            <a:r>
              <a:t>- Analytic bond prices mean one function evaluation per (scenario,node) -- 10x faster than building a curve object, and exact</a:t>
            </a:r>
          </a:p>
          <a:p>
            <a:r>
              <a:t>- Gaussian, so it supports negative rates -- essential for JPY, harmless for USD</a:t>
            </a:r>
          </a:p>
          <a:p>
            <a:r>
              <a:t>- sigma fitted to realised 2y-30y Treasury yield vol (96bp), not the overnight SOFR fixing (63bp), because the book's risk comes from the long end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Equity and FX dynamics are standard GBM, but the drifts are derived, not assumed -- and verified by martingale tests.</a:t>
            </a:r>
          </a:p>
          <a:p/>
          <a:p>
            <a:r>
              <a:t>- Drifts follow from the martingale condition on every USD-denominated tradable asset -- including the quanto correction for JPY-listed names</a:t>
            </a:r>
          </a:p>
          <a:p>
            <a:r>
              <a:t>- One static 39x39 correlation matrix from 616 aligned daily dates, applied via Cholesky -- the USD rate row uses 10-year-yield changes, not the overnight SOFR fixing, which correlates with nothing</a:t>
            </a:r>
          </a:p>
          <a:p>
            <a:r>
              <a:t>- This drift derivation is exactly where the USDJPY sign error (defect #11) was caught and fixed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JPY used to just be a constant differential off the USD rate -- we built a real second factor from the actual JPY curve history.</a:t>
            </a:r>
          </a:p>
          <a:p/>
          <a:p>
            <a:r>
              <a:t>- Real TONA history shows JPY rates were at or below zero for most of 25 years -- a model with a floor could not represent this</a:t>
            </a:r>
          </a:p>
          <a:p>
            <a:r>
              <a:t>- Mean reversion calibrated at its lower bound (0.001) because every real JPY calibration route gives a negative value -- a genuine structural finding, not bad data</a:t>
            </a:r>
          </a:p>
          <a:p>
            <a:r>
              <a:t>- Only 2 of 16 trades hold JPY names, so the effect is confined to their netting sets -- quantified in the attribution on the Results section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slide shows we implemented the brief's definition precisely, including the subtleties (settlement-window exclusion, netting-before-max).</a:t>
            </a:r>
          </a:p>
          <a:p/>
          <a:p>
            <a:r>
              <a:t>- exposure(t) = max(V(t+10bd) - V(t-1bd), 0), netted by counterparty before taking the positive part</a:t>
            </a:r>
          </a:p>
          <a:p>
            <a:r>
              <a:t>- A trade settling inside a close-out window is excluded from both legs of that window -- its value drop to zero is a cash settlement, not a market move</a:t>
            </a:r>
          </a:p>
          <a:p>
            <a:r>
              <a:t>- This was itself a defect fix (#9): the earlier version reported the uncollateralized level exposure as the headline, found by reviewing the work against the kickoff deck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trade-offs.</a:t>
            </a:r>
          </a:p>
          <a:p/>
          <a:p>
            <a:r>
              <a:t>- Five sampling methods tested; two rate models compared; two correlation methods compared; four Greeks methods compared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slide shows we tested five real alternatives, not just picked one by convention.</a:t>
            </a:r>
          </a:p>
          <a:p/>
          <a:p>
            <a:r>
              <a:t>- Controlled European-call test: LHS has 50.6x lower RMSE than pseudo-random, the clear winner</a:t>
            </a:r>
          </a:p>
          <a:p>
            <a:r>
              <a:t>- On the real 663-dimensional engine the advantages compress -- no single method wins both PFE99 and median PFE</a:t>
            </a:r>
          </a:p>
          <a:p>
            <a:r>
              <a:t>- LHS is the only method that is both best on the controlled test AND better than pseudo-random on both real-engine statistics -- that consistency is why it was selected over Sobol, the controlled-test runner-up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We implemented and fully calibrated the two-factor alternative, not just discussed it -- and it does not justify its added complexity here.</a:t>
            </a:r>
          </a:p>
          <a:p/>
          <a:p>
            <a:r>
              <a:t>- G2++ lets the curve change slope independently of its level, but fits the realised yield covariance with a 16% Frobenius error -- it cannot reproduce the hump near 5 years</a:t>
            </a:r>
          </a:p>
          <a:p>
            <a:r>
              <a:t>- The effect on the headline number is small: -3% on portfolio MPE99, -1% to -3% by counterparty</a:t>
            </a:r>
          </a:p>
          <a:p>
            <a:r>
              <a:t>- One-factor Hull-White retained as the default: materially simpler, calibrates cleanly to the swaption cube, and the model-risk study (Section 7.9) shows equity volatility and rate-equity dependence matter far more than this choice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A second genuine alternative we built and measured, and rejected as the default on evidence, not intuition.</a:t>
            </a:r>
          </a:p>
          <a:p/>
          <a:p>
            <a:r>
              <a:t>- A 5-factor PCA model explains only 47% of variance and understates netting-set vol by up to 3.9% -- it approximates, does not replicate, the empirical matrix</a:t>
            </a:r>
          </a:p>
          <a:p>
            <a:r>
              <a:t>- Counter to the usual argument for factor models: correlated-shock timing shows PCA is NOT faster (2.08s for 5 factors vs 1.91s full) because it trades a 39x39 matrix product for more random draws</a:t>
            </a:r>
          </a:p>
          <a:p>
            <a:r>
              <a:t>- Kept as a documented robustness option (corr_mode='factor'), not the default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Four Greeks methods were considered; CRN bump-and-reprice is the production method because it works on the black-box pricers for every measure including quantiles.</a:t>
            </a:r>
          </a:p>
          <a:p/>
          <a:p>
            <a:r>
              <a:t>- Common random numbers cut the EE delta estimator's standard deviation from $245k to $1k -- 282x -- this, not the sampling scheme, is what controls Greeks precision</a:t>
            </a:r>
          </a:p>
          <a:p>
            <a:r>
              <a:t>- Pathwise is validated and used as a free cross-check for equity/FX (0.2-0.4s vs ~260s) but cannot reach rates without differentiating the pricers</a:t>
            </a:r>
          </a:p>
          <a:p>
            <a:r>
              <a:t>- Adjoint differentiation is the asymptotically fastest method but needs a differentiable port of the supplied black-box pricers -- listed as future work, not adopted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feedback.</a:t>
            </a:r>
          </a:p>
          <a:p/>
          <a:p>
            <a:r>
              <a:t>- 11 items across 2 meetings, all addressed</a:t>
            </a:r>
          </a:p>
          <a:p>
            <a:r>
              <a:t>- Next 2 slides condense the full tracker; items also tagged inline on model/results slides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Give the full tracker as a single visual before drilling into highlights -- this is the 'you said / we did' overview.</a:t>
            </a:r>
          </a:p>
          <a:p/>
          <a:p>
            <a:r>
              <a:t>- 5 items from the earlier meeting, 6 from the most recent -- all 11 closed</a:t>
            </a:r>
          </a:p>
          <a:p>
            <a:r>
              <a:t>- Every item has a quantified result, not just a narrative response</a:t>
            </a:r>
          </a:p>
          <a:p>
            <a:r>
              <a:t>- The next slide pulls out the highlights with their numbers; all 11 are also tagged inline where they appear in the Models/Trade-offs/Results sections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Close the tracker with the three most technical items -- the DV01 Jacobian fix is the single biggest methodology correction from feedback.</a:t>
            </a:r>
          </a:p>
          <a:p/>
          <a:p>
            <a:r>
              <a:t>- DV01 Jacobian fix moved 28 points of portfolio DV01 attribution from the 10y bucket into the 30y bucket where the 2049 bond forward actually lives</a:t>
            </a:r>
          </a:p>
          <a:p>
            <a:r>
              <a:t>- The Excel parametric check (item 11) is an independent, non-Monte-Carlo validation that the audience can reproduce themselves</a:t>
            </a:r>
          </a:p>
          <a:p>
            <a:r>
              <a:t>- Every item on this tracker is also tagged 'Feedback-driven' inline where it reappears in the Models, Trade-offs and Results sections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results, the core of the deck.</a:t>
            </a:r>
          </a:p>
          <a:p/>
          <a:p>
            <a:r>
              <a:t>- Headline KPIs, profiles, diversification, attribution, model risk, stress, Greeks, validation, backtest, xVA, capital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Restate the headline with full precision and immediately explain the diversification number -- this is the single most important slide in the deck.</a:t>
            </a:r>
          </a:p>
          <a:p/>
          <a:p>
            <a:r>
              <a:t>- MPE99 $51.0M at 2026-09-20 on the brief's close-out definition; peak EE $11.6M; peak median PFE $8.2M</a:t>
            </a:r>
          </a:p>
          <a:p>
            <a:r>
              <a:t>- 78% of the sum of counterparty MPE99s ($65.1M) -- little diversification because netting never crosses counterparties and the three books peak within about 24 days of each other</a:t>
            </a:r>
          </a:p>
          <a:p>
            <a:r>
              <a:t>- Current exposure today (uncollateralized, no margin) is $129.8M -- 96% of it is CPTY_C, driven by the single $500M BF_0003 bond forward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Show the time profile with a native line chart -- almost all counterparty credit risk sits in the next four months.</a:t>
            </a:r>
          </a:p>
          <a:p/>
          <a:p>
            <a:r>
              <a:t>- Nearly the whole book matures within ~4 months; only BTRS_0001 and EQTRS_0008 run past mid-2027</a:t>
            </a:r>
          </a:p>
          <a:p>
            <a:r>
              <a:t>- Portfolio EE falls by more than 90% by end of December 2026</a:t>
            </a:r>
          </a:p>
          <a:p>
            <a:r>
              <a:t>- This is why monitoring should concentrate on the next four months, not a flat one-year horizon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Drill from counterparty to trade level -- shows the per-trade numbers do not simply sum to the counterparty figures.</a:t>
            </a:r>
          </a:p>
          <a:p/>
          <a:p>
            <a:r>
              <a:t>- Per-trade figures do not add up to the counterparty figures: netting and the tail of a sum differ from the sum of tails</a:t>
            </a:r>
          </a:p>
          <a:p>
            <a:r>
              <a:t>- BF_0003's own peak EE ($4.5M) and MPE ($25.6M) dominate CPTY_C's netting set</a:t>
            </a:r>
          </a:p>
          <a:p>
            <a:r>
              <a:t>- Largest equity-driven trades: EQTRS_0003 (CPTY_A, peak MPE $12.0M) and EQTRS_0007 (CPTY_C, $11.4M)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Answers feedback item 4 directly with the evidence -- A is equity risk, C is rate risk plus meaningful equity, and all three share a common driver.</a:t>
            </a:r>
          </a:p>
          <a:p/>
          <a:p>
            <a:r>
              <a:t>- Every netting set holds pay-equity swaps, so all three gain when the equity market falls -- that common exposure is why dependence is positive</a:t>
            </a:r>
          </a:p>
          <a:p>
            <a:r>
              <a:t>- CPTY_C is not a pure rate netting set: DV01 $594k/bp dominated by BF_0003, but its equity delta ($1.24M) is comparable to CPTY_B's</a:t>
            </a:r>
          </a:p>
          <a:p>
            <a:r>
              <a:t>- At the portfolio's peak date, standalone PFE99 are A $25.9M + C $28.5M = $54.4M (107% of the $51.0M portfolio figure) -- the portfolio is close to A+C, with B adding little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is the attribution waterfall -- every number change is traced to a specific, named correction, run on identical random numbers.</a:t>
            </a:r>
          </a:p>
          <a:p/>
          <a:p>
            <a:r>
              <a:t>- Each correction introduced one at a time on the same 2,000 scenarios and random draws, so differences are attributable, not noise</a:t>
            </a:r>
          </a:p>
          <a:p>
            <a:r>
              <a:t>- Largest single move: the long-end volatility fit and 10-year-yield correlation correction (+$4.9M portfolio), because it re-derives sigma from where the book's risk actually sits</a:t>
            </a:r>
          </a:p>
          <a:p>
            <a:r>
              <a:t>- Monte Carlo noise between runs of different size is a few percent, so only differences larger than that should be read as a real correction effect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ranks the real sources of model uncertainty -- important for the audience because it tells them where to focus review effort.</a:t>
            </a:r>
          </a:p>
          <a:p/>
          <a:p>
            <a:r>
              <a:t>- A 25% rise in equity/FX volatility moves portfolio MPE99 by +19%; a 30%-of-the-way-to-one move in equity correlations moves it by +22%</a:t>
            </a:r>
          </a:p>
          <a:p>
            <a:r>
              <a:t>- The two-factor rates model (G2++) changes the headline by only -3% -- so rate-model choice is a minor source of uncertainty here</a:t>
            </a:r>
          </a:p>
          <a:p>
            <a:r>
              <a:t>- Each row is a one-at-a-time perturbation on 2,000 scenarios, same random numbers -- not a vague sensitivity statement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Answers feedback item 1 -- a structured stress programme, not a paragraph. Key finding: margin, not the shock, is what dampens the close-out measure.</a:t>
            </a:r>
          </a:p>
          <a:p/>
          <a:p>
            <a:r>
              <a:t>- Close-out exposure is structurally far less sensitive to instantaneous shocks than the level exposure, because 10-day moves from a margined start are what's being measured</a:t>
            </a:r>
          </a:p>
          <a:p>
            <a:r>
              <a:t>- Product-specific: equity TRS respond only to equity/FX shocks; bond forwards/TRS respond only to rate shocks, exactly as trade structure implies</a:t>
            </a:r>
          </a:p>
          <a:p>
            <a:r>
              <a:t>- Largest close-out move: Stagflation -24%; largest level move: Stagflation +86% for the opposite reason (level exposure keeps the whole MTM at risk)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t=0 Greeks by netting set, validated against analytic values -- sets up the DV01 Jacobian fix on the next data point.</a:t>
            </a:r>
          </a:p>
          <a:p/>
          <a:p>
            <a:r>
              <a:t>- Portfolio equity delta -$4.46M per +1% (we gain when equities fall, consistent with being pay-equity)</a:t>
            </a:r>
          </a:p>
          <a:p>
            <a:r>
              <a:t>- DV01 dominated by CPTY_C ($594k of the $622k portfolio total) via the BF_0003 bond forward</a:t>
            </a:r>
          </a:p>
          <a:p>
            <a:r>
              <a:t>- t=0 equity delta validated against the analytic value (shares x spot x 1%) to a maximum relative error of 1.6e-2 across all 41 trade-name pairs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is how we know the engine is right, independent of the headline results themselves.</a:t>
            </a:r>
          </a:p>
          <a:p/>
          <a:p>
            <a:r>
              <a:t>- t=0 self-check: simulated EE(0) equals the directly computed current exposure to 0.0000%</a:t>
            </a:r>
          </a:p>
          <a:p>
            <a:r>
              <a:t>- Delta-normal VaR benchmark: $12.6M (independent method) vs $12.1M from the Monte Carlo P&amp;L distribution, ratio 1.04 -- within the accepted 0.3-1.3x range</a:t>
            </a:r>
          </a:p>
          <a:p>
            <a:r>
              <a:t>- 142 automated tests pass, covering curve fit, GBM martingale property, 1/sqrt(N) error law, negative-rate behaviour, close-out exposure convention, and more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Kupiec backtest against realised history, out of sample -- CPTY_B is the one borderline case, consistent with GBM understating fat tails.</a:t>
            </a:r>
          </a:p>
          <a:p/>
          <a:p>
            <a:r>
              <a:t>- Equity leg: exceptions 4/6/2 (A/B/C) against 2.4 expected over 242 non-overlapping 10-day windows at the 99% level</a:t>
            </a:r>
          </a:p>
          <a:p>
            <a:r>
              <a:t>- Kupiec test does not reject for 2 of 3 netting sets at the 5% significance level; CPTY_B (6 exceptions) is borderline -- consistent with GBM understating fat tails</a:t>
            </a:r>
          </a:p>
          <a:p>
            <a:r>
              <a:t>- Rates leg: the long-end yield-vol fit (96bp) is the more stable calibration across the 2020-2026 backtest window than the overnight-SOFR calibration (63bp)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full xVA suite, on both exposure conventions, all consistent because they reuse the same simulated paths.</a:t>
            </a:r>
          </a:p>
          <a:p/>
          <a:p>
            <a:r>
              <a:t>- Close-out: CVA and DVA nearly cancel ($11.7k vs $11.2k) because both are 10-day moves around a margined start; KVA ($22.4k at 10% CoC) exceeds CVA because it scales the whole EPE profile, not a small IG default probability</a:t>
            </a:r>
          </a:p>
          <a:p>
            <a:r>
              <a:t>- Uncollateralized level exposure is far larger: CVA $247k, dominated by CPTY_C's $121M bond forward sitting at risk with no margin</a:t>
            </a:r>
          </a:p>
          <a:p>
            <a:r>
              <a:t>- CVA proxy is BBB; CVA scales roughly linearly with spread -- AAA $5.0k to B $32.8k, a 2.6x range between AA and BB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Regulatory capital view -- both computed, both dominated by counterparty credit spread risk, not by market risk.</a:t>
            </a:r>
          </a:p>
          <a:p/>
          <a:p>
            <a:r>
              <a:t>- SA-CVA requirement is dominated by counterparty credit spread delta (88% of the total) -- a 5% risk weight on spreads is large relative to a ~100bp spread level</a:t>
            </a:r>
          </a:p>
          <a:p>
            <a:r>
              <a:t>- SA-CCR EAD $260.3M is a different quantity from Monte Carlo MPE99: replacement cost is today's full MTM, add-on is a one-year supervisory approximation -- included as an independent order-of-magnitude check and the regulatory view of the same book</a:t>
            </a:r>
          </a:p>
          <a:p>
            <a:r>
              <a:t>- RWA (12.5x capital): $1.2M close-out, $27.8M uncollateralized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Section divider -- conclusions.</a:t>
            </a:r>
          </a:p>
          <a:p/>
          <a:p>
            <a:r>
              <a:t>- Validated, reproducible engine; limitations disclosed; next steps depend on data Capitolis holds, not more engineering</a:t>
            </a:r>
          </a:p>
          <a:p/>
          <a:p>
            <a:r>
              <a:t>TIME: ~20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Close with both sides honestly -- what we're confident in, and what still depends on data or assumptions.</a:t>
            </a:r>
          </a:p>
          <a:p/>
          <a:p>
            <a:r>
              <a:t>- Every limitation here has a quantified impact shown earlier in the deck -- none is a vague caveat</a:t>
            </a:r>
          </a:p>
          <a:p>
            <a:r>
              <a:t>- The single biggest open question is whether any trade is margined -- MPOR illustration shows it would move CPTY_C's MPE99 by 82%</a:t>
            </a:r>
          </a:p>
          <a:p>
            <a:r>
              <a:t>- This is deliberately a balanced slide: confidence in engineering, honesty about what the data cannot tell us</a:t>
            </a:r>
          </a:p>
          <a:p/>
          <a:p>
            <a:r>
              <a:t>TIME: ~2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End on the single highest-leverage open question, then the concrete roadmap items in priority order.</a:t>
            </a:r>
          </a:p>
          <a:p/>
          <a:p>
            <a:r>
              <a:t>- Confirming whether any trade is margined matters more than any further modelling refinement -- it changes CPTY_C's number several-fold</a:t>
            </a:r>
          </a:p>
          <a:p>
            <a:r>
              <a:t>- Real counterparty ratings or CDS would remove the single largest assumption in the credit numbers</a:t>
            </a:r>
          </a:p>
          <a:p>
            <a:r>
              <a:t>- Everything else listed is scope and data, not engineering -- the plan as given has been fully executed</a:t>
            </a:r>
          </a:p>
          <a:p/>
          <a:p>
            <a:r>
              <a:t>TIME: ~1.5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Backup detail on the 2008/2015 historical scenarios added for feedback item 6.</a:t>
            </a:r>
          </a:p>
          <a:p/>
          <a:p>
            <a:r>
              <a:t>- 28 of 37 names have price history back to 2007</a:t>
            </a:r>
          </a:p>
          <a:p>
            <a:r>
              <a:t>- 2008: -23% median / -44% worst single name; moves close-out MPE99 -13%, level +56%</a:t>
            </a:r>
          </a:p>
          <a:p/>
          <a:p>
            <a:r>
              <a:t>TIME: ~if 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91440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Monte Carlo Counterparty Credit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3B6CF"/>
                </a:solidFill>
                <a:latin typeface="Calibri"/>
              </a:rPr>
              <a:t>Final Client Readout -- ESF Derivatives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ED6"/>
                </a:solidFill>
                <a:latin typeface="Calibri"/>
              </a:rPr>
              <a:t>Berkeley MFE Industry Project  |  Prepared for Capitolis Risk, Quant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2B0"/>
                </a:solidFill>
                <a:latin typeface="Calibri"/>
              </a:rPr>
              <a:t>Valuation date 2026-08-28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Portfolio MPE99 of $51.0M on the Brief's Close-Out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1">
                <a:solidFill>
                  <a:srgbClr val="D2006F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137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8100" cy="13716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$51.0M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Portfolio MPE99 (close-out)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688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peak 2026-09-20, 99th pct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71600"/>
            <a:ext cx="2697480" cy="137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371600"/>
            <a:ext cx="38100" cy="13716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$11.6M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1762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Peak Expected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4688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close-out, within 1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371600"/>
            <a:ext cx="2697480" cy="137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371600"/>
            <a:ext cx="38100" cy="13716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$129.8M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1762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Current Exposure (t=0)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688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uncollateralized, no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371600"/>
            <a:ext cx="2697480" cy="137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371600"/>
            <a:ext cx="38100" cy="13716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$11.7k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1762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CVA (close-out, BBB proxy)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4688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SA-CVA capital $0.10M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0632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182433"/>
                </a:solidFill>
                <a:latin typeface="Calibri"/>
              </a:rPr>
              <a:t>•  What we built: a validated Monte Carlo engine simulating USD short rate (Hull-White 1F), JPY short rate, 37 equities and USDJPY (correlated GBM), repricing all 16 trades at every scenario and date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182433"/>
                </a:solidFill>
                <a:latin typeface="Calibri"/>
              </a:rPr>
              <a:t>•  Headline result: portfolio MPE99 $51.0M on the brief's definition -- 78% of the sum of the three counterparties' own MPE99s, because netting never crosses counterparties and the books peak within days of each other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182433"/>
                </a:solidFill>
                <a:latin typeface="Calibri"/>
              </a:rPr>
              <a:t>•  Validated: t=0 self-check to 0.0000%, martingale tests, delta-normal VaR benchmark (1.04x), Kupiec backtest, 142 automated tests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182433"/>
                </a:solidFill>
                <a:latin typeface="Calibri"/>
              </a:rPr>
              <a:t>•  Key conclusion: risk is short-dated (~4 months) and concentrated in one $500M bond forward (BF_0003) at CPTY_C -- a limit or collateral on that single trade would move the portfolio number more than any modelling choice in this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16 Trades, 3 Counterparties, 37 Equities and USDJPY, One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1">
                <a:solidFill>
                  <a:srgbClr val="D2006F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040130"/>
                <a:gridCol w="1360170"/>
                <a:gridCol w="264033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Counterparties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 factors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Equity TRS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8 (incl. 1 JPY compo)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A, B, 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USD curve + equity spots (+ USDJPY for compo)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Bond Forward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A, C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USD curve only (risk-free bonds)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Bond TRS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A, B, 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USD curve only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371600"/>
            <a:ext cx="4434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37 unique equities (31 USD, 6 JPY) + USDJPY + 5 Treasury bonds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Capitolis is strictly the seller: falling market values increase counterparty exposure to us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No CSA data: uncollateralized book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Today's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556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82433"/>
                </a:solidFill>
                <a:latin typeface="Calibri"/>
              </a:rPr>
              <a:t>•  The brief and what we delivered against it  •  Data sourcing  •  Pipeline and architecture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82433"/>
                </a:solidFill>
                <a:latin typeface="Calibri"/>
              </a:rPr>
              <a:t>•  Modelling choices  •  Trade-offs and alternatives considered  •  Feedback incorporated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82433"/>
                </a:solidFill>
                <a:latin typeface="Calibri"/>
              </a:rPr>
              <a:t>•  Results (the core of this deck)  •  Conclusions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What Capitolis Gave Us, and Asked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The brief, the deliverables, and how every ask maps to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The Brief: No Initial Margin, 10-Day Close-Out, Capitolis Is Seller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1">
                <a:solidFill>
                  <a:srgbClr val="D2006F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Deliverables (kickoff, slide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Simulation engine codebase: modular Python, extensible to new asset classes / model types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Technical report: calibration methodology, model choices, key results, production-hardening suggestions, performance/convergence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Key assumptions specified by Capitolis (slide 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5321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No initial margin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Variation margin on date t = NPV on the prior day on the path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10-business-day close-out period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Scenario count is our choice; must evidence convergence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Falling market values increase counterparty exposure to us (we are strictly the seller)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4 core objectives (kickoff, slide 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14800"/>
          <a:ext cx="11201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239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1. Stochastic models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Risk factor models (our choice), simulate correlated paths; defend every decision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2. Pricing integration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Feed simulated market states into the supplied pricer library to generate scenario NPVs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3. Exposure and Greeks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PFE, MPE, EE profiles + efficient Greeks across scenarios. Extra credit: xVA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4. Performance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Optimise the engine for speed and scalability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Every Ask Mapped to What We Delivered, Including Both Extra-Credit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1">
                <a:solidFill>
                  <a:srgbClr val="D2006F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39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623"/>
                <a:gridCol w="5988867"/>
                <a:gridCol w="2439908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Ask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Stochastic models for rates, equity, FX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Hull-White 1F (+G2++ alternative); correlated GBM + quanto; JPY factor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Sections 4, 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Pricing model integration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Every scenario repriced via the supplied capitolis_pricers library, unmodified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2.2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Exposure profiles: PFE, MPE, EE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Close-out (headline) + uncollateralized level, by trade/counterparty/portfolio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Efficient Greeks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CRN bump-and-reprice + pathwise cross-check + exact analytic rate Greek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9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Performance / scalability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10.6x curve speed-up, 7.7x combined; multiprocessing across scenarios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5.3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Extra credit: xVA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CVA, DVA, FVA, KVA; SA-CVA capital; SA-CCR EAD -- on both exposure conventions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Extra credit: risky bonds + CDS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Risky-bond sample trade on a bond-index issuer-curve proxy (no CDS data obtainable)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Section 8.9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Data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Every input, what it is used for, how it was cleaned, and what we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Real Market Data Everywhere Verifiable; Proxies Documented Where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1">
                <a:solidFill>
                  <a:srgbClr val="D2006F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770"/>
                <a:gridCol w="2249424"/>
                <a:gridCol w="3856155"/>
                <a:gridCol w="257077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USD SOFR futures (33 live)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Databento (CME)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Discount curve, HW1F fit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Live, cross-checked vs Treasury.gov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37 equity spots &amp; dividends, USDJPY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yfinance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GBM start values &amp; drift, vol, correlation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Live, keyed by ISIN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39 realised volatilities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3y daily returns (above)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Diffusion size for GBM/HW1F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Proxy: no options data available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39x39 correlation matrix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616 aligned daily dates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Cholesky / PCA simulation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Static; USD row on 10y-yield changes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USD curve long end, swaption cubes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Bloomberg one-time export (2026-08-31)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Curve splice beyond 6.5y; mean reversion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Licensed: derived numbers only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JPY OIS history (35 tenors, 2011-26)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Bloomberg, provided by project team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JPY curve, JPY factor vol, mean-rev. test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Licensed: derived numbers only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Treasury CMT yields, TONA, JGB yields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FRED / Bank of Japan / MOF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Rate vol, backtest, G2++ calibration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Two Real Bugs Found by Cross-Checking Against Independent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1">
                <a:solidFill>
                  <a:srgbClr val="D2006F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017519"/>
                <a:gridCol w="49377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caught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Fix / impact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 curve extrapolated flat beyond ~6.5y futures range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Repricing BF_0003 on Bloomberg's own zero curve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Bloomberg long-end splice; BF_0003 NPV moved $101.4M -&gt; $121.3M (within 0.4% of Bloomberg reprice)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USDJPY drift had the wrong sign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Deriving JPY drifts from the martingale condition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JPY names were drifting ~2x2.6%/yr too low in USD; corrected, quanto term added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 rate sigma from overnight SOFR understated 2-30y yield moves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10-day realised vs modelled yield-move comparison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sigma refit to realised 2y-30y Treasury yield vol: 63bp -&gt; 96bp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SOFR futures bootstrap: serial-future wraparound gap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Cross-check vs Treasury.gov par curve (73bp vs 56bp at 10Y)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400-day plausibility threshold; curve coverage 3.6y -&gt; 6.3y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Data quality checks throughout: self-check EE(0) vs direct exposure to 0.0000%; Hull-White curve refit to 1e-9; positive semi-definite correlation matrix verified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Assumptions disclosed, not hidden: counterparty rating BBB, LGD 60%, static correlation, JPY mean reversion at its lower bound (every real calibration route gave a negative value)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Pipeline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Six stages, data to outputs; modular, reproducible, and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Six Stages From Real Market Data to Every Risk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1">
                <a:solidFill>
                  <a:srgbClr val="D2006F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1. Calibrate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Curve (futures + long end), sigma, a, JPY factor, vols, correlation -- all from real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9424" y="2423160"/>
            <a:ext cx="128016" cy="274320"/>
          </a:xfrm>
          <a:prstGeom prst="rightArrow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40864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0864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2.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Pillar dates + every trade's reset/maturity + t-1bd / t+10bd nodes around each reporting date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33088" y="2423160"/>
            <a:ext cx="128016" cy="274320"/>
          </a:xfrm>
          <a:prstGeom prst="rightArrow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3. 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Random numbers (Latin Hypercube) -&gt; correlated shocks via Cholesky (or PCA)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6752" y="2423160"/>
            <a:ext cx="128016" cy="274320"/>
          </a:xfrm>
          <a:prstGeom prst="rightArrow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4.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Advance USD and JPY short rates, 37 equities and USDJPY along every path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00416" y="2423160"/>
            <a:ext cx="128016" cy="274320"/>
          </a:xfrm>
          <a:prstGeom prst="rightArrow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1856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5. Reprice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For every (scenario, node): build a MarketState, call npv() of all 16 trades -- unmodified pricer library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84080" y="2423160"/>
            <a:ext cx="128016" cy="274320"/>
          </a:xfrm>
          <a:prstGeom prst="rightArrow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417320"/>
            <a:ext cx="1810512" cy="228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5520" y="1417320"/>
            <a:ext cx="1810512" cy="457200"/>
          </a:xfrm>
          <a:prstGeom prst="rect">
            <a:avLst/>
          </a:prstGeom>
          <a:solidFill>
            <a:srgbClr val="18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150876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6. Aggregate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965960"/>
            <a:ext cx="162763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82433"/>
                </a:solidFill>
                <a:latin typeface="Calibri"/>
              </a:rPr>
              <a:t>max(V(t+10bd)-V(t-1bd),0), netted by counterparty -&gt; EE, median PFE, PFE99, MPE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Speed: three bottlenecks fixed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4343400"/>
          <a:ext cx="1124711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19"/>
                <a:gridCol w="1920239"/>
                <a:gridCol w="25603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Bottleneck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Discount curve per (scenario, node)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Analytic Hull-White bond price, not a Curve object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0.206 ms/call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0.019 ms/call (10.6x, exact)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Pure-Python pricers (~1.2ms each)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Multiprocessing over scenarios, 8 workers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113 ms/scenario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51 ms/scenario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Combined, 2,000 scenarios x 16 trades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Both fixes together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~12 min projected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93s (7.7x)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Modelling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What we implemented, with the exact parameters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USD Short Rate: Hull-White 1F, Fitted Exactly to Today's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1">
                <a:solidFill>
                  <a:srgbClr val="D2006F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2433"/>
                </a:solidFill>
                <a:latin typeface="Courier New"/>
              </a:rPr>
              <a:t>dr(t) = [theta(t) - a r(t)] dt + sigma dW(t)
r(t) = x(t) + alpha(t)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77440"/>
          <a:ext cx="548639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260"/>
                <a:gridCol w="1113182"/>
                <a:gridCol w="27829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0.96%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Fitted to realised 2y-30y Treasury yield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a (mean reversion)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0.0167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USD swaption cube (1M expiry, 1Y-15Y tenors)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r(0)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3.69%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Bootstrapped SOFR futures curve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Why this model: reproduces today's curve to 1e-9; analytic bond prices at every node; Gaussian (negative-rate capable)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Rejected: CIR/Black-Karasinski (cannot go negative, invalid for JPY); LMM/HJM (too many parameters for our data); constant-rate (ignores funding-leg and bond-forward rate risk)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A two-factor alternative (G2++) is implemented and compared -- Section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Equities, FX and Correlation: GBM Driven by the Simulated 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1">
                <a:solidFill>
                  <a:srgbClr val="D2006F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82433"/>
                </a:solidFill>
                <a:latin typeface="Courier New"/>
              </a:rPr>
              <a:t>dS_i/S_i = (r_USD - q_i) dt + sigma_i dW_i   (USD names)
dX/X = (r_JPY - r_USD + sigma_X^2) dt + sigma_X dW_X   (USDJPY)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Correlation: Cholesky factor L of the 39x39 matrix, Y = L Z gives exactly the target correlation -- cheapest exact method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741 pairwise correlations, mean 0.14; first PCA factor (a 'market' mode) explains 20% of variance alone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Rejected: Heston/SABR (no option surfaces available); jump models (unobservable parameters); both disclosed as understating fat 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5176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Volatility: 3-year realised (lognormal for equity/FX, simple differences for rates) -- no single-name options data available, a documented proxy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37 equities span an order of magnitude in vol (a few names at 50-76%), which dominates tail exposure of the trades referencing them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A PCA factor-model alternative (optional, k=5) for correlation is compared in Section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JPY: a Genuine Negative-Rate-Capable Hull-White Factor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1">
                <a:solidFill>
                  <a:srgbClr val="D2006F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0175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Source / status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JPY OIS zero curve, 2026-08-28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Bootstrapped; matches Bloomberg's own curve to 1bp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0.267%/yr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Realised vol of the overnight call rate, 3y window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 (mean reversion)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0.0010 (lower bound)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All 3 real JPY calibration routes gave a negative 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USD-JPY rate correlation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-0.040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Real SOFR vs TONA daily changes (n=1983); statistically zero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371600"/>
            <a:ext cx="4160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Why: for two decades the BOJ pinned the short end (zero / negative policy, YCC), so long tenors moved more freely than short -- the reverse of what a mean-reverting factor assumes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A single Gaussian factor cannot produce that shape; the Ho-Lee limit (a near 0) is the closest fit available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A two-factor or regime-dependent model would be needed to match the shape -- listed as future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Exposure Built to the Brief's Exact Definition, Not a Simplification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1">
                <a:solidFill>
                  <a:srgbClr val="D2006F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2433"/>
                </a:solidFill>
                <a:latin typeface="Courier New"/>
              </a:rPr>
              <a:t>exposure(t) = max( V(t + 10bd) - V(t - 1bd), 0 ),  V(t-1bd) = variation margin,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Netting applied to value before the positive part -- a +10M and a -6M trade with the same counterparty give exposure 4M, not 10M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Netting never crosses counterparties: portfolio exposure is the SUM over counterparties of each one's own max(sum of trades, 0)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EE = mean across scenarios; median PFE = 50th pct; PFE99 = 99th pct; MPE = peak of the PFE curve over all 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Simulation grid carries 3 nodes around every reporting date (t-1bd, t, t+10bd) on the same simulated path -- 42 reporting dates for this book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Standard market pillar dates (O/N to 10Y) used, not a plain monthly grid -- denser near term, where risk changes fastest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Every trade's own reset/settlement/maturity date forced onto the grid so exposure jumps at cash-flow dates are not smoothed over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Trade-Offs, Alternatives and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What we tried and rejected, and why; every choice measured, not asserted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Latin Hypercube Beats Four Other Sampling Methods on a Controlled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1">
                <a:solidFill>
                  <a:srgbClr val="D2006F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675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536"/>
                <a:gridCol w="1168146"/>
                <a:gridCol w="1168146"/>
                <a:gridCol w="1168146"/>
                <a:gridCol w="116814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Call RMSE vs PR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PFE99 rel.std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Median PFE rel.std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182433"/>
                          </a:solidFill>
                          <a:latin typeface="Calibri"/>
                        </a:rPr>
                        <a:t>Pseudo-random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1.0x (baseline)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2.60%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0.66%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182433"/>
                          </a:solidFill>
                          <a:latin typeface="Calibri"/>
                        </a:rPr>
                        <a:t>Antithetic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1.4x better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1.98%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0.39%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Modest, real engine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182433"/>
                          </a:solidFill>
                          <a:latin typeface="Calibri"/>
                        </a:rPr>
                        <a:t>Moment-matched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6.3x better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2.49%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0.35%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Median only, no PFE99 gain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182433"/>
                          </a:solidFill>
                          <a:latin typeface="Calibri"/>
                        </a:rPr>
                        <a:t>Sobol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28.7x better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1.64%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Best PFE99, no median gain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182433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50.6x better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2.25%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0.42%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82433"/>
                          </a:solidFill>
                          <a:latin typeface="Calibri"/>
                        </a:rPr>
                        <a:t>Best on both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3520440"/>
            <a:ext cx="1051560" cy="274320"/>
          </a:xfrm>
          <a:prstGeom prst="round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371600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SELECTED: Latin Hypercube -- best controlled-test error, most consistent across both real-engine statistics, negligible extra cost over pseudo-random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Scenario count: N=5,000 reporting, N=10,000 sign-off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43400"/>
          <a:ext cx="1124711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089"/>
                <a:gridCol w="2573493"/>
                <a:gridCol w="2192235"/>
                <a:gridCol w="524230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Rel. SE of PFE99 (1y)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Est. time (8 cores)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0.66%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119s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Iteration / what-if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0.29%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479s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RECOMMENDED: standard reporting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0.21%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929s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Recommended for limit sign-off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20,000+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0.09%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1,829s+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Diminishing returns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Two-Factor Rates (G2++) Changes the Portfolio MPE99 by Only -3%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1">
                <a:solidFill>
                  <a:srgbClr val="D2006F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200150"/>
                <a:gridCol w="1200150"/>
                <a:gridCol w="1200150"/>
                <a:gridCol w="120015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Curve fit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Negative rates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Calibration error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182433"/>
                          </a:solidFill>
                          <a:latin typeface="Calibri"/>
                        </a:rPr>
                        <a:t>Hull-White 1F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N/A (level only)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2 (a, sigma)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182433"/>
                          </a:solidFill>
                          <a:latin typeface="Calibri"/>
                        </a:rPr>
                        <a:t>G2++ (2-factor)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16% (Frobenius, yield covariance)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82433"/>
                          </a:solidFill>
                          <a:latin typeface="Calibri"/>
                        </a:rPr>
                        <a:t>5 (a,b,sigma,eta,rho)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1051560" cy="274320"/>
          </a:xfrm>
          <a:prstGeom prst="round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SELECTED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657600"/>
          <a:ext cx="54863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75"/>
                <a:gridCol w="1324303"/>
                <a:gridCol w="1324303"/>
                <a:gridCol w="1135117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MPE99 1F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MPE99 2F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$26.2M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$26.0M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$9.5M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$9.3M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$28.9M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$28.9M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$51.5M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$50.0M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365760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2,000 scenarios, same random numbers, close-out exposure, 1-year horizon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G2++ is implemented in models/g2pp.py and selectable (rates_model='g2pp') -- not hidden, just not the default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Full-Rank Correlation Kept: PCA Factor Model Adds No Speed, No Consistent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1">
                <a:solidFill>
                  <a:srgbClr val="D2006F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63"/>
                <a:gridCol w="1803783"/>
                <a:gridCol w="2015993"/>
                <a:gridCol w="2015993"/>
                <a:gridCol w="2015993"/>
                <a:gridCol w="2015993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Factors k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Var. explained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CPTY_A vol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CPTY_B vol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CPTY_C vol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Shock-step time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Full (39)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$52.9M (ref)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$19.6M (ref)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$25.4M (ref)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1.91s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$53.5M (+1.1%)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$19.9M (+1.5%)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$25.8M (+1.7%)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2.29s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$52.9M (+0.0%)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$19.9M (+1.7%)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$26.4M (+3.9%)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2.08s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$53.2M (+0.6%)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$20.0M (+2.1%)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$26.3M (+3.4%)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520440"/>
            <a:ext cx="1051560" cy="274320"/>
          </a:xfrm>
          <a:prstGeom prst="round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66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82433"/>
                </a:solidFill>
                <a:latin typeface="Calibri"/>
              </a:rPr>
              <a:t>Full-rank Cholesky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Sampling error is not consistently lower for PCA either: across 3/5/10 factors its std of PFE99 ranges 2.6%-6.2% of reference vs 4.5-4.9% for full rank -- no stable advantage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Explainable: factor 1 (20% of variance) is a broad market mode; factor 2 (8.9%) separates Japan from US listings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Would become useful only if systematic factors were drawn quasi-randomly and idiosyncratic noise pseudo-randomly -- listed as future 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Common Random Numbers Make Bump-and-Reprice 282x Less Noisy Than Independent Draws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1">
                <a:solidFill>
                  <a:srgbClr val="D2006F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589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1770888"/>
                <a:gridCol w="1770888"/>
                <a:gridCol w="1770888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Works as black box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Covers quantiles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1824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980">
                          <a:solidFill>
                            <a:srgbClr val="182433"/>
                          </a:solidFill>
                          <a:latin typeface="Calibri"/>
                        </a:rPr>
                        <a:t>Bump, independent draws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182433"/>
                          </a:solidFill>
                          <a:latin typeface="Calibri"/>
                        </a:rPr>
                        <a:t>1x, but 282x noisier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980">
                          <a:solidFill>
                            <a:srgbClr val="182433"/>
                          </a:solidFill>
                          <a:latin typeface="Calibri"/>
                        </a:rPr>
                        <a:t>Bump, CRN (used)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182433"/>
                          </a:solidFill>
                          <a:latin typeface="Calibri"/>
                        </a:rPr>
                        <a:t>1x, cost measured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980">
                          <a:solidFill>
                            <a:srgbClr val="182433"/>
                          </a:solidFill>
                          <a:latin typeface="Calibri"/>
                        </a:rPr>
                        <a:t>Pathwise (eq/FX check)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182433"/>
                          </a:solidFill>
                          <a:latin typeface="Calibri"/>
                        </a:rPr>
                        <a:t>~1000x faster, eq/FX only</a:t>
                      </a:r>
                    </a:p>
                  </a:txBody>
                  <a:tcPr anchor="ctr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980">
                          <a:solidFill>
                            <a:srgbClr val="182433"/>
                          </a:solidFill>
                          <a:latin typeface="Calibri"/>
                        </a:rPr>
                        <a:t>Adjoint (not adopted)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80">
                          <a:solidFill>
                            <a:srgbClr val="6B7280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182433"/>
                          </a:solidFill>
                          <a:latin typeface="Calibri"/>
                        </a:rPr>
                        <a:t>3-5x one valuation -- needs differentiable pricers</a:t>
                      </a:r>
                    </a:p>
                  </a:txBody>
                  <a:tcPr anchor="ctr" marL="50800" marR="508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2011680"/>
            <a:ext cx="1051560" cy="274320"/>
          </a:xfrm>
          <a:prstGeom prst="round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68880"/>
            <a:ext cx="3520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CRN selected: works on any pricer as a black box, for every measure including PFE99, which has no pathwise derivative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82 of 91 total factor bumps (equity+FX) cost 88s total via exact GBM path rescaling -- vs ~8,166s naive resimulation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Feedback Incorporated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Every item raised across two rounds of review, addressed and evidenced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11 Feedback Items Across Two Rounds, All Addressed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1">
                <a:solidFill>
                  <a:srgbClr val="D2006F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1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01"/>
                <a:gridCol w="2533135"/>
                <a:gridCol w="4255667"/>
                <a:gridCol w="4053016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You said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 did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Make stress testing robust and structured, not a paragraph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13 scenarios (8 round-number + 5 historical), full MC re-run from shocked state, same random draws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Close-out MPE99 moves -24%/+23%; level moves up to +89% -- margin is why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Explain Greeks: method, cost, faster alternative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CRN bump-and-reprice; pathwise cross-check for eq/FX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CRN cuts noise $245k-&gt;$1k (282x); pathwise 1000x faster, &lt;0.4% difference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Improve PCA explainability, quantify its speed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Factor-by-factor variance table; measured correlated-shock timing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5 factors = 47% variance; PCA is SLOWER (2.08s vs 1.91s), not faster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Confirm what drives each counterparty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Equity delta / DV01 table by netting set; rank correlations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A is equity, C is rates (+equity); portfolio MPE99 close to A+C, not A+B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Walk through the CVA calc end to end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Full CPTY_C step-by-step table: exposure -&gt; spread -&gt; PD -&gt; CVA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CPTY_C close-out CVA $8k; rating sensitivity AA $7k to BB $18k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Add more historical testing periods (incl. 2008)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Extended price history to 2007; found 2008 GFC and 2015 deval. windows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2008 moves close-out MPE99 -13% -- inside range existing scenarios covered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Can Latin Hypercube calculate a sensitivity directly?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Derived the exact analytic rate-shift Greek (x(t) unchanged by curve bumps)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No resimulation; validated to 1e-15 relative precision vs true resimulation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Add KVA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K(t)=8%xRWxalphaxEPE(t), cost-of-capital swept 8/10/12%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0" b="0">
                          <a:solidFill>
                            <a:srgbClr val="182433"/>
                          </a:solidFill>
                          <a:latin typeface="Calibri"/>
                        </a:rPr>
                        <a:t>KVA $22.4k (close-out) vs CVA $11.7k at 10% CoC -- exceeds CVA by design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Items 9-11: CVA Sensitivities, DV01 via a Jacobian, Excel Parametric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1">
                <a:solidFill>
                  <a:srgbClr val="D2006F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2651759"/>
                <a:gridCol w="4206239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You said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We did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CVA is for understanding sensitivities, not just a number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Delivered CVA01, full rating table, SA-CVA weighted sensitivities by risk class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Rating table AAA $5.0k to B $32.8k; ccs delta is 88% of SA-CVA capital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Compute DV01 via a proper par-instrument Jacobian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Bump the curve's own ~45 native pillars, not 8 hand-picked zero-rate tenors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30y bucket: 82% of DV01 (new) vs 54% (old) -- old grid smeared 20-50y risk into the 10y bucket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Validate with an independent Excel parametric test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Bump one equity's vol +-1%, compare closed-form Black vs Monte Carlo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Level match within ~3%; vega match within ~7%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82433"/>
                </a:solidFill>
                <a:latin typeface="Cambria"/>
              </a:rPr>
              <a:t>Full tracker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82433"/>
                </a:solidFill>
                <a:latin typeface="Calibri"/>
              </a:rPr>
              <a:t>•  All 11 items closed with a quantified result -- none left as a narrative response or a promise for next time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82433"/>
                </a:solidFill>
                <a:latin typeface="Calibri"/>
              </a:rPr>
              <a:t>•  Both kickoff extra-credit items (xVA, risky bonds) also delivered alongside the feedback items, despite no CDS data being obtainable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Exposure, validation, Greeks, stress, credit -- the full output of 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Peak Portfolio MPE99 is $51.0M, 78% of the Sum of Counterparty MPE99s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8100" cy="123444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$51.0M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3911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Portfolio MPE99 (close-out)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317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2026-09-20, 99th pct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371600"/>
            <a:ext cx="2697480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371600"/>
            <a:ext cx="38100" cy="123444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$11.6M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3911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Peak EE (close-out)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3317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within 1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371600"/>
            <a:ext cx="2697480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371600"/>
            <a:ext cx="38100" cy="123444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$8.2M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3911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Peak median PFE (close-out)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3317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50th pct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371600"/>
            <a:ext cx="2697480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371600"/>
            <a:ext cx="38100" cy="123444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51790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82433"/>
                </a:solidFill>
                <a:latin typeface="Cambria"/>
              </a:rPr>
              <a:t>$65.1M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03911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82433"/>
                </a:solidFill>
                <a:latin typeface="Calibri"/>
              </a:rPr>
              <a:t>Sum of standalone MPE99s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3317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vs $51.0M portfolio: 78%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8346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835"/>
                <a:gridCol w="2108835"/>
                <a:gridCol w="2343150"/>
                <a:gridCol w="2343150"/>
                <a:gridCol w="234315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Peak EE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Peak median PFE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MPE (peak PFE99)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MPE date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$4.7M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$0.5M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$25.9M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2026-09-20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$0.3M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2026-09-04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$5.2M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$0.9M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$29.6M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2026-09-28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$11.6M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$8.2M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$51.0M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2026-09-20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Close-out MPE99 is far below the level exposure because the prior-day value is margined: CPTY_C's $121.3M bond forward has a 99th-pct 10-day move that peaks at just $25.6M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CPTY_A and CPTY_B are driven by the equity swap baskets; their peak occurs in the first weeks, when the baskets are largest, and falls as trades mature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Exposure Runs Off Within Four Months as the Book's Trades Mature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694944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463040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Shape illustrates Figure 25 of the report (EE, median PFE, PFE99 by counterparty and portfolio)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CPTY_C concentration: one trade, BF_0003, accounts for 90% of the portfolio's peak PFE99 and 96% of today's exposure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This is concentration risk, not diversified counterparty risk -- a limit or collateral on that single trade would move the portfolio number more than any modelling choice in this report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Per-Trade Detail: BF_0003 Alone Drives CPTY_C's $29.6M Peak MPE99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6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814"/>
                <a:gridCol w="1065516"/>
                <a:gridCol w="2722986"/>
                <a:gridCol w="2367814"/>
                <a:gridCol w="2722986"/>
              </a:tblGrid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Trade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Cpty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NPV today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Peak EE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MPE (peak PFE99)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$9,921,581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$2,219,389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$12,021,160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-$1,076,056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$1,903,453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$10,500,714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-$5,547,056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$1,694,458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$9,348,743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EQTRS_0007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-$373,630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$2,071,358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$11,351,099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BF_0003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$121,262,854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$4,547,555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$25,557,208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$1,629,065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$1,306,113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$7,021,957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EQTRS_0004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-$873,451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$860,053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$4,850,697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BTRS_0002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$210,278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$63,404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$126,670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Why the Portfolio is Close to A+C, Not A+B: All Three Are Pay-Equity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19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212"/>
                <a:gridCol w="1573161"/>
                <a:gridCol w="1258529"/>
                <a:gridCol w="1494503"/>
                <a:gridCol w="1887793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Equity delta (/+1%)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DV01 (/+1bp)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FX delta (/+1%)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-$2,254,257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$31,203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Equities fall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-$961,146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-$3,663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$416,550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Equities fall, yen weakens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-$1,240,431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$594,443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Equities fall AND yields rise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1371600"/>
            <a:ext cx="3703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Rank correlation of exposures: A-B 0.34, A-C 0.33, B-C 0.12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Yield-equity correlation in our data is ~0.00 -- the 'bonds vs equities inversely' intuition is regime-dependent, not fixed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731519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1535288"/>
                <a:gridCol w="1535288"/>
                <a:gridCol w="153528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Statistic (at portfolio MPE date)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Standalone PFE99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$25.9M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$9.1M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$28.5M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Prob. exposure positive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Share of tail scenarios at zero exposure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3566160"/>
            <a:ext cx="3703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Rate-equity dependence stress: flight-to-quality (yields fall with equities) moves portfolio MPE to 70% of sum; both-fall-together moves it to 85%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Corrections Moved the Headline From $45.7M to $51.5M, One Fix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Rows are cumulative. Final model portfolio MPE99: $51.5M (2,000-scenario comparison run); headline reporting run (5,000 scenarios) gives $51.0M.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Model Risk: Equity Volatility and Rate-Equity Dependence Dominate, Not the Rate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017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  <a:gridCol w="2061972"/>
                <a:gridCol w="2061972"/>
                <a:gridCol w="2061972"/>
                <a:gridCol w="2061972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Perturbation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Base case (final model)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$26.2M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$9.5M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$28.9M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$51.5M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USD rate sigma x1.25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USD mean reversion x3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Equity/FX vols x1.25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+19%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Equity correlations +30% to 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+35%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+22%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Two-factor G2++ vs HW1F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-0%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Model risk in the headline is dominated by equity volatility and by the (unobservable) rate-equity dependence, not by the choice of rate model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This directly supports retaining the simpler one-factor Hull-White: the bigger uncertainty lives elsewhere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Stress Testing: Close-Out MPE99 Moves at Most -24% / +23%, Level Moves Up to +86%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1316736"/>
            <a:ext cx="1737360" cy="274320"/>
          </a:xfrm>
          <a:prstGeom prst="roundRect">
            <a:avLst/>
          </a:prstGeom>
          <a:solidFill>
            <a:srgbClr val="F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tIns="12700" bIns="12700"/>
          <a:lstStyle/>
          <a:p>
            <a:pPr algn="ctr"/>
            <a:r>
              <a:rPr sz="950" b="1">
                <a:solidFill>
                  <a:srgbClr val="9A0052"/>
                </a:solidFill>
                <a:latin typeface="Calibri"/>
              </a:rPr>
              <a:t>Feedback-driven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5577839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163"/>
                <a:gridCol w="1709338"/>
                <a:gridCol w="1709338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Close-out MPE99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Level MPE99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Base case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$49.2M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$201.7M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Equities -30%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-16%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+60%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Rates -200bp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+23%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-68%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Flight to quality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+19%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Stagflation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-24%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+86%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Hist. equity crash (2020)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-15%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+53%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64592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13 scenarios total: 8 round-number hypothetical + 5 historical replays (2020 crash, 2022 rate spike, 2024 yen surge, and newly added 2008 GFC, 2015 China deval.)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Each scenario is a full Monte Carlo re-run from the shocked state, with the same random numbers as the base case -- so the difference is the shock, not sampling noise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Flight-to-quality and stagflation apply the same equity shock with opposite rate shocks -- CPTY_A/B move similarly in both; CPTY_C moves oppositely because a 22-year bond gains duration value as yields fall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Book Greeks Today: DV01 of $622k/bp Dominated by the CPTY_C Bond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1316736"/>
            <a:ext cx="1737360" cy="274320"/>
          </a:xfrm>
          <a:prstGeom prst="roundRect">
            <a:avLst/>
          </a:prstGeom>
          <a:solidFill>
            <a:srgbClr val="F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tIns="12700" bIns="12700"/>
          <a:lstStyle/>
          <a:p>
            <a:pPr algn="ctr"/>
            <a:r>
              <a:rPr sz="950" b="1">
                <a:solidFill>
                  <a:srgbClr val="9A0052"/>
                </a:solidFill>
                <a:latin typeface="Calibri"/>
              </a:rPr>
              <a:t>Feedback-driven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24711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925"/>
                <a:gridCol w="2627831"/>
                <a:gridCol w="2627831"/>
                <a:gridCol w="2102265"/>
                <a:gridCol w="2102265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NPV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Equity delta (/+1%)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FX delta (/+1%)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DV01 (/+1bp)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$3,572,955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-$2,254,257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$31,203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$1,145,975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-$961,146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$416,550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-$3,663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$125,116,984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-$1,240,431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$594,443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$129,835,914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-$4,455,835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$416,550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$621,983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Efficiency: equity/FX Greeks cost almost nothing extra -- 78 bumps in 88s (1.1s each) because a spot bump rescales every GBM path exactly, no resimulation needed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vs ~8,166s if each were a naive resimulation -- 93x cheaper; only 13 rate/vol bumps need true resimulation at ~109s each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Full Greeks set (~91 factor bumps) costs ~1,614s at N=300 (8 cores) against ~9,690s naive -- 6.0x; at production N=1,000 the whole set costs roughly 1.5 hours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Validation: Self-Check to 0.0000%, Martingale Tests, and a 1.04x VaR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3035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t=0 self-consistency (EE(0) vs direct exposure)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Matches to 0.0000%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Martingale / no-arbitrage (bank-account check, 8,000 paths)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Max relative difference 0.85bp across nodes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JPY bank-account martingale (valued in USD)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z = +0.03 (|z|&lt;~2 expected under null)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Delta-normal VaR benchmark (99%, 1-day)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$12.6M (parametric) vs $12.1M (Monte Carlo); ratio 1.04x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Automated statistical and unit tests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142 pass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805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Each check isolates one layer of the engine (paths, pricing, calibration, aggregation) so a failure points directly at where to look. Validation rests on independent methods -- parametric VaR, hand-calculated analytic bond prices, and martingale conditions derived from first principles -- not circular checks of the engine against itself.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Backtest: 99% Quantiles Close to Calibrated, 4/6/2 Exceptions vs 2.4 Expected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41247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427"/>
                <a:gridCol w="966951"/>
                <a:gridCol w="1450427"/>
                <a:gridCol w="1257037"/>
                <a:gridCol w="1063646"/>
                <a:gridCol w="222398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Kupiec p-value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4 of 242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0.35 (not rejected)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6 of 242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0.05 (borderline)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 of 242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0.78 (not rejected)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At the 95% level the model is conservative for CPTY_A and CPTY_C (mean exception rates 3.0%/3.2% against a 5% nominal) -- a Kupiec test is two-sided, so over-conservatism also registers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Rates leg (10-day yield-change quantiles at 5/10/20y): both sigma calibrations pass on average over 2020-2026, but the long-end fit is more stable (5.7%/1.5% exception rates at 95%/99% vs nominal 5%/1%) than the overnight-SOFR calibration, which was too wide on average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Calibrated using only data up to each as-of date (trailing 3-year window); non-overlapping windows; starting phase shifted over 10 offsets to check robustness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82433"/>
                </a:solidFill>
                <a:latin typeface="Cambria"/>
              </a:rPr>
              <a:t>CVA $11.7k / DVA $11.2k / FVA $0.5k / KVA $22.4k on the Close-Out Convention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1316736"/>
            <a:ext cx="1737360" cy="274320"/>
          </a:xfrm>
          <a:prstGeom prst="roundRect">
            <a:avLst/>
          </a:prstGeom>
          <a:solidFill>
            <a:srgbClr val="F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tIns="12700" bIns="12700"/>
          <a:lstStyle/>
          <a:p>
            <a:pPr algn="ctr"/>
            <a:r>
              <a:rPr sz="950" b="1">
                <a:solidFill>
                  <a:srgbClr val="9A0052"/>
                </a:solidFill>
                <a:latin typeface="Calibri"/>
              </a:rPr>
              <a:t>Feedback-driven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54863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75"/>
                <a:gridCol w="1702675"/>
                <a:gridCol w="208104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Calibri"/>
                        </a:rPr>
                        <a:t>Close-out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Calibri"/>
                        </a:rPr>
                        <a:t>Uncollateralized level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CVA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$11,747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$247,133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DVA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$11,244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$7,500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FVA (FCA-FBA)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$503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$240,000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KVA (10% CoC)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$22,400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0">
                          <a:solidFill>
                            <a:srgbClr val="182433"/>
                          </a:solidFill>
                          <a:latin typeface="Calibri"/>
                        </a:rPr>
                        <a:t>$470,000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45920"/>
          <a:ext cx="5394959" cy="2743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726"/>
                <a:gridCol w="2082265"/>
                <a:gridCol w="1892968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Portfolio CVA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Multiple of BBB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$4,970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0.42x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AA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$7,028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0.60x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$7,997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0.68x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$11,747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1.00x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BB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$18,150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1.55x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$32,847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2.80x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CVA concentrated where exposure is: CPTY_C carries 68% of the $11,747 close-out total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Own credit and funding spread are assumed (BBB proxy, funding = own spread) -- disclosed, with sensitivity shown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SA-CVA Capital $0.10M (Close-Out) / $2.23M (Level); SA-CCR EAD $260.3M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309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</a:tblGrid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Risk class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Close-out capital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Uncollateralized capital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ir delta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$775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$74,837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ir vega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$5,284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$253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fx delta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$95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$2,351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ccs delta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$85,198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$2,032,731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eq delta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$2,068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$110,371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eq vega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$3,256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$6,278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Total SA-CVA capital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$96,675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$2,226,821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371600"/>
          <a:ext cx="475487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880"/>
                <a:gridCol w="1383237"/>
                <a:gridCol w="1123880"/>
                <a:gridCol w="11238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Replacement cost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Add-on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EAD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$3.6M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$16.8M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$28.4M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$1.0M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$9.1M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$14.0M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$125.1M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$30.5M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$217.8M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$129.6M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$56.3M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$260.3M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402336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>
                <a:solidFill>
                  <a:srgbClr val="182433"/>
                </a:solidFill>
                <a:latin typeface="Calibri"/>
              </a:rPr>
              <a:t>•  For CPTY_C the replacement cost of BF_0003 dominates SA-CCR EAD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>
                <a:solidFill>
                  <a:srgbClr val="182433"/>
                </a:solidFill>
                <a:latin typeface="Calibri"/>
              </a:rPr>
              <a:t>•  For the equity netting sets SA-CCR PFE is of the same order as the Monte Carlo level-exposure MPE -- an independent cross-check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Conclusions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ED6"/>
                </a:solidFill>
                <a:latin typeface="Calibri"/>
              </a:rPr>
              <a:t>What we know, what we assumed, and what Capitolis needs to decide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8A909C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Validated and Reproducible; Limitations Disclosed, Not Hidden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1">
                <a:solidFill>
                  <a:srgbClr val="D2006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7A4C"/>
                </a:solidFill>
                <a:latin typeface="Cambria"/>
              </a:rPr>
              <a:t>What we are confident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Engine validated: t=0 self-check 0.0000%, martingale tests, 1.04x VaR benchmark, Kupiec backtest, 142 automated tests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Portfolio MPE99 $51.0M on the brief's exact definition, reproducible with a single command per stage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Every modelling choice is backed by a quantified alternative comparison, not asserted (Section 6)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All 11 feedback items closed with evidence; both extra-credit items (xVA, risky bonds)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02A2A"/>
                </a:solidFill>
                <a:latin typeface="Cambria"/>
              </a:rPr>
              <a:t>What depends on data we don't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No CSA data: threshold, minimum transfer amount, initial margin all unknown -- the two exposure definitions bracket the answer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Counterparty ratings are a BBB proxy (bond-index spreads, not CDS) -- every credit number scales with this assumption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Volatility is 3-year realised, not implied (no single-name options data); correlation is one static matrix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82433"/>
                </a:solidFill>
                <a:latin typeface="Calibri"/>
              </a:rPr>
              <a:t>•  GBM understates fat tails (seen in the CPTY_B backtest); no wrong-way risk modelled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Recommended Next Steps: Confirm Margin Terms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0">
                <a:solidFill>
                  <a:srgbClr val="E8EAED"/>
                </a:solidFill>
                <a:latin typeface="Calibri"/>
              </a:rPr>
              <a:t>Results   </a:t>
            </a:r>
            <a:r>
              <a:rPr sz="850" b="1">
                <a:solidFill>
                  <a:srgbClr val="D2006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"/>
                <a:gridCol w="2743200"/>
                <a:gridCol w="4114800"/>
                <a:gridCol w="3840479"/>
              </a:tblGrid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What's needed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Confirm whether any trade is margined, and on what terms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Changes CPTY_C's MPE99 by up to 82% (Section 7.7 MPOR illustration)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CSA terms per netting set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Real counterparty ratings or CDS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BBB proxy drives every CVA/SA-CVA number; AA-BB spans a 2.6x range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Names, ratings, or CDS quotes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Wrong-way risk decision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Independence of exposure and default is currently assumed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A dependence model and the counterparties it applies 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Capitolis own credit and funding curve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DVA/FVA rest on a BBB proxy assumption (own credit = counterparty proxy)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Capitolis' own credit and funding spread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Adjoint Greeks / two-factor rates as default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Cheapest route for all-factor Greeks; G2++ already implemented and compared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182433"/>
                          </a:solidFill>
                          <a:latin typeface="Calibri"/>
                        </a:rPr>
                        <a:t>A differentiable pricer port; decision on G2++ adoption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3B6CF"/>
                </a:solidFill>
                <a:latin typeface="Calibri"/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2B0"/>
                </a:solidFill>
                <a:latin typeface="Calibri"/>
              </a:rPr>
              <a:t>Berkeley MFE Industry Project  |  Monte Carlo Counterparty Credit Risk Engine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822960" cy="508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82433"/>
                </a:solidFill>
                <a:latin typeface="Cambria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Backup material for Q&amp;A -- not presented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A1. The Full Decision Register (Report Section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79"/>
                <a:gridCol w="57607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Alternatives considered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Risk-neutral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Real-world drifts (needs unobservable risk premia)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Brief's close-out definition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Level max(V,0) only; same-day full-VM MPOR shift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 rates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Hull-White 1F, sigma from realised 2y-30y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CIR, Black-Karasinski, LMM/HJM, G2++ (compared)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Equities/FX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Correlated GBM + quanto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Heston, SABR, jump models (no option data)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One static 39x39 matrix, Cholesky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Time-varying DCC, stressed, PCA factor (compared)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Sampling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Pseudo-random, antithetic, moment-matched, Sobol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Scenario count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5,000 report / 1,000 iter. / 10,000 sign-off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30,000-scenario pool (diminishing returns)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JPY rates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Real JPY Hull-White factor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Constant differential only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Greeks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CRN bump-and-reprice + pathwise check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Independent draws, likelihood ratio, adjoint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A2. Full Data Lineage (Report Appendix B)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4846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931919"/>
              </a:tblGrid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Trades (16) and underlyings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Capitolis trade_data/*.csv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Given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Pricing library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Capitolis capitolis_pricers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Given, independently reviewed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 SOFR futures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Databento (CME)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Live, validated vs Treasury.gov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Equity/FX spots, 3y history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yfinance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Live, keyed by ISIN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Treasury CMT yields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FRED (DGS series)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JPY OIS history (35 tenors)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Bloomberg, via project team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Licensed: derived numbers only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USD/JPY swaption cubes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Bloomberg one-time export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Licensed: derived numbers only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TONA (JPY overnight)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Bank of Japan API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Public, since 1998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JGB par yields 1Y-40Y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Japan MOF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Public, since 1974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Credit spreads by rating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FRED (ICE BofA OAS)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A3. 2008 GFC and 2015 China Devaluation: Full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pic>
        <p:nvPicPr>
          <p:cNvPr id="7" name="Picture 6" descr="fig_hist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4630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2008 GFC window: Sep 29 - Oct 10, 2008; -23% median / -44% worst single-name equity return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2015 China devaluation window: August 2015; -6.8% median equity return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Both found by the same objective rule as the existing replays (worst 10-day window by rule, not hand-picked)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2008 moves close-out MPE99 by -13%, level exposure by +56% -- both land inside the range the existing 2020/2022/2024 scenarios already covered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Conclusion: leaving out 2008 from the original scenario set was not quietly understating the tail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A4. Per-Trade Stress Sensitivity Heat Map (Report Figure 34)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pic>
        <p:nvPicPr>
          <p:cNvPr id="7" name="Picture 6" descr="fig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833148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A5. DV01 Bucket Detail: Old Zero-Grid vs New Par-Instrument Jacobian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6400800" cy="475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286000"/>
              </a:tblGrid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Tenor bucket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Old (zero-grid)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New (par-instrument)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0.25y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-2,182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-2,892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0.5y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-46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1y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-44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2y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-131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-205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3y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-96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-105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-770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-713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-18,324 (39%)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-6,592 (11%)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30y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-24,988 (54%)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-47,191 (82%)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Sum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-46,580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-57,713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Parallel bump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-46,605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82433"/>
                          </a:solidFill>
                          <a:latin typeface="Calibri"/>
                        </a:rPr>
                        <a:t>-57,705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4630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Old method bumped the fitted zero curve at 8 hand-picked tenors with triangular interpolation -- disconnected from how the curve is actually built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New method bumps the curve's own ~45 native construction pillars (SOFR futures + Bloomberg long end), grouped into the same 8 buckets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82433"/>
                </a:solidFill>
                <a:latin typeface="Calibri"/>
              </a:rPr>
              <a:t>•  Both sum to the same total DV01 within 0.05% -- total risk was always right, attribution across tenor was wrong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A6. G2++ Two-Factor Rate Model: Full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82433"/>
                </a:solidFill>
                <a:latin typeface="Courier New"/>
              </a:rPr>
              <a:t>r(t) = x(t) + y(t) + phi(t);  dx = -a x dt + sigma dW1;  dy = -b y dt + eta dW2;  corr(dW1,dW2) = rho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86000"/>
          <a:ext cx="4572000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1.21%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1.44%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rho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-0.95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Relative Frobenius fit error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82433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2286000"/>
            <a:ext cx="6217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Calibrated to the realised covariance of 3-month to 30-year Treasury yield changes (3-year window), least squares on the whole covariance matrix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82433"/>
                </a:solidFill>
                <a:latin typeface="Calibri"/>
              </a:rPr>
              <a:t>•  Reproduces the level and slope of the volatility term structure but not the hump around the 5-year point, which no two-factor Gaussian model can produce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A7. PCA Factor Loadings: What the Factors Actually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4114800"/>
                <a:gridCol w="48463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Var. share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Highest loadings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NXPI +0.25, BAC +0.25, JPM +0.24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Market factor: all names, both regions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6902.T +0.43, 5108.T +0.43, 7751.T +0.42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Japan vs US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KO +0.40, PG +0.35, BRK.B +0.32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Defensive staples vs high-growth tech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MPC +0.44, XOM +0.43, RATE_USD +0.34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Energy / rate-sensitive group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CEG +0.39, NFLX +0.39, VST +0.37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Growth and financial names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389120"/>
            <a:ext cx="4654388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A8. Backtest: Rates Leg Detail (10-Day Yield-Change Quantiles)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8" cy="3108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744"/>
                <a:gridCol w="2811780"/>
                <a:gridCol w="2379198"/>
                <a:gridCol w="2379198"/>
                <a:gridCol w="2379198"/>
              </a:tblGrid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Sigma calibration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99% up exceptions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99% up mean rate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95% up mean rate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Overnight SOFR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 of 161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Long-end fit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4 of 161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Overnight SOFR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 of 161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Long-end fit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 of 161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20y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Overnight SOFR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 of 161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20y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Long-end fit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3 of 161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82433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Nominal exception rates are 1% at the 99% level and 5% at the 95% level. The long-end fit is the more stable calibration across the full 2020-2026 window.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A9. Code Map (Report Appendix 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3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marL="50800" marR="50800" marT="25400" marB="25400" anchor="ctr">
                    <a:solidFill>
                      <a:srgbClr val="1824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market/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sofr, equities, fx, vols, correlations; boj, mof_jgb, bloomberg (JPY); credit_spreads, equity_buckets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models/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rates (Hull-White), g2pp, equity_fx (GBM+JPY drift), calibration, equity_factor_model (PCA), credit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simulation/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engine (grid, paths, MPOR), random_numbers (5 sampling schemes), parallel (multiprocessing)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greeks/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book, exposure, pathwise, bumps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stress/, validation/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scenarios; backtest (Kupiec, Christoffersen)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exposure/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spec_exposure, aggregate, collateral, cva, xva, sa_cva, sa_ccr</a:t>
                      </a:r>
                    </a:p>
                  </a:txBody>
                  <a:tcPr marL="50800" marR="50800" marT="25400" marB="25400" anchor="ctr"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82433"/>
                          </a:solidFill>
                          <a:latin typeface="Calibri"/>
                        </a:rPr>
                        <a:t>142 tests across engine, calibration, exposure, Greeks, xVA, backtests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82433"/>
                </a:solidFill>
                <a:latin typeface="Cambria"/>
              </a:rPr>
              <a:t>A10. Reproducing Every Result (Report Appendix 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02920" cy="38100"/>
          </a:xfrm>
          <a:prstGeom prst="rect">
            <a:avLst/>
          </a:prstGeom>
          <a:solidFill>
            <a:srgbClr val="D2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0">
                <a:solidFill>
                  <a:srgbClr val="E8EAED"/>
                </a:solidFill>
                <a:latin typeface="Calibri"/>
              </a:rPr>
              <a:t>Intro   </a:t>
            </a:r>
            <a:r>
              <a:rPr sz="850" b="0">
                <a:solidFill>
                  <a:srgbClr val="E8EAED"/>
                </a:solidFill>
                <a:latin typeface="Calibri"/>
              </a:rPr>
              <a:t>Brief   </a:t>
            </a:r>
            <a:r>
              <a:rPr sz="850" b="0">
                <a:solidFill>
                  <a:srgbClr val="E8EAED"/>
                </a:solidFill>
                <a:latin typeface="Calibri"/>
              </a:rPr>
              <a:t>Data   </a:t>
            </a:r>
            <a:r>
              <a:rPr sz="850" b="0">
                <a:solidFill>
                  <a:srgbClr val="E8EAED"/>
                </a:solidFill>
                <a:latin typeface="Calibri"/>
              </a:rPr>
              <a:t>Pipeline   </a:t>
            </a:r>
            <a:r>
              <a:rPr sz="850" b="0">
                <a:solidFill>
                  <a:srgbClr val="E8EAED"/>
                </a:solidFill>
                <a:latin typeface="Calibri"/>
              </a:rPr>
              <a:t>Models   </a:t>
            </a:r>
            <a:r>
              <a:rPr sz="850" b="0">
                <a:solidFill>
                  <a:srgbClr val="E8EAED"/>
                </a:solidFill>
                <a:latin typeface="Calibri"/>
              </a:rPr>
              <a:t>Trade-offs   </a:t>
            </a:r>
            <a:r>
              <a:rPr sz="850" b="0">
                <a:solidFill>
                  <a:srgbClr val="E8EAED"/>
                </a:solidFill>
                <a:latin typeface="Calibri"/>
              </a:rPr>
              <a:t>Feedback   </a:t>
            </a:r>
            <a:r>
              <a:rPr sz="850" b="1">
                <a:solidFill>
                  <a:srgbClr val="D2006F"/>
                </a:solidFill>
                <a:latin typeface="Calibri"/>
              </a:rPr>
              <a:t>Results   </a:t>
            </a:r>
            <a:r>
              <a:rPr sz="850" b="0">
                <a:solidFill>
                  <a:srgbClr val="E8EAED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Calibri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822960" cy="256032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tIns="12700"/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82433"/>
                </a:solidFill>
                <a:latin typeface="Courier New"/>
              </a:rPr>
              <a:t>python scripts/generate_report_data.py --scenarios 3000   # simulation + figure arrays
python scripts/run_simulation.py --scenarios 3000          # EE/PFE99/MPE profiles
python scripts/run_spec_simulation.py --scenarios 5000     # close-out exposure (headline)
python scripts/run_greeks.py --scenarios 1000              # book and exposure Greeks
python scripts/run_sa_cva.py --scenarios 1000               # CVA and SA-CVA capital
python scripts/run_xva.py &amp;&amp; python scripts/run_sa_ccr.py   # CVA/DVA/FVA and SA-CCR
python scripts/run_stress.py --scenarios 1000               # stress test
python scripts/run_backtest.py                              # Kupiec backtest
python -m pytest tests                                       # all 142 automated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