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latin typeface="Calibri"/>
              </a:rPr>
              <a:t>Relative standard error of PFE99 falls as 1/sqrt(N)</a:t>
            </a:r>
          </a:p>
        </c:rich>
      </c:tx>
      <c:layout/>
      <c:overlay val="0"/>
    </c:title>
    <c:autoTitleDeleted val="0"/>
    <c:plotArea>
      <c:barChart>
        <c:barDir val="col"/>
        <c:grouping val="clustered"/>
        <c:ser>
          <c:idx val="0"/>
          <c:order val="0"/>
          <c:tx>
            <c:strRef>
              <c:f>Sheet1!$B$1</c:f>
              <c:strCache>
                <c:ptCount val="1"/>
                <c:pt idx="0">
                  <c:v>Rel. SE of PFE99 (%)</c:v>
                </c:pt>
              </c:strCache>
            </c:strRef>
          </c:tx>
          <c:spPr>
            <a:solidFill>
              <a:srgbClr val="D2006F"/>
            </a:solidFill>
          </c:spPr>
          <c:dLbls>
            <c:numFmt formatCode="0.00" sourceLinked="0"/>
            <c:txPr>
              <a:bodyPr/>
              <a:lstStyle/>
              <a:p>
                <a:pPr>
                  <a:defRPr sz="900">
                    <a:latin typeface="Calibri"/>
                  </a:defRPr>
                </a:pPr>
              </a:p>
            </c:txPr>
            <c:showLegendKey val="0"/>
            <c:showVal val="1"/>
            <c:showCatName val="0"/>
            <c:showSerName val="0"/>
            <c:showPercent val="0"/>
            <c:showBubbleSize val="0"/>
            <c:showLeaderLines val="1"/>
          </c:dLbls>
          <c:cat>
            <c:strRef>
              <c:f>Sheet1!$A$2:$A$5</c:f>
              <c:strCache>
                <c:ptCount val="4"/>
                <c:pt idx="0">
                  <c:v>1,000</c:v>
                </c:pt>
                <c:pt idx="1">
                  <c:v>5,000</c:v>
                </c:pt>
                <c:pt idx="2">
                  <c:v>10,000</c:v>
                </c:pt>
                <c:pt idx="3">
                  <c:v>20,000</c:v>
                </c:pt>
              </c:strCache>
            </c:strRef>
          </c:cat>
          <c:val>
            <c:numRef>
              <c:f>Sheet1!$B$2:$B$5</c:f>
              <c:numCache>
                <c:formatCode>General</c:formatCode>
                <c:ptCount val="4"/>
                <c:pt idx="0">
                  <c:v>0.66</c:v>
                </c:pt>
                <c:pt idx="1">
                  <c:v>0.29</c:v>
                </c:pt>
                <c:pt idx="2">
                  <c:v>0.21</c:v>
                </c:pt>
                <c:pt idx="3">
                  <c:v>0.09</c:v>
                </c:pt>
              </c:numCache>
            </c:numRef>
          </c:val>
        </c:ser>
        <c:axId val="-2068027336"/>
        <c:axId val="-2113994440"/>
      </c:barChart>
      <c:catAx>
        <c:axId val="-2068027336"/>
        <c:scaling>
          <c:orientation val="minMax"/>
        </c:scaling>
        <c:delete val="0"/>
        <c:axPos val="b"/>
        <c:majorTickMark val="out"/>
        <c:minorTickMark val="none"/>
        <c:tickLblPos val="nextTo"/>
        <c:spPr>
          <a:ln>
            <a:solidFill>
              <a:srgbClr val="E8EAED"/>
            </a:solidFill>
          </a:ln>
        </c:spPr>
        <c:txPr>
          <a:bodyPr/>
          <a:lstStyle/>
          <a:p>
            <a:pPr>
              <a:defRPr sz="1000">
                <a:latin typeface="Calibri"/>
              </a:defRPr>
            </a:pPr>
          </a:p>
        </c:txPr>
        <c:crossAx val="-2113994440"/>
        <c:crosses val="autoZero"/>
        <c:auto val="1"/>
        <c:lblAlgn val="ctr"/>
        <c:lblOffset val="100"/>
        <c:noMultiLvlLbl val="0"/>
      </c:catAx>
      <c:valAx>
        <c:axId val="-2113994440"/>
        <c:scaling/>
        <c:delete val="0"/>
        <c:axPos val="l"/>
        <c:majorGridlines>
          <c:spPr>
            <a:ln w="6350">
              <a:solidFill>
                <a:srgbClr val="E8EAED"/>
              </a:solidFill>
            </a:ln>
          </c:spPr>
        </c:majorGridlines>
        <c:majorTickMark val="out"/>
        <c:minorTickMark val="none"/>
        <c:tickLblPos val="nextTo"/>
        <c:spPr>
          <a:ln>
            <a:solidFill>
              <a:srgbClr val="E8EAED"/>
            </a:solidFill>
          </a:ln>
        </c:spPr>
        <c:txPr>
          <a:bodyPr/>
          <a:lstStyle/>
          <a:p>
            <a:pPr>
              <a:defRPr sz="90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Portfolio MPE99 (USD M)</c:v>
                </c:pt>
              </c:strCache>
            </c:strRef>
          </c:tx>
          <c:spPr>
            <a:solidFill>
              <a:srgbClr val="D2006F"/>
            </a:solidFill>
          </c:spPr>
          <c:dLbls>
            <c:numFmt formatCode="0.0" sourceLinked="0"/>
            <c:txPr>
              <a:bodyPr/>
              <a:lstStyle/>
              <a:p>
                <a:pPr>
                  <a:defRPr sz="900">
                    <a:latin typeface="Calibri"/>
                  </a:defRPr>
                </a:pPr>
              </a:p>
            </c:txPr>
            <c:showLegendKey val="0"/>
            <c:showVal val="1"/>
            <c:showCatName val="0"/>
            <c:showSerName val="0"/>
            <c:showPercent val="0"/>
            <c:showBubbleSize val="0"/>
            <c:showLeaderLines val="1"/>
          </c:dLbls>
          <c:cat>
            <c:strRef>
              <c:f>Sheet1!$A$2:$A$6</c:f>
              <c:strCache>
                <c:ptCount val="5"/>
                <c:pt idx="0">
                  <c:v>Earlier version</c:v>
                </c:pt>
                <c:pt idx="1">
                  <c:v>+USDJPY drift fix</c:v>
                </c:pt>
                <c:pt idx="2">
                  <c:v>+vol fit &amp; correl.</c:v>
                </c:pt>
                <c:pt idx="3">
                  <c:v>+Bloomberg splice</c:v>
                </c:pt>
                <c:pt idx="4">
                  <c:v>+JPY HW factor (final)</c:v>
                </c:pt>
              </c:strCache>
            </c:strRef>
          </c:cat>
          <c:val>
            <c:numRef>
              <c:f>Sheet1!$B$2:$B$6</c:f>
              <c:numCache>
                <c:formatCode>General</c:formatCode>
                <c:ptCount val="5"/>
                <c:pt idx="0">
                  <c:v>45.7</c:v>
                </c:pt>
                <c:pt idx="1">
                  <c:v>47.8</c:v>
                </c:pt>
                <c:pt idx="2">
                  <c:v>52.7</c:v>
                </c:pt>
                <c:pt idx="3">
                  <c:v>52.1</c:v>
                </c:pt>
                <c:pt idx="4">
                  <c:v>51.5</c:v>
                </c:pt>
              </c:numCache>
            </c:numRef>
          </c:val>
        </c:ser>
        <c:axId val="-2068027336"/>
        <c:axId val="-2113994440"/>
      </c:barChart>
      <c:catAx>
        <c:axId val="-2068027336"/>
        <c:scaling>
          <c:orientation val="minMax"/>
        </c:scaling>
        <c:delete val="0"/>
        <c:axPos val="b"/>
        <c:majorTickMark val="out"/>
        <c:minorTickMark val="none"/>
        <c:tickLblPos val="nextTo"/>
        <c:spPr>
          <a:ln>
            <a:solidFill>
              <a:srgbClr val="E8EAED"/>
            </a:solidFill>
          </a:ln>
        </c:spPr>
        <c:txPr>
          <a:bodyPr/>
          <a:lstStyle/>
          <a:p>
            <a:pPr>
              <a:defRPr sz="1000">
                <a:latin typeface="Calibri"/>
              </a:defRPr>
            </a:pPr>
          </a:p>
        </c:txPr>
        <c:crossAx val="-2113994440"/>
        <c:crosses val="autoZero"/>
        <c:auto val="1"/>
        <c:lblAlgn val="ctr"/>
        <c:lblOffset val="100"/>
        <c:noMultiLvlLbl val="0"/>
      </c:catAx>
      <c:valAx>
        <c:axId val="-2113994440"/>
        <c:scaling/>
        <c:delete val="0"/>
        <c:axPos val="l"/>
        <c:majorGridlines>
          <c:spPr>
            <a:ln w="6350">
              <a:solidFill>
                <a:srgbClr val="E8EAED"/>
              </a:solidFill>
            </a:ln>
          </c:spPr>
        </c:majorGridlines>
        <c:majorTickMark val="out"/>
        <c:minorTickMark val="none"/>
        <c:tickLblPos val="nextTo"/>
        <c:spPr>
          <a:ln>
            <a:solidFill>
              <a:srgbClr val="E8EAED"/>
            </a:solidFill>
          </a:ln>
        </c:spPr>
        <c:txPr>
          <a:bodyPr/>
          <a:lstStyle/>
          <a:p>
            <a:pPr>
              <a:defRPr sz="90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latin typeface="Calibri"/>
              </a:rPr>
              <a:t>Portfolio MPE99 % change per perturbation (2,000 scenarios)</a:t>
            </a:r>
          </a:p>
        </c:rich>
      </c:tx>
      <c:layout/>
      <c:overlay val="0"/>
    </c:title>
    <c:autoTitleDeleted val="0"/>
    <c:plotArea>
      <c:barChart>
        <c:barDir val="col"/>
        <c:grouping val="clustered"/>
        <c:ser>
          <c:idx val="0"/>
          <c:order val="0"/>
          <c:tx>
            <c:strRef>
              <c:f>Sheet1!$B$1</c:f>
              <c:strCache>
                <c:ptCount val="1"/>
                <c:pt idx="0">
                  <c:v>Portfolio MPE99 change</c:v>
                </c:pt>
              </c:strCache>
            </c:strRef>
          </c:tx>
          <c:spPr>
            <a:solidFill>
              <a:srgbClr val="D2006F"/>
            </a:solidFill>
          </c:spPr>
          <c:dLbls>
            <c:numFmt formatCode="+0;-0" sourceLinked="0"/>
            <c:txPr>
              <a:bodyPr/>
              <a:lstStyle/>
              <a:p>
                <a:pPr>
                  <a:defRPr sz="900">
                    <a:latin typeface="Calibri"/>
                  </a:defRPr>
                </a:pPr>
              </a:p>
            </c:txPr>
            <c:showLegendKey val="0"/>
            <c:showVal val="1"/>
            <c:showCatName val="0"/>
            <c:showSerName val="0"/>
            <c:showPercent val="0"/>
            <c:showBubbleSize val="0"/>
            <c:showLeaderLines val="1"/>
          </c:dLbls>
          <c:cat>
            <c:strRef>
              <c:f>Sheet1!$A$2:$A$6</c:f>
              <c:strCache>
                <c:ptCount val="5"/>
                <c:pt idx="0">
                  <c:v>G2++ vs HW1F</c:v>
                </c:pt>
                <c:pt idx="1">
                  <c:v>USD mean rev. x3</c:v>
                </c:pt>
                <c:pt idx="2">
                  <c:v>USD rate sigma x1.25</c:v>
                </c:pt>
                <c:pt idx="3">
                  <c:v>Equity/FX vols x1.25</c:v>
                </c:pt>
                <c:pt idx="4">
                  <c:v>Equity correl. +30% to 1</c:v>
                </c:pt>
              </c:strCache>
            </c:strRef>
          </c:cat>
          <c:val>
            <c:numRef>
              <c:f>Sheet1!$B$2:$B$6</c:f>
              <c:numCache>
                <c:formatCode>General</c:formatCode>
                <c:ptCount val="5"/>
                <c:pt idx="0">
                  <c:v>-3</c:v>
                </c:pt>
                <c:pt idx="1">
                  <c:v>-5</c:v>
                </c:pt>
                <c:pt idx="2">
                  <c:v>9</c:v>
                </c:pt>
                <c:pt idx="3">
                  <c:v>19</c:v>
                </c:pt>
                <c:pt idx="4">
                  <c:v>22</c:v>
                </c:pt>
              </c:numCache>
            </c:numRef>
          </c:val>
        </c:ser>
        <c:axId val="-2068027336"/>
        <c:axId val="-2113994440"/>
      </c:barChart>
      <c:catAx>
        <c:axId val="-2068027336"/>
        <c:scaling>
          <c:orientation val="minMax"/>
        </c:scaling>
        <c:delete val="0"/>
        <c:axPos val="b"/>
        <c:majorTickMark val="out"/>
        <c:minorTickMark val="none"/>
        <c:tickLblPos val="nextTo"/>
        <c:spPr>
          <a:ln>
            <a:solidFill>
              <a:srgbClr val="E8EAED"/>
            </a:solidFill>
          </a:ln>
        </c:spPr>
        <c:txPr>
          <a:bodyPr/>
          <a:lstStyle/>
          <a:p>
            <a:pPr>
              <a:defRPr sz="1000">
                <a:latin typeface="Calibri"/>
              </a:defRPr>
            </a:pPr>
          </a:p>
        </c:txPr>
        <c:crossAx val="-2113994440"/>
        <c:crosses val="autoZero"/>
        <c:auto val="1"/>
        <c:lblAlgn val="ctr"/>
        <c:lblOffset val="100"/>
        <c:noMultiLvlLbl val="0"/>
      </c:catAx>
      <c:valAx>
        <c:axId val="-2113994440"/>
        <c:scaling/>
        <c:delete val="0"/>
        <c:axPos val="l"/>
        <c:majorGridlines>
          <c:spPr>
            <a:ln w="6350">
              <a:solidFill>
                <a:srgbClr val="E8EAED"/>
              </a:solidFill>
            </a:ln>
          </c:spPr>
        </c:majorGridlines>
        <c:majorTickMark val="out"/>
        <c:minorTickMark val="none"/>
        <c:tickLblPos val="nextTo"/>
        <c:spPr>
          <a:ln>
            <a:solidFill>
              <a:srgbClr val="E8EAED"/>
            </a:solidFill>
          </a:ln>
        </c:spPr>
        <c:txPr>
          <a:bodyPr/>
          <a:lstStyle/>
          <a:p>
            <a:pPr>
              <a:defRPr sz="90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Open with who we are and what this readout covers -- a validated Monte Carlo CCR engine built end to end for the ESF derivatives book.</a:t>
            </a:r>
          </a:p>
          <a:p/>
          <a:p>
            <a:r>
              <a:t>- Berkeley MFE industry project for Capitolis Risk, Quant &amp; Technology -- final client readout, not a status update</a:t>
            </a:r>
          </a:p>
          <a:p>
            <a:r>
              <a:t>- Valuation date 2026-08-28; everything in this deck is reproducible from that single date's market data</a:t>
            </a:r>
          </a:p>
          <a:p>
            <a:r>
              <a:t>- Housekeeping: ~45-50 min including Q&amp;A; happy to take questions as we go on anything that needs more depth</a:t>
            </a:r>
          </a:p>
          <a:p/>
          <a:p>
            <a:r>
              <a:t>TIME: ~30 sec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We built, validated and stress-tested the full CCR engine the brief asked for; headline portfolio MPE99 is $51.0M, concentrated in the first four months.</a:t>
            </a:r>
          </a:p>
          <a:p/>
          <a:p>
            <a:r>
              <a:t>- Don't read the four KPI tiles aloud -- they're there for the audience to see. Instead say what they mean together: the book is short-dated and lightly diversified, so the headline number is really a statement about one counterparty's one trade, not a smoothed portfolio average</a:t>
            </a:r>
          </a:p>
          <a:p>
            <a:r>
              <a:t>- The gap between $129.8M (today's full uncollateralized exposure) and $51.0M (the brief's close-out MPE99) is the single most important number relationship in this deck -- it's entirely the effect of daily margining, and it's worth pausing on because everything downstream (CVA, capital, stress) depends on which of these two conventions applies</a:t>
            </a:r>
          </a:p>
          <a:p>
            <a:r>
              <a:t>- This is the 30-second version of the whole 50-minute deck -- if someone has to leave after this slide, they should walk away knowing the number, why it's concentrated, and that margin terms are the open question</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Show the actual book before anything else -- every number in this deck traces back to these 16 rows.</a:t>
            </a:r>
          </a:p>
          <a:p/>
          <a:p>
            <a:r>
              <a:t>- Grounding move: before any model talk, make the audience see that this is a real, small, lopsided book -- not an abstract portfolio. That context changes how they should read every later result (a 'portfolio' number here is mostly one trade's behavior)</a:t>
            </a:r>
          </a:p>
          <a:p>
            <a:r>
              <a:t>- If asked why NPVs differ so much in sign and size across similar-looking Equity TRS trades: it's spot moves since inception, not a modelling artifact -- each one was struck at a different time against a different basket</a:t>
            </a:r>
          </a:p>
          <a:p>
            <a:r>
              <a:t>- Useful transition line into the next slide: 'given this is the book, here's the shape of the whole engine we built to risk-manage it'</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Set scope and agenda; this is a readout, not a first look -- we move quickly through concepts the audience already knows.</a:t>
            </a:r>
          </a:p>
          <a:p/>
          <a:p>
            <a:r>
              <a:t>- Say explicitly that we'll move fast through anything covered in the kickoff deck or prior meetings -- this audience has seen the brief and the basic asset classes before, so dwelling here would waste the time budget</a:t>
            </a:r>
          </a:p>
          <a:p>
            <a:r>
              <a:t>- The agenda order is deliberate: data and pipeline first (so results are trusted before they're shown), modelling choices and trade-offs before feedback (so the feedback section reads as closing loops, not introducing new material), results last and longest</a:t>
            </a:r>
          </a:p>
          <a:p>
            <a:r>
              <a:t>- If the room seems impatient to get to numbers, it's fine to say 'results start in about 15 minutes' and keep moving -- the earlier sections exist to make the results credible, not to be lingered on</a:t>
            </a:r>
          </a:p>
          <a:p/>
          <a:p>
            <a:r>
              <a:t>TIME: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the brief and our delivered scope.</a:t>
            </a:r>
          </a:p>
          <a:p/>
          <a:p>
            <a:r>
              <a:t>- Keep this short -- its only job is to signal we're about to prove delivery against the brief's own words, not our own framing of success</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Restate the brief's own assumptions exactly as given, because every modelling choice downstream traces back to them.</a:t>
            </a:r>
          </a:p>
          <a:p/>
          <a:p>
            <a:r>
              <a:t>- Make the point that we didn't choose the close-out definition or the no-initial-margin assumption -- these came from Capitolis, and we're showing them here specifically so nobody mistakes a given constraint for a modelling choice we made</a:t>
            </a:r>
          </a:p>
          <a:p>
            <a:r>
              <a:t>- The 'strictly the seller' point is worth explaining out loud: it means the book's risk is one-directional by construction (we never benefit from market moves the way the counterparty does), which is why every result in this deck is framed as counterparty exposure to us, never the reverse</a:t>
            </a:r>
          </a:p>
          <a:p>
            <a:r>
              <a:t>- Flag that scenario count being 'our choice, with evidence of convergence' is exactly the freedom we used to justify the N=1k/5k/10k tiering shown later in Trade-offs -- it's not an oversight that we didn't pick one fixed number</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Walk the brief's own checklist against our delivery, ending on the two extra-credit items both being complete.</a:t>
            </a:r>
          </a:p>
          <a:p/>
          <a:p>
            <a:r>
              <a:t>- Move quickly down the rows -- the point of this slide isn't to re-read each cell, it's to let the room see for themselves that every row has an entry, which is the credibility payoff</a:t>
            </a:r>
          </a:p>
          <a:p>
            <a:r>
              <a:t>- Spend the real time on the last row (risky bonds + CDS): be upfront that we could not source CDS data despite trying, and that the risky-bond proxy is a deliberate, disclosed substitution, not a silent gap -- this honesty here builds trust for the limitations slide at the end</a:t>
            </a:r>
          </a:p>
          <a:p>
            <a:r>
              <a:t>- If asked why SA-CCR appears when it wasn't named in the brief: it's the natural regulatory companion to SA-CVA once you're computing xVA, so we included it as part of delivering the xVA ask fully rather than narrowly</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data.</a:t>
            </a:r>
          </a:p>
          <a:p/>
          <a:p>
            <a:r>
              <a:t>- Frame this section as answering 'can we trust the inputs', which has to come before 'can we trust the model' -- a perfect model on bad data is still wrong</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Walk the data table left to right: live feeds for the backbone, licensed snapshots for the long end and JPY, public series for validation and backtesting.</a:t>
            </a:r>
          </a:p>
          <a:p/>
          <a:p>
            <a:r>
              <a:t>- USD curve bootstrapped from 33 live CME SOFR futures (Databento), cross-checked against Treasury.gov</a:t>
            </a:r>
          </a:p>
          <a:p>
            <a:r>
              <a:t>- Licensed Bloomberg data used only for derived numbers (curve splice, swaption-implied mean reversion) -- never redistributed raw</a:t>
            </a:r>
          </a:p>
          <a:p>
            <a:r>
              <a:t>- JPY OIS history (35 tenors, since 2011) provided by the project team is the most complete JPY source and drives the JPY factor</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slide builds credibility: we show the actual process of catching errors, not just the final clean numbers.</a:t>
            </a:r>
          </a:p>
          <a:p/>
          <a:p>
            <a:r>
              <a:t>- The flat long-end extrapolation understated BF_0003 (the $500M 2049 bond forward) by about 16% -- found by repricing on Bloomberg's own curve</a:t>
            </a:r>
          </a:p>
          <a:p>
            <a:r>
              <a:t>- USDJPY drift sign error found by deriving drifts from the martingale condition, not by chance -- the earlier martingale test only covered 6 high-vol names</a:t>
            </a:r>
          </a:p>
          <a:p>
            <a:r>
              <a:t>- 13 total defects logged and fixed in Section 12 of the report; every one was caught by an independent cross-check, not assumed away</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Show the actual curve-construction process -- this curve discounts every trade and drives the Hull-White fit.</a:t>
            </a:r>
          </a:p>
          <a:p/>
          <a:p>
            <a:r>
              <a:t>- Each 3-month SOFR future gives an implied forward rate for its reference quarter; chaining consecutive quarters multiplies discount factors</a:t>
            </a:r>
          </a:p>
          <a:p>
            <a:r>
              <a:t>- Futures end at about 6.5 years; beyond that the curve follows the forward structure of Bloomberg's own zero curve, joined continuously -- not flat extrapolation</a:t>
            </a:r>
          </a:p>
          <a:p>
            <a:r>
              <a:t>- The splice matters in dollars: BF_0003's NPV moves from $101.4M (flat) to $121.3M (spliced), within 0.4% of repricing on Bloomberg's own curve directly</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Volatility is the key diffusion input for every risk factor; show both the equity cross-section and the rate-vol fitting decision.</a:t>
            </a:r>
          </a:p>
          <a:p/>
          <a:p>
            <a:r>
              <a:t>- 37 equities span an order of magnitude in realised vol (a handful of names at 50-76%) -- these dominate tail exposure wherever they appear</a:t>
            </a:r>
          </a:p>
          <a:p>
            <a:r>
              <a:t>- USD Hull-White sigma is fitted to realised 2y-30y Treasury yield vol (96bp), not the overnight SOFR fixing (63bp) -- the overnight rate moves in discrete Fed-date steps and says little about the long end the book actually depends on</a:t>
            </a:r>
          </a:p>
          <a:p>
            <a:r>
              <a:t>- This fix (Section 3.2) was itself one of the defects corrected: the original overnight-SOFR calibration understated 10-day 20y-yield moves (11bp modelled vs 15bp realised)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Explain how the correlation matrix was actually built, including the cross-market calendar-join subtlety.</a:t>
            </a:r>
          </a:p>
          <a:p/>
          <a:p>
            <a:r>
              <a:t>- US and Tokyo trade on different calendars, so series are joined by calendar date, not timestamp -- an earlier version joined by timestamp and silently emptied ~70% of the table (defect #4)</a:t>
            </a:r>
          </a:p>
          <a:p>
            <a:r>
              <a:t>- 741 pairwise correlations center on 0.14 -- a broad positive market block, not a few isolated pairs</a:t>
            </a:r>
          </a:p>
          <a:p>
            <a:r>
              <a:t>- The USD rate row uses 10-year Treasury yield changes, not the overnight SOFR fixing, because the fixing moves in Fed-date steps and correlates with nothing</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 single consolidated slide of every number in the engine that is an assumption, not a measurement -- full transparency in one place.</a:t>
            </a:r>
          </a:p>
          <a:p/>
          <a:p>
            <a:r>
              <a:t>- None of these are hidden inside a formula -- each is named here and its sensitivity is shown somewhere else in this deck</a:t>
            </a:r>
          </a:p>
          <a:p>
            <a:r>
              <a:t>- The two biggest-impact assumptions are the counterparty credit rating (drives every CVA/SA-CVA number) and whether the book is margined at all (drives the choice of exposure convention)</a:t>
            </a:r>
          </a:p>
          <a:p>
            <a:r>
              <a:t>- Every other input in the engine -- curves, vols, correlations, trade terms -- is measured from real data, not assumed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pipeline.</a:t>
            </a:r>
          </a:p>
          <a:p/>
          <a:p>
            <a:r>
              <a:t>- This section exists to show the engine is one coherent system, not a pile of scripts -- worth saying explicitly since the next two slides move fast through a lot of structure</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Walk the pipeline left to right; emphasize that the pricing library is never modified -- a deliberate design choice so errors cannot hide inside re-implemented pricing.</a:t>
            </a:r>
          </a:p>
          <a:p/>
          <a:p>
            <a:r>
              <a:t>- Every pricer is a pure function npv = pricer.npv(MarketState) -- the simulation never contains its own pricing logic</a:t>
            </a:r>
          </a:p>
          <a:p>
            <a:r>
              <a:t>- Dates use pillar tenors (O/N..10Y) plus every trade's own event date forced onto the grid -- 42 nodes for this book, denser than a plain monthly grid (18) and exact on cash-flow dates</a:t>
            </a:r>
          </a:p>
          <a:p>
            <a:r>
              <a:t>- This is the same pipeline that produces exposure, Greeks, stress, CVA/DVA/FVA/KVA, SA-CVA and SA-CCR -- one consistent engine, not bolted-on add-ons</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Explain the date-grid design choice: not a plain monthly grid, but market pillar dates with every trade's own cash-flow date forced in.</a:t>
            </a:r>
          </a:p>
          <a:p/>
          <a:p>
            <a:r>
              <a:t>- Monthly steps are simple but blunt -- they spend nodes evenly when risk actually changes fastest near-term, and a trade's own reset or maturity rarely falls on a month-end</a:t>
            </a:r>
          </a:p>
          <a:p>
            <a:r>
              <a:t>- Following Capitolis' guidance, we adopt pillar dates: the same standard market curve tenors used to build the SOFR curve (O/N, T/N, 1W, 2W, 1M, 2M, 3M, 6M, 9M, 1Y, 18M, 2Y...) -- dense short-term, sparse long-term, mirroring production CCR practice</a:t>
            </a:r>
          </a:p>
          <a:p>
            <a:r>
              <a:t>- Every trade's own reset/settlement/maturity date is forced onto the grid in addition, so exposure jumps at real cash-flow dates are captured exactly, not smoothed over</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Walk the actual build order: repo and data layer first, then the risk-factor models, then calibration, then the simulation engine that ties them together.</a:t>
            </a:r>
          </a:p>
          <a:p/>
          <a:p>
            <a:r>
              <a:t>- Each step maps to a real Python package in the repository -- this isn't a conceptual diagram, it's the literal module structure</a:t>
            </a:r>
          </a:p>
          <a:p>
            <a:r>
              <a:t>- Steps 1-2 are almost entirely about getting real market data right; steps 3-4 turn that data into calibrated, simulatable models</a:t>
            </a:r>
          </a:p>
          <a:p>
            <a:r>
              <a:t>- The next slide covers steps 5-8: pricing integration through to validation and testing</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Second half of the build: integrate the given pricing library, compute Greeks, layer on credit risk and capital, then validate everything independently.</a:t>
            </a:r>
          </a:p>
          <a:p/>
          <a:p>
            <a:r>
              <a:t>- Step 6 (pricing) deliberately reuses the Capitolis-supplied library unmodified -- a MarketState is built from simulated factors and handed to pricer.npv()</a:t>
            </a:r>
          </a:p>
          <a:p>
            <a:r>
              <a:t>- Steps 7-8 (Greeks, exposure/credit) are built on the same simulated paths as step 5 -- not separate re-simulations, so every output is mutually consistent</a:t>
            </a:r>
          </a:p>
          <a:p>
            <a:r>
              <a:t>- Step 9 (validation) closes the loop with checks that are independent of the engine's own outputs -- martingale tests, a parametric VaR benchmark, and a historical backtest</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models.</a:t>
            </a:r>
          </a:p>
          <a:p/>
          <a:p>
            <a:r>
              <a:t>- Set expectations: this section is about the models we actually shipped, with their fitted parameters -- the trade-off section right after is where we justify them against the alternatives, so don't pre-empt that debate here</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is the backbone of the whole engine: every discount factor at every scenario and node comes from this model.</a:t>
            </a:r>
          </a:p>
          <a:p/>
          <a:p>
            <a:r>
              <a:t>- Analytic bond prices mean one function evaluation per (scenario,node) -- 10x faster than building a curve object, and exact</a:t>
            </a:r>
          </a:p>
          <a:p>
            <a:r>
              <a:t>- Gaussian, so it supports negative rates -- essential for JPY, harmless for USD</a:t>
            </a:r>
          </a:p>
          <a:p>
            <a:r>
              <a:t>- sigma fitted to realised 2y-30y Treasury yield vol (96bp), not the overnight SOFR fixing (63bp), because the book's risk comes from the long end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Equity and FX dynamics are standard GBM, but the drifts are derived, not assumed -- and verified by martingale tests.</a:t>
            </a:r>
          </a:p>
          <a:p/>
          <a:p>
            <a:r>
              <a:t>- Drifts follow from the martingale condition on every USD-denominated tradable asset -- including the quanto correction for JPY-listed names</a:t>
            </a:r>
          </a:p>
          <a:p>
            <a:r>
              <a:t>- One static 39x39 correlation matrix from 616 aligned daily dates, applied via Cholesky -- the USD rate row uses 10-year-yield changes, not the overnight SOFR fixing, which correlates with nothing</a:t>
            </a:r>
          </a:p>
          <a:p>
            <a:r>
              <a:t>- This drift derivation is exactly where the USDJPY sign error (defect #11) was caught and fixed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JPY used to just be a constant differential off the USD rate -- we built a real second factor from the actual JPY curve history.</a:t>
            </a:r>
          </a:p>
          <a:p/>
          <a:p>
            <a:r>
              <a:t>- Real TONA history shows JPY rates were at or below zero for most of 25 years -- a model with a floor could not represent this</a:t>
            </a:r>
          </a:p>
          <a:p>
            <a:r>
              <a:t>- Mean reversion calibrated at its lower bound (0.001) because every real JPY calibration route gives a negative value -- a genuine structural finding, not bad data</a:t>
            </a:r>
          </a:p>
          <a:p>
            <a:r>
              <a:t>- Only 2 of 16 trades hold JPY names, so the effect is confined to their netting sets -- quantified in the attribution on the Results section</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slide shows we implemented the brief's definition precisely, including the subtleties (settlement-window exclusion, netting-before-max).</a:t>
            </a:r>
          </a:p>
          <a:p/>
          <a:p>
            <a:r>
              <a:t>- exposure(t) = max(V(t+10bd) - V(t-1bd), 0), netted by counterparty before taking the positive part</a:t>
            </a:r>
          </a:p>
          <a:p>
            <a:r>
              <a:t>- A trade settling inside a close-out window is excluded from both legs of that window -- its value drop to zero is a cash settlement, not a market move</a:t>
            </a:r>
          </a:p>
          <a:p>
            <a:r>
              <a:t>- This was itself a defect fix (#9): the earlier version reported the uncollateralized level exposure as the headline, found by reviewing the work against the kickoff deck</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trade-offs.</a:t>
            </a:r>
          </a:p>
          <a:p/>
          <a:p>
            <a:r>
              <a:t>- This is the section that answers 'why not X instead' before anyone has to ask -- every alternative shown here was actually built and measured, not dismissed on intuition, which is the point to make explicit before diving in</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slide shows we tested five real alternatives, not just picked one by convention.</a:t>
            </a:r>
          </a:p>
          <a:p/>
          <a:p>
            <a:r>
              <a:t>- Controlled European-call test: LHS has 50.6x lower RMSE than pseudo-random, the clear winner</a:t>
            </a:r>
          </a:p>
          <a:p>
            <a:r>
              <a:t>- On the real 663-dimensional engine the advantages compress -- no single method wins both PFE99 and median PFE</a:t>
            </a:r>
          </a:p>
          <a:p>
            <a:r>
              <a:t>- LHS is the only method that is both best on the controlled test AND better than pseudo-random on both real-engine statistics -- that consistency is why it was selected over Sobol, the controlled-test runner-up</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Error falls as 1/sqrt(N); we picked the count where further scenarios stop being worth the runtime.</a:t>
            </a:r>
          </a:p>
          <a:p/>
          <a:p>
            <a:r>
              <a:t>- Monte Carlo error follows 1/sqrt(N) exactly -- shown on the chart</a:t>
            </a:r>
          </a:p>
          <a:p>
            <a:r>
              <a:t>- N=5,000 gives 0.29% relative SE at 8 minutes; N=10,000 gives 0.21% at 15 minutes for sign-off</a:t>
            </a:r>
          </a:p>
          <a:p>
            <a:r>
              <a:t>- Beyond ~15-20k scenarios, returns diminish sharply while cost keeps scaling linearly -- and the remaining sampling error is an order of magnitude smaller than the model sensitivities in Section 7.9</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We implemented and fully calibrated the two-factor alternative, not just discussed it -- and it does not justify its added complexity here.</a:t>
            </a:r>
          </a:p>
          <a:p/>
          <a:p>
            <a:r>
              <a:t>- G2++ lets the curve change slope independently of its level, but fits the realised yield covariance with a 16% Frobenius error -- it cannot reproduce the hump near 5 years</a:t>
            </a:r>
          </a:p>
          <a:p>
            <a:r>
              <a:t>- The effect on the headline number is small: -3% on portfolio MPE99, -1% to -3% by counterparty</a:t>
            </a:r>
          </a:p>
          <a:p>
            <a:r>
              <a:t>- One-factor Hull-White retained as the default: materially simpler, calibrates cleanly to the swaption cube, and the model-risk study (Section 7.9) shows equity volatility and rate-equity dependence matter far more than this choice</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 second genuine alternative we built and measured, and rejected as the default on evidence, not intuition. Also show what the factors themselves mean economically -- that's what 'explainability' requires.</a:t>
            </a:r>
          </a:p>
          <a:p/>
          <a:p>
            <a:r>
              <a:t>- A 5-factor PCA model explains only 47% of variance and understates netting-set vol by up to 3.9% -- it approximates, does not replicate, the empirical matrix</a:t>
            </a:r>
          </a:p>
          <a:p>
            <a:r>
              <a:t>- Counter to the usual argument for factor models: correlated-shock timing shows PCA is NOT faster (2.08s for 5 factors vs 1.91s full) because it trades a 39x39 matrix product for more random draws</a:t>
            </a:r>
          </a:p>
          <a:p>
            <a:r>
              <a:t>- Factor 1 (20% of variance) is a broad market mode; factor 2 (8.9%) cleanly separates Japan from US listings -- the factors are economically readable, not just statistical artifacts</a:t>
            </a:r>
          </a:p>
          <a:p>
            <a:r>
              <a:t>- Kept as a documented robustness option (corr_mode='factor'), not the default</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Four Greeks methods were considered; CRN bump-and-reprice is the production method because it works on the black-box pricers for every measure including quantiles.</a:t>
            </a:r>
          </a:p>
          <a:p/>
          <a:p>
            <a:r>
              <a:t>- Common random numbers cut the EE delta estimator's standard deviation from $245k to $1k -- 282x -- this, not the sampling scheme, is what controls Greeks precision</a:t>
            </a:r>
          </a:p>
          <a:p>
            <a:r>
              <a:t>- Pathwise is validated and used as a free cross-check for equity/FX (0.2-0.4s vs ~260s) but cannot reach rates without differentiating the pricers</a:t>
            </a:r>
          </a:p>
          <a:p>
            <a:r>
              <a:t>- Adjoint differentiation is the asymptotically fastest method but needs a differentiable port of the supplied black-box pricers -- listed as future work, not adopted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feedback.</a:t>
            </a:r>
          </a:p>
          <a:p/>
          <a:p>
            <a:r>
              <a:t>- Frame this as closing the loop, not introducing new work -- every item here should feel like a callback to something the audience themselves raised, which is why several are tagged 'Feedback-driven' inline earlier in the deck too</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Give the full tracker as a single visual before drilling into highlights -- this is the 'you said / we did' overview.</a:t>
            </a:r>
          </a:p>
          <a:p/>
          <a:p>
            <a:r>
              <a:t>- Don't read all 8 rows -- let the table speak, and instead name the pattern: every item has a number attached to it, not just a description of what we did, because a client wants evidence an item is actually closed, not just acknowledged</a:t>
            </a:r>
          </a:p>
          <a:p>
            <a:r>
              <a:t>- If pressed on any one item, you can go deeper live since every row traces to a specific section of the report -- treat this as an index you navigate from, not a wall of text to narrate</a:t>
            </a:r>
          </a:p>
          <a:p>
            <a:r>
              <a:t>- Good moment to pause and ask if anyone wants to go deeper on a specific item before moving to items 9-11 on the next slide</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Close the tracker with the three most technical items -- the DV01 Jacobian fix is the single biggest methodology correction from feedback.</a:t>
            </a:r>
          </a:p>
          <a:p/>
          <a:p>
            <a:r>
              <a:t>- DV01 Jacobian fix moved 28 points of portfolio DV01 attribution from the 10y bucket into the 30y bucket where the 2049 bond forward actually lives</a:t>
            </a:r>
          </a:p>
          <a:p>
            <a:r>
              <a:t>- The Excel parametric check (item 11) is an independent, non-Monte-Carlo validation that the audience can reproduce themselves</a:t>
            </a:r>
          </a:p>
          <a:p>
            <a:r>
              <a:t>- Every item on this tracker is also tagged 'Feedback-driven' inline where it reappears in the Models, Trade-offs and Results sections</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Go deep on item 10 -- this is the single biggest methodology correction from feedback, and it has a real hedging consequence, not just a cosmetic one.</a:t>
            </a:r>
          </a:p>
          <a:p/>
          <a:p>
            <a:r>
              <a:t>- A 'Jacobian' here means the DV01 to each of the curve's own ~45 construction instruments (SOFR futures + Bloomberg long-end points), not to 8 interpolated zero-rate tenors</a:t>
            </a:r>
          </a:p>
          <a:p>
            <a:r>
              <a:t>- The old method's 10y bucket (39% of DV01) was an artifact of where the zero-rate grid happened to sample the fitted curve, not of where the book's rate risk actually sits</a:t>
            </a:r>
          </a:p>
          <a:p>
            <a:r>
              <a:t>- Practical consequence: a hedger following the old attribution would buy/sell 10y instruments to offset CPTY_C's rate risk -- but 82% of the real risk is in the 30y bucket, where the 2049 bond forward actually lives, leaving the position effectively unhedged against a curve twist</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results, the core of the deck.</a:t>
            </a:r>
          </a:p>
          <a:p/>
          <a:p>
            <a:r>
              <a:t>- Signal the pace change here -- everything before this was setup; this section is where the audience's actual questions ('what's the number, why, how sure are we') get answered, so expect it to run longer and take more questions along the way</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Restate the headline with full precision and immediately explain the diversification number -- this is the single most important slide in the deck.</a:t>
            </a:r>
          </a:p>
          <a:p/>
          <a:p>
            <a:r>
              <a:t>- The 78% diversification figure is the one number on this slide worth explaining rather than reading: it's low specifically because netting is only ever within a counterparty, never across -- so three separate books peaking in the same three-week window barely offset each other at all. That's a structural fact about the book, not a weakness in the model</a:t>
            </a:r>
          </a:p>
          <a:p>
            <a:r>
              <a:t>- Anticipate the obvious follow-up: 'is $51.0M a big number?' -- frame it relative to today's $129.8M uncollateralized exposure, since that comparison is what tells the client how much the close-out/margin convention is doing for them</a:t>
            </a:r>
          </a:p>
          <a:p>
            <a:r>
              <a:t>- This is the slide to slow down on -- everything later in Results (attribution, stress, Greeks, credit) is explaining different facets of this one number, so make sure the room has it before moving on</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Show the time profile -- almost all counterparty credit risk sits in the next four months.</a:t>
            </a:r>
          </a:p>
          <a:p/>
          <a:p>
            <a:r>
              <a:t>- Nearly the whole book matures within ~4 months; only BTRS_0001 and EQTRS_0008 run past mid-2027</a:t>
            </a:r>
          </a:p>
          <a:p>
            <a:r>
              <a:t>- Portfolio EE falls by more than 90% by end of December 2026</a:t>
            </a:r>
          </a:p>
          <a:p>
            <a:r>
              <a:t>- This is why monitoring should concentrate on the next four months, not a flat one-year horizon</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Drill from counterparty to trade level -- shows the per-trade numbers do not simply sum to the counterparty figures.</a:t>
            </a:r>
          </a:p>
          <a:p/>
          <a:p>
            <a:r>
              <a:t>- Worth flagging explicitly: if someone adds up the per-trade MPE column they will NOT get the counterparty total from the earlier slide, and that's correct, not an error -- the 99th percentile of a sum is never the sum of 99th percentiles, because the trades don't all hit their own worst case on the same date</a:t>
            </a:r>
          </a:p>
          <a:p>
            <a:r>
              <a:t>- This table is really here to answer one question in detail: which individual trades are actually driving each counterparty's number, since the netting-set view alone can't tell you that</a:t>
            </a:r>
          </a:p>
          <a:p>
            <a:r>
              <a:t>- If the audience starts asking about a specific trade not shown (there are 16, only 8 fit), offer to pull up the full table from the report rather than reciting numbers from memory</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Answers feedback item 4 directly with the evidence -- A is equity risk, C is rate risk plus meaningful equity, and all three share a common driver.</a:t>
            </a:r>
          </a:p>
          <a:p/>
          <a:p>
            <a:r>
              <a:t>- Every netting set holds pay-equity swaps, so all three gain when the equity market falls -- that common exposure is why dependence is positive</a:t>
            </a:r>
          </a:p>
          <a:p>
            <a:r>
              <a:t>- CPTY_C is not a pure rate netting set: DV01 $594k/bp dominated by BF_0003, but its equity delta ($1.24M) is comparable to CPTY_B's</a:t>
            </a:r>
          </a:p>
          <a:p>
            <a:r>
              <a:t>- At the portfolio's peak date, standalone PFE99 are A $25.9M + C $28.5M = $54.4M (107% of the $51.0M portfolio figure) -- the portfolio is close to A+C, with B adding little</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is the attribution waterfall -- every number change is traced to a specific, named correction, run on identical random numbers.</a:t>
            </a:r>
          </a:p>
          <a:p/>
          <a:p>
            <a:r>
              <a:t>- Each correction introduced one at a time on the same 2,000 scenarios and random draws, so differences are attributable, not noise</a:t>
            </a:r>
          </a:p>
          <a:p>
            <a:r>
              <a:t>- Largest single move: the long-end volatility fit and 10-year-yield correlation correction (+$4.9M portfolio), because it re-derives sigma from where the book's risk actually sits</a:t>
            </a:r>
          </a:p>
          <a:p>
            <a:r>
              <a:t>- Monte Carlo noise between runs of different size is a few percent, so only differences larger than that should be read as a real correction effect</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ranks the real sources of model uncertainty -- important for the audience because it tells them where to focus review effort.</a:t>
            </a:r>
          </a:p>
          <a:p/>
          <a:p>
            <a:r>
              <a:t>- A 25% rise in equity/FX volatility moves portfolio MPE99 by +19%; a 30%-of-the-way-to-one move in equity correlations moves it by +22%</a:t>
            </a:r>
          </a:p>
          <a:p>
            <a:r>
              <a:t>- The two-factor rates model (G2++) changes the headline by only -3% -- so rate-model choice is a minor source of uncertainty here</a:t>
            </a:r>
          </a:p>
          <a:p>
            <a:r>
              <a:t>- Each row is a one-at-a-time perturbation on 2,000 scenarios, same random numbers -- not a vague sensitivity statement</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The t=0 Greeks by netting set, validated against analytic values -- sets up the DV01 Jacobian fix on the next data point.</a:t>
            </a:r>
          </a:p>
          <a:p/>
          <a:p>
            <a:r>
              <a:t>- Make the sign explicit for the room: a negative equity delta means we gain when equities fall, which is the mirror image of being pay-equity on every swap -- worth stating in plain English since the table alone just shows a negative number</a:t>
            </a:r>
          </a:p>
          <a:p>
            <a:r>
              <a:t>- These are t=0 snapshot Greeks, not scenario-based risk measures like the MPE99 shown earlier -- they tell you today's instantaneous sensitivity, which is a different (and complementary) question from 'how bad could it get'</a:t>
            </a:r>
          </a:p>
          <a:p>
            <a:r>
              <a:t>- This table is the setup for the next topic (DV01 via a Jacobian) -- worth a one-line bridge: 'that $594k DV01 number for CPTY_C is correct in total, but where it sits by tenor is what feedback item 10 corrected'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Two forms of checking the engine in one slide: independent validation of correctness, then a structured stress programme (feedback item 1) showing how the results move under shocks.</a:t>
            </a:r>
          </a:p>
          <a:p/>
          <a:p>
            <a:r>
              <a:t>- Validation: t=0 self-check to 0.0000%, martingale tests, a 1.04x delta-normal VaR benchmark, and 142 automated tests -- each isolates one layer of the engine, independent of the headline results</a:t>
            </a:r>
          </a:p>
          <a:p>
            <a:r>
              <a:t>- Stress: 13 scenarios (8 hypothetical + 5 historical, incl. 2008 GFC) run as a full Monte Carlo re-run from the shocked state, same random numbers as the base case</a:t>
            </a:r>
          </a:p>
          <a:p>
            <a:r>
              <a:t>- Close-out MPE99 moves at most -24%/+23%; level MPE99 moves up to +86% -- margin is why the close-out measure is far less sensitive to instantaneous shocks</a:t>
            </a:r>
          </a:p>
          <a:p/>
          <a:p>
            <a:r>
              <a:t>TIME: ~2.5 min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Kupiec backtest against realised history, out of sample -- CPTY_B is the one borderline case, consistent with GBM understating fat tails.</a:t>
            </a:r>
          </a:p>
          <a:p/>
          <a:p>
            <a:r>
              <a:t>- Equity leg: exceptions 4/6/2 (A/B/C) against 2.4 expected over 242 non-overlapping 10-day windows at the 99% level</a:t>
            </a:r>
          </a:p>
          <a:p>
            <a:r>
              <a:t>- Kupiec test does not reject for 2 of 3 netting sets at the 5% significance level; CPTY_B (6 exceptions) is borderline -- consistent with GBM understating fat tails</a:t>
            </a:r>
          </a:p>
          <a:p>
            <a:r>
              <a:t>- Rates leg: the long-end yield-vol fit (96bp) is the more stable calibration across the 2020-2026 backtest window than the overnight-SOFR calibration (63bp)</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The full xVA suite, on both exposure conventions, all consistent because they reuse the same simulated paths.</a:t>
            </a:r>
          </a:p>
          <a:p/>
          <a:p>
            <a:r>
              <a:t>- Close-out: CVA and DVA nearly cancel ($11.7k vs $11.2k) because both are 10-day moves around a margined start; KVA ($22.4k at 10% CoC) exceeds CVA because it scales the whole EPE profile, not a small IG default probability</a:t>
            </a:r>
          </a:p>
          <a:p>
            <a:r>
              <a:t>- Uncollateralized level exposure is far larger: CVA $247k, dominated by CPTY_C's $121M bond forward sitting at risk with no margin</a:t>
            </a:r>
          </a:p>
          <a:p>
            <a:r>
              <a:t>- CVA proxy is BBB; CVA scales roughly linearly with spread -- AAA $5.0k to B $32.8k, a 2.6x range between AA and BB</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The second kickoff extra-credit item -- a sample risky-bond trade outside the 16-trade book, pricing issuer credit risk directly into the bond.</a:t>
            </a:r>
          </a:p>
          <a:p/>
          <a:p>
            <a:r>
              <a:t>- Issuer credit and counterparty CVA are two different things: issuer credit lowers the bond's own value; counterparty CVA (shown on the previous slide) is the risk that the other side of the trade defaults</a:t>
            </a:r>
          </a:p>
          <a:p>
            <a:r>
              <a:t>- No CDS quotes were obtainable for the issuer, so the same proxy method as the counterparty spreads is reused: ICE BofA BBB option-adjusted spreads with the pricing library's credit-triangle survival curve</a:t>
            </a:r>
          </a:p>
          <a:p>
            <a:r>
              <a:t>- The risky bond is worth $934k less than the risk-free version -- issuer credit is not a small effect here, it flips the forward's sign (from +$654k to -$280k)</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Regulatory capital view -- both computed, both dominated by counterparty credit spread risk, not by market risk.</a:t>
            </a:r>
          </a:p>
          <a:p/>
          <a:p>
            <a:r>
              <a:t>- SA-CVA requirement is dominated by counterparty credit spread delta (88% of the total) -- a 5% risk weight on spreads is large relative to a ~100bp spread level</a:t>
            </a:r>
          </a:p>
          <a:p>
            <a:r>
              <a:t>- SA-CCR EAD $260.3M is a different quantity from Monte Carlo MPE99: replacement cost is today's full MTM, add-on is a one-year supervisory approximation -- included as an independent order-of-magnitude check and the regulatory view of the same book</a:t>
            </a:r>
          </a:p>
          <a:p>
            <a:r>
              <a:t>- RWA (12.5x capital): $1.2M close-out, $27.8M uncollateralized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This is the raw sensitivity data behind the previous slide's chart and capital table -- the actual CVA01/CS01-style numbers, not just the aggregated capital.</a:t>
            </a:r>
          </a:p>
          <a:p/>
          <a:p>
            <a:r>
              <a:t>- These are the Basel bucket-level deltas (pre risk-weight) that feed directly into the SA-CVA capital calc on the previous slide -- apply the 5% credit-spread risk weight and bucket correlation and $1.99M becomes the $85.2k close-out capital shown there</a:t>
            </a:r>
          </a:p>
          <a:p>
            <a:r>
              <a:t>- Credit spread delta dominates rate delta by about 18x, and within credit spread delta, 95% sits in the 0.5y and 1y buckets because CPTY_C's $121M bond forward matures inside a year</a:t>
            </a:r>
          </a:p>
          <a:p>
            <a:r>
              <a:t>- This directly answers feedback item 9: CVA is for understanding sensitivities, not just a single number -- these are the per-tenor, per-counterparty building blocks</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Section divider -- conclusions.</a:t>
            </a:r>
          </a:p>
          <a:p/>
          <a:p>
            <a:r>
              <a:t>- Validated, reproducible engine; limitations disclosed; next steps depend on data Capitolis holds, not more engineering</a:t>
            </a:r>
          </a:p>
          <a:p/>
          <a:p>
            <a:r>
              <a:t>TIME: ~20 sec</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Close with both sides honestly -- what we're confident in, and what still depends on data or assumptions.</a:t>
            </a:r>
          </a:p>
          <a:p/>
          <a:p>
            <a:r>
              <a:t>- Every limitation here has a quantified impact shown earlier in the deck -- none is a vague caveat</a:t>
            </a:r>
          </a:p>
          <a:p>
            <a:r>
              <a:t>- The single biggest open question is whether any trade is margined -- MPOR illustration shows it would move CPTY_C's MPE99 by 82%</a:t>
            </a:r>
          </a:p>
          <a:p>
            <a:r>
              <a:t>- This is deliberately a balanced slide: confidence in engineering, honesty about what the data cannot tell us</a:t>
            </a:r>
          </a:p>
          <a:p/>
          <a:p>
            <a:r>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End on the single highest-leverage open question, then the concrete roadmap items in priority order.</a:t>
            </a:r>
          </a:p>
          <a:p/>
          <a:p>
            <a:r>
              <a:t>- Confirming whether any trade is margined matters more than any further modelling refinement -- it changes CPTY_C's number several-fold</a:t>
            </a:r>
          </a:p>
          <a:p>
            <a:r>
              <a:t>- Real counterparty ratings or CDS would remove the single largest assumption in the credit numbers</a:t>
            </a:r>
          </a:p>
          <a:p>
            <a:r>
              <a:t>- Everything else listed is scope and data, not engineering -- the plan as given has been fully executed</a:t>
            </a:r>
          </a:p>
          <a:p/>
          <a:p>
            <a:r>
              <a:t>TIME: ~1.5 min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Close and open the floor -- the headline number and the one open question (margin terms) are worth repeating before questions start.</a:t>
            </a:r>
          </a:p>
          <a:p/>
          <a:p>
            <a:r>
              <a:t>- Headline: portfolio MPE99 $51.0M on the brief's close-out definition, validated to 0.0000% self-consistency, 142 automated tests passing</a:t>
            </a:r>
          </a:p>
          <a:p>
            <a:r>
              <a:t>- The single highest-priority follow-up is confirming margin terms -- it moves CPTY_C's MPE99 by up to 82%</a:t>
            </a:r>
          </a:p>
          <a:p>
            <a:r>
              <a:t>- Appendix slides are available if anyone wants to go deeper on a specific topic -- decision register, data lineage, G2++/PCA detail, or the reproduction commands</a:t>
            </a:r>
          </a:p>
          <a:p/>
          <a:p>
            <a:r>
              <a:t>TIME: ~open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Transition slide only -- skip past this unless a question calls for one of the backup slides.</a:t>
            </a:r>
          </a:p>
          <a:p/>
          <a:p>
            <a:r>
              <a:t>- 10 appendix slides: full decision register, data lineage, 2008/2015 stress detail, per-trade stress heatmap, DV01 bucket detail, G2++ calibration, PCA loadings, backtest rates detail, code map, reproduction commands</a:t>
            </a:r>
          </a:p>
          <a:p>
            <a:r>
              <a:t>- Not walked through live -- jump to the relevant one only if a question needs it</a:t>
            </a:r>
          </a:p>
          <a:p/>
          <a:p>
            <a:r>
              <a:t>TIME: ~skip unless asked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One-slide index of every modelling choice in the deck and what else was considered -- useful if asked 'did you consider X'.</a:t>
            </a:r>
          </a:p>
          <a:p/>
          <a:p>
            <a:r>
              <a:t>- Every row maps to a trade-off slide already presented in Section 6 -- this is the compact summary, not new material</a:t>
            </a:r>
          </a:p>
          <a:p>
            <a:r>
              <a:t>- Use this to answer 'why didn't you use X' questions by pointing at the specific row</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Full source-by-source data inventory -- use if asked exactly where a specific number came from.</a:t>
            </a:r>
          </a:p>
          <a:p/>
          <a:p>
            <a:r>
              <a:t>- Every input is either live/public (reproducible by anyone) or licensed Bloomberg/project-team data (derived numbers only, never redistributed raw)</a:t>
            </a:r>
          </a:p>
          <a:p>
            <a:r>
              <a:t>- This is the detailed version of the summary already shown in Section 3</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Backup detail on the 2008/2015 historical scenarios added for feedback item 6.</a:t>
            </a:r>
          </a:p>
          <a:p/>
          <a:p>
            <a:r>
              <a:t>- 28 of 37 names have price history back to 2007</a:t>
            </a:r>
          </a:p>
          <a:p>
            <a:r>
              <a:t>- 2008: -23% median / -44% worst single name; moves close-out MPE99 -13%, level +56%</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Visual drill-down of the portfolio stress table (Section 8.1) to the individual-trade level -- which trades move the most under which scenario.</a:t>
            </a:r>
          </a:p>
          <a:p/>
          <a:p>
            <a:r>
              <a:t>- Darker cells are larger percentage moves in that trade's exposure under that scenario -- BF_0003 and the equity TRS names are the hottest rows, consistent with the concentration story told throughout the deck</a:t>
            </a:r>
          </a:p>
          <a:p>
            <a:r>
              <a:t>- Use this if asked which specific trade drives a given scenario's portfolio-level number</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Full numeric backup for the DV01 Jacobian slide already presented in Section 7 -- same table, in case someone wants to check the arithmetic live.</a:t>
            </a:r>
          </a:p>
          <a:p/>
          <a:p>
            <a:r>
              <a:t>- Both methods' bucket sums match their own parallel-bump check to within 0.05% -- the correction was about attribution across tenor, not total risk</a:t>
            </a:r>
          </a:p>
          <a:p>
            <a:r>
              <a:t>- Point to the 10y/30y rows specifically if asked to justify the hedging consequence described in Section 7</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Full calibration detail for the G2++ alternative referenced in Section 6 -- have this ready if asked for the actual fitted parameters.</a:t>
            </a:r>
          </a:p>
          <a:p/>
          <a:p>
            <a:r>
              <a:t>- 16% Frobenius fit error is the headline number to repeat -- it's why G2++ isn't the default despite matching level and slope</a:t>
            </a:r>
          </a:p>
          <a:p>
            <a:r>
              <a:t>- rho = -0.95 (strongly negative) is what lets two positively-mean-reverting factors combine into a curve with both a level and a slope component</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The economic reading behind the PCA trade-off slide in Section 6 -- have this ready if asked what the statistical factors actually represent.</a:t>
            </a:r>
          </a:p>
          <a:p/>
          <a:p>
            <a:r>
              <a:t>- Factor 1 (20% of variance) is a broad market factor across both US and Japan names -- the usual first PCA factor in any equity book</a:t>
            </a:r>
          </a:p>
          <a:p>
            <a:r>
              <a:t>- Factor 2 is cleanly a Japan-vs-US split, which is reassuring: a statistical factor lining up with an economic grouping is a sanity check that the PCA is picking up real structure, not noise</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Backup for the backtest slide in Section 8 -- the rates-only quantile comparison behind the two sigma calibrations discussed there.</a:t>
            </a:r>
          </a:p>
          <a:p/>
          <a:p>
            <a:r>
              <a:t>- This is why the long-end fit sigma (0.96%) was chosen over the raw overnight-SOFR sigma for the headline run -- its exception rates are closer to nominal across all three tenors</a:t>
            </a:r>
          </a:p>
          <a:p>
            <a:r>
              <a:t>- Use this if asked to justify the sigma calibration choice with the actual exception counts rather than just the summary statistic</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Codebase orientation for a technical reviewer -- use if asked how the engine is organized or where a specific piece of logic lives.</a:t>
            </a:r>
          </a:p>
          <a:p/>
          <a:p>
            <a:r>
              <a:t>- Modular by design: each package has one job (market data, models, simulation, Greeks, stress/validation, exposure) and is independently testable</a:t>
            </a:r>
          </a:p>
          <a:p>
            <a:r>
              <a:t>- 142 tests target these modules directly, not just end-to-end -- that's what makes the 'validated' claim in the conclusions credible</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Closing technical-credibility slide -- every number in this deck comes from one of these nine commands, nothing is hand-tuned or one-off.</a:t>
            </a:r>
          </a:p>
          <a:p/>
          <a:p>
            <a:r>
              <a:t>- Each script maps to one deliverable: simulation profiles, Greeks, CVA/SA-CVA, xVA/SA-CCR, stress, backtest, and the full test suite</a:t>
            </a:r>
          </a:p>
          <a:p>
            <a:r>
              <a:t>- Offer this as the answer to 'how do we know these numbers are real' -- anyone with the repo and the data can regenerate every figure in the report</a:t>
            </a:r>
          </a:p>
          <a:p/>
          <a:p>
            <a:r>
              <a:t>TIME: ~if asked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9.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chart" Target="../charts/char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6.png"/><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chart" Target="../charts/char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chart" Target="../charts/char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2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331720"/>
            <a:ext cx="91440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058400" cy="1005840"/>
          </a:xfrm>
          <a:prstGeom prst="rect">
            <a:avLst/>
          </a:prstGeom>
          <a:noFill/>
        </p:spPr>
        <p:txBody>
          <a:bodyPr wrap="square" anchor="t" lIns="0" rIns="0" tIns="0" bIns="0">
            <a:spAutoFit/>
          </a:bodyPr>
          <a:lstStyle/>
          <a:p>
            <a:pPr algn="l"/>
            <a:r>
              <a:rPr sz="3400" b="1" i="0">
                <a:solidFill>
                  <a:srgbClr val="FFFFFF"/>
                </a:solidFill>
                <a:latin typeface="Cambria"/>
              </a:rPr>
              <a:t>Monte Carlo Counterparty Credit Risk Engine</a:t>
            </a:r>
          </a:p>
        </p:txBody>
      </p:sp>
      <p:sp>
        <p:nvSpPr>
          <p:cNvPr id="4" name="TextBox 3"/>
          <p:cNvSpPr txBox="1"/>
          <p:nvPr/>
        </p:nvSpPr>
        <p:spPr>
          <a:xfrm>
            <a:off x="914400" y="3337560"/>
            <a:ext cx="10058400" cy="457200"/>
          </a:xfrm>
          <a:prstGeom prst="rect">
            <a:avLst/>
          </a:prstGeom>
          <a:noFill/>
        </p:spPr>
        <p:txBody>
          <a:bodyPr wrap="square" anchor="t" lIns="0" rIns="0" tIns="0" bIns="0">
            <a:spAutoFit/>
          </a:bodyPr>
          <a:lstStyle/>
          <a:p>
            <a:pPr algn="l"/>
            <a:r>
              <a:rPr sz="1700" b="0" i="0">
                <a:solidFill>
                  <a:srgbClr val="E3B6CF"/>
                </a:solidFill>
                <a:latin typeface="Calibri"/>
              </a:rPr>
              <a:t>Final Client Readout -- ESF Derivatives Book</a:t>
            </a:r>
          </a:p>
        </p:txBody>
      </p:sp>
      <p:sp>
        <p:nvSpPr>
          <p:cNvPr id="5" name="TextBox 4"/>
          <p:cNvSpPr txBox="1"/>
          <p:nvPr/>
        </p:nvSpPr>
        <p:spPr>
          <a:xfrm>
            <a:off x="914400" y="3840480"/>
            <a:ext cx="10058400" cy="365760"/>
          </a:xfrm>
          <a:prstGeom prst="rect">
            <a:avLst/>
          </a:prstGeom>
          <a:noFill/>
        </p:spPr>
        <p:txBody>
          <a:bodyPr wrap="square" anchor="t" lIns="0" rIns="0" tIns="0" bIns="0">
            <a:spAutoFit/>
          </a:bodyPr>
          <a:lstStyle/>
          <a:p>
            <a:pPr algn="l"/>
            <a:r>
              <a:rPr sz="1250" b="0" i="0">
                <a:solidFill>
                  <a:srgbClr val="C9CED6"/>
                </a:solidFill>
                <a:latin typeface="Calibri"/>
              </a:rPr>
              <a:t>Berkeley MFE Industry Project  |  Prepared for Capitolis Risk, Quant &amp; Technology</a:t>
            </a:r>
          </a:p>
        </p:txBody>
      </p:sp>
      <p:sp>
        <p:nvSpPr>
          <p:cNvPr id="6" name="TextBox 5"/>
          <p:cNvSpPr txBox="1"/>
          <p:nvPr/>
        </p:nvSpPr>
        <p:spPr>
          <a:xfrm>
            <a:off x="914400" y="6035040"/>
            <a:ext cx="10058400" cy="320040"/>
          </a:xfrm>
          <a:prstGeom prst="rect">
            <a:avLst/>
          </a:prstGeom>
          <a:noFill/>
        </p:spPr>
        <p:txBody>
          <a:bodyPr wrap="square" anchor="t" lIns="0" rIns="0" tIns="0" bIns="0">
            <a:spAutoFit/>
          </a:bodyPr>
          <a:lstStyle/>
          <a:p>
            <a:pPr algn="l"/>
            <a:r>
              <a:rPr sz="1100" b="0" i="0">
                <a:solidFill>
                  <a:srgbClr val="9AA2B0"/>
                </a:solidFill>
                <a:latin typeface="Calibri"/>
              </a:rPr>
              <a:t>Valuation date 2026-08-28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Portfolio MPE99 of $51.0M on the Brief's Close-Out Definition</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1">
                <a:solidFill>
                  <a:srgbClr val="D2006F"/>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a:t>
            </a:r>
          </a:p>
        </p:txBody>
      </p:sp>
      <p:sp>
        <p:nvSpPr>
          <p:cNvPr id="6" name="Rectangle 5"/>
          <p:cNvSpPr/>
          <p:nvPr/>
        </p:nvSpPr>
        <p:spPr>
          <a:xfrm>
            <a:off x="502920" y="1371600"/>
            <a:ext cx="2697480" cy="13716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38100" cy="13716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$51.0M</a:t>
            </a:r>
          </a:p>
        </p:txBody>
      </p:sp>
      <p:sp>
        <p:nvSpPr>
          <p:cNvPr id="9" name="TextBox 8"/>
          <p:cNvSpPr txBox="1"/>
          <p:nvPr/>
        </p:nvSpPr>
        <p:spPr>
          <a:xfrm>
            <a:off x="667512" y="2176272"/>
            <a:ext cx="2423160" cy="320040"/>
          </a:xfrm>
          <a:prstGeom prst="rect">
            <a:avLst/>
          </a:prstGeom>
          <a:noFill/>
        </p:spPr>
        <p:txBody>
          <a:bodyPr wrap="square" anchor="t" lIns="0" rIns="0" tIns="0" bIns="0">
            <a:spAutoFit/>
          </a:bodyPr>
          <a:lstStyle/>
          <a:p>
            <a:pPr algn="l"/>
            <a:r>
              <a:rPr sz="1150" b="1" i="0">
                <a:solidFill>
                  <a:srgbClr val="182433"/>
                </a:solidFill>
                <a:latin typeface="Calibri"/>
              </a:rPr>
              <a:t>Portfolio MPE99 (close-out)</a:t>
            </a:r>
          </a:p>
        </p:txBody>
      </p:sp>
      <p:sp>
        <p:nvSpPr>
          <p:cNvPr id="10" name="TextBox 9"/>
          <p:cNvSpPr txBox="1"/>
          <p:nvPr/>
        </p:nvSpPr>
        <p:spPr>
          <a:xfrm>
            <a:off x="667512" y="2468880"/>
            <a:ext cx="2423160" cy="274320"/>
          </a:xfrm>
          <a:prstGeom prst="rect">
            <a:avLst/>
          </a:prstGeom>
          <a:noFill/>
        </p:spPr>
        <p:txBody>
          <a:bodyPr wrap="square" anchor="t" lIns="0" rIns="0" tIns="0" bIns="0">
            <a:spAutoFit/>
          </a:bodyPr>
          <a:lstStyle/>
          <a:p>
            <a:pPr algn="l"/>
            <a:r>
              <a:rPr sz="900" b="0" i="0">
                <a:solidFill>
                  <a:srgbClr val="6B7280"/>
                </a:solidFill>
                <a:latin typeface="Calibri"/>
              </a:rPr>
              <a:t>peak 2026-09-20, 99th pct</a:t>
            </a:r>
          </a:p>
        </p:txBody>
      </p:sp>
      <p:sp>
        <p:nvSpPr>
          <p:cNvPr id="11" name="Rectangle 10"/>
          <p:cNvSpPr/>
          <p:nvPr/>
        </p:nvSpPr>
        <p:spPr>
          <a:xfrm>
            <a:off x="3364992" y="1371600"/>
            <a:ext cx="2697480" cy="13716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1371600"/>
            <a:ext cx="38100" cy="13716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$11.6M</a:t>
            </a:r>
          </a:p>
        </p:txBody>
      </p:sp>
      <p:sp>
        <p:nvSpPr>
          <p:cNvPr id="14" name="TextBox 13"/>
          <p:cNvSpPr txBox="1"/>
          <p:nvPr/>
        </p:nvSpPr>
        <p:spPr>
          <a:xfrm>
            <a:off x="3529584" y="2176272"/>
            <a:ext cx="2423160" cy="320040"/>
          </a:xfrm>
          <a:prstGeom prst="rect">
            <a:avLst/>
          </a:prstGeom>
          <a:noFill/>
        </p:spPr>
        <p:txBody>
          <a:bodyPr wrap="square" anchor="t" lIns="0" rIns="0" tIns="0" bIns="0">
            <a:spAutoFit/>
          </a:bodyPr>
          <a:lstStyle/>
          <a:p>
            <a:pPr algn="l"/>
            <a:r>
              <a:rPr sz="1150" b="1" i="0">
                <a:solidFill>
                  <a:srgbClr val="182433"/>
                </a:solidFill>
                <a:latin typeface="Calibri"/>
              </a:rPr>
              <a:t>Peak Expected Exposure</a:t>
            </a:r>
          </a:p>
        </p:txBody>
      </p:sp>
      <p:sp>
        <p:nvSpPr>
          <p:cNvPr id="15" name="TextBox 14"/>
          <p:cNvSpPr txBox="1"/>
          <p:nvPr/>
        </p:nvSpPr>
        <p:spPr>
          <a:xfrm>
            <a:off x="3529584" y="2468880"/>
            <a:ext cx="2423160" cy="274320"/>
          </a:xfrm>
          <a:prstGeom prst="rect">
            <a:avLst/>
          </a:prstGeom>
          <a:noFill/>
        </p:spPr>
        <p:txBody>
          <a:bodyPr wrap="square" anchor="t" lIns="0" rIns="0" tIns="0" bIns="0">
            <a:spAutoFit/>
          </a:bodyPr>
          <a:lstStyle/>
          <a:p>
            <a:pPr algn="l"/>
            <a:r>
              <a:rPr sz="900" b="0" i="0">
                <a:solidFill>
                  <a:srgbClr val="6B7280"/>
                </a:solidFill>
                <a:latin typeface="Calibri"/>
              </a:rPr>
              <a:t>close-out, within 1 year</a:t>
            </a:r>
          </a:p>
        </p:txBody>
      </p:sp>
      <p:sp>
        <p:nvSpPr>
          <p:cNvPr id="16" name="Rectangle 15"/>
          <p:cNvSpPr/>
          <p:nvPr/>
        </p:nvSpPr>
        <p:spPr>
          <a:xfrm>
            <a:off x="6227064" y="1371600"/>
            <a:ext cx="2697480" cy="13716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7064" y="1371600"/>
            <a:ext cx="38100" cy="13716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6"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$129.8M</a:t>
            </a:r>
          </a:p>
        </p:txBody>
      </p:sp>
      <p:sp>
        <p:nvSpPr>
          <p:cNvPr id="19" name="TextBox 18"/>
          <p:cNvSpPr txBox="1"/>
          <p:nvPr/>
        </p:nvSpPr>
        <p:spPr>
          <a:xfrm>
            <a:off x="6391656" y="2176272"/>
            <a:ext cx="2423160" cy="320040"/>
          </a:xfrm>
          <a:prstGeom prst="rect">
            <a:avLst/>
          </a:prstGeom>
          <a:noFill/>
        </p:spPr>
        <p:txBody>
          <a:bodyPr wrap="square" anchor="t" lIns="0" rIns="0" tIns="0" bIns="0">
            <a:spAutoFit/>
          </a:bodyPr>
          <a:lstStyle/>
          <a:p>
            <a:pPr algn="l"/>
            <a:r>
              <a:rPr sz="1150" b="1" i="0">
                <a:solidFill>
                  <a:srgbClr val="182433"/>
                </a:solidFill>
                <a:latin typeface="Calibri"/>
              </a:rPr>
              <a:t>Current Exposure (t=0)</a:t>
            </a:r>
          </a:p>
        </p:txBody>
      </p:sp>
      <p:sp>
        <p:nvSpPr>
          <p:cNvPr id="20" name="TextBox 19"/>
          <p:cNvSpPr txBox="1"/>
          <p:nvPr/>
        </p:nvSpPr>
        <p:spPr>
          <a:xfrm>
            <a:off x="6391656" y="2468880"/>
            <a:ext cx="2423160" cy="274320"/>
          </a:xfrm>
          <a:prstGeom prst="rect">
            <a:avLst/>
          </a:prstGeom>
          <a:noFill/>
        </p:spPr>
        <p:txBody>
          <a:bodyPr wrap="square" anchor="t" lIns="0" rIns="0" tIns="0" bIns="0">
            <a:spAutoFit/>
          </a:bodyPr>
          <a:lstStyle/>
          <a:p>
            <a:pPr algn="l"/>
            <a:r>
              <a:rPr sz="900" b="0" i="0">
                <a:solidFill>
                  <a:srgbClr val="6B7280"/>
                </a:solidFill>
                <a:latin typeface="Calibri"/>
              </a:rPr>
              <a:t>uncollateralized, no margin</a:t>
            </a:r>
          </a:p>
        </p:txBody>
      </p:sp>
      <p:sp>
        <p:nvSpPr>
          <p:cNvPr id="21" name="Rectangle 20"/>
          <p:cNvSpPr/>
          <p:nvPr/>
        </p:nvSpPr>
        <p:spPr>
          <a:xfrm>
            <a:off x="9089136" y="1371600"/>
            <a:ext cx="2697480" cy="13716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89136" y="1371600"/>
            <a:ext cx="38100" cy="13716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53728"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$11.7k</a:t>
            </a:r>
          </a:p>
        </p:txBody>
      </p:sp>
      <p:sp>
        <p:nvSpPr>
          <p:cNvPr id="24" name="TextBox 23"/>
          <p:cNvSpPr txBox="1"/>
          <p:nvPr/>
        </p:nvSpPr>
        <p:spPr>
          <a:xfrm>
            <a:off x="9253728" y="2176272"/>
            <a:ext cx="2423160" cy="320040"/>
          </a:xfrm>
          <a:prstGeom prst="rect">
            <a:avLst/>
          </a:prstGeom>
          <a:noFill/>
        </p:spPr>
        <p:txBody>
          <a:bodyPr wrap="square" anchor="t" lIns="0" rIns="0" tIns="0" bIns="0">
            <a:spAutoFit/>
          </a:bodyPr>
          <a:lstStyle/>
          <a:p>
            <a:pPr algn="l"/>
            <a:r>
              <a:rPr sz="1150" b="1" i="0">
                <a:solidFill>
                  <a:srgbClr val="182433"/>
                </a:solidFill>
                <a:latin typeface="Calibri"/>
              </a:rPr>
              <a:t>CVA (close-out, BBB proxy)</a:t>
            </a:r>
          </a:p>
        </p:txBody>
      </p:sp>
      <p:sp>
        <p:nvSpPr>
          <p:cNvPr id="25" name="TextBox 24"/>
          <p:cNvSpPr txBox="1"/>
          <p:nvPr/>
        </p:nvSpPr>
        <p:spPr>
          <a:xfrm>
            <a:off x="9253728" y="2468880"/>
            <a:ext cx="2423160" cy="274320"/>
          </a:xfrm>
          <a:prstGeom prst="rect">
            <a:avLst/>
          </a:prstGeom>
          <a:noFill/>
        </p:spPr>
        <p:txBody>
          <a:bodyPr wrap="square" anchor="t" lIns="0" rIns="0" tIns="0" bIns="0">
            <a:spAutoFit/>
          </a:bodyPr>
          <a:lstStyle/>
          <a:p>
            <a:pPr algn="l"/>
            <a:r>
              <a:rPr sz="900" b="0" i="0">
                <a:solidFill>
                  <a:srgbClr val="6B7280"/>
                </a:solidFill>
                <a:latin typeface="Calibri"/>
              </a:rPr>
              <a:t>SA-CVA capital $0.10M</a:t>
            </a:r>
          </a:p>
        </p:txBody>
      </p:sp>
      <p:sp>
        <p:nvSpPr>
          <p:cNvPr id="26" name="TextBox 25"/>
          <p:cNvSpPr txBox="1"/>
          <p:nvPr/>
        </p:nvSpPr>
        <p:spPr>
          <a:xfrm>
            <a:off x="502920" y="3063240"/>
            <a:ext cx="10881360" cy="2926080"/>
          </a:xfrm>
          <a:prstGeom prst="rect">
            <a:avLst/>
          </a:prstGeom>
          <a:noFill/>
        </p:spPr>
        <p:txBody>
          <a:bodyPr wrap="square" lIns="0" rIns="0" tIns="0" bIns="0">
            <a:spAutoFit/>
          </a:bodyPr>
          <a:lstStyle/>
          <a:p>
            <a:pPr>
              <a:lnSpc>
                <a:spcPct val="105000"/>
              </a:lnSpc>
              <a:spcAft>
                <a:spcPts val="1000"/>
              </a:spcAft>
            </a:pPr>
            <a:r>
              <a:rPr sz="1350" b="0">
                <a:solidFill>
                  <a:srgbClr val="182433"/>
                </a:solidFill>
                <a:latin typeface="Calibri"/>
              </a:rPr>
              <a:t>•  What we built: a validated Monte Carlo engine simulating USD short rate (Hull-White 1F), JPY short rate, 37 equities and USDJPY (correlated GBM), repricing all 16 trades at every scenario and date</a:t>
            </a:r>
          </a:p>
          <a:p>
            <a:pPr>
              <a:lnSpc>
                <a:spcPct val="105000"/>
              </a:lnSpc>
              <a:spcAft>
                <a:spcPts val="1000"/>
              </a:spcAft>
            </a:pPr>
            <a:r>
              <a:rPr sz="1350" b="0">
                <a:solidFill>
                  <a:srgbClr val="182433"/>
                </a:solidFill>
                <a:latin typeface="Calibri"/>
              </a:rPr>
              <a:t>•  Headline result: portfolio MPE99 $51.0M on the brief's definition -- 78% of the sum of the three counterparties' own MPE99s, because netting never crosses counterparties and the books peak within days of each other</a:t>
            </a:r>
          </a:p>
          <a:p>
            <a:pPr>
              <a:lnSpc>
                <a:spcPct val="105000"/>
              </a:lnSpc>
              <a:spcAft>
                <a:spcPts val="1000"/>
              </a:spcAft>
            </a:pPr>
            <a:r>
              <a:rPr sz="1350" b="0">
                <a:solidFill>
                  <a:srgbClr val="182433"/>
                </a:solidFill>
                <a:latin typeface="Calibri"/>
              </a:rPr>
              <a:t>•  Validated: t=0 self-check to 0.0000%, martingale tests, delta-normal VaR benchmark (1.04x), Kupiec backtest, 142 automated tests</a:t>
            </a:r>
          </a:p>
          <a:p>
            <a:pPr>
              <a:lnSpc>
                <a:spcPct val="105000"/>
              </a:lnSpc>
              <a:spcAft>
                <a:spcPts val="1000"/>
              </a:spcAft>
            </a:pPr>
            <a:r>
              <a:rPr sz="1350" b="0">
                <a:solidFill>
                  <a:srgbClr val="182433"/>
                </a:solidFill>
                <a:latin typeface="Calibri"/>
              </a:rPr>
              <a:t>•  Key conclusion: risk is short-dated (~4 months) and concentrated in one $500M bond forward (BF_0003) at CPTY_C -- a limit or collateral on that single trade would move the portfolio number more than any modelling choice in this report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The Book: 16 Trades, Dominated in Size by One $500M Bond Forward</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1">
                <a:solidFill>
                  <a:srgbClr val="D2006F"/>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a:t>
            </a:r>
          </a:p>
        </p:txBody>
      </p:sp>
      <p:graphicFrame>
        <p:nvGraphicFramePr>
          <p:cNvPr id="6" name="Table 5"/>
          <p:cNvGraphicFramePr>
            <a:graphicFrameLocks noGrp="1"/>
          </p:cNvGraphicFramePr>
          <p:nvPr/>
        </p:nvGraphicFramePr>
        <p:xfrm>
          <a:off x="457200" y="1371600"/>
          <a:ext cx="6949440" cy="4846309"/>
        </p:xfrm>
        <a:graphic>
          <a:graphicData uri="http://schemas.openxmlformats.org/drawingml/2006/table">
            <a:tbl>
              <a:tblPr firstRow="1" bandRow="1">
                <a:tableStyleId>{5C22544A-7EE6-4342-B048-85BDC9FD1C3A}</a:tableStyleId>
              </a:tblPr>
              <a:tblGrid>
                <a:gridCol w="1476756"/>
                <a:gridCol w="1650492"/>
                <a:gridCol w="694944"/>
                <a:gridCol w="1303020"/>
                <a:gridCol w="1824228"/>
              </a:tblGrid>
              <a:tr h="285077">
                <a:tc>
                  <a:txBody>
                    <a:bodyPr wrap="square"/>
                    <a:lstStyle/>
                    <a:p>
                      <a:pPr algn="l"/>
                      <a:r>
                        <a:rPr sz="1000" b="1">
                          <a:solidFill>
                            <a:srgbClr val="FFFFFF"/>
                          </a:solidFill>
                          <a:latin typeface="Calibri"/>
                        </a:rPr>
                        <a:t>Trade</a:t>
                      </a:r>
                    </a:p>
                  </a:txBody>
                  <a:tcPr marL="50800" marR="50800" marT="25400" marB="25400" anchor="ctr">
                    <a:solidFill>
                      <a:srgbClr val="182433"/>
                    </a:solidFill>
                  </a:tcPr>
                </a:tc>
                <a:tc>
                  <a:txBody>
                    <a:bodyPr wrap="square"/>
                    <a:lstStyle/>
                    <a:p>
                      <a:pPr algn="ctr"/>
                      <a:r>
                        <a:rPr sz="1000" b="1">
                          <a:solidFill>
                            <a:srgbClr val="FFFFFF"/>
                          </a:solidFill>
                          <a:latin typeface="Calibri"/>
                        </a:rPr>
                        <a:t>Type</a:t>
                      </a:r>
                    </a:p>
                  </a:txBody>
                  <a:tcPr marL="50800" marR="50800" marT="25400" marB="25400" anchor="ctr">
                    <a:solidFill>
                      <a:srgbClr val="182433"/>
                    </a:solidFill>
                  </a:tcPr>
                </a:tc>
                <a:tc>
                  <a:txBody>
                    <a:bodyPr wrap="square"/>
                    <a:lstStyle/>
                    <a:p>
                      <a:pPr algn="ctr"/>
                      <a:r>
                        <a:rPr sz="1000" b="1">
                          <a:solidFill>
                            <a:srgbClr val="FFFFFF"/>
                          </a:solidFill>
                          <a:latin typeface="Calibri"/>
                        </a:rPr>
                        <a:t>Cpty</a:t>
                      </a:r>
                    </a:p>
                  </a:txBody>
                  <a:tcPr marL="50800" marR="50800" marT="25400" marB="25400" anchor="ctr">
                    <a:solidFill>
                      <a:srgbClr val="182433"/>
                    </a:solidFill>
                  </a:tcPr>
                </a:tc>
                <a:tc>
                  <a:txBody>
                    <a:bodyPr wrap="square"/>
                    <a:lstStyle/>
                    <a:p>
                      <a:pPr algn="ctr"/>
                      <a:r>
                        <a:rPr sz="1000" b="1">
                          <a:solidFill>
                            <a:srgbClr val="FFFFFF"/>
                          </a:solidFill>
                          <a:latin typeface="Calibri"/>
                        </a:rPr>
                        <a:t>Ends</a:t>
                      </a:r>
                    </a:p>
                  </a:txBody>
                  <a:tcPr marL="50800" marR="50800" marT="25400" marB="25400" anchor="ctr">
                    <a:solidFill>
                      <a:srgbClr val="182433"/>
                    </a:solidFill>
                  </a:tcPr>
                </a:tc>
                <a:tc>
                  <a:txBody>
                    <a:bodyPr wrap="square"/>
                    <a:lstStyle/>
                    <a:p>
                      <a:pPr algn="ctr"/>
                      <a:r>
                        <a:rPr sz="1000" b="1">
                          <a:solidFill>
                            <a:srgbClr val="FFFFFF"/>
                          </a:solidFill>
                          <a:latin typeface="Calibri"/>
                        </a:rPr>
                        <a:t>NPV today</a:t>
                      </a:r>
                    </a:p>
                  </a:txBody>
                  <a:tcPr marL="50800" marR="50800" marT="25400" marB="25400" anchor="ctr">
                    <a:solidFill>
                      <a:srgbClr val="182433"/>
                    </a:solidFill>
                  </a:tcPr>
                </a:tc>
              </a:tr>
              <a:tr h="285077">
                <a:tc>
                  <a:txBody>
                    <a:bodyPr wrap="square"/>
                    <a:lstStyle/>
                    <a:p>
                      <a:pPr algn="l"/>
                      <a:r>
                        <a:rPr sz="950" b="0">
                          <a:solidFill>
                            <a:srgbClr val="182433"/>
                          </a:solidFill>
                          <a:latin typeface="Calibri"/>
                        </a:rPr>
                        <a:t>EQTRS_0001</a:t>
                      </a:r>
                    </a:p>
                  </a:txBody>
                  <a:tcPr marL="50800" marR="50800" marT="25400" marB="25400" anchor="ctr">
                    <a:solidFill>
                      <a:srgbClr val="FFFFFF"/>
                    </a:solidFill>
                  </a:tcPr>
                </a:tc>
                <a:tc>
                  <a:txBody>
                    <a:bodyPr wrap="square"/>
                    <a:lstStyle/>
                    <a:p>
                      <a:pPr algn="ctr"/>
                      <a:r>
                        <a:rPr sz="950" b="0">
                          <a:solidFill>
                            <a:srgbClr val="182433"/>
                          </a:solidFill>
                          <a:latin typeface="Calibri"/>
                        </a:rPr>
                        <a:t>Equity TRS</a:t>
                      </a:r>
                    </a:p>
                  </a:txBody>
                  <a:tcPr marL="50800" marR="50800" marT="25400" marB="25400" anchor="ctr">
                    <a:solidFill>
                      <a:srgbClr val="FFFFFF"/>
                    </a:solidFill>
                  </a:tcPr>
                </a:tc>
                <a:tc>
                  <a:txBody>
                    <a:bodyPr wrap="square"/>
                    <a:lstStyle/>
                    <a:p>
                      <a:pPr algn="ctr"/>
                      <a:r>
                        <a:rPr sz="950" b="0">
                          <a:solidFill>
                            <a:srgbClr val="182433"/>
                          </a:solidFill>
                          <a:latin typeface="Calibri"/>
                        </a:rPr>
                        <a:t>A</a:t>
                      </a:r>
                    </a:p>
                  </a:txBody>
                  <a:tcPr marL="50800" marR="50800" marT="25400" marB="25400" anchor="ctr">
                    <a:solidFill>
                      <a:srgbClr val="FFFFFF"/>
                    </a:solidFill>
                  </a:tcPr>
                </a:tc>
                <a:tc>
                  <a:txBody>
                    <a:bodyPr wrap="square"/>
                    <a:lstStyle/>
                    <a:p>
                      <a:pPr algn="ctr"/>
                      <a:r>
                        <a:rPr sz="950" b="0">
                          <a:solidFill>
                            <a:srgbClr val="182433"/>
                          </a:solidFill>
                          <a:latin typeface="Calibri"/>
                        </a:rPr>
                        <a:t>2026-10-14</a:t>
                      </a:r>
                    </a:p>
                  </a:txBody>
                  <a:tcPr marL="50800" marR="50800" marT="25400" marB="25400" anchor="ctr">
                    <a:solidFill>
                      <a:srgbClr val="FFFFFF"/>
                    </a:solidFill>
                  </a:tcPr>
                </a:tc>
                <a:tc>
                  <a:txBody>
                    <a:bodyPr wrap="square"/>
                    <a:lstStyle/>
                    <a:p>
                      <a:pPr algn="ctr"/>
                      <a:r>
                        <a:rPr sz="950" b="0">
                          <a:solidFill>
                            <a:srgbClr val="182433"/>
                          </a:solidFill>
                          <a:latin typeface="Calibri"/>
                        </a:rPr>
                        <a:t>-$5,547,056</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EQTRS_0002</a:t>
                      </a:r>
                    </a:p>
                  </a:txBody>
                  <a:tcPr marL="50800" marR="50800" marT="25400" marB="25400" anchor="ctr">
                    <a:solidFill>
                      <a:srgbClr val="F7F8FA"/>
                    </a:solidFill>
                  </a:tcPr>
                </a:tc>
                <a:tc>
                  <a:txBody>
                    <a:bodyPr wrap="square"/>
                    <a:lstStyle/>
                    <a:p>
                      <a:pPr algn="ctr"/>
                      <a:r>
                        <a:rPr sz="950" b="0">
                          <a:solidFill>
                            <a:srgbClr val="182433"/>
                          </a:solidFill>
                          <a:latin typeface="Calibri"/>
                        </a:rPr>
                        <a:t>Equity TRS</a:t>
                      </a:r>
                    </a:p>
                  </a:txBody>
                  <a:tcPr marL="50800" marR="50800" marT="25400" marB="25400" anchor="ctr">
                    <a:solidFill>
                      <a:srgbClr val="F7F8FA"/>
                    </a:solidFill>
                  </a:tcPr>
                </a:tc>
                <a:tc>
                  <a:txBody>
                    <a:bodyPr wrap="square"/>
                    <a:lstStyle/>
                    <a:p>
                      <a:pPr algn="ctr"/>
                      <a:r>
                        <a:rPr sz="950" b="0">
                          <a:solidFill>
                            <a:srgbClr val="182433"/>
                          </a:solidFill>
                          <a:latin typeface="Calibri"/>
                        </a:rPr>
                        <a:t>A</a:t>
                      </a:r>
                    </a:p>
                  </a:txBody>
                  <a:tcPr marL="50800" marR="50800" marT="25400" marB="25400" anchor="ctr">
                    <a:solidFill>
                      <a:srgbClr val="F7F8FA"/>
                    </a:solidFill>
                  </a:tcPr>
                </a:tc>
                <a:tc>
                  <a:txBody>
                    <a:bodyPr wrap="square"/>
                    <a:lstStyle/>
                    <a:p>
                      <a:pPr algn="ctr"/>
                      <a:r>
                        <a:rPr sz="950" b="0">
                          <a:solidFill>
                            <a:srgbClr val="182433"/>
                          </a:solidFill>
                          <a:latin typeface="Calibri"/>
                        </a:rPr>
                        <a:t>2026-10-09</a:t>
                      </a:r>
                    </a:p>
                  </a:txBody>
                  <a:tcPr marL="50800" marR="50800" marT="25400" marB="25400" anchor="ctr">
                    <a:solidFill>
                      <a:srgbClr val="F7F8FA"/>
                    </a:solidFill>
                  </a:tcPr>
                </a:tc>
                <a:tc>
                  <a:txBody>
                    <a:bodyPr wrap="square"/>
                    <a:lstStyle/>
                    <a:p>
                      <a:pPr algn="ctr"/>
                      <a:r>
                        <a:rPr sz="950" b="0">
                          <a:solidFill>
                            <a:srgbClr val="182433"/>
                          </a:solidFill>
                          <a:latin typeface="Calibri"/>
                        </a:rPr>
                        <a:t>-$1,076,056</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EQTRS_0003</a:t>
                      </a:r>
                    </a:p>
                  </a:txBody>
                  <a:tcPr marL="50800" marR="50800" marT="25400" marB="25400" anchor="ctr">
                    <a:solidFill>
                      <a:srgbClr val="FFFFFF"/>
                    </a:solidFill>
                  </a:tcPr>
                </a:tc>
                <a:tc>
                  <a:txBody>
                    <a:bodyPr wrap="square"/>
                    <a:lstStyle/>
                    <a:p>
                      <a:pPr algn="ctr"/>
                      <a:r>
                        <a:rPr sz="950" b="0">
                          <a:solidFill>
                            <a:srgbClr val="182433"/>
                          </a:solidFill>
                          <a:latin typeface="Calibri"/>
                        </a:rPr>
                        <a:t>Equity TRS</a:t>
                      </a:r>
                    </a:p>
                  </a:txBody>
                  <a:tcPr marL="50800" marR="50800" marT="25400" marB="25400" anchor="ctr">
                    <a:solidFill>
                      <a:srgbClr val="FFFFFF"/>
                    </a:solidFill>
                  </a:tcPr>
                </a:tc>
                <a:tc>
                  <a:txBody>
                    <a:bodyPr wrap="square"/>
                    <a:lstStyle/>
                    <a:p>
                      <a:pPr algn="ctr"/>
                      <a:r>
                        <a:rPr sz="950" b="0">
                          <a:solidFill>
                            <a:srgbClr val="182433"/>
                          </a:solidFill>
                          <a:latin typeface="Calibri"/>
                        </a:rPr>
                        <a:t>A</a:t>
                      </a:r>
                    </a:p>
                  </a:txBody>
                  <a:tcPr marL="50800" marR="50800" marT="25400" marB="25400" anchor="ctr">
                    <a:solidFill>
                      <a:srgbClr val="FFFFFF"/>
                    </a:solidFill>
                  </a:tcPr>
                </a:tc>
                <a:tc>
                  <a:txBody>
                    <a:bodyPr wrap="square"/>
                    <a:lstStyle/>
                    <a:p>
                      <a:pPr algn="ctr"/>
                      <a:r>
                        <a:rPr sz="950" b="0">
                          <a:solidFill>
                            <a:srgbClr val="182433"/>
                          </a:solidFill>
                          <a:latin typeface="Calibri"/>
                        </a:rPr>
                        <a:t>2026-10-16</a:t>
                      </a:r>
                    </a:p>
                  </a:txBody>
                  <a:tcPr marL="50800" marR="50800" marT="25400" marB="25400" anchor="ctr">
                    <a:solidFill>
                      <a:srgbClr val="FFFFFF"/>
                    </a:solidFill>
                  </a:tcPr>
                </a:tc>
                <a:tc>
                  <a:txBody>
                    <a:bodyPr wrap="square"/>
                    <a:lstStyle/>
                    <a:p>
                      <a:pPr algn="ctr"/>
                      <a:r>
                        <a:rPr sz="950" b="0">
                          <a:solidFill>
                            <a:srgbClr val="182433"/>
                          </a:solidFill>
                          <a:latin typeface="Calibri"/>
                        </a:rPr>
                        <a:t>$9,921,581</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EQTRS_0004</a:t>
                      </a:r>
                    </a:p>
                  </a:txBody>
                  <a:tcPr marL="50800" marR="50800" marT="25400" marB="25400" anchor="ctr">
                    <a:solidFill>
                      <a:srgbClr val="F7F8FA"/>
                    </a:solidFill>
                  </a:tcPr>
                </a:tc>
                <a:tc>
                  <a:txBody>
                    <a:bodyPr wrap="square"/>
                    <a:lstStyle/>
                    <a:p>
                      <a:pPr algn="ctr"/>
                      <a:r>
                        <a:rPr sz="950" b="0">
                          <a:solidFill>
                            <a:srgbClr val="182433"/>
                          </a:solidFill>
                          <a:latin typeface="Calibri"/>
                        </a:rPr>
                        <a:t>Equity TRS</a:t>
                      </a:r>
                    </a:p>
                  </a:txBody>
                  <a:tcPr marL="50800" marR="50800" marT="25400" marB="25400" anchor="ctr">
                    <a:solidFill>
                      <a:srgbClr val="F7F8FA"/>
                    </a:solidFill>
                  </a:tcPr>
                </a:tc>
                <a:tc>
                  <a:txBody>
                    <a:bodyPr wrap="square"/>
                    <a:lstStyle/>
                    <a:p>
                      <a:pPr algn="ctr"/>
                      <a:r>
                        <a:rPr sz="950" b="0">
                          <a:solidFill>
                            <a:srgbClr val="182433"/>
                          </a:solidFill>
                          <a:latin typeface="Calibri"/>
                        </a:rPr>
                        <a:t>B</a:t>
                      </a:r>
                    </a:p>
                  </a:txBody>
                  <a:tcPr marL="50800" marR="50800" marT="25400" marB="25400" anchor="ctr">
                    <a:solidFill>
                      <a:srgbClr val="F7F8FA"/>
                    </a:solidFill>
                  </a:tcPr>
                </a:tc>
                <a:tc>
                  <a:txBody>
                    <a:bodyPr wrap="square"/>
                    <a:lstStyle/>
                    <a:p>
                      <a:pPr algn="ctr"/>
                      <a:r>
                        <a:rPr sz="950" b="0">
                          <a:solidFill>
                            <a:srgbClr val="182433"/>
                          </a:solidFill>
                          <a:latin typeface="Calibri"/>
                        </a:rPr>
                        <a:t>2026-11-02</a:t>
                      </a:r>
                    </a:p>
                  </a:txBody>
                  <a:tcPr marL="50800" marR="50800" marT="25400" marB="25400" anchor="ctr">
                    <a:solidFill>
                      <a:srgbClr val="F7F8FA"/>
                    </a:solidFill>
                  </a:tcPr>
                </a:tc>
                <a:tc>
                  <a:txBody>
                    <a:bodyPr wrap="square"/>
                    <a:lstStyle/>
                    <a:p>
                      <a:pPr algn="ctr"/>
                      <a:r>
                        <a:rPr sz="950" b="0">
                          <a:solidFill>
                            <a:srgbClr val="182433"/>
                          </a:solidFill>
                          <a:latin typeface="Calibri"/>
                        </a:rPr>
                        <a:t>-$873,451</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EQTRS_0005</a:t>
                      </a:r>
                    </a:p>
                  </a:txBody>
                  <a:tcPr marL="50800" marR="50800" marT="25400" marB="25400" anchor="ctr">
                    <a:solidFill>
                      <a:srgbClr val="FFFFFF"/>
                    </a:solidFill>
                  </a:tcPr>
                </a:tc>
                <a:tc>
                  <a:txBody>
                    <a:bodyPr wrap="square"/>
                    <a:lstStyle/>
                    <a:p>
                      <a:pPr algn="ctr"/>
                      <a:r>
                        <a:rPr sz="950" b="0">
                          <a:solidFill>
                            <a:srgbClr val="182433"/>
                          </a:solidFill>
                          <a:latin typeface="Calibri"/>
                        </a:rPr>
                        <a:t>Equity TRS</a:t>
                      </a:r>
                    </a:p>
                  </a:txBody>
                  <a:tcPr marL="50800" marR="50800" marT="25400" marB="25400" anchor="ctr">
                    <a:solidFill>
                      <a:srgbClr val="FFFFFF"/>
                    </a:solidFill>
                  </a:tcPr>
                </a:tc>
                <a:tc>
                  <a:txBody>
                    <a:bodyPr wrap="square"/>
                    <a:lstStyle/>
                    <a:p>
                      <a:pPr algn="ctr"/>
                      <a:r>
                        <a:rPr sz="950" b="0">
                          <a:solidFill>
                            <a:srgbClr val="182433"/>
                          </a:solidFill>
                          <a:latin typeface="Calibri"/>
                        </a:rPr>
                        <a:t>B</a:t>
                      </a:r>
                    </a:p>
                  </a:txBody>
                  <a:tcPr marL="50800" marR="50800" marT="25400" marB="25400" anchor="ctr">
                    <a:solidFill>
                      <a:srgbClr val="FFFFFF"/>
                    </a:solidFill>
                  </a:tcPr>
                </a:tc>
                <a:tc>
                  <a:txBody>
                    <a:bodyPr wrap="square"/>
                    <a:lstStyle/>
                    <a:p>
                      <a:pPr algn="ctr"/>
                      <a:r>
                        <a:rPr sz="950" b="0">
                          <a:solidFill>
                            <a:srgbClr val="182433"/>
                          </a:solidFill>
                          <a:latin typeface="Calibri"/>
                        </a:rPr>
                        <a:t>2026-10-09</a:t>
                      </a:r>
                    </a:p>
                  </a:txBody>
                  <a:tcPr marL="50800" marR="50800" marT="25400" marB="25400" anchor="ctr">
                    <a:solidFill>
                      <a:srgbClr val="FFFFFF"/>
                    </a:solidFill>
                  </a:tcPr>
                </a:tc>
                <a:tc>
                  <a:txBody>
                    <a:bodyPr wrap="square"/>
                    <a:lstStyle/>
                    <a:p>
                      <a:pPr algn="ctr"/>
                      <a:r>
                        <a:rPr sz="950" b="0">
                          <a:solidFill>
                            <a:srgbClr val="182433"/>
                          </a:solidFill>
                          <a:latin typeface="Calibri"/>
                        </a:rPr>
                        <a:t>$148,605</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EQTRS_0006</a:t>
                      </a:r>
                    </a:p>
                  </a:txBody>
                  <a:tcPr marL="50800" marR="50800" marT="25400" marB="25400" anchor="ctr">
                    <a:solidFill>
                      <a:srgbClr val="F7F8FA"/>
                    </a:solidFill>
                  </a:tcPr>
                </a:tc>
                <a:tc>
                  <a:txBody>
                    <a:bodyPr wrap="square"/>
                    <a:lstStyle/>
                    <a:p>
                      <a:pPr algn="ctr"/>
                      <a:r>
                        <a:rPr sz="950" b="0">
                          <a:solidFill>
                            <a:srgbClr val="182433"/>
                          </a:solidFill>
                          <a:latin typeface="Calibri"/>
                        </a:rPr>
                        <a:t>Equity TRS</a:t>
                      </a:r>
                    </a:p>
                  </a:txBody>
                  <a:tcPr marL="50800" marR="50800" marT="25400" marB="25400" anchor="ctr">
                    <a:solidFill>
                      <a:srgbClr val="F7F8FA"/>
                    </a:solidFill>
                  </a:tcPr>
                </a:tc>
                <a:tc>
                  <a:txBody>
                    <a:bodyPr wrap="square"/>
                    <a:lstStyle/>
                    <a:p>
                      <a:pPr algn="ctr"/>
                      <a:r>
                        <a:rPr sz="950" b="0">
                          <a:solidFill>
                            <a:srgbClr val="182433"/>
                          </a:solidFill>
                          <a:latin typeface="Calibri"/>
                        </a:rPr>
                        <a:t>B</a:t>
                      </a:r>
                    </a:p>
                  </a:txBody>
                  <a:tcPr marL="50800" marR="50800" marT="25400" marB="25400" anchor="ctr">
                    <a:solidFill>
                      <a:srgbClr val="F7F8FA"/>
                    </a:solidFill>
                  </a:tcPr>
                </a:tc>
                <a:tc>
                  <a:txBody>
                    <a:bodyPr wrap="square"/>
                    <a:lstStyle/>
                    <a:p>
                      <a:pPr algn="ctr"/>
                      <a:r>
                        <a:rPr sz="950" b="0">
                          <a:solidFill>
                            <a:srgbClr val="182433"/>
                          </a:solidFill>
                          <a:latin typeface="Calibri"/>
                        </a:rPr>
                        <a:t>2026-10-30</a:t>
                      </a:r>
                    </a:p>
                  </a:txBody>
                  <a:tcPr marL="50800" marR="50800" marT="25400" marB="25400" anchor="ctr">
                    <a:solidFill>
                      <a:srgbClr val="F7F8FA"/>
                    </a:solidFill>
                  </a:tcPr>
                </a:tc>
                <a:tc>
                  <a:txBody>
                    <a:bodyPr wrap="square"/>
                    <a:lstStyle/>
                    <a:p>
                      <a:pPr algn="ctr"/>
                      <a:r>
                        <a:rPr sz="950" b="0">
                          <a:solidFill>
                            <a:srgbClr val="182433"/>
                          </a:solidFill>
                          <a:latin typeface="Calibri"/>
                        </a:rPr>
                        <a:t>$1,629,065</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EQTRS_0007</a:t>
                      </a:r>
                    </a:p>
                  </a:txBody>
                  <a:tcPr marL="50800" marR="50800" marT="25400" marB="25400" anchor="ctr">
                    <a:solidFill>
                      <a:srgbClr val="FFFFFF"/>
                    </a:solidFill>
                  </a:tcPr>
                </a:tc>
                <a:tc>
                  <a:txBody>
                    <a:bodyPr wrap="square"/>
                    <a:lstStyle/>
                    <a:p>
                      <a:pPr algn="ctr"/>
                      <a:r>
                        <a:rPr sz="950" b="0">
                          <a:solidFill>
                            <a:srgbClr val="182433"/>
                          </a:solidFill>
                          <a:latin typeface="Calibri"/>
                        </a:rPr>
                        <a:t>Equity TRS</a:t>
                      </a:r>
                    </a:p>
                  </a:txBody>
                  <a:tcPr marL="50800" marR="50800" marT="25400" marB="25400" anchor="ctr">
                    <a:solidFill>
                      <a:srgbClr val="FFFFFF"/>
                    </a:solidFill>
                  </a:tcPr>
                </a:tc>
                <a:tc>
                  <a:txBody>
                    <a:bodyPr wrap="square"/>
                    <a:lstStyle/>
                    <a:p>
                      <a:pPr algn="ctr"/>
                      <a:r>
                        <a:rPr sz="950" b="0">
                          <a:solidFill>
                            <a:srgbClr val="182433"/>
                          </a:solidFill>
                          <a:latin typeface="Calibri"/>
                        </a:rPr>
                        <a:t>C</a:t>
                      </a:r>
                    </a:p>
                  </a:txBody>
                  <a:tcPr marL="50800" marR="50800" marT="25400" marB="25400" anchor="ctr">
                    <a:solidFill>
                      <a:srgbClr val="FFFFFF"/>
                    </a:solidFill>
                  </a:tcPr>
                </a:tc>
                <a:tc>
                  <a:txBody>
                    <a:bodyPr wrap="square"/>
                    <a:lstStyle/>
                    <a:p>
                      <a:pPr algn="ctr"/>
                      <a:r>
                        <a:rPr sz="950" b="0">
                          <a:solidFill>
                            <a:srgbClr val="182433"/>
                          </a:solidFill>
                          <a:latin typeface="Calibri"/>
                        </a:rPr>
                        <a:t>2026-10-23</a:t>
                      </a:r>
                    </a:p>
                  </a:txBody>
                  <a:tcPr marL="50800" marR="50800" marT="25400" marB="25400" anchor="ctr">
                    <a:solidFill>
                      <a:srgbClr val="FFFFFF"/>
                    </a:solidFill>
                  </a:tcPr>
                </a:tc>
                <a:tc>
                  <a:txBody>
                    <a:bodyPr wrap="square"/>
                    <a:lstStyle/>
                    <a:p>
                      <a:pPr algn="ctr"/>
                      <a:r>
                        <a:rPr sz="950" b="0">
                          <a:solidFill>
                            <a:srgbClr val="182433"/>
                          </a:solidFill>
                          <a:latin typeface="Calibri"/>
                        </a:rPr>
                        <a:t>-$373,630</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EQTRS_0008</a:t>
                      </a:r>
                    </a:p>
                  </a:txBody>
                  <a:tcPr marL="50800" marR="50800" marT="25400" marB="25400" anchor="ctr">
                    <a:solidFill>
                      <a:srgbClr val="F7F8FA"/>
                    </a:solidFill>
                  </a:tcPr>
                </a:tc>
                <a:tc>
                  <a:txBody>
                    <a:bodyPr wrap="square"/>
                    <a:lstStyle/>
                    <a:p>
                      <a:pPr algn="ctr"/>
                      <a:r>
                        <a:rPr sz="950" b="0">
                          <a:solidFill>
                            <a:srgbClr val="182433"/>
                          </a:solidFill>
                          <a:latin typeface="Calibri"/>
                        </a:rPr>
                        <a:t>Equity TRS</a:t>
                      </a:r>
                    </a:p>
                  </a:txBody>
                  <a:tcPr marL="50800" marR="50800" marT="25400" marB="25400" anchor="ctr">
                    <a:solidFill>
                      <a:srgbClr val="F7F8FA"/>
                    </a:solidFill>
                  </a:tcPr>
                </a:tc>
                <a:tc>
                  <a:txBody>
                    <a:bodyPr wrap="square"/>
                    <a:lstStyle/>
                    <a:p>
                      <a:pPr algn="ctr"/>
                      <a:r>
                        <a:rPr sz="950" b="0">
                          <a:solidFill>
                            <a:srgbClr val="182433"/>
                          </a:solidFill>
                          <a:latin typeface="Calibri"/>
                        </a:rPr>
                        <a:t>C</a:t>
                      </a:r>
                    </a:p>
                  </a:txBody>
                  <a:tcPr marL="50800" marR="50800" marT="25400" marB="25400" anchor="ctr">
                    <a:solidFill>
                      <a:srgbClr val="F7F8FA"/>
                    </a:solidFill>
                  </a:tcPr>
                </a:tc>
                <a:tc>
                  <a:txBody>
                    <a:bodyPr wrap="square"/>
                    <a:lstStyle/>
                    <a:p>
                      <a:pPr algn="ctr"/>
                      <a:r>
                        <a:rPr sz="950" b="0">
                          <a:solidFill>
                            <a:srgbClr val="182433"/>
                          </a:solidFill>
                          <a:latin typeface="Calibri"/>
                        </a:rPr>
                        <a:t>2027-07-22</a:t>
                      </a:r>
                    </a:p>
                  </a:txBody>
                  <a:tcPr marL="50800" marR="50800" marT="25400" marB="25400" anchor="ctr">
                    <a:solidFill>
                      <a:srgbClr val="F7F8FA"/>
                    </a:solidFill>
                  </a:tcPr>
                </a:tc>
                <a:tc>
                  <a:txBody>
                    <a:bodyPr wrap="square"/>
                    <a:lstStyle/>
                    <a:p>
                      <a:pPr algn="ctr"/>
                      <a:r>
                        <a:rPr sz="950" b="0">
                          <a:solidFill>
                            <a:srgbClr val="182433"/>
                          </a:solidFill>
                          <a:latin typeface="Calibri"/>
                        </a:rPr>
                        <a:t>$2,217,998</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BF_0001</a:t>
                      </a:r>
                    </a:p>
                  </a:txBody>
                  <a:tcPr marL="50800" marR="50800" marT="25400" marB="25400" anchor="ctr">
                    <a:solidFill>
                      <a:srgbClr val="FFFFFF"/>
                    </a:solidFill>
                  </a:tcPr>
                </a:tc>
                <a:tc>
                  <a:txBody>
                    <a:bodyPr wrap="square"/>
                    <a:lstStyle/>
                    <a:p>
                      <a:pPr algn="ctr"/>
                      <a:r>
                        <a:rPr sz="950" b="0">
                          <a:solidFill>
                            <a:srgbClr val="182433"/>
                          </a:solidFill>
                          <a:latin typeface="Calibri"/>
                        </a:rPr>
                        <a:t>Bond Forward</a:t>
                      </a:r>
                    </a:p>
                  </a:txBody>
                  <a:tcPr marL="50800" marR="50800" marT="25400" marB="25400" anchor="ctr">
                    <a:solidFill>
                      <a:srgbClr val="FFFFFF"/>
                    </a:solidFill>
                  </a:tcPr>
                </a:tc>
                <a:tc>
                  <a:txBody>
                    <a:bodyPr wrap="square"/>
                    <a:lstStyle/>
                    <a:p>
                      <a:pPr algn="ctr"/>
                      <a:r>
                        <a:rPr sz="950" b="0">
                          <a:solidFill>
                            <a:srgbClr val="182433"/>
                          </a:solidFill>
                          <a:latin typeface="Calibri"/>
                        </a:rPr>
                        <a:t>A</a:t>
                      </a:r>
                    </a:p>
                  </a:txBody>
                  <a:tcPr marL="50800" marR="50800" marT="25400" marB="25400" anchor="ctr">
                    <a:solidFill>
                      <a:srgbClr val="FFFFFF"/>
                    </a:solidFill>
                  </a:tcPr>
                </a:tc>
                <a:tc>
                  <a:txBody>
                    <a:bodyPr wrap="square"/>
                    <a:lstStyle/>
                    <a:p>
                      <a:pPr algn="ctr"/>
                      <a:r>
                        <a:rPr sz="950" b="0">
                          <a:solidFill>
                            <a:srgbClr val="182433"/>
                          </a:solidFill>
                          <a:latin typeface="Calibri"/>
                        </a:rPr>
                        <a:t>2026-10-30</a:t>
                      </a:r>
                    </a:p>
                  </a:txBody>
                  <a:tcPr marL="50800" marR="50800" marT="25400" marB="25400" anchor="ctr">
                    <a:solidFill>
                      <a:srgbClr val="FFFFFF"/>
                    </a:solidFill>
                  </a:tcPr>
                </a:tc>
                <a:tc>
                  <a:txBody>
                    <a:bodyPr wrap="square"/>
                    <a:lstStyle/>
                    <a:p>
                      <a:pPr algn="ctr"/>
                      <a:r>
                        <a:rPr sz="950" b="0">
                          <a:solidFill>
                            <a:srgbClr val="182433"/>
                          </a:solidFill>
                          <a:latin typeface="Calibri"/>
                        </a:rPr>
                        <a:t>$512,531</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BF_0002</a:t>
                      </a:r>
                    </a:p>
                  </a:txBody>
                  <a:tcPr marL="50800" marR="50800" marT="25400" marB="25400" anchor="ctr">
                    <a:solidFill>
                      <a:srgbClr val="F7F8FA"/>
                    </a:solidFill>
                  </a:tcPr>
                </a:tc>
                <a:tc>
                  <a:txBody>
                    <a:bodyPr wrap="square"/>
                    <a:lstStyle/>
                    <a:p>
                      <a:pPr algn="ctr"/>
                      <a:r>
                        <a:rPr sz="950" b="0">
                          <a:solidFill>
                            <a:srgbClr val="182433"/>
                          </a:solidFill>
                          <a:latin typeface="Calibri"/>
                        </a:rPr>
                        <a:t>Bond Forward</a:t>
                      </a:r>
                    </a:p>
                  </a:txBody>
                  <a:tcPr marL="50800" marR="50800" marT="25400" marB="25400" anchor="ctr">
                    <a:solidFill>
                      <a:srgbClr val="F7F8FA"/>
                    </a:solidFill>
                  </a:tcPr>
                </a:tc>
                <a:tc>
                  <a:txBody>
                    <a:bodyPr wrap="square"/>
                    <a:lstStyle/>
                    <a:p>
                      <a:pPr algn="ctr"/>
                      <a:r>
                        <a:rPr sz="950" b="0">
                          <a:solidFill>
                            <a:srgbClr val="182433"/>
                          </a:solidFill>
                          <a:latin typeface="Calibri"/>
                        </a:rPr>
                        <a:t>A</a:t>
                      </a:r>
                    </a:p>
                  </a:txBody>
                  <a:tcPr marL="50800" marR="50800" marT="25400" marB="25400" anchor="ctr">
                    <a:solidFill>
                      <a:srgbClr val="F7F8FA"/>
                    </a:solidFill>
                  </a:tcPr>
                </a:tc>
                <a:tc>
                  <a:txBody>
                    <a:bodyPr wrap="square"/>
                    <a:lstStyle/>
                    <a:p>
                      <a:pPr algn="ctr"/>
                      <a:r>
                        <a:rPr sz="950" b="0">
                          <a:solidFill>
                            <a:srgbClr val="182433"/>
                          </a:solidFill>
                          <a:latin typeface="Calibri"/>
                        </a:rPr>
                        <a:t>2026-11-08</a:t>
                      </a:r>
                    </a:p>
                  </a:txBody>
                  <a:tcPr marL="50800" marR="50800" marT="25400" marB="25400" anchor="ctr">
                    <a:solidFill>
                      <a:srgbClr val="F7F8FA"/>
                    </a:solidFill>
                  </a:tcPr>
                </a:tc>
                <a:tc>
                  <a:txBody>
                    <a:bodyPr wrap="square"/>
                    <a:lstStyle/>
                    <a:p>
                      <a:pPr algn="ctr"/>
                      <a:r>
                        <a:rPr sz="950" b="0">
                          <a:solidFill>
                            <a:srgbClr val="182433"/>
                          </a:solidFill>
                          <a:latin typeface="Calibri"/>
                        </a:rPr>
                        <a:t>-$357,505</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BF_0003</a:t>
                      </a:r>
                    </a:p>
                  </a:txBody>
                  <a:tcPr marL="50800" marR="50800" marT="25400" marB="25400" anchor="ctr">
                    <a:solidFill>
                      <a:srgbClr val="FFFFFF"/>
                    </a:solidFill>
                  </a:tcPr>
                </a:tc>
                <a:tc>
                  <a:txBody>
                    <a:bodyPr wrap="square"/>
                    <a:lstStyle/>
                    <a:p>
                      <a:pPr algn="ctr"/>
                      <a:r>
                        <a:rPr sz="950" b="0">
                          <a:solidFill>
                            <a:srgbClr val="182433"/>
                          </a:solidFill>
                          <a:latin typeface="Calibri"/>
                        </a:rPr>
                        <a:t>Bond Forward</a:t>
                      </a:r>
                    </a:p>
                  </a:txBody>
                  <a:tcPr marL="50800" marR="50800" marT="25400" marB="25400" anchor="ctr">
                    <a:solidFill>
                      <a:srgbClr val="FFFFFF"/>
                    </a:solidFill>
                  </a:tcPr>
                </a:tc>
                <a:tc>
                  <a:txBody>
                    <a:bodyPr wrap="square"/>
                    <a:lstStyle/>
                    <a:p>
                      <a:pPr algn="ctr"/>
                      <a:r>
                        <a:rPr sz="950" b="0">
                          <a:solidFill>
                            <a:srgbClr val="182433"/>
                          </a:solidFill>
                          <a:latin typeface="Calibri"/>
                        </a:rPr>
                        <a:t>C</a:t>
                      </a:r>
                    </a:p>
                  </a:txBody>
                  <a:tcPr marL="50800" marR="50800" marT="25400" marB="25400" anchor="ctr">
                    <a:solidFill>
                      <a:srgbClr val="FFFFFF"/>
                    </a:solidFill>
                  </a:tcPr>
                </a:tc>
                <a:tc>
                  <a:txBody>
                    <a:bodyPr wrap="square"/>
                    <a:lstStyle/>
                    <a:p>
                      <a:pPr algn="ctr"/>
                      <a:r>
                        <a:rPr sz="950" b="0">
                          <a:solidFill>
                            <a:srgbClr val="182433"/>
                          </a:solidFill>
                          <a:latin typeface="Calibri"/>
                        </a:rPr>
                        <a:t>2026-12-06</a:t>
                      </a:r>
                    </a:p>
                  </a:txBody>
                  <a:tcPr marL="50800" marR="50800" marT="25400" marB="25400" anchor="ctr">
                    <a:solidFill>
                      <a:srgbClr val="FFFFFF"/>
                    </a:solidFill>
                  </a:tcPr>
                </a:tc>
                <a:tc>
                  <a:txBody>
                    <a:bodyPr wrap="square"/>
                    <a:lstStyle/>
                    <a:p>
                      <a:pPr algn="ctr"/>
                      <a:r>
                        <a:rPr sz="950" b="0">
                          <a:solidFill>
                            <a:srgbClr val="182433"/>
                          </a:solidFill>
                          <a:latin typeface="Calibri"/>
                        </a:rPr>
                        <a:t>$121,262,854</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BF_0004</a:t>
                      </a:r>
                    </a:p>
                  </a:txBody>
                  <a:tcPr marL="50800" marR="50800" marT="25400" marB="25400" anchor="ctr">
                    <a:solidFill>
                      <a:srgbClr val="F7F8FA"/>
                    </a:solidFill>
                  </a:tcPr>
                </a:tc>
                <a:tc>
                  <a:txBody>
                    <a:bodyPr wrap="square"/>
                    <a:lstStyle/>
                    <a:p>
                      <a:pPr algn="ctr"/>
                      <a:r>
                        <a:rPr sz="950" b="0">
                          <a:solidFill>
                            <a:srgbClr val="182433"/>
                          </a:solidFill>
                          <a:latin typeface="Calibri"/>
                        </a:rPr>
                        <a:t>Bond Forward</a:t>
                      </a:r>
                    </a:p>
                  </a:txBody>
                  <a:tcPr marL="50800" marR="50800" marT="25400" marB="25400" anchor="ctr">
                    <a:solidFill>
                      <a:srgbClr val="F7F8FA"/>
                    </a:solidFill>
                  </a:tcPr>
                </a:tc>
                <a:tc>
                  <a:txBody>
                    <a:bodyPr wrap="square"/>
                    <a:lstStyle/>
                    <a:p>
                      <a:pPr algn="ctr"/>
                      <a:r>
                        <a:rPr sz="950" b="0">
                          <a:solidFill>
                            <a:srgbClr val="182433"/>
                          </a:solidFill>
                          <a:latin typeface="Calibri"/>
                        </a:rPr>
                        <a:t>C</a:t>
                      </a:r>
                    </a:p>
                  </a:txBody>
                  <a:tcPr marL="50800" marR="50800" marT="25400" marB="25400" anchor="ctr">
                    <a:solidFill>
                      <a:srgbClr val="F7F8FA"/>
                    </a:solidFill>
                  </a:tcPr>
                </a:tc>
                <a:tc>
                  <a:txBody>
                    <a:bodyPr wrap="square"/>
                    <a:lstStyle/>
                    <a:p>
                      <a:pPr algn="ctr"/>
                      <a:r>
                        <a:rPr sz="950" b="0">
                          <a:solidFill>
                            <a:srgbClr val="182433"/>
                          </a:solidFill>
                          <a:latin typeface="Calibri"/>
                        </a:rPr>
                        <a:t>2026-10-25</a:t>
                      </a:r>
                    </a:p>
                  </a:txBody>
                  <a:tcPr marL="50800" marR="50800" marT="25400" marB="25400" anchor="ctr">
                    <a:solidFill>
                      <a:srgbClr val="F7F8FA"/>
                    </a:solidFill>
                  </a:tcPr>
                </a:tc>
                <a:tc>
                  <a:txBody>
                    <a:bodyPr wrap="square"/>
                    <a:lstStyle/>
                    <a:p>
                      <a:pPr algn="ctr"/>
                      <a:r>
                        <a:rPr sz="950" b="0">
                          <a:solidFill>
                            <a:srgbClr val="182433"/>
                          </a:solidFill>
                          <a:latin typeface="Calibri"/>
                        </a:rPr>
                        <a:t>$1,973,388</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BTRS_0001</a:t>
                      </a:r>
                    </a:p>
                  </a:txBody>
                  <a:tcPr marL="50800" marR="50800" marT="25400" marB="25400" anchor="ctr">
                    <a:solidFill>
                      <a:srgbClr val="FFFFFF"/>
                    </a:solidFill>
                  </a:tcPr>
                </a:tc>
                <a:tc>
                  <a:txBody>
                    <a:bodyPr wrap="square"/>
                    <a:lstStyle/>
                    <a:p>
                      <a:pPr algn="ctr"/>
                      <a:r>
                        <a:rPr sz="950" b="0">
                          <a:solidFill>
                            <a:srgbClr val="182433"/>
                          </a:solidFill>
                          <a:latin typeface="Calibri"/>
                        </a:rPr>
                        <a:t>Bond TRS</a:t>
                      </a:r>
                    </a:p>
                  </a:txBody>
                  <a:tcPr marL="50800" marR="50800" marT="25400" marB="25400" anchor="ctr">
                    <a:solidFill>
                      <a:srgbClr val="FFFFFF"/>
                    </a:solidFill>
                  </a:tcPr>
                </a:tc>
                <a:tc>
                  <a:txBody>
                    <a:bodyPr wrap="square"/>
                    <a:lstStyle/>
                    <a:p>
                      <a:pPr algn="ctr"/>
                      <a:r>
                        <a:rPr sz="950" b="0">
                          <a:solidFill>
                            <a:srgbClr val="182433"/>
                          </a:solidFill>
                          <a:latin typeface="Calibri"/>
                        </a:rPr>
                        <a:t>A</a:t>
                      </a:r>
                    </a:p>
                  </a:txBody>
                  <a:tcPr marL="50800" marR="50800" marT="25400" marB="25400" anchor="ctr">
                    <a:solidFill>
                      <a:srgbClr val="FFFFFF"/>
                    </a:solidFill>
                  </a:tcPr>
                </a:tc>
                <a:tc>
                  <a:txBody>
                    <a:bodyPr wrap="square"/>
                    <a:lstStyle/>
                    <a:p>
                      <a:pPr algn="ctr"/>
                      <a:r>
                        <a:rPr sz="950" b="0">
                          <a:solidFill>
                            <a:srgbClr val="182433"/>
                          </a:solidFill>
                          <a:latin typeface="Calibri"/>
                        </a:rPr>
                        <a:t>2028-01-15</a:t>
                      </a:r>
                    </a:p>
                  </a:txBody>
                  <a:tcPr marL="50800" marR="50800" marT="25400" marB="25400" anchor="ctr">
                    <a:solidFill>
                      <a:srgbClr val="FFFFFF"/>
                    </a:solidFill>
                  </a:tcPr>
                </a:tc>
                <a:tc>
                  <a:txBody>
                    <a:bodyPr wrap="square"/>
                    <a:lstStyle/>
                    <a:p>
                      <a:pPr algn="ctr"/>
                      <a:r>
                        <a:rPr sz="950" b="0">
                          <a:solidFill>
                            <a:srgbClr val="182433"/>
                          </a:solidFill>
                          <a:latin typeface="Calibri"/>
                        </a:rPr>
                        <a:t>$119,460</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BTRS_0002</a:t>
                      </a:r>
                    </a:p>
                  </a:txBody>
                  <a:tcPr marL="50800" marR="50800" marT="25400" marB="25400" anchor="ctr">
                    <a:solidFill>
                      <a:srgbClr val="F7F8FA"/>
                    </a:solidFill>
                  </a:tcPr>
                </a:tc>
                <a:tc>
                  <a:txBody>
                    <a:bodyPr wrap="square"/>
                    <a:lstStyle/>
                    <a:p>
                      <a:pPr algn="ctr"/>
                      <a:r>
                        <a:rPr sz="950" b="0">
                          <a:solidFill>
                            <a:srgbClr val="182433"/>
                          </a:solidFill>
                          <a:latin typeface="Calibri"/>
                        </a:rPr>
                        <a:t>Bond TRS</a:t>
                      </a:r>
                    </a:p>
                  </a:txBody>
                  <a:tcPr marL="50800" marR="50800" marT="25400" marB="25400" anchor="ctr">
                    <a:solidFill>
                      <a:srgbClr val="F7F8FA"/>
                    </a:solidFill>
                  </a:tcPr>
                </a:tc>
                <a:tc>
                  <a:txBody>
                    <a:bodyPr wrap="square"/>
                    <a:lstStyle/>
                    <a:p>
                      <a:pPr algn="ctr"/>
                      <a:r>
                        <a:rPr sz="950" b="0">
                          <a:solidFill>
                            <a:srgbClr val="182433"/>
                          </a:solidFill>
                          <a:latin typeface="Calibri"/>
                        </a:rPr>
                        <a:t>B</a:t>
                      </a:r>
                    </a:p>
                  </a:txBody>
                  <a:tcPr marL="50800" marR="50800" marT="25400" marB="25400" anchor="ctr">
                    <a:solidFill>
                      <a:srgbClr val="F7F8FA"/>
                    </a:solidFill>
                  </a:tcPr>
                </a:tc>
                <a:tc>
                  <a:txBody>
                    <a:bodyPr wrap="square"/>
                    <a:lstStyle/>
                    <a:p>
                      <a:pPr algn="ctr"/>
                      <a:r>
                        <a:rPr sz="950" b="0">
                          <a:solidFill>
                            <a:srgbClr val="182433"/>
                          </a:solidFill>
                          <a:latin typeface="Calibri"/>
                        </a:rPr>
                        <a:t>2027-01-15</a:t>
                      </a:r>
                    </a:p>
                  </a:txBody>
                  <a:tcPr marL="50800" marR="50800" marT="25400" marB="25400" anchor="ctr">
                    <a:solidFill>
                      <a:srgbClr val="F7F8FA"/>
                    </a:solidFill>
                  </a:tcPr>
                </a:tc>
                <a:tc>
                  <a:txBody>
                    <a:bodyPr wrap="square"/>
                    <a:lstStyle/>
                    <a:p>
                      <a:pPr algn="ctr"/>
                      <a:r>
                        <a:rPr sz="950" b="0">
                          <a:solidFill>
                            <a:srgbClr val="182433"/>
                          </a:solidFill>
                          <a:latin typeface="Calibri"/>
                        </a:rPr>
                        <a:t>$210,278</a:t>
                      </a:r>
                    </a:p>
                  </a:txBody>
                  <a:tcPr marL="50800" marR="50800" marT="25400" marB="25400" anchor="ctr">
                    <a:solidFill>
                      <a:srgbClr val="F7F8FA"/>
                    </a:solidFill>
                  </a:tcPr>
                </a:tc>
              </a:tr>
              <a:tr h="285077">
                <a:tc>
                  <a:txBody>
                    <a:bodyPr wrap="square"/>
                    <a:lstStyle/>
                    <a:p>
                      <a:pPr algn="l"/>
                      <a:r>
                        <a:rPr sz="950" b="0">
                          <a:solidFill>
                            <a:srgbClr val="182433"/>
                          </a:solidFill>
                          <a:latin typeface="Calibri"/>
                        </a:rPr>
                        <a:t>BTRS_0003</a:t>
                      </a:r>
                    </a:p>
                  </a:txBody>
                  <a:tcPr marL="50800" marR="50800" marT="25400" marB="25400" anchor="ctr">
                    <a:solidFill>
                      <a:srgbClr val="FFFFFF"/>
                    </a:solidFill>
                  </a:tcPr>
                </a:tc>
                <a:tc>
                  <a:txBody>
                    <a:bodyPr wrap="square"/>
                    <a:lstStyle/>
                    <a:p>
                      <a:pPr algn="ctr"/>
                      <a:r>
                        <a:rPr sz="950" b="0">
                          <a:solidFill>
                            <a:srgbClr val="182433"/>
                          </a:solidFill>
                          <a:latin typeface="Calibri"/>
                        </a:rPr>
                        <a:t>Bond TRS</a:t>
                      </a:r>
                    </a:p>
                  </a:txBody>
                  <a:tcPr marL="50800" marR="50800" marT="25400" marB="25400" anchor="ctr">
                    <a:solidFill>
                      <a:srgbClr val="FFFFFF"/>
                    </a:solidFill>
                  </a:tcPr>
                </a:tc>
                <a:tc>
                  <a:txBody>
                    <a:bodyPr wrap="square"/>
                    <a:lstStyle/>
                    <a:p>
                      <a:pPr algn="ctr"/>
                      <a:r>
                        <a:rPr sz="950" b="0">
                          <a:solidFill>
                            <a:srgbClr val="182433"/>
                          </a:solidFill>
                          <a:latin typeface="Calibri"/>
                        </a:rPr>
                        <a:t>B</a:t>
                      </a:r>
                    </a:p>
                  </a:txBody>
                  <a:tcPr marL="50800" marR="50800" marT="25400" marB="25400" anchor="ctr">
                    <a:solidFill>
                      <a:srgbClr val="FFFFFF"/>
                    </a:solidFill>
                  </a:tcPr>
                </a:tc>
                <a:tc>
                  <a:txBody>
                    <a:bodyPr wrap="square"/>
                    <a:lstStyle/>
                    <a:p>
                      <a:pPr algn="ctr"/>
                      <a:r>
                        <a:rPr sz="950" b="0">
                          <a:solidFill>
                            <a:srgbClr val="182433"/>
                          </a:solidFill>
                          <a:latin typeface="Calibri"/>
                        </a:rPr>
                        <a:t>2027-04-09</a:t>
                      </a:r>
                    </a:p>
                  </a:txBody>
                  <a:tcPr marL="50800" marR="50800" marT="25400" marB="25400" anchor="ctr">
                    <a:solidFill>
                      <a:srgbClr val="FFFFFF"/>
                    </a:solidFill>
                  </a:tcPr>
                </a:tc>
                <a:tc>
                  <a:txBody>
                    <a:bodyPr wrap="square"/>
                    <a:lstStyle/>
                    <a:p>
                      <a:pPr algn="ctr"/>
                      <a:r>
                        <a:rPr sz="950" b="0">
                          <a:solidFill>
                            <a:srgbClr val="182433"/>
                          </a:solidFill>
                          <a:latin typeface="Calibri"/>
                        </a:rPr>
                        <a:t>$28,844</a:t>
                      </a:r>
                    </a:p>
                  </a:txBody>
                  <a:tcPr marL="50800" marR="50800" marT="25400" marB="25400" anchor="ctr">
                    <a:solidFill>
                      <a:srgbClr val="FFFFFF"/>
                    </a:solidFill>
                  </a:tcPr>
                </a:tc>
              </a:tr>
              <a:tr h="285077">
                <a:tc>
                  <a:txBody>
                    <a:bodyPr wrap="square"/>
                    <a:lstStyle/>
                    <a:p>
                      <a:pPr algn="l"/>
                      <a:r>
                        <a:rPr sz="950" b="0">
                          <a:solidFill>
                            <a:srgbClr val="182433"/>
                          </a:solidFill>
                          <a:latin typeface="Calibri"/>
                        </a:rPr>
                        <a:t>BTRS_0004</a:t>
                      </a:r>
                    </a:p>
                  </a:txBody>
                  <a:tcPr marL="50800" marR="50800" marT="25400" marB="25400" anchor="ctr">
                    <a:solidFill>
                      <a:srgbClr val="F7F8FA"/>
                    </a:solidFill>
                  </a:tcPr>
                </a:tc>
                <a:tc>
                  <a:txBody>
                    <a:bodyPr wrap="square"/>
                    <a:lstStyle/>
                    <a:p>
                      <a:pPr algn="ctr"/>
                      <a:r>
                        <a:rPr sz="950" b="0">
                          <a:solidFill>
                            <a:srgbClr val="182433"/>
                          </a:solidFill>
                          <a:latin typeface="Calibri"/>
                        </a:rPr>
                        <a:t>Bond TRS</a:t>
                      </a:r>
                    </a:p>
                  </a:txBody>
                  <a:tcPr marL="50800" marR="50800" marT="25400" marB="25400" anchor="ctr">
                    <a:solidFill>
                      <a:srgbClr val="F7F8FA"/>
                    </a:solidFill>
                  </a:tcPr>
                </a:tc>
                <a:tc>
                  <a:txBody>
                    <a:bodyPr wrap="square"/>
                    <a:lstStyle/>
                    <a:p>
                      <a:pPr algn="ctr"/>
                      <a:r>
                        <a:rPr sz="950" b="0">
                          <a:solidFill>
                            <a:srgbClr val="182433"/>
                          </a:solidFill>
                          <a:latin typeface="Calibri"/>
                        </a:rPr>
                        <a:t>C</a:t>
                      </a:r>
                    </a:p>
                  </a:txBody>
                  <a:tcPr marL="50800" marR="50800" marT="25400" marB="25400" anchor="ctr">
                    <a:solidFill>
                      <a:srgbClr val="F7F8FA"/>
                    </a:solidFill>
                  </a:tcPr>
                </a:tc>
                <a:tc>
                  <a:txBody>
                    <a:bodyPr wrap="square"/>
                    <a:lstStyle/>
                    <a:p>
                      <a:pPr algn="ctr"/>
                      <a:r>
                        <a:rPr sz="950" b="0">
                          <a:solidFill>
                            <a:srgbClr val="182433"/>
                          </a:solidFill>
                          <a:latin typeface="Calibri"/>
                        </a:rPr>
                        <a:t>2026-11-04</a:t>
                      </a:r>
                    </a:p>
                  </a:txBody>
                  <a:tcPr marL="50800" marR="50800" marT="25400" marB="25400" anchor="ctr">
                    <a:solidFill>
                      <a:srgbClr val="F7F8FA"/>
                    </a:solidFill>
                  </a:tcPr>
                </a:tc>
                <a:tc>
                  <a:txBody>
                    <a:bodyPr wrap="square"/>
                    <a:lstStyle/>
                    <a:p>
                      <a:pPr algn="ctr"/>
                      <a:r>
                        <a:rPr sz="950" b="0">
                          <a:solidFill>
                            <a:srgbClr val="182433"/>
                          </a:solidFill>
                          <a:latin typeface="Calibri"/>
                        </a:rPr>
                        <a:t>$36,376</a:t>
                      </a:r>
                    </a:p>
                  </a:txBody>
                  <a:tcPr marL="50800" marR="50800" marT="25400" marB="25400" anchor="ctr">
                    <a:solidFill>
                      <a:srgbClr val="F7F8FA"/>
                    </a:solidFill>
                  </a:tcPr>
                </a:tc>
              </a:tr>
            </a:tbl>
          </a:graphicData>
        </a:graphic>
      </p:graphicFrame>
      <p:pic>
        <p:nvPicPr>
          <p:cNvPr id="7" name="Picture 6" descr="fig04.png"/>
          <p:cNvPicPr>
            <a:picLocks noChangeAspect="1"/>
          </p:cNvPicPr>
          <p:nvPr/>
        </p:nvPicPr>
        <p:blipFill>
          <a:blip r:embed="rId3"/>
          <a:stretch>
            <a:fillRect/>
          </a:stretch>
        </p:blipFill>
        <p:spPr>
          <a:xfrm>
            <a:off x="7589520" y="1371600"/>
            <a:ext cx="4114800" cy="2275940"/>
          </a:xfrm>
          <a:prstGeom prst="rect">
            <a:avLst/>
          </a:prstGeom>
        </p:spPr>
      </p:pic>
      <p:sp>
        <p:nvSpPr>
          <p:cNvPr id="8" name="TextBox 7"/>
          <p:cNvSpPr txBox="1"/>
          <p:nvPr/>
        </p:nvSpPr>
        <p:spPr>
          <a:xfrm>
            <a:off x="7589520" y="3675887"/>
            <a:ext cx="4114800" cy="502920"/>
          </a:xfrm>
          <a:prstGeom prst="rect">
            <a:avLst/>
          </a:prstGeom>
          <a:noFill/>
        </p:spPr>
        <p:txBody>
          <a:bodyPr wrap="square" anchor="t" lIns="0" rIns="0" tIns="0" bIns="0">
            <a:spAutoFit/>
          </a:bodyPr>
          <a:lstStyle/>
          <a:p>
            <a:pPr algn="l"/>
            <a:r>
              <a:rPr sz="1000" b="0" i="1">
                <a:solidFill>
                  <a:srgbClr val="6B7280"/>
                </a:solidFill>
                <a:latin typeface="Calibri"/>
              </a:rPr>
              <a:t>Life span of every trade: nearly all exposure disappears within 4 months.</a:t>
            </a:r>
          </a:p>
        </p:txBody>
      </p:sp>
      <p:sp>
        <p:nvSpPr>
          <p:cNvPr id="9" name="Rectangle 8"/>
          <p:cNvSpPr/>
          <p:nvPr/>
        </p:nvSpPr>
        <p:spPr>
          <a:xfrm>
            <a:off x="7589520" y="4206240"/>
            <a:ext cx="4114800" cy="201168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589520" y="4206240"/>
            <a:ext cx="44450" cy="201168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4315968"/>
            <a:ext cx="3794760" cy="292608"/>
          </a:xfrm>
          <a:prstGeom prst="rect">
            <a:avLst/>
          </a:prstGeom>
          <a:noFill/>
        </p:spPr>
        <p:txBody>
          <a:bodyPr wrap="square" anchor="t" lIns="0" rIns="0" tIns="0" bIns="0">
            <a:spAutoFit/>
          </a:bodyPr>
          <a:lstStyle/>
          <a:p>
            <a:pPr algn="l"/>
            <a:r>
              <a:rPr sz="1200" b="1" i="0">
                <a:solidFill>
                  <a:srgbClr val="9A0052"/>
                </a:solidFill>
                <a:latin typeface="Cambria"/>
              </a:rPr>
              <a:t>WHY ONE TRADE DOMINATES</a:t>
            </a:r>
          </a:p>
        </p:txBody>
      </p:sp>
      <p:sp>
        <p:nvSpPr>
          <p:cNvPr id="12" name="TextBox 11"/>
          <p:cNvSpPr txBox="1"/>
          <p:nvPr/>
        </p:nvSpPr>
        <p:spPr>
          <a:xfrm>
            <a:off x="7772400" y="4681728"/>
            <a:ext cx="3794760" cy="1463040"/>
          </a:xfrm>
          <a:prstGeom prst="rect">
            <a:avLst/>
          </a:prstGeom>
          <a:noFill/>
        </p:spPr>
        <p:txBody>
          <a:bodyPr wrap="square" lIns="0" rIns="0" tIns="0" bIns="0">
            <a:spAutoFit/>
          </a:bodyPr>
          <a:lstStyle/>
          <a:p>
            <a:pPr>
              <a:lnSpc>
                <a:spcPct val="105000"/>
              </a:lnSpc>
              <a:spcAft>
                <a:spcPts val="500"/>
              </a:spcAft>
            </a:pPr>
            <a:r>
              <a:rPr sz="1100" b="0">
                <a:solidFill>
                  <a:srgbClr val="182433"/>
                </a:solidFill>
                <a:latin typeface="Calibri"/>
              </a:rPr>
              <a:t>•  BF_0003: 500M notional short forward on a 2.88% 2049 Treasury, struck at 100, trading ~25pts below par</a:t>
            </a:r>
          </a:p>
          <a:p>
            <a:pPr>
              <a:lnSpc>
                <a:spcPct val="105000"/>
              </a:lnSpc>
              <a:spcAft>
                <a:spcPts val="500"/>
              </a:spcAft>
            </a:pPr>
            <a:r>
              <a:rPr sz="1100" b="0">
                <a:solidFill>
                  <a:srgbClr val="182433"/>
                </a:solidFill>
                <a:latin typeface="Calibri"/>
              </a:rPr>
              <a:t>•  This single position is why CPTY_C drives concentration, SA-CCR EAD and CVA throughout the results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16 Trades, 3 Counterparties, 37 Equities and USDJPY, One Engine</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1">
                <a:solidFill>
                  <a:srgbClr val="D2006F"/>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a:t>
            </a:r>
          </a:p>
        </p:txBody>
      </p:sp>
      <p:graphicFrame>
        <p:nvGraphicFramePr>
          <p:cNvPr id="6" name="Table 5"/>
          <p:cNvGraphicFramePr>
            <a:graphicFrameLocks noGrp="1"/>
          </p:cNvGraphicFramePr>
          <p:nvPr/>
        </p:nvGraphicFramePr>
        <p:xfrm>
          <a:off x="502920" y="1371600"/>
          <a:ext cx="6400800" cy="1737360"/>
        </p:xfrm>
        <a:graphic>
          <a:graphicData uri="http://schemas.openxmlformats.org/drawingml/2006/table">
            <a:tbl>
              <a:tblPr firstRow="1" bandRow="1">
                <a:tableStyleId>{5C22544A-7EE6-4342-B048-85BDC9FD1C3A}</a:tableStyleId>
              </a:tblPr>
              <a:tblGrid>
                <a:gridCol w="1360170"/>
                <a:gridCol w="1040130"/>
                <a:gridCol w="1360170"/>
                <a:gridCol w="2640330"/>
              </a:tblGrid>
              <a:tr h="434340">
                <a:tc>
                  <a:txBody>
                    <a:bodyPr wrap="square"/>
                    <a:lstStyle/>
                    <a:p>
                      <a:pPr algn="l"/>
                      <a:r>
                        <a:rPr sz="1100" b="1">
                          <a:solidFill>
                            <a:srgbClr val="FFFFFF"/>
                          </a:solidFill>
                          <a:latin typeface="Calibri"/>
                        </a:rPr>
                        <a:t>Instrument</a:t>
                      </a:r>
                    </a:p>
                  </a:txBody>
                  <a:tcPr marL="50800" marR="50800" marT="25400" marB="25400" anchor="ctr">
                    <a:solidFill>
                      <a:srgbClr val="182433"/>
                    </a:solidFill>
                  </a:tcPr>
                </a:tc>
                <a:tc>
                  <a:txBody>
                    <a:bodyPr wrap="square"/>
                    <a:lstStyle/>
                    <a:p>
                      <a:pPr algn="ctr"/>
                      <a:r>
                        <a:rPr sz="1100" b="1">
                          <a:solidFill>
                            <a:srgbClr val="FFFFFF"/>
                          </a:solidFill>
                          <a:latin typeface="Calibri"/>
                        </a:rPr>
                        <a:t>Count</a:t>
                      </a:r>
                    </a:p>
                  </a:txBody>
                  <a:tcPr marL="50800" marR="50800" marT="25400" marB="25400" anchor="ctr">
                    <a:solidFill>
                      <a:srgbClr val="182433"/>
                    </a:solidFill>
                  </a:tcPr>
                </a:tc>
                <a:tc>
                  <a:txBody>
                    <a:bodyPr wrap="square"/>
                    <a:lstStyle/>
                    <a:p>
                      <a:pPr algn="ctr"/>
                      <a:r>
                        <a:rPr sz="1100" b="1">
                          <a:solidFill>
                            <a:srgbClr val="FFFFFF"/>
                          </a:solidFill>
                          <a:latin typeface="Calibri"/>
                        </a:rPr>
                        <a:t>Counterparties</a:t>
                      </a:r>
                    </a:p>
                  </a:txBody>
                  <a:tcPr marL="50800" marR="50800" marT="25400" marB="25400" anchor="ctr">
                    <a:solidFill>
                      <a:srgbClr val="182433"/>
                    </a:solidFill>
                  </a:tcPr>
                </a:tc>
                <a:tc>
                  <a:txBody>
                    <a:bodyPr wrap="square"/>
                    <a:lstStyle/>
                    <a:p>
                      <a:pPr algn="ctr"/>
                      <a:r>
                        <a:rPr sz="1100" b="1">
                          <a:solidFill>
                            <a:srgbClr val="FFFFFF"/>
                          </a:solidFill>
                          <a:latin typeface="Calibri"/>
                        </a:rPr>
                        <a:t>Risk factors</a:t>
                      </a:r>
                    </a:p>
                  </a:txBody>
                  <a:tcPr marL="50800" marR="50800" marT="25400" marB="25400" anchor="ctr">
                    <a:solidFill>
                      <a:srgbClr val="182433"/>
                    </a:solidFill>
                  </a:tcPr>
                </a:tc>
              </a:tr>
              <a:tr h="434340">
                <a:tc>
                  <a:txBody>
                    <a:bodyPr wrap="square"/>
                    <a:lstStyle/>
                    <a:p>
                      <a:pPr algn="l"/>
                      <a:r>
                        <a:rPr sz="1050" b="0">
                          <a:solidFill>
                            <a:srgbClr val="182433"/>
                          </a:solidFill>
                          <a:latin typeface="Calibri"/>
                        </a:rPr>
                        <a:t>Equity TRS</a:t>
                      </a:r>
                    </a:p>
                  </a:txBody>
                  <a:tcPr marL="50800" marR="50800" marT="25400" marB="25400" anchor="ctr">
                    <a:solidFill>
                      <a:srgbClr val="FFFFFF"/>
                    </a:solidFill>
                  </a:tcPr>
                </a:tc>
                <a:tc>
                  <a:txBody>
                    <a:bodyPr wrap="square"/>
                    <a:lstStyle/>
                    <a:p>
                      <a:pPr algn="ctr"/>
                      <a:r>
                        <a:rPr sz="1050" b="0">
                          <a:solidFill>
                            <a:srgbClr val="182433"/>
                          </a:solidFill>
                          <a:latin typeface="Calibri"/>
                        </a:rPr>
                        <a:t>8 (incl. 1 JPY compo)</a:t>
                      </a:r>
                    </a:p>
                  </a:txBody>
                  <a:tcPr marL="50800" marR="50800" marT="25400" marB="25400" anchor="ctr">
                    <a:solidFill>
                      <a:srgbClr val="FFFFFF"/>
                    </a:solidFill>
                  </a:tcPr>
                </a:tc>
                <a:tc>
                  <a:txBody>
                    <a:bodyPr wrap="square"/>
                    <a:lstStyle/>
                    <a:p>
                      <a:pPr algn="ctr"/>
                      <a:r>
                        <a:rPr sz="1050" b="0">
                          <a:solidFill>
                            <a:srgbClr val="182433"/>
                          </a:solidFill>
                          <a:latin typeface="Calibri"/>
                        </a:rPr>
                        <a:t>A, B, C</a:t>
                      </a:r>
                    </a:p>
                  </a:txBody>
                  <a:tcPr marL="50800" marR="50800" marT="25400" marB="25400" anchor="ctr">
                    <a:solidFill>
                      <a:srgbClr val="FFFFFF"/>
                    </a:solidFill>
                  </a:tcPr>
                </a:tc>
                <a:tc>
                  <a:txBody>
                    <a:bodyPr wrap="square"/>
                    <a:lstStyle/>
                    <a:p>
                      <a:pPr algn="ctr"/>
                      <a:r>
                        <a:rPr sz="1050" b="0">
                          <a:solidFill>
                            <a:srgbClr val="182433"/>
                          </a:solidFill>
                          <a:latin typeface="Calibri"/>
                        </a:rPr>
                        <a:t>USD curve + equity spots (+ USDJPY for compo)</a:t>
                      </a:r>
                    </a:p>
                  </a:txBody>
                  <a:tcPr marL="50800" marR="50800" marT="25400" marB="25400" anchor="ctr">
                    <a:solidFill>
                      <a:srgbClr val="FFFFFF"/>
                    </a:solidFill>
                  </a:tcPr>
                </a:tc>
              </a:tr>
              <a:tr h="434340">
                <a:tc>
                  <a:txBody>
                    <a:bodyPr wrap="square"/>
                    <a:lstStyle/>
                    <a:p>
                      <a:pPr algn="l"/>
                      <a:r>
                        <a:rPr sz="1050" b="0">
                          <a:solidFill>
                            <a:srgbClr val="182433"/>
                          </a:solidFill>
                          <a:latin typeface="Calibri"/>
                        </a:rPr>
                        <a:t>Bond Forward</a:t>
                      </a:r>
                    </a:p>
                  </a:txBody>
                  <a:tcPr marL="50800" marR="50800" marT="25400" marB="25400" anchor="ctr">
                    <a:solidFill>
                      <a:srgbClr val="F7F8FA"/>
                    </a:solidFill>
                  </a:tcPr>
                </a:tc>
                <a:tc>
                  <a:txBody>
                    <a:bodyPr wrap="square"/>
                    <a:lstStyle/>
                    <a:p>
                      <a:pPr algn="ctr"/>
                      <a:r>
                        <a:rPr sz="1050" b="0">
                          <a:solidFill>
                            <a:srgbClr val="182433"/>
                          </a:solidFill>
                          <a:latin typeface="Calibri"/>
                        </a:rPr>
                        <a:t>4</a:t>
                      </a:r>
                    </a:p>
                  </a:txBody>
                  <a:tcPr marL="50800" marR="50800" marT="25400" marB="25400" anchor="ctr">
                    <a:solidFill>
                      <a:srgbClr val="F7F8FA"/>
                    </a:solidFill>
                  </a:tcPr>
                </a:tc>
                <a:tc>
                  <a:txBody>
                    <a:bodyPr wrap="square"/>
                    <a:lstStyle/>
                    <a:p>
                      <a:pPr algn="ctr"/>
                      <a:r>
                        <a:rPr sz="1050" b="0">
                          <a:solidFill>
                            <a:srgbClr val="182433"/>
                          </a:solidFill>
                          <a:latin typeface="Calibri"/>
                        </a:rPr>
                        <a:t>A, C</a:t>
                      </a:r>
                    </a:p>
                  </a:txBody>
                  <a:tcPr marL="50800" marR="50800" marT="25400" marB="25400" anchor="ctr">
                    <a:solidFill>
                      <a:srgbClr val="F7F8FA"/>
                    </a:solidFill>
                  </a:tcPr>
                </a:tc>
                <a:tc>
                  <a:txBody>
                    <a:bodyPr wrap="square"/>
                    <a:lstStyle/>
                    <a:p>
                      <a:pPr algn="ctr"/>
                      <a:r>
                        <a:rPr sz="1050" b="0">
                          <a:solidFill>
                            <a:srgbClr val="182433"/>
                          </a:solidFill>
                          <a:latin typeface="Calibri"/>
                        </a:rPr>
                        <a:t>USD curve only (risk-free bonds)</a:t>
                      </a:r>
                    </a:p>
                  </a:txBody>
                  <a:tcPr marL="50800" marR="50800" marT="25400" marB="25400" anchor="ctr">
                    <a:solidFill>
                      <a:srgbClr val="F7F8FA"/>
                    </a:solidFill>
                  </a:tcPr>
                </a:tc>
              </a:tr>
              <a:tr h="434340">
                <a:tc>
                  <a:txBody>
                    <a:bodyPr wrap="square"/>
                    <a:lstStyle/>
                    <a:p>
                      <a:pPr algn="l"/>
                      <a:r>
                        <a:rPr sz="1050" b="0">
                          <a:solidFill>
                            <a:srgbClr val="182433"/>
                          </a:solidFill>
                          <a:latin typeface="Calibri"/>
                        </a:rPr>
                        <a:t>Bond TRS</a:t>
                      </a:r>
                    </a:p>
                  </a:txBody>
                  <a:tcPr marL="50800" marR="50800" marT="25400" marB="25400" anchor="ctr">
                    <a:solidFill>
                      <a:srgbClr val="FFFFFF"/>
                    </a:solidFill>
                  </a:tcPr>
                </a:tc>
                <a:tc>
                  <a:txBody>
                    <a:bodyPr wrap="square"/>
                    <a:lstStyle/>
                    <a:p>
                      <a:pPr algn="ctr"/>
                      <a:r>
                        <a:rPr sz="1050" b="0">
                          <a:solidFill>
                            <a:srgbClr val="182433"/>
                          </a:solidFill>
                          <a:latin typeface="Calibri"/>
                        </a:rPr>
                        <a:t>4</a:t>
                      </a:r>
                    </a:p>
                  </a:txBody>
                  <a:tcPr marL="50800" marR="50800" marT="25400" marB="25400" anchor="ctr">
                    <a:solidFill>
                      <a:srgbClr val="FFFFFF"/>
                    </a:solidFill>
                  </a:tcPr>
                </a:tc>
                <a:tc>
                  <a:txBody>
                    <a:bodyPr wrap="square"/>
                    <a:lstStyle/>
                    <a:p>
                      <a:pPr algn="ctr"/>
                      <a:r>
                        <a:rPr sz="1050" b="0">
                          <a:solidFill>
                            <a:srgbClr val="182433"/>
                          </a:solidFill>
                          <a:latin typeface="Calibri"/>
                        </a:rPr>
                        <a:t>A, B, C</a:t>
                      </a:r>
                    </a:p>
                  </a:txBody>
                  <a:tcPr marL="50800" marR="50800" marT="25400" marB="25400" anchor="ctr">
                    <a:solidFill>
                      <a:srgbClr val="FFFFFF"/>
                    </a:solidFill>
                  </a:tcPr>
                </a:tc>
                <a:tc>
                  <a:txBody>
                    <a:bodyPr wrap="square"/>
                    <a:lstStyle/>
                    <a:p>
                      <a:pPr algn="ctr"/>
                      <a:r>
                        <a:rPr sz="1050" b="0">
                          <a:solidFill>
                            <a:srgbClr val="182433"/>
                          </a:solidFill>
                          <a:latin typeface="Calibri"/>
                        </a:rPr>
                        <a:t>USD curve only</a:t>
                      </a:r>
                    </a:p>
                  </a:txBody>
                  <a:tcPr marL="50800" marR="50800" marT="25400" marB="25400" anchor="ctr">
                    <a:solidFill>
                      <a:srgbClr val="FFFFFF"/>
                    </a:solidFill>
                  </a:tcPr>
                </a:tc>
              </a:tr>
            </a:tbl>
          </a:graphicData>
        </a:graphic>
      </p:graphicFrame>
      <p:pic>
        <p:nvPicPr>
          <p:cNvPr id="7" name="Picture 6" descr="fig04.png"/>
          <p:cNvPicPr>
            <a:picLocks noChangeAspect="1"/>
          </p:cNvPicPr>
          <p:nvPr/>
        </p:nvPicPr>
        <p:blipFill>
          <a:blip r:embed="rId3"/>
          <a:stretch>
            <a:fillRect/>
          </a:stretch>
        </p:blipFill>
        <p:spPr>
          <a:xfrm>
            <a:off x="7315200" y="1371600"/>
            <a:ext cx="4434840" cy="2452958"/>
          </a:xfrm>
          <a:prstGeom prst="rect">
            <a:avLst/>
          </a:prstGeom>
        </p:spPr>
      </p:pic>
      <p:sp>
        <p:nvSpPr>
          <p:cNvPr id="8" name="TextBox 7"/>
          <p:cNvSpPr txBox="1"/>
          <p:nvPr/>
        </p:nvSpPr>
        <p:spPr>
          <a:xfrm>
            <a:off x="7315200" y="3858768"/>
            <a:ext cx="4434840" cy="274320"/>
          </a:xfrm>
          <a:prstGeom prst="rect">
            <a:avLst/>
          </a:prstGeom>
          <a:noFill/>
        </p:spPr>
        <p:txBody>
          <a:bodyPr wrap="square" anchor="t" lIns="0" rIns="0" tIns="0" bIns="0">
            <a:spAutoFit/>
          </a:bodyPr>
          <a:lstStyle/>
          <a:p>
            <a:pPr algn="l"/>
            <a:r>
              <a:rPr sz="950" b="0" i="1">
                <a:solidFill>
                  <a:srgbClr val="6B7280"/>
                </a:solidFill>
                <a:latin typeface="Calibri"/>
              </a:rPr>
              <a:t>Trade life spans: most of the book matures within ~4 months.</a:t>
            </a:r>
          </a:p>
        </p:txBody>
      </p:sp>
      <p:sp>
        <p:nvSpPr>
          <p:cNvPr id="9" name="TextBox 8"/>
          <p:cNvSpPr txBox="1"/>
          <p:nvPr/>
        </p:nvSpPr>
        <p:spPr>
          <a:xfrm>
            <a:off x="502920" y="3246120"/>
            <a:ext cx="6400800" cy="914400"/>
          </a:xfrm>
          <a:prstGeom prst="rect">
            <a:avLst/>
          </a:prstGeom>
          <a:noFill/>
        </p:spPr>
        <p:txBody>
          <a:bodyPr wrap="square" lIns="0" rIns="0" tIns="0" bIns="0">
            <a:spAutoFit/>
          </a:bodyPr>
          <a:lstStyle/>
          <a:p>
            <a:pPr>
              <a:lnSpc>
                <a:spcPct val="105000"/>
              </a:lnSpc>
              <a:spcAft>
                <a:spcPts val="600"/>
              </a:spcAft>
            </a:pPr>
            <a:r>
              <a:rPr sz="1150" b="0">
                <a:solidFill>
                  <a:srgbClr val="182433"/>
                </a:solidFill>
                <a:latin typeface="Calibri"/>
              </a:rPr>
              <a:t>•  37 unique equities (31 USD, 6 JPY) + USDJPY + 5 Treasury bonds</a:t>
            </a:r>
          </a:p>
          <a:p>
            <a:pPr>
              <a:lnSpc>
                <a:spcPct val="105000"/>
              </a:lnSpc>
              <a:spcAft>
                <a:spcPts val="600"/>
              </a:spcAft>
            </a:pPr>
            <a:r>
              <a:rPr sz="1150" b="0">
                <a:solidFill>
                  <a:srgbClr val="182433"/>
                </a:solidFill>
                <a:latin typeface="Calibri"/>
              </a:rPr>
              <a:t>•  Capitolis is strictly the seller: falling market values increase counterparty exposure to us</a:t>
            </a:r>
          </a:p>
        </p:txBody>
      </p:sp>
      <p:sp>
        <p:nvSpPr>
          <p:cNvPr id="10" name="TextBox 9"/>
          <p:cNvSpPr txBox="1"/>
          <p:nvPr/>
        </p:nvSpPr>
        <p:spPr>
          <a:xfrm>
            <a:off x="502920" y="4343400"/>
            <a:ext cx="11155680" cy="365760"/>
          </a:xfrm>
          <a:prstGeom prst="rect">
            <a:avLst/>
          </a:prstGeom>
          <a:noFill/>
        </p:spPr>
        <p:txBody>
          <a:bodyPr wrap="square" anchor="t" lIns="0" rIns="0" tIns="0" bIns="0">
            <a:spAutoFit/>
          </a:bodyPr>
          <a:lstStyle/>
          <a:p>
            <a:pPr algn="l"/>
            <a:r>
              <a:rPr sz="1400" b="1" i="0">
                <a:solidFill>
                  <a:srgbClr val="182433"/>
                </a:solidFill>
                <a:latin typeface="Cambria"/>
              </a:rPr>
              <a:t>Today's agenda</a:t>
            </a:r>
          </a:p>
        </p:txBody>
      </p:sp>
      <p:sp>
        <p:nvSpPr>
          <p:cNvPr id="11" name="TextBox 10"/>
          <p:cNvSpPr txBox="1"/>
          <p:nvPr/>
        </p:nvSpPr>
        <p:spPr>
          <a:xfrm>
            <a:off x="502920" y="4800600"/>
            <a:ext cx="11155680" cy="1828800"/>
          </a:xfrm>
          <a:prstGeom prst="rect">
            <a:avLst/>
          </a:prstGeom>
          <a:noFill/>
        </p:spPr>
        <p:txBody>
          <a:bodyPr wrap="square" lIns="0" rIns="0" tIns="0" bIns="0">
            <a:spAutoFit/>
          </a:bodyPr>
          <a:lstStyle/>
          <a:p>
            <a:pPr>
              <a:lnSpc>
                <a:spcPct val="105000"/>
              </a:lnSpc>
              <a:spcAft>
                <a:spcPts val="800"/>
              </a:spcAft>
            </a:pPr>
            <a:r>
              <a:rPr sz="1300" b="0">
                <a:solidFill>
                  <a:srgbClr val="182433"/>
                </a:solidFill>
                <a:latin typeface="Calibri"/>
              </a:rPr>
              <a:t>•  The brief and what we delivered against it  •  Data sourcing  •  Pipeline and architecture</a:t>
            </a:r>
          </a:p>
          <a:p>
            <a:pPr>
              <a:lnSpc>
                <a:spcPct val="105000"/>
              </a:lnSpc>
              <a:spcAft>
                <a:spcPts val="800"/>
              </a:spcAft>
            </a:pPr>
            <a:r>
              <a:rPr sz="1300" b="0">
                <a:solidFill>
                  <a:srgbClr val="182433"/>
                </a:solidFill>
                <a:latin typeface="Calibri"/>
              </a:rPr>
              <a:t>•  Modelling choices  •  Trade-offs and alternatives considered  •  Feedback incorporated</a:t>
            </a:r>
          </a:p>
          <a:p>
            <a:pPr>
              <a:lnSpc>
                <a:spcPct val="105000"/>
              </a:lnSpc>
              <a:spcAft>
                <a:spcPts val="800"/>
              </a:spcAft>
            </a:pPr>
            <a:r>
              <a:rPr sz="1300" b="0">
                <a:solidFill>
                  <a:srgbClr val="182433"/>
                </a:solidFill>
                <a:latin typeface="Calibri"/>
              </a:rPr>
              <a:t>•  Results (the core of this deck)  •  Conclusions and next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What Capitolis Gave Us, and Asked For</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The brief, the deliverables, and how every ask maps to what we built</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The Brief: No Initial Margin, 10-Day Close-Out, Capitolis Is Seller</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1">
                <a:solidFill>
                  <a:srgbClr val="D2006F"/>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6</a:t>
            </a:r>
          </a:p>
        </p:txBody>
      </p:sp>
      <p:sp>
        <p:nvSpPr>
          <p:cNvPr id="6" name="TextBox 5"/>
          <p:cNvSpPr txBox="1"/>
          <p:nvPr/>
        </p:nvSpPr>
        <p:spPr>
          <a:xfrm>
            <a:off x="502920" y="1371600"/>
            <a:ext cx="11155680" cy="365760"/>
          </a:xfrm>
          <a:prstGeom prst="rect">
            <a:avLst/>
          </a:prstGeom>
          <a:noFill/>
        </p:spPr>
        <p:txBody>
          <a:bodyPr wrap="square" anchor="t" lIns="0" rIns="0" tIns="0" bIns="0">
            <a:spAutoFit/>
          </a:bodyPr>
          <a:lstStyle/>
          <a:p>
            <a:pPr algn="l"/>
            <a:r>
              <a:rPr sz="1400" b="1" i="0">
                <a:solidFill>
                  <a:srgbClr val="182433"/>
                </a:solidFill>
                <a:latin typeface="Cambria"/>
              </a:rPr>
              <a:t>Deliverables (kickoff, slide 16)</a:t>
            </a:r>
          </a:p>
        </p:txBody>
      </p:sp>
      <p:sp>
        <p:nvSpPr>
          <p:cNvPr id="7" name="TextBox 6"/>
          <p:cNvSpPr txBox="1"/>
          <p:nvPr/>
        </p:nvSpPr>
        <p:spPr>
          <a:xfrm>
            <a:off x="502920" y="1828800"/>
            <a:ext cx="5394960" cy="1463040"/>
          </a:xfrm>
          <a:prstGeom prst="rect">
            <a:avLst/>
          </a:prstGeom>
          <a:noFill/>
        </p:spPr>
        <p:txBody>
          <a:bodyPr wrap="square" lIns="0" rIns="0" tIns="0" bIns="0">
            <a:spAutoFit/>
          </a:bodyPr>
          <a:lstStyle/>
          <a:p>
            <a:pPr>
              <a:lnSpc>
                <a:spcPct val="105000"/>
              </a:lnSpc>
              <a:spcAft>
                <a:spcPts val="800"/>
              </a:spcAft>
            </a:pPr>
            <a:r>
              <a:rPr sz="1250" b="0">
                <a:solidFill>
                  <a:srgbClr val="182433"/>
                </a:solidFill>
                <a:latin typeface="Calibri"/>
              </a:rPr>
              <a:t>•  Simulation engine codebase: modular Python, extensible to new asset classes / model types</a:t>
            </a:r>
          </a:p>
          <a:p>
            <a:pPr>
              <a:lnSpc>
                <a:spcPct val="105000"/>
              </a:lnSpc>
              <a:spcAft>
                <a:spcPts val="800"/>
              </a:spcAft>
            </a:pPr>
            <a:r>
              <a:rPr sz="1250" b="0">
                <a:solidFill>
                  <a:srgbClr val="182433"/>
                </a:solidFill>
                <a:latin typeface="Calibri"/>
              </a:rPr>
              <a:t>•  Technical report: calibration methodology, model choices, key results, production-hardening suggestions, performance/convergence analysis</a:t>
            </a:r>
          </a:p>
        </p:txBody>
      </p:sp>
      <p:sp>
        <p:nvSpPr>
          <p:cNvPr id="8" name="TextBox 7"/>
          <p:cNvSpPr txBox="1"/>
          <p:nvPr/>
        </p:nvSpPr>
        <p:spPr>
          <a:xfrm>
            <a:off x="6172200" y="1371600"/>
            <a:ext cx="5486400" cy="365760"/>
          </a:xfrm>
          <a:prstGeom prst="rect">
            <a:avLst/>
          </a:prstGeom>
          <a:noFill/>
        </p:spPr>
        <p:txBody>
          <a:bodyPr wrap="square" anchor="t" lIns="0" rIns="0" tIns="0" bIns="0">
            <a:spAutoFit/>
          </a:bodyPr>
          <a:lstStyle/>
          <a:p>
            <a:pPr algn="l"/>
            <a:r>
              <a:rPr sz="1400" b="1" i="0">
                <a:solidFill>
                  <a:srgbClr val="182433"/>
                </a:solidFill>
                <a:latin typeface="Cambria"/>
              </a:rPr>
              <a:t>Key assumptions specified by Capitolis (slide 9)</a:t>
            </a:r>
          </a:p>
        </p:txBody>
      </p:sp>
      <p:sp>
        <p:nvSpPr>
          <p:cNvPr id="9" name="TextBox 8"/>
          <p:cNvSpPr txBox="1"/>
          <p:nvPr/>
        </p:nvSpPr>
        <p:spPr>
          <a:xfrm>
            <a:off x="6172200" y="1828800"/>
            <a:ext cx="5532120" cy="2377440"/>
          </a:xfrm>
          <a:prstGeom prst="rect">
            <a:avLst/>
          </a:prstGeom>
          <a:noFill/>
        </p:spPr>
        <p:txBody>
          <a:bodyPr wrap="square" lIns="0" rIns="0" tIns="0" bIns="0">
            <a:spAutoFit/>
          </a:bodyPr>
          <a:lstStyle/>
          <a:p>
            <a:pPr>
              <a:lnSpc>
                <a:spcPct val="105000"/>
              </a:lnSpc>
              <a:spcAft>
                <a:spcPts val="700"/>
              </a:spcAft>
            </a:pPr>
            <a:r>
              <a:rPr sz="1250" b="0">
                <a:solidFill>
                  <a:srgbClr val="182433"/>
                </a:solidFill>
                <a:latin typeface="Calibri"/>
              </a:rPr>
              <a:t>•  No initial margin</a:t>
            </a:r>
          </a:p>
          <a:p>
            <a:pPr>
              <a:lnSpc>
                <a:spcPct val="105000"/>
              </a:lnSpc>
              <a:spcAft>
                <a:spcPts val="700"/>
              </a:spcAft>
            </a:pPr>
            <a:r>
              <a:rPr sz="1250" b="0">
                <a:solidFill>
                  <a:srgbClr val="182433"/>
                </a:solidFill>
                <a:latin typeface="Calibri"/>
              </a:rPr>
              <a:t>•  Variation margin on date t = NPV on the prior day on the path</a:t>
            </a:r>
          </a:p>
          <a:p>
            <a:pPr>
              <a:lnSpc>
                <a:spcPct val="105000"/>
              </a:lnSpc>
              <a:spcAft>
                <a:spcPts val="700"/>
              </a:spcAft>
            </a:pPr>
            <a:r>
              <a:rPr sz="1250" b="0">
                <a:solidFill>
                  <a:srgbClr val="182433"/>
                </a:solidFill>
                <a:latin typeface="Calibri"/>
              </a:rPr>
              <a:t>•  10-business-day close-out period</a:t>
            </a:r>
          </a:p>
          <a:p>
            <a:pPr>
              <a:lnSpc>
                <a:spcPct val="105000"/>
              </a:lnSpc>
              <a:spcAft>
                <a:spcPts val="700"/>
              </a:spcAft>
            </a:pPr>
            <a:r>
              <a:rPr sz="1250" b="0">
                <a:solidFill>
                  <a:srgbClr val="182433"/>
                </a:solidFill>
                <a:latin typeface="Calibri"/>
              </a:rPr>
              <a:t>•  Scenario count is our choice; must evidence convergence</a:t>
            </a:r>
          </a:p>
          <a:p>
            <a:pPr>
              <a:lnSpc>
                <a:spcPct val="105000"/>
              </a:lnSpc>
              <a:spcAft>
                <a:spcPts val="700"/>
              </a:spcAft>
            </a:pPr>
            <a:r>
              <a:rPr sz="1250" b="0">
                <a:solidFill>
                  <a:srgbClr val="182433"/>
                </a:solidFill>
                <a:latin typeface="Calibri"/>
              </a:rPr>
              <a:t>•  Falling market values increase counterparty exposure to us (we are strictly the seller)</a:t>
            </a:r>
          </a:p>
        </p:txBody>
      </p:sp>
      <p:sp>
        <p:nvSpPr>
          <p:cNvPr id="10" name="TextBox 9"/>
          <p:cNvSpPr txBox="1"/>
          <p:nvPr/>
        </p:nvSpPr>
        <p:spPr>
          <a:xfrm>
            <a:off x="502920" y="3657600"/>
            <a:ext cx="11155680" cy="365760"/>
          </a:xfrm>
          <a:prstGeom prst="rect">
            <a:avLst/>
          </a:prstGeom>
          <a:noFill/>
        </p:spPr>
        <p:txBody>
          <a:bodyPr wrap="square" anchor="t" lIns="0" rIns="0" tIns="0" bIns="0">
            <a:spAutoFit/>
          </a:bodyPr>
          <a:lstStyle/>
          <a:p>
            <a:pPr algn="l"/>
            <a:r>
              <a:rPr sz="1400" b="1" i="0">
                <a:solidFill>
                  <a:srgbClr val="182433"/>
                </a:solidFill>
                <a:latin typeface="Cambria"/>
              </a:rPr>
              <a:t>4 core objectives (kickoff, slide 5)</a:t>
            </a:r>
          </a:p>
        </p:txBody>
      </p:sp>
      <p:graphicFrame>
        <p:nvGraphicFramePr>
          <p:cNvPr id="11" name="Table 10"/>
          <p:cNvGraphicFramePr>
            <a:graphicFrameLocks noGrp="1"/>
          </p:cNvGraphicFramePr>
          <p:nvPr/>
        </p:nvGraphicFramePr>
        <p:xfrm>
          <a:off x="502920" y="4114800"/>
          <a:ext cx="11201400" cy="2011680"/>
        </p:xfrm>
        <a:graphic>
          <a:graphicData uri="http://schemas.openxmlformats.org/drawingml/2006/table">
            <a:tbl>
              <a:tblPr firstRow="1" bandRow="1">
                <a:tableStyleId>{5C22544A-7EE6-4342-B048-85BDC9FD1C3A}</a:tableStyleId>
              </a:tblPr>
              <a:tblGrid>
                <a:gridCol w="2377440"/>
                <a:gridCol w="8823960"/>
              </a:tblGrid>
              <a:tr h="402336">
                <a:tc>
                  <a:txBody>
                    <a:bodyPr wrap="square"/>
                    <a:lstStyle/>
                    <a:p>
                      <a:pPr algn="l"/>
                      <a:r>
                        <a:rPr sz="1150" b="1">
                          <a:solidFill>
                            <a:srgbClr val="FFFFFF"/>
                          </a:solidFill>
                          <a:latin typeface="Calibri"/>
                        </a:rPr>
                        <a:t>Objective</a:t>
                      </a:r>
                    </a:p>
                  </a:txBody>
                  <a:tcPr marL="50800" marR="50800" marT="25400" marB="25400" anchor="ctr">
                    <a:solidFill>
                      <a:srgbClr val="182433"/>
                    </a:solidFill>
                  </a:tcPr>
                </a:tc>
                <a:tc>
                  <a:txBody>
                    <a:bodyPr wrap="square"/>
                    <a:lstStyle/>
                    <a:p>
                      <a:pPr algn="ctr"/>
                      <a:r>
                        <a:rPr sz="1150" b="1">
                          <a:solidFill>
                            <a:srgbClr val="FFFFFF"/>
                          </a:solidFill>
                          <a:latin typeface="Calibri"/>
                        </a:rPr>
                        <a:t>Requirement</a:t>
                      </a:r>
                    </a:p>
                  </a:txBody>
                  <a:tcPr marL="50800" marR="50800" marT="25400" marB="25400" anchor="ctr">
                    <a:solidFill>
                      <a:srgbClr val="182433"/>
                    </a:solidFill>
                  </a:tcPr>
                </a:tc>
              </a:tr>
              <a:tr h="402336">
                <a:tc>
                  <a:txBody>
                    <a:bodyPr wrap="square"/>
                    <a:lstStyle/>
                    <a:p>
                      <a:pPr algn="l"/>
                      <a:r>
                        <a:rPr sz="1100" b="0">
                          <a:solidFill>
                            <a:srgbClr val="182433"/>
                          </a:solidFill>
                          <a:latin typeface="Calibri"/>
                        </a:rPr>
                        <a:t>1. Stochastic models</a:t>
                      </a:r>
                    </a:p>
                  </a:txBody>
                  <a:tcPr marL="50800" marR="50800" marT="25400" marB="25400" anchor="ctr">
                    <a:solidFill>
                      <a:srgbClr val="FFFFFF"/>
                    </a:solidFill>
                  </a:tcPr>
                </a:tc>
                <a:tc>
                  <a:txBody>
                    <a:bodyPr wrap="square"/>
                    <a:lstStyle/>
                    <a:p>
                      <a:pPr algn="ctr"/>
                      <a:r>
                        <a:rPr sz="1100" b="0">
                          <a:solidFill>
                            <a:srgbClr val="182433"/>
                          </a:solidFill>
                          <a:latin typeface="Calibri"/>
                        </a:rPr>
                        <a:t>Risk factor models (our choice), simulate correlated paths; defend every decision</a:t>
                      </a:r>
                    </a:p>
                  </a:txBody>
                  <a:tcPr marL="50800" marR="50800" marT="25400" marB="25400" anchor="ctr">
                    <a:solidFill>
                      <a:srgbClr val="FFFFFF"/>
                    </a:solidFill>
                  </a:tcPr>
                </a:tc>
              </a:tr>
              <a:tr h="402336">
                <a:tc>
                  <a:txBody>
                    <a:bodyPr wrap="square"/>
                    <a:lstStyle/>
                    <a:p>
                      <a:pPr algn="l"/>
                      <a:r>
                        <a:rPr sz="1100" b="0">
                          <a:solidFill>
                            <a:srgbClr val="182433"/>
                          </a:solidFill>
                          <a:latin typeface="Calibri"/>
                        </a:rPr>
                        <a:t>2. Pricing integration</a:t>
                      </a:r>
                    </a:p>
                  </a:txBody>
                  <a:tcPr marL="50800" marR="50800" marT="25400" marB="25400" anchor="ctr">
                    <a:solidFill>
                      <a:srgbClr val="F7F8FA"/>
                    </a:solidFill>
                  </a:tcPr>
                </a:tc>
                <a:tc>
                  <a:txBody>
                    <a:bodyPr wrap="square"/>
                    <a:lstStyle/>
                    <a:p>
                      <a:pPr algn="ctr"/>
                      <a:r>
                        <a:rPr sz="1100" b="0">
                          <a:solidFill>
                            <a:srgbClr val="182433"/>
                          </a:solidFill>
                          <a:latin typeface="Calibri"/>
                        </a:rPr>
                        <a:t>Feed simulated market states into the supplied pricer library to generate scenario NPVs</a:t>
                      </a:r>
                    </a:p>
                  </a:txBody>
                  <a:tcPr marL="50800" marR="50800" marT="25400" marB="25400" anchor="ctr">
                    <a:solidFill>
                      <a:srgbClr val="F7F8FA"/>
                    </a:solidFill>
                  </a:tcPr>
                </a:tc>
              </a:tr>
              <a:tr h="402336">
                <a:tc>
                  <a:txBody>
                    <a:bodyPr wrap="square"/>
                    <a:lstStyle/>
                    <a:p>
                      <a:pPr algn="l"/>
                      <a:r>
                        <a:rPr sz="1100" b="0">
                          <a:solidFill>
                            <a:srgbClr val="182433"/>
                          </a:solidFill>
                          <a:latin typeface="Calibri"/>
                        </a:rPr>
                        <a:t>3. Exposure and Greeks</a:t>
                      </a:r>
                    </a:p>
                  </a:txBody>
                  <a:tcPr marL="50800" marR="50800" marT="25400" marB="25400" anchor="ctr">
                    <a:solidFill>
                      <a:srgbClr val="FFFFFF"/>
                    </a:solidFill>
                  </a:tcPr>
                </a:tc>
                <a:tc>
                  <a:txBody>
                    <a:bodyPr wrap="square"/>
                    <a:lstStyle/>
                    <a:p>
                      <a:pPr algn="ctr"/>
                      <a:r>
                        <a:rPr sz="1100" b="0">
                          <a:solidFill>
                            <a:srgbClr val="182433"/>
                          </a:solidFill>
                          <a:latin typeface="Calibri"/>
                        </a:rPr>
                        <a:t>PFE, MPE, EE profiles + efficient Greeks across scenarios. Extra credit: xVA</a:t>
                      </a:r>
                    </a:p>
                  </a:txBody>
                  <a:tcPr marL="50800" marR="50800" marT="25400" marB="25400" anchor="ctr">
                    <a:solidFill>
                      <a:srgbClr val="FFFFFF"/>
                    </a:solidFill>
                  </a:tcPr>
                </a:tc>
              </a:tr>
              <a:tr h="402336">
                <a:tc>
                  <a:txBody>
                    <a:bodyPr wrap="square"/>
                    <a:lstStyle/>
                    <a:p>
                      <a:pPr algn="l"/>
                      <a:r>
                        <a:rPr sz="1100" b="0">
                          <a:solidFill>
                            <a:srgbClr val="182433"/>
                          </a:solidFill>
                          <a:latin typeface="Calibri"/>
                        </a:rPr>
                        <a:t>4. Performance</a:t>
                      </a:r>
                    </a:p>
                  </a:txBody>
                  <a:tcPr marL="50800" marR="50800" marT="25400" marB="25400" anchor="ctr">
                    <a:solidFill>
                      <a:srgbClr val="F7F8FA"/>
                    </a:solidFill>
                  </a:tcPr>
                </a:tc>
                <a:tc>
                  <a:txBody>
                    <a:bodyPr wrap="square"/>
                    <a:lstStyle/>
                    <a:p>
                      <a:pPr algn="ctr"/>
                      <a:r>
                        <a:rPr sz="1100" b="0">
                          <a:solidFill>
                            <a:srgbClr val="182433"/>
                          </a:solidFill>
                          <a:latin typeface="Calibri"/>
                        </a:rPr>
                        <a:t>Optimise the engine for speed and scalability</a:t>
                      </a:r>
                    </a:p>
                  </a:txBody>
                  <a:tcPr marL="50800" marR="50800" marT="25400" marB="25400" anchor="ctr">
                    <a:solidFill>
                      <a:srgbClr val="F7F8FA"/>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Every Ask Mapped to What We Delivered, Including Both Extra-Credit Items</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1">
                <a:solidFill>
                  <a:srgbClr val="D2006F"/>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7</a:t>
            </a:r>
          </a:p>
        </p:txBody>
      </p:sp>
      <p:graphicFrame>
        <p:nvGraphicFramePr>
          <p:cNvPr id="6" name="Table 5"/>
          <p:cNvGraphicFramePr>
            <a:graphicFrameLocks noGrp="1"/>
          </p:cNvGraphicFramePr>
          <p:nvPr/>
        </p:nvGraphicFramePr>
        <p:xfrm>
          <a:off x="502920" y="1371600"/>
          <a:ext cx="11201398" cy="4754880"/>
        </p:xfrm>
        <a:graphic>
          <a:graphicData uri="http://schemas.openxmlformats.org/drawingml/2006/table">
            <a:tbl>
              <a:tblPr firstRow="1" bandRow="1">
                <a:tableStyleId>{5C22544A-7EE6-4342-B048-85BDC9FD1C3A}</a:tableStyleId>
              </a:tblPr>
              <a:tblGrid>
                <a:gridCol w="2772623"/>
                <a:gridCol w="5988867"/>
                <a:gridCol w="2439908"/>
              </a:tblGrid>
              <a:tr h="594360">
                <a:tc>
                  <a:txBody>
                    <a:bodyPr wrap="square"/>
                    <a:lstStyle/>
                    <a:p>
                      <a:pPr algn="l"/>
                      <a:r>
                        <a:rPr sz="1150" b="1">
                          <a:solidFill>
                            <a:srgbClr val="FFFFFF"/>
                          </a:solidFill>
                          <a:latin typeface="Calibri"/>
                        </a:rPr>
                        <a:t>Requirement</a:t>
                      </a:r>
                    </a:p>
                  </a:txBody>
                  <a:tcPr marL="50800" marR="50800" marT="25400" marB="25400" anchor="ctr">
                    <a:solidFill>
                      <a:srgbClr val="182433"/>
                    </a:solidFill>
                  </a:tcPr>
                </a:tc>
                <a:tc>
                  <a:txBody>
                    <a:bodyPr wrap="square"/>
                    <a:lstStyle/>
                    <a:p>
                      <a:pPr algn="ctr"/>
                      <a:r>
                        <a:rPr sz="1150" b="1">
                          <a:solidFill>
                            <a:srgbClr val="FFFFFF"/>
                          </a:solidFill>
                          <a:latin typeface="Calibri"/>
                        </a:rPr>
                        <a:t>Delivered</a:t>
                      </a:r>
                    </a:p>
                  </a:txBody>
                  <a:tcPr marL="50800" marR="50800" marT="25400" marB="25400" anchor="ctr">
                    <a:solidFill>
                      <a:srgbClr val="182433"/>
                    </a:solidFill>
                  </a:tcPr>
                </a:tc>
                <a:tc>
                  <a:txBody>
                    <a:bodyPr wrap="square"/>
                    <a:lstStyle/>
                    <a:p>
                      <a:pPr algn="ctr"/>
                      <a:r>
                        <a:rPr sz="1150" b="1">
                          <a:solidFill>
                            <a:srgbClr val="FFFFFF"/>
                          </a:solidFill>
                          <a:latin typeface="Calibri"/>
                        </a:rPr>
                        <a:t>Evidence</a:t>
                      </a:r>
                    </a:p>
                  </a:txBody>
                  <a:tcPr marL="50800" marR="50800" marT="25400" marB="25400" anchor="ctr">
                    <a:solidFill>
                      <a:srgbClr val="182433"/>
                    </a:solidFill>
                  </a:tcPr>
                </a:tc>
              </a:tr>
              <a:tr h="594360">
                <a:tc>
                  <a:txBody>
                    <a:bodyPr wrap="square"/>
                    <a:lstStyle/>
                    <a:p>
                      <a:pPr algn="l"/>
                      <a:r>
                        <a:rPr sz="1100" b="0">
                          <a:solidFill>
                            <a:srgbClr val="182433"/>
                          </a:solidFill>
                          <a:latin typeface="Calibri"/>
                        </a:rPr>
                        <a:t>Stochastic models for rates, equity, FX</a:t>
                      </a:r>
                    </a:p>
                  </a:txBody>
                  <a:tcPr marL="50800" marR="50800" marT="25400" marB="25400" anchor="ctr">
                    <a:solidFill>
                      <a:srgbClr val="FFFFFF"/>
                    </a:solidFill>
                  </a:tcPr>
                </a:tc>
                <a:tc>
                  <a:txBody>
                    <a:bodyPr wrap="square"/>
                    <a:lstStyle/>
                    <a:p>
                      <a:pPr algn="ctr"/>
                      <a:r>
                        <a:rPr sz="1100" b="0">
                          <a:solidFill>
                            <a:srgbClr val="182433"/>
                          </a:solidFill>
                          <a:latin typeface="Calibri"/>
                        </a:rPr>
                        <a:t>Hull-White 1F (+G2++ alternative); correlated GBM + quanto; JPY factor</a:t>
                      </a:r>
                    </a:p>
                  </a:txBody>
                  <a:tcPr marL="50800" marR="50800" marT="25400" marB="25400" anchor="ctr">
                    <a:solidFill>
                      <a:srgbClr val="FFFFFF"/>
                    </a:solidFill>
                  </a:tcPr>
                </a:tc>
                <a:tc>
                  <a:txBody>
                    <a:bodyPr wrap="square"/>
                    <a:lstStyle/>
                    <a:p>
                      <a:pPr algn="ctr"/>
                      <a:r>
                        <a:rPr sz="1100" b="0">
                          <a:solidFill>
                            <a:srgbClr val="182433"/>
                          </a:solidFill>
                          <a:latin typeface="Calibri"/>
                        </a:rPr>
                        <a:t>Sections 4, 6</a:t>
                      </a:r>
                    </a:p>
                  </a:txBody>
                  <a:tcPr marL="50800" marR="50800" marT="25400" marB="25400" anchor="ctr">
                    <a:solidFill>
                      <a:srgbClr val="FFFFFF"/>
                    </a:solidFill>
                  </a:tcPr>
                </a:tc>
              </a:tr>
              <a:tr h="594360">
                <a:tc>
                  <a:txBody>
                    <a:bodyPr wrap="square"/>
                    <a:lstStyle/>
                    <a:p>
                      <a:pPr algn="l"/>
                      <a:r>
                        <a:rPr sz="1100" b="0">
                          <a:solidFill>
                            <a:srgbClr val="182433"/>
                          </a:solidFill>
                          <a:latin typeface="Calibri"/>
                        </a:rPr>
                        <a:t>Pricing model integration</a:t>
                      </a:r>
                    </a:p>
                  </a:txBody>
                  <a:tcPr marL="50800" marR="50800" marT="25400" marB="25400" anchor="ctr">
                    <a:solidFill>
                      <a:srgbClr val="F7F8FA"/>
                    </a:solidFill>
                  </a:tcPr>
                </a:tc>
                <a:tc>
                  <a:txBody>
                    <a:bodyPr wrap="square"/>
                    <a:lstStyle/>
                    <a:p>
                      <a:pPr algn="ctr"/>
                      <a:r>
                        <a:rPr sz="1100" b="0">
                          <a:solidFill>
                            <a:srgbClr val="182433"/>
                          </a:solidFill>
                          <a:latin typeface="Calibri"/>
                        </a:rPr>
                        <a:t>Every scenario repriced via the supplied capitolis_pricers library, unmodified</a:t>
                      </a:r>
                    </a:p>
                  </a:txBody>
                  <a:tcPr marL="50800" marR="50800" marT="25400" marB="25400" anchor="ctr">
                    <a:solidFill>
                      <a:srgbClr val="F7F8FA"/>
                    </a:solidFill>
                  </a:tcPr>
                </a:tc>
                <a:tc>
                  <a:txBody>
                    <a:bodyPr wrap="square"/>
                    <a:lstStyle/>
                    <a:p>
                      <a:pPr algn="ctr"/>
                      <a:r>
                        <a:rPr sz="1100" b="0">
                          <a:solidFill>
                            <a:srgbClr val="182433"/>
                          </a:solidFill>
                          <a:latin typeface="Calibri"/>
                        </a:rPr>
                        <a:t>Section 2.2</a:t>
                      </a:r>
                    </a:p>
                  </a:txBody>
                  <a:tcPr marL="50800" marR="50800" marT="25400" marB="25400" anchor="ctr">
                    <a:solidFill>
                      <a:srgbClr val="F7F8FA"/>
                    </a:solidFill>
                  </a:tcPr>
                </a:tc>
              </a:tr>
              <a:tr h="594360">
                <a:tc>
                  <a:txBody>
                    <a:bodyPr wrap="square"/>
                    <a:lstStyle/>
                    <a:p>
                      <a:pPr algn="l"/>
                      <a:r>
                        <a:rPr sz="1100" b="0">
                          <a:solidFill>
                            <a:srgbClr val="182433"/>
                          </a:solidFill>
                          <a:latin typeface="Calibri"/>
                        </a:rPr>
                        <a:t>Exposure profiles: PFE, MPE, EE</a:t>
                      </a:r>
                    </a:p>
                  </a:txBody>
                  <a:tcPr marL="50800" marR="50800" marT="25400" marB="25400" anchor="ctr">
                    <a:solidFill>
                      <a:srgbClr val="FFFFFF"/>
                    </a:solidFill>
                  </a:tcPr>
                </a:tc>
                <a:tc>
                  <a:txBody>
                    <a:bodyPr wrap="square"/>
                    <a:lstStyle/>
                    <a:p>
                      <a:pPr algn="ctr"/>
                      <a:r>
                        <a:rPr sz="1100" b="0">
                          <a:solidFill>
                            <a:srgbClr val="182433"/>
                          </a:solidFill>
                          <a:latin typeface="Calibri"/>
                        </a:rPr>
                        <a:t>Close-out (headline) + uncollateralized level, by trade/counterparty/portfolio</a:t>
                      </a:r>
                    </a:p>
                  </a:txBody>
                  <a:tcPr marL="50800" marR="50800" marT="25400" marB="25400" anchor="ctr">
                    <a:solidFill>
                      <a:srgbClr val="FFFFFF"/>
                    </a:solidFill>
                  </a:tcPr>
                </a:tc>
                <a:tc>
                  <a:txBody>
                    <a:bodyPr wrap="square"/>
                    <a:lstStyle/>
                    <a:p>
                      <a:pPr algn="ctr"/>
                      <a:r>
                        <a:rPr sz="1100" b="0">
                          <a:solidFill>
                            <a:srgbClr val="182433"/>
                          </a:solidFill>
                          <a:latin typeface="Calibri"/>
                        </a:rPr>
                        <a:t>Section 7</a:t>
                      </a:r>
                    </a:p>
                  </a:txBody>
                  <a:tcPr marL="50800" marR="50800" marT="25400" marB="25400" anchor="ctr">
                    <a:solidFill>
                      <a:srgbClr val="FFFFFF"/>
                    </a:solidFill>
                  </a:tcPr>
                </a:tc>
              </a:tr>
              <a:tr h="594360">
                <a:tc>
                  <a:txBody>
                    <a:bodyPr wrap="square"/>
                    <a:lstStyle/>
                    <a:p>
                      <a:pPr algn="l"/>
                      <a:r>
                        <a:rPr sz="1100" b="0">
                          <a:solidFill>
                            <a:srgbClr val="182433"/>
                          </a:solidFill>
                          <a:latin typeface="Calibri"/>
                        </a:rPr>
                        <a:t>Efficient Greeks</a:t>
                      </a:r>
                    </a:p>
                  </a:txBody>
                  <a:tcPr marL="50800" marR="50800" marT="25400" marB="25400" anchor="ctr">
                    <a:solidFill>
                      <a:srgbClr val="F7F8FA"/>
                    </a:solidFill>
                  </a:tcPr>
                </a:tc>
                <a:tc>
                  <a:txBody>
                    <a:bodyPr wrap="square"/>
                    <a:lstStyle/>
                    <a:p>
                      <a:pPr algn="ctr"/>
                      <a:r>
                        <a:rPr sz="1100" b="0">
                          <a:solidFill>
                            <a:srgbClr val="182433"/>
                          </a:solidFill>
                          <a:latin typeface="Calibri"/>
                        </a:rPr>
                        <a:t>CRN bump-and-reprice + pathwise cross-check + exact analytic rate Greek</a:t>
                      </a:r>
                    </a:p>
                  </a:txBody>
                  <a:tcPr marL="50800" marR="50800" marT="25400" marB="25400" anchor="ctr">
                    <a:solidFill>
                      <a:srgbClr val="F7F8FA"/>
                    </a:solidFill>
                  </a:tcPr>
                </a:tc>
                <a:tc>
                  <a:txBody>
                    <a:bodyPr wrap="square"/>
                    <a:lstStyle/>
                    <a:p>
                      <a:pPr algn="ctr"/>
                      <a:r>
                        <a:rPr sz="1100" b="0">
                          <a:solidFill>
                            <a:srgbClr val="182433"/>
                          </a:solidFill>
                          <a:latin typeface="Calibri"/>
                        </a:rPr>
                        <a:t>Section 9</a:t>
                      </a:r>
                    </a:p>
                  </a:txBody>
                  <a:tcPr marL="50800" marR="50800" marT="25400" marB="25400" anchor="ctr">
                    <a:solidFill>
                      <a:srgbClr val="F7F8FA"/>
                    </a:solidFill>
                  </a:tcPr>
                </a:tc>
              </a:tr>
              <a:tr h="594360">
                <a:tc>
                  <a:txBody>
                    <a:bodyPr wrap="square"/>
                    <a:lstStyle/>
                    <a:p>
                      <a:pPr algn="l"/>
                      <a:r>
                        <a:rPr sz="1100" b="0">
                          <a:solidFill>
                            <a:srgbClr val="182433"/>
                          </a:solidFill>
                          <a:latin typeface="Calibri"/>
                        </a:rPr>
                        <a:t>Performance / scalability</a:t>
                      </a:r>
                    </a:p>
                  </a:txBody>
                  <a:tcPr marL="50800" marR="50800" marT="25400" marB="25400" anchor="ctr">
                    <a:solidFill>
                      <a:srgbClr val="FFFFFF"/>
                    </a:solidFill>
                  </a:tcPr>
                </a:tc>
                <a:tc>
                  <a:txBody>
                    <a:bodyPr wrap="square"/>
                    <a:lstStyle/>
                    <a:p>
                      <a:pPr algn="ctr"/>
                      <a:r>
                        <a:rPr sz="1100" b="0">
                          <a:solidFill>
                            <a:srgbClr val="182433"/>
                          </a:solidFill>
                          <a:latin typeface="Calibri"/>
                        </a:rPr>
                        <a:t>10.6x curve speed-up, 7.7x combined; multiprocessing across scenarios</a:t>
                      </a:r>
                    </a:p>
                  </a:txBody>
                  <a:tcPr marL="50800" marR="50800" marT="25400" marB="25400" anchor="ctr">
                    <a:solidFill>
                      <a:srgbClr val="FFFFFF"/>
                    </a:solidFill>
                  </a:tcPr>
                </a:tc>
                <a:tc>
                  <a:txBody>
                    <a:bodyPr wrap="square"/>
                    <a:lstStyle/>
                    <a:p>
                      <a:pPr algn="ctr"/>
                      <a:r>
                        <a:rPr sz="1100" b="0">
                          <a:solidFill>
                            <a:srgbClr val="182433"/>
                          </a:solidFill>
                          <a:latin typeface="Calibri"/>
                        </a:rPr>
                        <a:t>Section 5.3</a:t>
                      </a:r>
                    </a:p>
                  </a:txBody>
                  <a:tcPr marL="50800" marR="50800" marT="25400" marB="25400" anchor="ctr">
                    <a:solidFill>
                      <a:srgbClr val="FFFFFF"/>
                    </a:solidFill>
                  </a:tcPr>
                </a:tc>
              </a:tr>
              <a:tr h="594360">
                <a:tc>
                  <a:txBody>
                    <a:bodyPr wrap="square"/>
                    <a:lstStyle/>
                    <a:p>
                      <a:pPr algn="l"/>
                      <a:r>
                        <a:rPr sz="1100" b="0">
                          <a:solidFill>
                            <a:srgbClr val="182433"/>
                          </a:solidFill>
                          <a:latin typeface="Calibri"/>
                        </a:rPr>
                        <a:t>Extra credit: xVA</a:t>
                      </a:r>
                    </a:p>
                  </a:txBody>
                  <a:tcPr marL="50800" marR="50800" marT="25400" marB="25400" anchor="ctr">
                    <a:solidFill>
                      <a:srgbClr val="F7F8FA"/>
                    </a:solidFill>
                  </a:tcPr>
                </a:tc>
                <a:tc>
                  <a:txBody>
                    <a:bodyPr wrap="square"/>
                    <a:lstStyle/>
                    <a:p>
                      <a:pPr algn="ctr"/>
                      <a:r>
                        <a:rPr sz="1100" b="0">
                          <a:solidFill>
                            <a:srgbClr val="182433"/>
                          </a:solidFill>
                          <a:latin typeface="Calibri"/>
                        </a:rPr>
                        <a:t>CVA, DVA, FVA, KVA; SA-CVA capital; SA-CCR EAD -- on both exposure conventions</a:t>
                      </a:r>
                    </a:p>
                  </a:txBody>
                  <a:tcPr marL="50800" marR="50800" marT="25400" marB="25400" anchor="ctr">
                    <a:solidFill>
                      <a:srgbClr val="F7F8FA"/>
                    </a:solidFill>
                  </a:tcPr>
                </a:tc>
                <a:tc>
                  <a:txBody>
                    <a:bodyPr wrap="square"/>
                    <a:lstStyle/>
                    <a:p>
                      <a:pPr algn="ctr"/>
                      <a:r>
                        <a:rPr sz="1100" b="0">
                          <a:solidFill>
                            <a:srgbClr val="182433"/>
                          </a:solidFill>
                          <a:latin typeface="Calibri"/>
                        </a:rPr>
                        <a:t>Section 8</a:t>
                      </a:r>
                    </a:p>
                  </a:txBody>
                  <a:tcPr marL="50800" marR="50800" marT="25400" marB="25400" anchor="ctr">
                    <a:solidFill>
                      <a:srgbClr val="F7F8FA"/>
                    </a:solidFill>
                  </a:tcPr>
                </a:tc>
              </a:tr>
              <a:tr h="594360">
                <a:tc>
                  <a:txBody>
                    <a:bodyPr wrap="square"/>
                    <a:lstStyle/>
                    <a:p>
                      <a:pPr algn="l"/>
                      <a:r>
                        <a:rPr sz="1100" b="0">
                          <a:solidFill>
                            <a:srgbClr val="182433"/>
                          </a:solidFill>
                          <a:latin typeface="Calibri"/>
                        </a:rPr>
                        <a:t>Extra credit: risky bonds + CDS</a:t>
                      </a:r>
                    </a:p>
                  </a:txBody>
                  <a:tcPr marL="50800" marR="50800" marT="25400" marB="25400" anchor="ctr">
                    <a:solidFill>
                      <a:srgbClr val="FFFFFF"/>
                    </a:solidFill>
                  </a:tcPr>
                </a:tc>
                <a:tc>
                  <a:txBody>
                    <a:bodyPr wrap="square"/>
                    <a:lstStyle/>
                    <a:p>
                      <a:pPr algn="ctr"/>
                      <a:r>
                        <a:rPr sz="1100" b="0">
                          <a:solidFill>
                            <a:srgbClr val="182433"/>
                          </a:solidFill>
                          <a:latin typeface="Calibri"/>
                        </a:rPr>
                        <a:t>Risky-bond sample trade on a bond-index issuer-curve proxy (no CDS data obtainable)</a:t>
                      </a:r>
                    </a:p>
                  </a:txBody>
                  <a:tcPr marL="50800" marR="50800" marT="25400" marB="25400" anchor="ctr">
                    <a:solidFill>
                      <a:srgbClr val="FFFFFF"/>
                    </a:solidFill>
                  </a:tcPr>
                </a:tc>
                <a:tc>
                  <a:txBody>
                    <a:bodyPr wrap="square"/>
                    <a:lstStyle/>
                    <a:p>
                      <a:pPr algn="ctr"/>
                      <a:r>
                        <a:rPr sz="1100" b="0">
                          <a:solidFill>
                            <a:srgbClr val="182433"/>
                          </a:solidFill>
                          <a:latin typeface="Calibri"/>
                        </a:rPr>
                        <a:t>Section 8.9</a:t>
                      </a:r>
                    </a:p>
                  </a:txBody>
                  <a:tcPr marL="50800" marR="50800" marT="25400" marB="2540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Data Sourcing</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Every input, what it is used for, how it was cleaned, and what we assumed</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Real Market Data Everywhere Verifiable; Proxies Documented Where Not</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1">
                <a:solidFill>
                  <a:srgbClr val="D2006F"/>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9</a:t>
            </a:r>
          </a:p>
        </p:txBody>
      </p:sp>
      <p:graphicFrame>
        <p:nvGraphicFramePr>
          <p:cNvPr id="6" name="Table 5"/>
          <p:cNvGraphicFramePr>
            <a:graphicFrameLocks noGrp="1"/>
          </p:cNvGraphicFramePr>
          <p:nvPr/>
        </p:nvGraphicFramePr>
        <p:xfrm>
          <a:off x="457200" y="1371600"/>
          <a:ext cx="11247119" cy="4572000"/>
        </p:xfrm>
        <a:graphic>
          <a:graphicData uri="http://schemas.openxmlformats.org/drawingml/2006/table">
            <a:tbl>
              <a:tblPr firstRow="1" bandRow="1">
                <a:tableStyleId>{5C22544A-7EE6-4342-B048-85BDC9FD1C3A}</a:tableStyleId>
              </a:tblPr>
              <a:tblGrid>
                <a:gridCol w="2570770"/>
                <a:gridCol w="2249424"/>
                <a:gridCol w="3856155"/>
                <a:gridCol w="2570770"/>
              </a:tblGrid>
              <a:tr h="571500">
                <a:tc>
                  <a:txBody>
                    <a:bodyPr wrap="square"/>
                    <a:lstStyle/>
                    <a:p>
                      <a:pPr algn="l"/>
                      <a:r>
                        <a:rPr sz="1080" b="1">
                          <a:solidFill>
                            <a:srgbClr val="FFFFFF"/>
                          </a:solidFill>
                          <a:latin typeface="Calibri"/>
                        </a:rPr>
                        <a:t>Input</a:t>
                      </a:r>
                    </a:p>
                  </a:txBody>
                  <a:tcPr marL="50800" marR="50800" marT="25400" marB="25400" anchor="ctr">
                    <a:solidFill>
                      <a:srgbClr val="182433"/>
                    </a:solidFill>
                  </a:tcPr>
                </a:tc>
                <a:tc>
                  <a:txBody>
                    <a:bodyPr wrap="square"/>
                    <a:lstStyle/>
                    <a:p>
                      <a:pPr algn="ctr"/>
                      <a:r>
                        <a:rPr sz="1080" b="1">
                          <a:solidFill>
                            <a:srgbClr val="FFFFFF"/>
                          </a:solidFill>
                          <a:latin typeface="Calibri"/>
                        </a:rPr>
                        <a:t>Source</a:t>
                      </a:r>
                    </a:p>
                  </a:txBody>
                  <a:tcPr marL="50800" marR="50800" marT="25400" marB="25400" anchor="ctr">
                    <a:solidFill>
                      <a:srgbClr val="182433"/>
                    </a:solidFill>
                  </a:tcPr>
                </a:tc>
                <a:tc>
                  <a:txBody>
                    <a:bodyPr wrap="square"/>
                    <a:lstStyle/>
                    <a:p>
                      <a:pPr algn="ctr"/>
                      <a:r>
                        <a:rPr sz="1080" b="1">
                          <a:solidFill>
                            <a:srgbClr val="FFFFFF"/>
                          </a:solidFill>
                          <a:latin typeface="Calibri"/>
                        </a:rPr>
                        <a:t>Used for</a:t>
                      </a:r>
                    </a:p>
                  </a:txBody>
                  <a:tcPr marL="50800" marR="50800" marT="25400" marB="25400" anchor="ctr">
                    <a:solidFill>
                      <a:srgbClr val="182433"/>
                    </a:solidFill>
                  </a:tcPr>
                </a:tc>
                <a:tc>
                  <a:txBody>
                    <a:bodyPr wrap="square"/>
                    <a:lstStyle/>
                    <a:p>
                      <a:pPr algn="ctr"/>
                      <a:r>
                        <a:rPr sz="1080" b="1">
                          <a:solidFill>
                            <a:srgbClr val="FFFFFF"/>
                          </a:solidFill>
                          <a:latin typeface="Calibri"/>
                        </a:rPr>
                        <a:t>Status</a:t>
                      </a:r>
                    </a:p>
                  </a:txBody>
                  <a:tcPr marL="50800" marR="50800" marT="25400" marB="25400" anchor="ctr">
                    <a:solidFill>
                      <a:srgbClr val="182433"/>
                    </a:solidFill>
                  </a:tcPr>
                </a:tc>
              </a:tr>
              <a:tr h="571500">
                <a:tc>
                  <a:txBody>
                    <a:bodyPr wrap="square"/>
                    <a:lstStyle/>
                    <a:p>
                      <a:pPr algn="l"/>
                      <a:r>
                        <a:rPr sz="1019" b="0">
                          <a:solidFill>
                            <a:srgbClr val="182433"/>
                          </a:solidFill>
                          <a:latin typeface="Calibri"/>
                        </a:rPr>
                        <a:t>USD SOFR futures (33 live)</a:t>
                      </a:r>
                    </a:p>
                  </a:txBody>
                  <a:tcPr marL="50800" marR="50800" marT="25400" marB="25400" anchor="ctr">
                    <a:solidFill>
                      <a:srgbClr val="FFFFFF"/>
                    </a:solidFill>
                  </a:tcPr>
                </a:tc>
                <a:tc>
                  <a:txBody>
                    <a:bodyPr wrap="square"/>
                    <a:lstStyle/>
                    <a:p>
                      <a:pPr algn="ctr"/>
                      <a:r>
                        <a:rPr sz="1019" b="0">
                          <a:solidFill>
                            <a:srgbClr val="182433"/>
                          </a:solidFill>
                          <a:latin typeface="Calibri"/>
                        </a:rPr>
                        <a:t>Databento (CME)</a:t>
                      </a:r>
                    </a:p>
                  </a:txBody>
                  <a:tcPr marL="50800" marR="50800" marT="25400" marB="25400" anchor="ctr">
                    <a:solidFill>
                      <a:srgbClr val="FFFFFF"/>
                    </a:solidFill>
                  </a:tcPr>
                </a:tc>
                <a:tc>
                  <a:txBody>
                    <a:bodyPr wrap="square"/>
                    <a:lstStyle/>
                    <a:p>
                      <a:pPr algn="ctr"/>
                      <a:r>
                        <a:rPr sz="1019" b="0">
                          <a:solidFill>
                            <a:srgbClr val="182433"/>
                          </a:solidFill>
                          <a:latin typeface="Calibri"/>
                        </a:rPr>
                        <a:t>Discount curve, HW1F fit</a:t>
                      </a:r>
                    </a:p>
                  </a:txBody>
                  <a:tcPr marL="50800" marR="50800" marT="25400" marB="25400" anchor="ctr">
                    <a:solidFill>
                      <a:srgbClr val="FFFFFF"/>
                    </a:solidFill>
                  </a:tcPr>
                </a:tc>
                <a:tc>
                  <a:txBody>
                    <a:bodyPr wrap="square"/>
                    <a:lstStyle/>
                    <a:p>
                      <a:pPr algn="ctr"/>
                      <a:r>
                        <a:rPr sz="1019" b="0">
                          <a:solidFill>
                            <a:srgbClr val="182433"/>
                          </a:solidFill>
                          <a:latin typeface="Calibri"/>
                        </a:rPr>
                        <a:t>Live, cross-checked vs Treasury.gov</a:t>
                      </a:r>
                    </a:p>
                  </a:txBody>
                  <a:tcPr marL="50800" marR="50800" marT="25400" marB="25400" anchor="ctr">
                    <a:solidFill>
                      <a:srgbClr val="FFFFFF"/>
                    </a:solidFill>
                  </a:tcPr>
                </a:tc>
              </a:tr>
              <a:tr h="571500">
                <a:tc>
                  <a:txBody>
                    <a:bodyPr wrap="square"/>
                    <a:lstStyle/>
                    <a:p>
                      <a:pPr algn="l"/>
                      <a:r>
                        <a:rPr sz="1019" b="0">
                          <a:solidFill>
                            <a:srgbClr val="182433"/>
                          </a:solidFill>
                          <a:latin typeface="Calibri"/>
                        </a:rPr>
                        <a:t>37 equity spots &amp; dividends, USDJPY</a:t>
                      </a:r>
                    </a:p>
                  </a:txBody>
                  <a:tcPr marL="50800" marR="50800" marT="25400" marB="25400" anchor="ctr">
                    <a:solidFill>
                      <a:srgbClr val="F7F8FA"/>
                    </a:solidFill>
                  </a:tcPr>
                </a:tc>
                <a:tc>
                  <a:txBody>
                    <a:bodyPr wrap="square"/>
                    <a:lstStyle/>
                    <a:p>
                      <a:pPr algn="ctr"/>
                      <a:r>
                        <a:rPr sz="1019" b="0">
                          <a:solidFill>
                            <a:srgbClr val="182433"/>
                          </a:solidFill>
                          <a:latin typeface="Calibri"/>
                        </a:rPr>
                        <a:t>yfinance</a:t>
                      </a:r>
                    </a:p>
                  </a:txBody>
                  <a:tcPr marL="50800" marR="50800" marT="25400" marB="25400" anchor="ctr">
                    <a:solidFill>
                      <a:srgbClr val="F7F8FA"/>
                    </a:solidFill>
                  </a:tcPr>
                </a:tc>
                <a:tc>
                  <a:txBody>
                    <a:bodyPr wrap="square"/>
                    <a:lstStyle/>
                    <a:p>
                      <a:pPr algn="ctr"/>
                      <a:r>
                        <a:rPr sz="1019" b="0">
                          <a:solidFill>
                            <a:srgbClr val="182433"/>
                          </a:solidFill>
                          <a:latin typeface="Calibri"/>
                        </a:rPr>
                        <a:t>GBM start values &amp; drift, vol, correlation</a:t>
                      </a:r>
                    </a:p>
                  </a:txBody>
                  <a:tcPr marL="50800" marR="50800" marT="25400" marB="25400" anchor="ctr">
                    <a:solidFill>
                      <a:srgbClr val="F7F8FA"/>
                    </a:solidFill>
                  </a:tcPr>
                </a:tc>
                <a:tc>
                  <a:txBody>
                    <a:bodyPr wrap="square"/>
                    <a:lstStyle/>
                    <a:p>
                      <a:pPr algn="ctr"/>
                      <a:r>
                        <a:rPr sz="1019" b="0">
                          <a:solidFill>
                            <a:srgbClr val="182433"/>
                          </a:solidFill>
                          <a:latin typeface="Calibri"/>
                        </a:rPr>
                        <a:t>Live, keyed by ISIN</a:t>
                      </a:r>
                    </a:p>
                  </a:txBody>
                  <a:tcPr marL="50800" marR="50800" marT="25400" marB="25400" anchor="ctr">
                    <a:solidFill>
                      <a:srgbClr val="F7F8FA"/>
                    </a:solidFill>
                  </a:tcPr>
                </a:tc>
              </a:tr>
              <a:tr h="571500">
                <a:tc>
                  <a:txBody>
                    <a:bodyPr wrap="square"/>
                    <a:lstStyle/>
                    <a:p>
                      <a:pPr algn="l"/>
                      <a:r>
                        <a:rPr sz="1019" b="0">
                          <a:solidFill>
                            <a:srgbClr val="182433"/>
                          </a:solidFill>
                          <a:latin typeface="Calibri"/>
                        </a:rPr>
                        <a:t>39 realised volatilities</a:t>
                      </a:r>
                    </a:p>
                  </a:txBody>
                  <a:tcPr marL="50800" marR="50800" marT="25400" marB="25400" anchor="ctr">
                    <a:solidFill>
                      <a:srgbClr val="FFFFFF"/>
                    </a:solidFill>
                  </a:tcPr>
                </a:tc>
                <a:tc>
                  <a:txBody>
                    <a:bodyPr wrap="square"/>
                    <a:lstStyle/>
                    <a:p>
                      <a:pPr algn="ctr"/>
                      <a:r>
                        <a:rPr sz="1019" b="0">
                          <a:solidFill>
                            <a:srgbClr val="182433"/>
                          </a:solidFill>
                          <a:latin typeface="Calibri"/>
                        </a:rPr>
                        <a:t>3y daily returns (above)</a:t>
                      </a:r>
                    </a:p>
                  </a:txBody>
                  <a:tcPr marL="50800" marR="50800" marT="25400" marB="25400" anchor="ctr">
                    <a:solidFill>
                      <a:srgbClr val="FFFFFF"/>
                    </a:solidFill>
                  </a:tcPr>
                </a:tc>
                <a:tc>
                  <a:txBody>
                    <a:bodyPr wrap="square"/>
                    <a:lstStyle/>
                    <a:p>
                      <a:pPr algn="ctr"/>
                      <a:r>
                        <a:rPr sz="1019" b="0">
                          <a:solidFill>
                            <a:srgbClr val="182433"/>
                          </a:solidFill>
                          <a:latin typeface="Calibri"/>
                        </a:rPr>
                        <a:t>Diffusion size for GBM/HW1F</a:t>
                      </a:r>
                    </a:p>
                  </a:txBody>
                  <a:tcPr marL="50800" marR="50800" marT="25400" marB="25400" anchor="ctr">
                    <a:solidFill>
                      <a:srgbClr val="FFFFFF"/>
                    </a:solidFill>
                  </a:tcPr>
                </a:tc>
                <a:tc>
                  <a:txBody>
                    <a:bodyPr wrap="square"/>
                    <a:lstStyle/>
                    <a:p>
                      <a:pPr algn="ctr"/>
                      <a:r>
                        <a:rPr sz="1019" b="0">
                          <a:solidFill>
                            <a:srgbClr val="182433"/>
                          </a:solidFill>
                          <a:latin typeface="Calibri"/>
                        </a:rPr>
                        <a:t>Proxy: no options data available</a:t>
                      </a:r>
                    </a:p>
                  </a:txBody>
                  <a:tcPr marL="50800" marR="50800" marT="25400" marB="25400" anchor="ctr">
                    <a:solidFill>
                      <a:srgbClr val="FFFFFF"/>
                    </a:solidFill>
                  </a:tcPr>
                </a:tc>
              </a:tr>
              <a:tr h="571500">
                <a:tc>
                  <a:txBody>
                    <a:bodyPr wrap="square"/>
                    <a:lstStyle/>
                    <a:p>
                      <a:pPr algn="l"/>
                      <a:r>
                        <a:rPr sz="1019" b="0">
                          <a:solidFill>
                            <a:srgbClr val="182433"/>
                          </a:solidFill>
                          <a:latin typeface="Calibri"/>
                        </a:rPr>
                        <a:t>39x39 correlation matrix</a:t>
                      </a:r>
                    </a:p>
                  </a:txBody>
                  <a:tcPr marL="50800" marR="50800" marT="25400" marB="25400" anchor="ctr">
                    <a:solidFill>
                      <a:srgbClr val="F7F8FA"/>
                    </a:solidFill>
                  </a:tcPr>
                </a:tc>
                <a:tc>
                  <a:txBody>
                    <a:bodyPr wrap="square"/>
                    <a:lstStyle/>
                    <a:p>
                      <a:pPr algn="ctr"/>
                      <a:r>
                        <a:rPr sz="1019" b="0">
                          <a:solidFill>
                            <a:srgbClr val="182433"/>
                          </a:solidFill>
                          <a:latin typeface="Calibri"/>
                        </a:rPr>
                        <a:t>616 aligned daily dates</a:t>
                      </a:r>
                    </a:p>
                  </a:txBody>
                  <a:tcPr marL="50800" marR="50800" marT="25400" marB="25400" anchor="ctr">
                    <a:solidFill>
                      <a:srgbClr val="F7F8FA"/>
                    </a:solidFill>
                  </a:tcPr>
                </a:tc>
                <a:tc>
                  <a:txBody>
                    <a:bodyPr wrap="square"/>
                    <a:lstStyle/>
                    <a:p>
                      <a:pPr algn="ctr"/>
                      <a:r>
                        <a:rPr sz="1019" b="0">
                          <a:solidFill>
                            <a:srgbClr val="182433"/>
                          </a:solidFill>
                          <a:latin typeface="Calibri"/>
                        </a:rPr>
                        <a:t>Cholesky / PCA simulation</a:t>
                      </a:r>
                    </a:p>
                  </a:txBody>
                  <a:tcPr marL="50800" marR="50800" marT="25400" marB="25400" anchor="ctr">
                    <a:solidFill>
                      <a:srgbClr val="F7F8FA"/>
                    </a:solidFill>
                  </a:tcPr>
                </a:tc>
                <a:tc>
                  <a:txBody>
                    <a:bodyPr wrap="square"/>
                    <a:lstStyle/>
                    <a:p>
                      <a:pPr algn="ctr"/>
                      <a:r>
                        <a:rPr sz="1019" b="0">
                          <a:solidFill>
                            <a:srgbClr val="182433"/>
                          </a:solidFill>
                          <a:latin typeface="Calibri"/>
                        </a:rPr>
                        <a:t>Static; USD row on 10y-yield changes</a:t>
                      </a:r>
                    </a:p>
                  </a:txBody>
                  <a:tcPr marL="50800" marR="50800" marT="25400" marB="25400" anchor="ctr">
                    <a:solidFill>
                      <a:srgbClr val="F7F8FA"/>
                    </a:solidFill>
                  </a:tcPr>
                </a:tc>
              </a:tr>
              <a:tr h="571500">
                <a:tc>
                  <a:txBody>
                    <a:bodyPr wrap="square"/>
                    <a:lstStyle/>
                    <a:p>
                      <a:pPr algn="l"/>
                      <a:r>
                        <a:rPr sz="1019" b="0">
                          <a:solidFill>
                            <a:srgbClr val="182433"/>
                          </a:solidFill>
                          <a:latin typeface="Calibri"/>
                        </a:rPr>
                        <a:t>USD curve long end, swaption cubes</a:t>
                      </a:r>
                    </a:p>
                  </a:txBody>
                  <a:tcPr marL="50800" marR="50800" marT="25400" marB="25400" anchor="ctr">
                    <a:solidFill>
                      <a:srgbClr val="FFFFFF"/>
                    </a:solidFill>
                  </a:tcPr>
                </a:tc>
                <a:tc>
                  <a:txBody>
                    <a:bodyPr wrap="square"/>
                    <a:lstStyle/>
                    <a:p>
                      <a:pPr algn="ctr"/>
                      <a:r>
                        <a:rPr sz="1019" b="0">
                          <a:solidFill>
                            <a:srgbClr val="182433"/>
                          </a:solidFill>
                          <a:latin typeface="Calibri"/>
                        </a:rPr>
                        <a:t>Bloomberg one-time export (2026-08-31)</a:t>
                      </a:r>
                    </a:p>
                  </a:txBody>
                  <a:tcPr marL="50800" marR="50800" marT="25400" marB="25400" anchor="ctr">
                    <a:solidFill>
                      <a:srgbClr val="FFFFFF"/>
                    </a:solidFill>
                  </a:tcPr>
                </a:tc>
                <a:tc>
                  <a:txBody>
                    <a:bodyPr wrap="square"/>
                    <a:lstStyle/>
                    <a:p>
                      <a:pPr algn="ctr"/>
                      <a:r>
                        <a:rPr sz="1019" b="0">
                          <a:solidFill>
                            <a:srgbClr val="182433"/>
                          </a:solidFill>
                          <a:latin typeface="Calibri"/>
                        </a:rPr>
                        <a:t>Curve splice beyond 6.5y; mean reversion</a:t>
                      </a:r>
                    </a:p>
                  </a:txBody>
                  <a:tcPr marL="50800" marR="50800" marT="25400" marB="25400" anchor="ctr">
                    <a:solidFill>
                      <a:srgbClr val="FFFFFF"/>
                    </a:solidFill>
                  </a:tcPr>
                </a:tc>
                <a:tc>
                  <a:txBody>
                    <a:bodyPr wrap="square"/>
                    <a:lstStyle/>
                    <a:p>
                      <a:pPr algn="ctr"/>
                      <a:r>
                        <a:rPr sz="1019" b="0">
                          <a:solidFill>
                            <a:srgbClr val="182433"/>
                          </a:solidFill>
                          <a:latin typeface="Calibri"/>
                        </a:rPr>
                        <a:t>Licensed: derived numbers only</a:t>
                      </a:r>
                    </a:p>
                  </a:txBody>
                  <a:tcPr marL="50800" marR="50800" marT="25400" marB="25400" anchor="ctr">
                    <a:solidFill>
                      <a:srgbClr val="FFFFFF"/>
                    </a:solidFill>
                  </a:tcPr>
                </a:tc>
              </a:tr>
              <a:tr h="571500">
                <a:tc>
                  <a:txBody>
                    <a:bodyPr wrap="square"/>
                    <a:lstStyle/>
                    <a:p>
                      <a:pPr algn="l"/>
                      <a:r>
                        <a:rPr sz="1019" b="0">
                          <a:solidFill>
                            <a:srgbClr val="182433"/>
                          </a:solidFill>
                          <a:latin typeface="Calibri"/>
                        </a:rPr>
                        <a:t>JPY OIS history (35 tenors, 2011-26)</a:t>
                      </a:r>
                    </a:p>
                  </a:txBody>
                  <a:tcPr marL="50800" marR="50800" marT="25400" marB="25400" anchor="ctr">
                    <a:solidFill>
                      <a:srgbClr val="F7F8FA"/>
                    </a:solidFill>
                  </a:tcPr>
                </a:tc>
                <a:tc>
                  <a:txBody>
                    <a:bodyPr wrap="square"/>
                    <a:lstStyle/>
                    <a:p>
                      <a:pPr algn="ctr"/>
                      <a:r>
                        <a:rPr sz="1019" b="0">
                          <a:solidFill>
                            <a:srgbClr val="182433"/>
                          </a:solidFill>
                          <a:latin typeface="Calibri"/>
                        </a:rPr>
                        <a:t>Bloomberg, provided by project team</a:t>
                      </a:r>
                    </a:p>
                  </a:txBody>
                  <a:tcPr marL="50800" marR="50800" marT="25400" marB="25400" anchor="ctr">
                    <a:solidFill>
                      <a:srgbClr val="F7F8FA"/>
                    </a:solidFill>
                  </a:tcPr>
                </a:tc>
                <a:tc>
                  <a:txBody>
                    <a:bodyPr wrap="square"/>
                    <a:lstStyle/>
                    <a:p>
                      <a:pPr algn="ctr"/>
                      <a:r>
                        <a:rPr sz="1019" b="0">
                          <a:solidFill>
                            <a:srgbClr val="182433"/>
                          </a:solidFill>
                          <a:latin typeface="Calibri"/>
                        </a:rPr>
                        <a:t>JPY curve, JPY factor vol, mean-rev. test</a:t>
                      </a:r>
                    </a:p>
                  </a:txBody>
                  <a:tcPr marL="50800" marR="50800" marT="25400" marB="25400" anchor="ctr">
                    <a:solidFill>
                      <a:srgbClr val="F7F8FA"/>
                    </a:solidFill>
                  </a:tcPr>
                </a:tc>
                <a:tc>
                  <a:txBody>
                    <a:bodyPr wrap="square"/>
                    <a:lstStyle/>
                    <a:p>
                      <a:pPr algn="ctr"/>
                      <a:r>
                        <a:rPr sz="1019" b="0">
                          <a:solidFill>
                            <a:srgbClr val="182433"/>
                          </a:solidFill>
                          <a:latin typeface="Calibri"/>
                        </a:rPr>
                        <a:t>Licensed: derived numbers only</a:t>
                      </a:r>
                    </a:p>
                  </a:txBody>
                  <a:tcPr marL="50800" marR="50800" marT="25400" marB="25400" anchor="ctr">
                    <a:solidFill>
                      <a:srgbClr val="F7F8FA"/>
                    </a:solidFill>
                  </a:tcPr>
                </a:tc>
              </a:tr>
              <a:tr h="571500">
                <a:tc>
                  <a:txBody>
                    <a:bodyPr wrap="square"/>
                    <a:lstStyle/>
                    <a:p>
                      <a:pPr algn="l"/>
                      <a:r>
                        <a:rPr sz="1019" b="0">
                          <a:solidFill>
                            <a:srgbClr val="182433"/>
                          </a:solidFill>
                          <a:latin typeface="Calibri"/>
                        </a:rPr>
                        <a:t>Treasury CMT yields, TONA, JGB yields</a:t>
                      </a:r>
                    </a:p>
                  </a:txBody>
                  <a:tcPr marL="50800" marR="50800" marT="25400" marB="25400" anchor="ctr">
                    <a:solidFill>
                      <a:srgbClr val="FFFFFF"/>
                    </a:solidFill>
                  </a:tcPr>
                </a:tc>
                <a:tc>
                  <a:txBody>
                    <a:bodyPr wrap="square"/>
                    <a:lstStyle/>
                    <a:p>
                      <a:pPr algn="ctr"/>
                      <a:r>
                        <a:rPr sz="1019" b="0">
                          <a:solidFill>
                            <a:srgbClr val="182433"/>
                          </a:solidFill>
                          <a:latin typeface="Calibri"/>
                        </a:rPr>
                        <a:t>FRED / Bank of Japan / MOF</a:t>
                      </a:r>
                    </a:p>
                  </a:txBody>
                  <a:tcPr marL="50800" marR="50800" marT="25400" marB="25400" anchor="ctr">
                    <a:solidFill>
                      <a:srgbClr val="FFFFFF"/>
                    </a:solidFill>
                  </a:tcPr>
                </a:tc>
                <a:tc>
                  <a:txBody>
                    <a:bodyPr wrap="square"/>
                    <a:lstStyle/>
                    <a:p>
                      <a:pPr algn="ctr"/>
                      <a:r>
                        <a:rPr sz="1019" b="0">
                          <a:solidFill>
                            <a:srgbClr val="182433"/>
                          </a:solidFill>
                          <a:latin typeface="Calibri"/>
                        </a:rPr>
                        <a:t>Rate vol, backtest, G2++ calibration</a:t>
                      </a:r>
                    </a:p>
                  </a:txBody>
                  <a:tcPr marL="50800" marR="50800" marT="25400" marB="25400" anchor="ctr">
                    <a:solidFill>
                      <a:srgbClr val="FFFFFF"/>
                    </a:solidFill>
                  </a:tcPr>
                </a:tc>
                <a:tc>
                  <a:txBody>
                    <a:bodyPr wrap="square"/>
                    <a:lstStyle/>
                    <a:p>
                      <a:pPr algn="ctr"/>
                      <a:r>
                        <a:rPr sz="1019" b="0">
                          <a:solidFill>
                            <a:srgbClr val="182433"/>
                          </a:solidFill>
                          <a:latin typeface="Calibri"/>
                        </a:rPr>
                        <a:t>Public</a:t>
                      </a:r>
                    </a:p>
                  </a:txBody>
                  <a:tcPr marL="50800" marR="50800" marT="25400" marB="2540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Two Real Bugs Found by Cross-Checking Against Independent Sources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1">
                <a:solidFill>
                  <a:srgbClr val="D2006F"/>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10</a:t>
            </a:r>
          </a:p>
        </p:txBody>
      </p:sp>
      <p:graphicFrame>
        <p:nvGraphicFramePr>
          <p:cNvPr id="6" name="Table 5"/>
          <p:cNvGraphicFramePr>
            <a:graphicFrameLocks noGrp="1"/>
          </p:cNvGraphicFramePr>
          <p:nvPr/>
        </p:nvGraphicFramePr>
        <p:xfrm>
          <a:off x="457200" y="1371600"/>
          <a:ext cx="11247119" cy="3017520"/>
        </p:xfrm>
        <a:graphic>
          <a:graphicData uri="http://schemas.openxmlformats.org/drawingml/2006/table">
            <a:tbl>
              <a:tblPr firstRow="1" bandRow="1">
                <a:tableStyleId>{5C22544A-7EE6-4342-B048-85BDC9FD1C3A}</a:tableStyleId>
              </a:tblPr>
              <a:tblGrid>
                <a:gridCol w="3291840"/>
                <a:gridCol w="3017519"/>
                <a:gridCol w="4937760"/>
              </a:tblGrid>
              <a:tr h="603504">
                <a:tc>
                  <a:txBody>
                    <a:bodyPr wrap="square"/>
                    <a:lstStyle/>
                    <a:p>
                      <a:pPr algn="l"/>
                      <a:r>
                        <a:rPr sz="1050" b="1">
                          <a:solidFill>
                            <a:srgbClr val="FFFFFF"/>
                          </a:solidFill>
                          <a:latin typeface="Calibri"/>
                        </a:rPr>
                        <a:t>Issue found</a:t>
                      </a:r>
                    </a:p>
                  </a:txBody>
                  <a:tcPr marL="50800" marR="50800" marT="25400" marB="25400" anchor="ctr">
                    <a:solidFill>
                      <a:srgbClr val="182433"/>
                    </a:solidFill>
                  </a:tcPr>
                </a:tc>
                <a:tc>
                  <a:txBody>
                    <a:bodyPr wrap="square"/>
                    <a:lstStyle/>
                    <a:p>
                      <a:pPr algn="ctr"/>
                      <a:r>
                        <a:rPr sz="1050" b="1">
                          <a:solidFill>
                            <a:srgbClr val="FFFFFF"/>
                          </a:solidFill>
                          <a:latin typeface="Calibri"/>
                        </a:rPr>
                        <a:t>How caught</a:t>
                      </a:r>
                    </a:p>
                  </a:txBody>
                  <a:tcPr marL="50800" marR="50800" marT="25400" marB="25400" anchor="ctr">
                    <a:solidFill>
                      <a:srgbClr val="182433"/>
                    </a:solidFill>
                  </a:tcPr>
                </a:tc>
                <a:tc>
                  <a:txBody>
                    <a:bodyPr wrap="square"/>
                    <a:lstStyle/>
                    <a:p>
                      <a:pPr algn="ctr"/>
                      <a:r>
                        <a:rPr sz="1050" b="1">
                          <a:solidFill>
                            <a:srgbClr val="FFFFFF"/>
                          </a:solidFill>
                          <a:latin typeface="Calibri"/>
                        </a:rPr>
                        <a:t>Fix / impact</a:t>
                      </a:r>
                    </a:p>
                  </a:txBody>
                  <a:tcPr marL="50800" marR="50800" marT="25400" marB="25400" anchor="ctr">
                    <a:solidFill>
                      <a:srgbClr val="182433"/>
                    </a:solidFill>
                  </a:tcPr>
                </a:tc>
              </a:tr>
              <a:tr h="603504">
                <a:tc>
                  <a:txBody>
                    <a:bodyPr wrap="square"/>
                    <a:lstStyle/>
                    <a:p>
                      <a:pPr algn="l"/>
                      <a:r>
                        <a:rPr sz="1000" b="0">
                          <a:solidFill>
                            <a:srgbClr val="182433"/>
                          </a:solidFill>
                          <a:latin typeface="Calibri"/>
                        </a:rPr>
                        <a:t>USD curve extrapolated flat beyond ~6.5y futures range</a:t>
                      </a:r>
                    </a:p>
                  </a:txBody>
                  <a:tcPr marL="50800" marR="50800" marT="25400" marB="25400" anchor="ctr">
                    <a:solidFill>
                      <a:srgbClr val="FFFFFF"/>
                    </a:solidFill>
                  </a:tcPr>
                </a:tc>
                <a:tc>
                  <a:txBody>
                    <a:bodyPr wrap="square"/>
                    <a:lstStyle/>
                    <a:p>
                      <a:pPr algn="ctr"/>
                      <a:r>
                        <a:rPr sz="1000" b="0">
                          <a:solidFill>
                            <a:srgbClr val="182433"/>
                          </a:solidFill>
                          <a:latin typeface="Calibri"/>
                        </a:rPr>
                        <a:t>Repricing BF_0003 on Bloomberg's own zero curve</a:t>
                      </a:r>
                    </a:p>
                  </a:txBody>
                  <a:tcPr marL="50800" marR="50800" marT="25400" marB="25400" anchor="ctr">
                    <a:solidFill>
                      <a:srgbClr val="FFFFFF"/>
                    </a:solidFill>
                  </a:tcPr>
                </a:tc>
                <a:tc>
                  <a:txBody>
                    <a:bodyPr wrap="square"/>
                    <a:lstStyle/>
                    <a:p>
                      <a:pPr algn="ctr"/>
                      <a:r>
                        <a:rPr sz="1000" b="0">
                          <a:solidFill>
                            <a:srgbClr val="182433"/>
                          </a:solidFill>
                          <a:latin typeface="Calibri"/>
                        </a:rPr>
                        <a:t>Bloomberg long-end splice; BF_0003 NPV moved $101.4M -&gt; $121.3M (within 0.4% of Bloomberg reprice)</a:t>
                      </a:r>
                    </a:p>
                  </a:txBody>
                  <a:tcPr marL="50800" marR="50800" marT="25400" marB="25400" anchor="ctr">
                    <a:solidFill>
                      <a:srgbClr val="FFFFFF"/>
                    </a:solidFill>
                  </a:tcPr>
                </a:tc>
              </a:tr>
              <a:tr h="603504">
                <a:tc>
                  <a:txBody>
                    <a:bodyPr wrap="square"/>
                    <a:lstStyle/>
                    <a:p>
                      <a:pPr algn="l"/>
                      <a:r>
                        <a:rPr sz="1000" b="0">
                          <a:solidFill>
                            <a:srgbClr val="182433"/>
                          </a:solidFill>
                          <a:latin typeface="Calibri"/>
                        </a:rPr>
                        <a:t>USDJPY drift had the wrong sign</a:t>
                      </a:r>
                    </a:p>
                  </a:txBody>
                  <a:tcPr marL="50800" marR="50800" marT="25400" marB="25400" anchor="ctr">
                    <a:solidFill>
                      <a:srgbClr val="F7F8FA"/>
                    </a:solidFill>
                  </a:tcPr>
                </a:tc>
                <a:tc>
                  <a:txBody>
                    <a:bodyPr wrap="square"/>
                    <a:lstStyle/>
                    <a:p>
                      <a:pPr algn="ctr"/>
                      <a:r>
                        <a:rPr sz="1000" b="0">
                          <a:solidFill>
                            <a:srgbClr val="182433"/>
                          </a:solidFill>
                          <a:latin typeface="Calibri"/>
                        </a:rPr>
                        <a:t>Deriving JPY drifts from the martingale condition</a:t>
                      </a:r>
                    </a:p>
                  </a:txBody>
                  <a:tcPr marL="50800" marR="50800" marT="25400" marB="25400" anchor="ctr">
                    <a:solidFill>
                      <a:srgbClr val="F7F8FA"/>
                    </a:solidFill>
                  </a:tcPr>
                </a:tc>
                <a:tc>
                  <a:txBody>
                    <a:bodyPr wrap="square"/>
                    <a:lstStyle/>
                    <a:p>
                      <a:pPr algn="ctr"/>
                      <a:r>
                        <a:rPr sz="1000" b="0">
                          <a:solidFill>
                            <a:srgbClr val="182433"/>
                          </a:solidFill>
                          <a:latin typeface="Calibri"/>
                        </a:rPr>
                        <a:t>JPY names were drifting ~2x2.6%/yr too low in USD; corrected, quanto term added</a:t>
                      </a:r>
                    </a:p>
                  </a:txBody>
                  <a:tcPr marL="50800" marR="50800" marT="25400" marB="25400" anchor="ctr">
                    <a:solidFill>
                      <a:srgbClr val="F7F8FA"/>
                    </a:solidFill>
                  </a:tcPr>
                </a:tc>
              </a:tr>
              <a:tr h="603504">
                <a:tc>
                  <a:txBody>
                    <a:bodyPr wrap="square"/>
                    <a:lstStyle/>
                    <a:p>
                      <a:pPr algn="l"/>
                      <a:r>
                        <a:rPr sz="1000" b="0">
                          <a:solidFill>
                            <a:srgbClr val="182433"/>
                          </a:solidFill>
                          <a:latin typeface="Calibri"/>
                        </a:rPr>
                        <a:t>USD rate sigma from overnight SOFR understated 2-30y yield moves</a:t>
                      </a:r>
                    </a:p>
                  </a:txBody>
                  <a:tcPr marL="50800" marR="50800" marT="25400" marB="25400" anchor="ctr">
                    <a:solidFill>
                      <a:srgbClr val="FFFFFF"/>
                    </a:solidFill>
                  </a:tcPr>
                </a:tc>
                <a:tc>
                  <a:txBody>
                    <a:bodyPr wrap="square"/>
                    <a:lstStyle/>
                    <a:p>
                      <a:pPr algn="ctr"/>
                      <a:r>
                        <a:rPr sz="1000" b="0">
                          <a:solidFill>
                            <a:srgbClr val="182433"/>
                          </a:solidFill>
                          <a:latin typeface="Calibri"/>
                        </a:rPr>
                        <a:t>10-day realised vs modelled yield-move comparison</a:t>
                      </a:r>
                    </a:p>
                  </a:txBody>
                  <a:tcPr marL="50800" marR="50800" marT="25400" marB="25400" anchor="ctr">
                    <a:solidFill>
                      <a:srgbClr val="FFFFFF"/>
                    </a:solidFill>
                  </a:tcPr>
                </a:tc>
                <a:tc>
                  <a:txBody>
                    <a:bodyPr wrap="square"/>
                    <a:lstStyle/>
                    <a:p>
                      <a:pPr algn="ctr"/>
                      <a:r>
                        <a:rPr sz="1000" b="0">
                          <a:solidFill>
                            <a:srgbClr val="182433"/>
                          </a:solidFill>
                          <a:latin typeface="Calibri"/>
                        </a:rPr>
                        <a:t>sigma refit to realised 2y-30y Treasury yield vol: 63bp -&gt; 96bp</a:t>
                      </a:r>
                    </a:p>
                  </a:txBody>
                  <a:tcPr marL="50800" marR="50800" marT="25400" marB="25400" anchor="ctr">
                    <a:solidFill>
                      <a:srgbClr val="FFFFFF"/>
                    </a:solidFill>
                  </a:tcPr>
                </a:tc>
              </a:tr>
              <a:tr h="603504">
                <a:tc>
                  <a:txBody>
                    <a:bodyPr wrap="square"/>
                    <a:lstStyle/>
                    <a:p>
                      <a:pPr algn="l"/>
                      <a:r>
                        <a:rPr sz="1000" b="0">
                          <a:solidFill>
                            <a:srgbClr val="182433"/>
                          </a:solidFill>
                          <a:latin typeface="Calibri"/>
                        </a:rPr>
                        <a:t>SOFR futures bootstrap: serial-future wraparound gap</a:t>
                      </a:r>
                    </a:p>
                  </a:txBody>
                  <a:tcPr marL="50800" marR="50800" marT="25400" marB="25400" anchor="ctr">
                    <a:solidFill>
                      <a:srgbClr val="F7F8FA"/>
                    </a:solidFill>
                  </a:tcPr>
                </a:tc>
                <a:tc>
                  <a:txBody>
                    <a:bodyPr wrap="square"/>
                    <a:lstStyle/>
                    <a:p>
                      <a:pPr algn="ctr"/>
                      <a:r>
                        <a:rPr sz="1000" b="0">
                          <a:solidFill>
                            <a:srgbClr val="182433"/>
                          </a:solidFill>
                          <a:latin typeface="Calibri"/>
                        </a:rPr>
                        <a:t>Cross-check vs Treasury.gov par curve (73bp vs 56bp at 10Y)</a:t>
                      </a:r>
                    </a:p>
                  </a:txBody>
                  <a:tcPr marL="50800" marR="50800" marT="25400" marB="25400" anchor="ctr">
                    <a:solidFill>
                      <a:srgbClr val="F7F8FA"/>
                    </a:solidFill>
                  </a:tcPr>
                </a:tc>
                <a:tc>
                  <a:txBody>
                    <a:bodyPr wrap="square"/>
                    <a:lstStyle/>
                    <a:p>
                      <a:pPr algn="ctr"/>
                      <a:r>
                        <a:rPr sz="1000" b="0">
                          <a:solidFill>
                            <a:srgbClr val="182433"/>
                          </a:solidFill>
                          <a:latin typeface="Calibri"/>
                        </a:rPr>
                        <a:t>400-day plausibility threshold; curve coverage 3.6y -&gt; 6.3y</a:t>
                      </a:r>
                    </a:p>
                  </a:txBody>
                  <a:tcPr marL="50800" marR="50800" marT="25400" marB="25400" anchor="ctr">
                    <a:solidFill>
                      <a:srgbClr val="F7F8FA"/>
                    </a:solidFill>
                  </a:tcPr>
                </a:tc>
              </a:tr>
            </a:tbl>
          </a:graphicData>
        </a:graphic>
      </p:graphicFrame>
      <p:sp>
        <p:nvSpPr>
          <p:cNvPr id="7" name="TextBox 6"/>
          <p:cNvSpPr txBox="1"/>
          <p:nvPr/>
        </p:nvSpPr>
        <p:spPr>
          <a:xfrm>
            <a:off x="457200" y="4663440"/>
            <a:ext cx="11247120" cy="1463040"/>
          </a:xfrm>
          <a:prstGeom prst="rect">
            <a:avLst/>
          </a:prstGeom>
          <a:noFill/>
        </p:spPr>
        <p:txBody>
          <a:bodyPr wrap="square" lIns="0" rIns="0" tIns="0" bIns="0">
            <a:spAutoFit/>
          </a:bodyPr>
          <a:lstStyle/>
          <a:p>
            <a:pPr>
              <a:lnSpc>
                <a:spcPct val="105000"/>
              </a:lnSpc>
              <a:spcAft>
                <a:spcPts val="700"/>
              </a:spcAft>
            </a:pPr>
            <a:r>
              <a:rPr sz="1200" b="0">
                <a:solidFill>
                  <a:srgbClr val="182433"/>
                </a:solidFill>
                <a:latin typeface="Calibri"/>
              </a:rPr>
              <a:t>•  Data quality checks throughout: self-check EE(0) vs direct exposure to 0.0000%; Hull-White curve refit to 1e-9; positive semi-definite correlation matrix verified</a:t>
            </a:r>
          </a:p>
          <a:p>
            <a:pPr>
              <a:lnSpc>
                <a:spcPct val="105000"/>
              </a:lnSpc>
              <a:spcAft>
                <a:spcPts val="700"/>
              </a:spcAft>
            </a:pPr>
            <a:r>
              <a:rPr sz="1200" b="0">
                <a:solidFill>
                  <a:srgbClr val="182433"/>
                </a:solidFill>
                <a:latin typeface="Calibri"/>
              </a:rPr>
              <a:t>•  Assumptions disclosed, not hidden: counterparty rating BBB, LGD 60%, static correlation, JPY mean reversion at its lower bound (every real calibration route gave a negative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The USD Curve: 33 Live Futures Bootstrapped, Spliced at the Long End</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1">
                <a:solidFill>
                  <a:srgbClr val="D2006F"/>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11</a:t>
            </a:r>
          </a:p>
        </p:txBody>
      </p:sp>
      <p:pic>
        <p:nvPicPr>
          <p:cNvPr id="6" name="Picture 5" descr="fig06.png"/>
          <p:cNvPicPr>
            <a:picLocks noChangeAspect="1"/>
          </p:cNvPicPr>
          <p:nvPr/>
        </p:nvPicPr>
        <p:blipFill>
          <a:blip r:embed="rId3"/>
          <a:stretch>
            <a:fillRect/>
          </a:stretch>
        </p:blipFill>
        <p:spPr>
          <a:xfrm>
            <a:off x="457200" y="1371600"/>
            <a:ext cx="5486400" cy="2701599"/>
          </a:xfrm>
          <a:prstGeom prst="rect">
            <a:avLst/>
          </a:prstGeom>
        </p:spPr>
      </p:pic>
      <p:sp>
        <p:nvSpPr>
          <p:cNvPr id="7" name="TextBox 6"/>
          <p:cNvSpPr txBox="1"/>
          <p:nvPr/>
        </p:nvSpPr>
        <p:spPr>
          <a:xfrm>
            <a:off x="457200" y="4133087"/>
            <a:ext cx="5486400" cy="457200"/>
          </a:xfrm>
          <a:prstGeom prst="rect">
            <a:avLst/>
          </a:prstGeom>
          <a:noFill/>
        </p:spPr>
        <p:txBody>
          <a:bodyPr wrap="square" anchor="t" lIns="0" rIns="0" tIns="0" bIns="0">
            <a:spAutoFit/>
          </a:bodyPr>
          <a:lstStyle/>
          <a:p>
            <a:pPr algn="l"/>
            <a:r>
              <a:rPr sz="1000" b="0" i="1">
                <a:solidFill>
                  <a:srgbClr val="6B7280"/>
                </a:solidFill>
                <a:latin typeface="Calibri"/>
              </a:rPr>
              <a:t>Bootstrapped USD SOFR curve: zero rate and instantaneous forward, 0-6.5y.</a:t>
            </a:r>
          </a:p>
        </p:txBody>
      </p:sp>
      <p:pic>
        <p:nvPicPr>
          <p:cNvPr id="8" name="Picture 7" descr="fig07.png"/>
          <p:cNvPicPr>
            <a:picLocks noChangeAspect="1"/>
          </p:cNvPicPr>
          <p:nvPr/>
        </p:nvPicPr>
        <p:blipFill>
          <a:blip r:embed="rId4"/>
          <a:stretch>
            <a:fillRect/>
          </a:stretch>
        </p:blipFill>
        <p:spPr>
          <a:xfrm>
            <a:off x="6126480" y="1371600"/>
            <a:ext cx="5577840" cy="2745343"/>
          </a:xfrm>
          <a:prstGeom prst="rect">
            <a:avLst/>
          </a:prstGeom>
        </p:spPr>
      </p:pic>
      <p:sp>
        <p:nvSpPr>
          <p:cNvPr id="9" name="TextBox 8"/>
          <p:cNvSpPr txBox="1"/>
          <p:nvPr/>
        </p:nvSpPr>
        <p:spPr>
          <a:xfrm>
            <a:off x="6126480" y="4187952"/>
            <a:ext cx="5577840" cy="457200"/>
          </a:xfrm>
          <a:prstGeom prst="rect">
            <a:avLst/>
          </a:prstGeom>
          <a:noFill/>
        </p:spPr>
        <p:txBody>
          <a:bodyPr wrap="square" anchor="t" lIns="0" rIns="0" tIns="0" bIns="0">
            <a:spAutoFit/>
          </a:bodyPr>
          <a:lstStyle/>
          <a:p>
            <a:pPr algn="l"/>
            <a:r>
              <a:rPr sz="1000" b="0" i="1">
                <a:solidFill>
                  <a:srgbClr val="6B7280"/>
                </a:solidFill>
                <a:latin typeface="Calibri"/>
              </a:rPr>
              <a:t>Zero curve before (flat) and after the Bloomberg long-end splice. Identical inside the futures range.</a:t>
            </a:r>
          </a:p>
        </p:txBody>
      </p:sp>
      <p:sp>
        <p:nvSpPr>
          <p:cNvPr id="10" name="Rectangle 9"/>
          <p:cNvSpPr/>
          <p:nvPr/>
        </p:nvSpPr>
        <p:spPr>
          <a:xfrm>
            <a:off x="457200" y="4663440"/>
            <a:ext cx="11247120" cy="17373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4663440"/>
            <a:ext cx="44450" cy="173736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773168"/>
            <a:ext cx="10927080" cy="292608"/>
          </a:xfrm>
          <a:prstGeom prst="rect">
            <a:avLst/>
          </a:prstGeom>
          <a:noFill/>
        </p:spPr>
        <p:txBody>
          <a:bodyPr wrap="square" anchor="t" lIns="0" rIns="0" tIns="0" bIns="0">
            <a:spAutoFit/>
          </a:bodyPr>
          <a:lstStyle/>
          <a:p>
            <a:pPr algn="l"/>
            <a:r>
              <a:rPr sz="1200" b="1" i="0">
                <a:solidFill>
                  <a:srgbClr val="9A0052"/>
                </a:solidFill>
                <a:latin typeface="Cambria"/>
              </a:rPr>
              <a:t>WHY SPLICING, NOT EXTRAPOLATING FLAT</a:t>
            </a:r>
          </a:p>
        </p:txBody>
      </p:sp>
      <p:sp>
        <p:nvSpPr>
          <p:cNvPr id="13" name="TextBox 12"/>
          <p:cNvSpPr txBox="1"/>
          <p:nvPr/>
        </p:nvSpPr>
        <p:spPr>
          <a:xfrm>
            <a:off x="640080" y="5138928"/>
            <a:ext cx="10927080" cy="1188720"/>
          </a:xfrm>
          <a:prstGeom prst="rect">
            <a:avLst/>
          </a:prstGeom>
          <a:noFill/>
        </p:spPr>
        <p:txBody>
          <a:bodyPr wrap="square" lIns="0" rIns="0" tIns="0" bIns="0">
            <a:spAutoFit/>
          </a:bodyPr>
          <a:lstStyle/>
          <a:p>
            <a:pPr>
              <a:lnSpc>
                <a:spcPct val="105000"/>
              </a:lnSpc>
              <a:spcAft>
                <a:spcPts val="500"/>
              </a:spcAft>
            </a:pPr>
            <a:r>
              <a:rPr sz="1050" b="0">
                <a:solidFill>
                  <a:srgbClr val="182433"/>
                </a:solidFill>
                <a:latin typeface="Calibri"/>
              </a:rPr>
              <a:t>•  A 22-year bond has duration ~13 -- a flat long end understates discounting of exactly the trade (BF_0003) that dominates the book</a:t>
            </a:r>
          </a:p>
          <a:p>
            <a:pPr>
              <a:lnSpc>
                <a:spcPct val="105000"/>
              </a:lnSpc>
              <a:spcAft>
                <a:spcPts val="500"/>
              </a:spcAft>
            </a:pPr>
            <a:r>
              <a:rPr sz="1050" b="0">
                <a:solidFill>
                  <a:srgbClr val="182433"/>
                </a:solidFill>
                <a:latin typeface="Calibri"/>
              </a:rPr>
              <a:t>•  The splice is joined continuously at the last futures pillar: nothing inside the live futures range changes, only the part we had no market data for</a:t>
            </a:r>
          </a:p>
          <a:p>
            <a:pPr>
              <a:lnSpc>
                <a:spcPct val="105000"/>
              </a:lnSpc>
              <a:spcAft>
                <a:spcPts val="500"/>
              </a:spcAft>
            </a:pPr>
            <a:r>
              <a:rPr sz="1050" b="0">
                <a:solidFill>
                  <a:srgbClr val="182433"/>
                </a:solidFill>
                <a:latin typeface="Calibri"/>
              </a:rPr>
              <a:t>•  Validated independently: BF_0003's NPV on the spliced curve ($121.3M) lands within 0.4% of repricing it directly on Bloomberg's own zero curve</a:t>
            </a:r>
          </a:p>
          <a:p>
            <a:pPr>
              <a:lnSpc>
                <a:spcPct val="105000"/>
              </a:lnSpc>
              <a:spcAft>
                <a:spcPts val="500"/>
              </a:spcAft>
            </a:pPr>
            <a:r>
              <a:rPr sz="1050" b="0">
                <a:solidFill>
                  <a:srgbClr val="182433"/>
                </a:solidFill>
                <a:latin typeface="Calibri"/>
              </a:rPr>
              <a:t>•  Licensed Bloomberg data is used only to extend the shape beyond the live futures range -- we never redistribute the raw licensed numbers, only this derived splice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Volatility: 3-Year Realised, Fitted to Where the Book's Risk Actually Lives</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1">
                <a:solidFill>
                  <a:srgbClr val="D2006F"/>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12</a:t>
            </a:r>
          </a:p>
        </p:txBody>
      </p:sp>
      <p:pic>
        <p:nvPicPr>
          <p:cNvPr id="6" name="Picture 5" descr="fig08.png"/>
          <p:cNvPicPr>
            <a:picLocks noChangeAspect="1"/>
          </p:cNvPicPr>
          <p:nvPr/>
        </p:nvPicPr>
        <p:blipFill>
          <a:blip r:embed="rId3"/>
          <a:stretch>
            <a:fillRect/>
          </a:stretch>
        </p:blipFill>
        <p:spPr>
          <a:xfrm>
            <a:off x="457200" y="1371600"/>
            <a:ext cx="5120640" cy="2490651"/>
          </a:xfrm>
          <a:prstGeom prst="rect">
            <a:avLst/>
          </a:prstGeom>
        </p:spPr>
      </p:pic>
      <p:sp>
        <p:nvSpPr>
          <p:cNvPr id="7" name="TextBox 6"/>
          <p:cNvSpPr txBox="1"/>
          <p:nvPr/>
        </p:nvSpPr>
        <p:spPr>
          <a:xfrm>
            <a:off x="457200" y="3867912"/>
            <a:ext cx="5120640" cy="457200"/>
          </a:xfrm>
          <a:prstGeom prst="rect">
            <a:avLst/>
          </a:prstGeom>
          <a:noFill/>
        </p:spPr>
        <p:txBody>
          <a:bodyPr wrap="square" anchor="t" lIns="0" rIns="0" tIns="0" bIns="0">
            <a:spAutoFit/>
          </a:bodyPr>
          <a:lstStyle/>
          <a:p>
            <a:pPr algn="l"/>
            <a:r>
              <a:rPr sz="950" b="0" i="1">
                <a:solidFill>
                  <a:srgbClr val="6B7280"/>
                </a:solidFill>
                <a:latin typeface="Calibri"/>
              </a:rPr>
              <a:t>3-year realised lognormal volatility per equity (orange = JPY-quoted).</a:t>
            </a:r>
          </a:p>
        </p:txBody>
      </p:sp>
      <p:pic>
        <p:nvPicPr>
          <p:cNvPr id="8" name="Picture 7" descr="fig09.png"/>
          <p:cNvPicPr>
            <a:picLocks noChangeAspect="1"/>
          </p:cNvPicPr>
          <p:nvPr/>
        </p:nvPicPr>
        <p:blipFill>
          <a:blip r:embed="rId4"/>
          <a:stretch>
            <a:fillRect/>
          </a:stretch>
        </p:blipFill>
        <p:spPr>
          <a:xfrm>
            <a:off x="5852160" y="1371600"/>
            <a:ext cx="4846320" cy="2620146"/>
          </a:xfrm>
          <a:prstGeom prst="rect">
            <a:avLst/>
          </a:prstGeom>
        </p:spPr>
      </p:pic>
      <p:sp>
        <p:nvSpPr>
          <p:cNvPr id="9" name="TextBox 8"/>
          <p:cNvSpPr txBox="1"/>
          <p:nvPr/>
        </p:nvSpPr>
        <p:spPr>
          <a:xfrm>
            <a:off x="5852160" y="3995928"/>
            <a:ext cx="5760720" cy="457200"/>
          </a:xfrm>
          <a:prstGeom prst="rect">
            <a:avLst/>
          </a:prstGeom>
          <a:noFill/>
        </p:spPr>
        <p:txBody>
          <a:bodyPr wrap="square" anchor="t" lIns="0" rIns="0" tIns="0" bIns="0">
            <a:spAutoFit/>
          </a:bodyPr>
          <a:lstStyle/>
          <a:p>
            <a:pPr algn="l"/>
            <a:r>
              <a:rPr sz="950" b="0" i="1">
                <a:solidFill>
                  <a:srgbClr val="6B7280"/>
                </a:solidFill>
                <a:latin typeface="Calibri"/>
              </a:rPr>
              <a:t>Realised Treasury yield vol by tenor vs. the Hull-White implied shape for both sigma choices.</a:t>
            </a:r>
          </a:p>
        </p:txBody>
      </p:sp>
      <p:sp>
        <p:nvSpPr>
          <p:cNvPr id="10" name="Rectangle 9"/>
          <p:cNvSpPr/>
          <p:nvPr/>
        </p:nvSpPr>
        <p:spPr>
          <a:xfrm>
            <a:off x="457200" y="4526280"/>
            <a:ext cx="11155680" cy="16002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4526280"/>
            <a:ext cx="44450" cy="1600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636008"/>
            <a:ext cx="10835640" cy="292608"/>
          </a:xfrm>
          <a:prstGeom prst="rect">
            <a:avLst/>
          </a:prstGeom>
          <a:noFill/>
        </p:spPr>
        <p:txBody>
          <a:bodyPr wrap="square" anchor="t" lIns="0" rIns="0" tIns="0" bIns="0">
            <a:spAutoFit/>
          </a:bodyPr>
          <a:lstStyle/>
          <a:p>
            <a:pPr algn="l"/>
            <a:r>
              <a:rPr sz="1200" b="1" i="0">
                <a:solidFill>
                  <a:srgbClr val="9A0052"/>
                </a:solidFill>
                <a:latin typeface="Cambria"/>
              </a:rPr>
              <a:t>WHY NO OPTIONS DATA AVAILABLE</a:t>
            </a:r>
          </a:p>
        </p:txBody>
      </p:sp>
      <p:sp>
        <p:nvSpPr>
          <p:cNvPr id="13" name="TextBox 12"/>
          <p:cNvSpPr txBox="1"/>
          <p:nvPr/>
        </p:nvSpPr>
        <p:spPr>
          <a:xfrm>
            <a:off x="640080" y="5001768"/>
            <a:ext cx="10835640" cy="1051560"/>
          </a:xfrm>
          <a:prstGeom prst="rect">
            <a:avLst/>
          </a:prstGeom>
          <a:noFill/>
        </p:spPr>
        <p:txBody>
          <a:bodyPr wrap="square" lIns="0" rIns="0" tIns="0" bIns="0">
            <a:spAutoFit/>
          </a:bodyPr>
          <a:lstStyle/>
          <a:p>
            <a:pPr>
              <a:lnSpc>
                <a:spcPct val="105000"/>
              </a:lnSpc>
              <a:spcAft>
                <a:spcPts val="500"/>
              </a:spcAft>
            </a:pPr>
            <a:r>
              <a:rPr sz="1050" b="0">
                <a:solidFill>
                  <a:srgbClr val="182433"/>
                </a:solidFill>
                <a:latin typeface="Calibri"/>
              </a:rPr>
              <a:t>•  Implied vol is the pricing-industry norm, but we had no single-name options data (Bloomberg export has only SPX/TOPIX index vols, which would need a per-name basis assumption)</a:t>
            </a:r>
          </a:p>
          <a:p>
            <a:pPr>
              <a:lnSpc>
                <a:spcPct val="105000"/>
              </a:lnSpc>
              <a:spcAft>
                <a:spcPts val="500"/>
              </a:spcAft>
            </a:pPr>
            <a:r>
              <a:rPr sz="1050" b="0">
                <a:solidFill>
                  <a:srgbClr val="182433"/>
                </a:solidFill>
                <a:latin typeface="Calibri"/>
              </a:rPr>
              <a:t>•  3-year realised is a reproducible, documented proxy; its backward-looking limitation is disclosed and stress-tested directly (vols x1.25/x2 in Section 7.9)</a:t>
            </a:r>
          </a:p>
          <a:p>
            <a:pPr>
              <a:lnSpc>
                <a:spcPct val="105000"/>
              </a:lnSpc>
              <a:spcAft>
                <a:spcPts val="500"/>
              </a:spcAft>
            </a:pPr>
            <a:r>
              <a:rPr sz="1050" b="0">
                <a:solidFill>
                  <a:srgbClr val="182433"/>
                </a:solidFill>
                <a:latin typeface="Calibri"/>
              </a:rPr>
              <a:t>•  3 years balances responsiveness against noise: long enough to average out idiosyncratic single-day jumps, short enough to reflect the current vol regime rather than a decade-old one</a:t>
            </a:r>
          </a:p>
          <a:p>
            <a:pPr>
              <a:lnSpc>
                <a:spcPct val="105000"/>
              </a:lnSpc>
              <a:spcAft>
                <a:spcPts val="500"/>
              </a:spcAft>
            </a:pPr>
            <a:r>
              <a:rPr sz="1050" b="0">
                <a:solidFill>
                  <a:srgbClr val="182433"/>
                </a:solidFill>
                <a:latin typeface="Calibri"/>
              </a:rPr>
              <a:t>•  The same convention is applied to every one of the 37 names, so the cross-section stays comparable rather than mixing proxy quality name by name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Correlation: One Static 39x39 Matrix From 616 Aligned Trading Days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1">
                <a:solidFill>
                  <a:srgbClr val="D2006F"/>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13</a:t>
            </a:r>
          </a:p>
        </p:txBody>
      </p:sp>
      <p:pic>
        <p:nvPicPr>
          <p:cNvPr id="6" name="Picture 5" descr="fig10.png"/>
          <p:cNvPicPr>
            <a:picLocks noChangeAspect="1"/>
          </p:cNvPicPr>
          <p:nvPr/>
        </p:nvPicPr>
        <p:blipFill>
          <a:blip r:embed="rId3"/>
          <a:stretch>
            <a:fillRect/>
          </a:stretch>
        </p:blipFill>
        <p:spPr>
          <a:xfrm>
            <a:off x="2743200" y="1371600"/>
            <a:ext cx="6675120" cy="3413537"/>
          </a:xfrm>
          <a:prstGeom prst="rect">
            <a:avLst/>
          </a:prstGeom>
        </p:spPr>
      </p:pic>
      <p:sp>
        <p:nvSpPr>
          <p:cNvPr id="7" name="TextBox 6"/>
          <p:cNvSpPr txBox="1"/>
          <p:nvPr/>
        </p:nvSpPr>
        <p:spPr>
          <a:xfrm>
            <a:off x="2743200" y="4809744"/>
            <a:ext cx="6675120" cy="365760"/>
          </a:xfrm>
          <a:prstGeom prst="rect">
            <a:avLst/>
          </a:prstGeom>
          <a:noFill/>
        </p:spPr>
        <p:txBody>
          <a:bodyPr wrap="square" anchor="t" lIns="0" rIns="0" tIns="0" bIns="0">
            <a:spAutoFit/>
          </a:bodyPr>
          <a:lstStyle/>
          <a:p>
            <a:pPr algn="l"/>
            <a:r>
              <a:rPr sz="1000" b="0" i="1">
                <a:solidFill>
                  <a:srgbClr val="6B7280"/>
                </a:solidFill>
                <a:latin typeface="Calibri"/>
              </a:rPr>
              <a:t>Left: 39x39 matrix reordered by first principal component. Right: distribution of the 741 pairwise correlations.</a:t>
            </a:r>
          </a:p>
        </p:txBody>
      </p:sp>
      <p:sp>
        <p:nvSpPr>
          <p:cNvPr id="8" name="TextBox 7"/>
          <p:cNvSpPr txBox="1"/>
          <p:nvPr/>
        </p:nvSpPr>
        <p:spPr>
          <a:xfrm>
            <a:off x="457200" y="5257800"/>
            <a:ext cx="11247120" cy="1280160"/>
          </a:xfrm>
          <a:prstGeom prst="rect">
            <a:avLst/>
          </a:prstGeom>
          <a:noFill/>
        </p:spPr>
        <p:txBody>
          <a:bodyPr wrap="square" lIns="0" rIns="0" tIns="0" bIns="0">
            <a:spAutoFit/>
          </a:bodyPr>
          <a:lstStyle/>
          <a:p>
            <a:pPr>
              <a:lnSpc>
                <a:spcPct val="105000"/>
              </a:lnSpc>
              <a:spcAft>
                <a:spcPts val="700"/>
              </a:spcAft>
            </a:pPr>
            <a:r>
              <a:rPr sz="1200" b="0">
                <a:solidFill>
                  <a:srgbClr val="182433"/>
                </a:solidFill>
                <a:latin typeface="Calibri"/>
              </a:rPr>
              <a:t>•  Assumed constant over the one-year simulation horizon -- correlations tend to rise in stress; this is stressed directly in the model-risk study (Section 7.9: +30% toward 1 moves portfolio MPE99 by +22%)</a:t>
            </a:r>
          </a:p>
          <a:p>
            <a:pPr>
              <a:lnSpc>
                <a:spcPct val="105000"/>
              </a:lnSpc>
              <a:spcAft>
                <a:spcPts val="700"/>
              </a:spcAft>
            </a:pPr>
            <a:r>
              <a:rPr sz="1200" b="0">
                <a:solidFill>
                  <a:srgbClr val="182433"/>
                </a:solidFill>
                <a:latin typeface="Calibri"/>
              </a:rPr>
              <a:t>•  A tiny eigenvalue clip guards against CSV round-off making the matrix numerically non-positive-semi-definite before Cholesky factorisation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Every Assumption Not Sourced From Data, Stated Explicitly</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1">
                <a:solidFill>
                  <a:srgbClr val="D2006F"/>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14</a:t>
            </a:r>
          </a:p>
        </p:txBody>
      </p:sp>
      <p:graphicFrame>
        <p:nvGraphicFramePr>
          <p:cNvPr id="6" name="Table 5"/>
          <p:cNvGraphicFramePr>
            <a:graphicFrameLocks noGrp="1"/>
          </p:cNvGraphicFramePr>
          <p:nvPr/>
        </p:nvGraphicFramePr>
        <p:xfrm>
          <a:off x="457200" y="1371600"/>
          <a:ext cx="11247119" cy="4846320"/>
        </p:xfrm>
        <a:graphic>
          <a:graphicData uri="http://schemas.openxmlformats.org/drawingml/2006/table">
            <a:tbl>
              <a:tblPr firstRow="1" bandRow="1">
                <a:tableStyleId>{5C22544A-7EE6-4342-B048-85BDC9FD1C3A}</a:tableStyleId>
              </a:tblPr>
              <a:tblGrid>
                <a:gridCol w="2103119"/>
                <a:gridCol w="2286000"/>
                <a:gridCol w="2743200"/>
                <a:gridCol w="4114800"/>
              </a:tblGrid>
              <a:tr h="605790">
                <a:tc>
                  <a:txBody>
                    <a:bodyPr wrap="square"/>
                    <a:lstStyle/>
                    <a:p>
                      <a:pPr algn="l"/>
                      <a:r>
                        <a:rPr sz="1050" b="1">
                          <a:solidFill>
                            <a:srgbClr val="FFFFFF"/>
                          </a:solidFill>
                          <a:latin typeface="Calibri"/>
                        </a:rPr>
                        <a:t>Assumption</a:t>
                      </a:r>
                    </a:p>
                  </a:txBody>
                  <a:tcPr marL="50800" marR="50800" marT="25400" marB="25400" anchor="ctr">
                    <a:solidFill>
                      <a:srgbClr val="182433"/>
                    </a:solidFill>
                  </a:tcPr>
                </a:tc>
                <a:tc>
                  <a:txBody>
                    <a:bodyPr wrap="square"/>
                    <a:lstStyle/>
                    <a:p>
                      <a:pPr algn="ctr"/>
                      <a:r>
                        <a:rPr sz="1050" b="1">
                          <a:solidFill>
                            <a:srgbClr val="FFFFFF"/>
                          </a:solidFill>
                          <a:latin typeface="Calibri"/>
                        </a:rPr>
                        <a:t>Value used</a:t>
                      </a:r>
                    </a:p>
                  </a:txBody>
                  <a:tcPr marL="50800" marR="50800" marT="25400" marB="25400" anchor="ctr">
                    <a:solidFill>
                      <a:srgbClr val="182433"/>
                    </a:solidFill>
                  </a:tcPr>
                </a:tc>
                <a:tc>
                  <a:txBody>
                    <a:bodyPr wrap="square"/>
                    <a:lstStyle/>
                    <a:p>
                      <a:pPr algn="ctr"/>
                      <a:r>
                        <a:rPr sz="1050" b="1">
                          <a:solidFill>
                            <a:srgbClr val="FFFFFF"/>
                          </a:solidFill>
                          <a:latin typeface="Calibri"/>
                        </a:rPr>
                        <a:t>Where it matters</a:t>
                      </a:r>
                    </a:p>
                  </a:txBody>
                  <a:tcPr marL="50800" marR="50800" marT="25400" marB="25400" anchor="ctr">
                    <a:solidFill>
                      <a:srgbClr val="182433"/>
                    </a:solidFill>
                  </a:tcPr>
                </a:tc>
                <a:tc>
                  <a:txBody>
                    <a:bodyPr wrap="square"/>
                    <a:lstStyle/>
                    <a:p>
                      <a:pPr algn="ctr"/>
                      <a:r>
                        <a:rPr sz="1050" b="1">
                          <a:solidFill>
                            <a:srgbClr val="FFFFFF"/>
                          </a:solidFill>
                          <a:latin typeface="Calibri"/>
                        </a:rPr>
                        <a:t>Sensitivity shown</a:t>
                      </a:r>
                    </a:p>
                  </a:txBody>
                  <a:tcPr marL="50800" marR="50800" marT="25400" marB="25400" anchor="ctr">
                    <a:solidFill>
                      <a:srgbClr val="182433"/>
                    </a:solidFill>
                  </a:tcPr>
                </a:tc>
              </a:tr>
              <a:tr h="605790">
                <a:tc>
                  <a:txBody>
                    <a:bodyPr wrap="square"/>
                    <a:lstStyle/>
                    <a:p>
                      <a:pPr algn="l"/>
                      <a:r>
                        <a:rPr sz="1000" b="0">
                          <a:solidFill>
                            <a:srgbClr val="182433"/>
                          </a:solidFill>
                          <a:latin typeface="Calibri"/>
                        </a:rPr>
                        <a:t>Counterparty credit rating</a:t>
                      </a:r>
                    </a:p>
                  </a:txBody>
                  <a:tcPr marL="50800" marR="50800" marT="25400" marB="25400" anchor="ctr">
                    <a:solidFill>
                      <a:srgbClr val="FFFFFF"/>
                    </a:solidFill>
                  </a:tcPr>
                </a:tc>
                <a:tc>
                  <a:txBody>
                    <a:bodyPr wrap="square"/>
                    <a:lstStyle/>
                    <a:p>
                      <a:pPr algn="ctr"/>
                      <a:r>
                        <a:rPr sz="1000" b="0">
                          <a:solidFill>
                            <a:srgbClr val="182433"/>
                          </a:solidFill>
                          <a:latin typeface="Calibri"/>
                        </a:rPr>
                        <a:t>BBB (proxy, all 3 counterparties)</a:t>
                      </a:r>
                    </a:p>
                  </a:txBody>
                  <a:tcPr marL="50800" marR="50800" marT="25400" marB="25400" anchor="ctr">
                    <a:solidFill>
                      <a:srgbClr val="FFFFFF"/>
                    </a:solidFill>
                  </a:tcPr>
                </a:tc>
                <a:tc>
                  <a:txBody>
                    <a:bodyPr wrap="square"/>
                    <a:lstStyle/>
                    <a:p>
                      <a:pPr algn="ctr"/>
                      <a:r>
                        <a:rPr sz="1000" b="0">
                          <a:solidFill>
                            <a:srgbClr val="182433"/>
                          </a:solidFill>
                          <a:latin typeface="Calibri"/>
                        </a:rPr>
                        <a:t>CVA, DVA, FVA, SA-CVA capital</a:t>
                      </a:r>
                    </a:p>
                  </a:txBody>
                  <a:tcPr marL="50800" marR="50800" marT="25400" marB="25400" anchor="ctr">
                    <a:solidFill>
                      <a:srgbClr val="FFFFFF"/>
                    </a:solidFill>
                  </a:tcPr>
                </a:tc>
                <a:tc>
                  <a:txBody>
                    <a:bodyPr wrap="square"/>
                    <a:lstStyle/>
                    <a:p>
                      <a:pPr algn="ctr"/>
                      <a:r>
                        <a:rPr sz="1000" b="0">
                          <a:solidFill>
                            <a:srgbClr val="182433"/>
                          </a:solidFill>
                          <a:latin typeface="Calibri"/>
                        </a:rPr>
                        <a:t>AAA $5.0k to B $32.8k (2.6x AA-BB range)</a:t>
                      </a:r>
                    </a:p>
                  </a:txBody>
                  <a:tcPr marL="50800" marR="50800" marT="25400" marB="25400" anchor="ctr">
                    <a:solidFill>
                      <a:srgbClr val="FFFFFF"/>
                    </a:solidFill>
                  </a:tcPr>
                </a:tc>
              </a:tr>
              <a:tr h="605790">
                <a:tc>
                  <a:txBody>
                    <a:bodyPr wrap="square"/>
                    <a:lstStyle/>
                    <a:p>
                      <a:pPr algn="l"/>
                      <a:r>
                        <a:rPr sz="1000" b="0">
                          <a:solidFill>
                            <a:srgbClr val="182433"/>
                          </a:solidFill>
                          <a:latin typeface="Calibri"/>
                        </a:rPr>
                        <a:t>Loss given default (LGD)</a:t>
                      </a:r>
                    </a:p>
                  </a:txBody>
                  <a:tcPr marL="50800" marR="50800" marT="25400" marB="25400" anchor="ctr">
                    <a:solidFill>
                      <a:srgbClr val="F7F8FA"/>
                    </a:solidFill>
                  </a:tcPr>
                </a:tc>
                <a:tc>
                  <a:txBody>
                    <a:bodyPr wrap="square"/>
                    <a:lstStyle/>
                    <a:p>
                      <a:pPr algn="ctr"/>
                      <a:r>
                        <a:rPr sz="1000" b="0">
                          <a:solidFill>
                            <a:srgbClr val="182433"/>
                          </a:solidFill>
                          <a:latin typeface="Calibri"/>
                        </a:rPr>
                        <a:t>60% (40% recovery)</a:t>
                      </a:r>
                    </a:p>
                  </a:txBody>
                  <a:tcPr marL="50800" marR="50800" marT="25400" marB="25400" anchor="ctr">
                    <a:solidFill>
                      <a:srgbClr val="F7F8FA"/>
                    </a:solidFill>
                  </a:tcPr>
                </a:tc>
                <a:tc>
                  <a:txBody>
                    <a:bodyPr wrap="square"/>
                    <a:lstStyle/>
                    <a:p>
                      <a:pPr algn="ctr"/>
                      <a:r>
                        <a:rPr sz="1000" b="0">
                          <a:solidFill>
                            <a:srgbClr val="182433"/>
                          </a:solidFill>
                          <a:latin typeface="Calibri"/>
                        </a:rPr>
                        <a:t>CVA, DVA default-probability triangle</a:t>
                      </a:r>
                    </a:p>
                  </a:txBody>
                  <a:tcPr marL="50800" marR="50800" marT="25400" marB="25400" anchor="ctr">
                    <a:solidFill>
                      <a:srgbClr val="F7F8FA"/>
                    </a:solidFill>
                  </a:tcPr>
                </a:tc>
                <a:tc>
                  <a:txBody>
                    <a:bodyPr wrap="square"/>
                    <a:lstStyle/>
                    <a:p>
                      <a:pPr algn="ctr"/>
                      <a:r>
                        <a:rPr sz="1000" b="0">
                          <a:solidFill>
                            <a:srgbClr val="182433"/>
                          </a:solidFill>
                          <a:latin typeface="Calibri"/>
                        </a:rPr>
                        <a:t>Market-consensus value for senior unsecured</a:t>
                      </a:r>
                    </a:p>
                  </a:txBody>
                  <a:tcPr marL="50800" marR="50800" marT="25400" marB="25400" anchor="ctr">
                    <a:solidFill>
                      <a:srgbClr val="F7F8FA"/>
                    </a:solidFill>
                  </a:tcPr>
                </a:tc>
              </a:tr>
              <a:tr h="605790">
                <a:tc>
                  <a:txBody>
                    <a:bodyPr wrap="square"/>
                    <a:lstStyle/>
                    <a:p>
                      <a:pPr algn="l"/>
                      <a:r>
                        <a:rPr sz="1000" b="0">
                          <a:solidFill>
                            <a:srgbClr val="182433"/>
                          </a:solidFill>
                          <a:latin typeface="Calibri"/>
                        </a:rPr>
                        <a:t>Margin period of risk (MPOR)</a:t>
                      </a:r>
                    </a:p>
                  </a:txBody>
                  <a:tcPr marL="50800" marR="50800" marT="25400" marB="25400" anchor="ctr">
                    <a:solidFill>
                      <a:srgbClr val="FFFFFF"/>
                    </a:solidFill>
                  </a:tcPr>
                </a:tc>
                <a:tc>
                  <a:txBody>
                    <a:bodyPr wrap="square"/>
                    <a:lstStyle/>
                    <a:p>
                      <a:pPr algn="ctr"/>
                      <a:r>
                        <a:rPr sz="1000" b="0">
                          <a:solidFill>
                            <a:srgbClr val="182433"/>
                          </a:solidFill>
                          <a:latin typeface="Calibri"/>
                        </a:rPr>
                        <a:t>10 business days</a:t>
                      </a:r>
                    </a:p>
                  </a:txBody>
                  <a:tcPr marL="50800" marR="50800" marT="25400" marB="25400" anchor="ctr">
                    <a:solidFill>
                      <a:srgbClr val="FFFFFF"/>
                    </a:solidFill>
                  </a:tcPr>
                </a:tc>
                <a:tc>
                  <a:txBody>
                    <a:bodyPr wrap="square"/>
                    <a:lstStyle/>
                    <a:p>
                      <a:pPr algn="ctr"/>
                      <a:r>
                        <a:rPr sz="1000" b="0">
                          <a:solidFill>
                            <a:srgbClr val="182433"/>
                          </a:solidFill>
                          <a:latin typeface="Calibri"/>
                        </a:rPr>
                        <a:t>Close-out exposure window</a:t>
                      </a:r>
                    </a:p>
                  </a:txBody>
                  <a:tcPr marL="50800" marR="50800" marT="25400" marB="25400" anchor="ctr">
                    <a:solidFill>
                      <a:srgbClr val="FFFFFF"/>
                    </a:solidFill>
                  </a:tcPr>
                </a:tc>
                <a:tc>
                  <a:txBody>
                    <a:bodyPr wrap="square"/>
                    <a:lstStyle/>
                    <a:p>
                      <a:pPr algn="ctr"/>
                      <a:r>
                        <a:rPr sz="1000" b="0">
                          <a:solidFill>
                            <a:srgbClr val="182433"/>
                          </a:solidFill>
                          <a:latin typeface="Calibri"/>
                        </a:rPr>
                        <a:t>Per the brief; not varied</a:t>
                      </a:r>
                    </a:p>
                  </a:txBody>
                  <a:tcPr marL="50800" marR="50800" marT="25400" marB="25400" anchor="ctr">
                    <a:solidFill>
                      <a:srgbClr val="FFFFFF"/>
                    </a:solidFill>
                  </a:tcPr>
                </a:tc>
              </a:tr>
              <a:tr h="605790">
                <a:tc>
                  <a:txBody>
                    <a:bodyPr wrap="square"/>
                    <a:lstStyle/>
                    <a:p>
                      <a:pPr algn="l"/>
                      <a:r>
                        <a:rPr sz="1000" b="0">
                          <a:solidFill>
                            <a:srgbClr val="182433"/>
                          </a:solidFill>
                          <a:latin typeface="Calibri"/>
                        </a:rPr>
                        <a:t>Collateral / CSA terms</a:t>
                      </a:r>
                    </a:p>
                  </a:txBody>
                  <a:tcPr marL="50800" marR="50800" marT="25400" marB="25400" anchor="ctr">
                    <a:solidFill>
                      <a:srgbClr val="F7F8FA"/>
                    </a:solidFill>
                  </a:tcPr>
                </a:tc>
                <a:tc>
                  <a:txBody>
                    <a:bodyPr wrap="square"/>
                    <a:lstStyle/>
                    <a:p>
                      <a:pPr algn="ctr"/>
                      <a:r>
                        <a:rPr sz="1000" b="0">
                          <a:solidFill>
                            <a:srgbClr val="182433"/>
                          </a:solidFill>
                          <a:latin typeface="Calibri"/>
                        </a:rPr>
                        <a:t>None (uncollateralized)</a:t>
                      </a:r>
                    </a:p>
                  </a:txBody>
                  <a:tcPr marL="50800" marR="50800" marT="25400" marB="25400" anchor="ctr">
                    <a:solidFill>
                      <a:srgbClr val="F7F8FA"/>
                    </a:solidFill>
                  </a:tcPr>
                </a:tc>
                <a:tc>
                  <a:txBody>
                    <a:bodyPr wrap="square"/>
                    <a:lstStyle/>
                    <a:p>
                      <a:pPr algn="ctr"/>
                      <a:r>
                        <a:rPr sz="1000" b="0">
                          <a:solidFill>
                            <a:srgbClr val="182433"/>
                          </a:solidFill>
                          <a:latin typeface="Calibri"/>
                        </a:rPr>
                        <a:t>Headline vs. level exposure choice</a:t>
                      </a:r>
                    </a:p>
                  </a:txBody>
                  <a:tcPr marL="50800" marR="50800" marT="25400" marB="25400" anchor="ctr">
                    <a:solidFill>
                      <a:srgbClr val="F7F8FA"/>
                    </a:solidFill>
                  </a:tcPr>
                </a:tc>
                <a:tc>
                  <a:txBody>
                    <a:bodyPr wrap="square"/>
                    <a:lstStyle/>
                    <a:p>
                      <a:pPr algn="ctr"/>
                      <a:r>
                        <a:rPr sz="1000" b="0">
                          <a:solidFill>
                            <a:srgbClr val="182433"/>
                          </a:solidFill>
                          <a:latin typeface="Calibri"/>
                        </a:rPr>
                        <a:t>MPOR illustration: CPTY_C moves 82% if margined</a:t>
                      </a:r>
                    </a:p>
                  </a:txBody>
                  <a:tcPr marL="50800" marR="50800" marT="25400" marB="25400" anchor="ctr">
                    <a:solidFill>
                      <a:srgbClr val="F7F8FA"/>
                    </a:solidFill>
                  </a:tcPr>
                </a:tc>
              </a:tr>
              <a:tr h="605790">
                <a:tc>
                  <a:txBody>
                    <a:bodyPr wrap="square"/>
                    <a:lstStyle/>
                    <a:p>
                      <a:pPr algn="l"/>
                      <a:r>
                        <a:rPr sz="1000" b="0">
                          <a:solidFill>
                            <a:srgbClr val="182433"/>
                          </a:solidFill>
                          <a:latin typeface="Calibri"/>
                        </a:rPr>
                        <a:t>Correlation structure</a:t>
                      </a:r>
                    </a:p>
                  </a:txBody>
                  <a:tcPr marL="50800" marR="50800" marT="25400" marB="25400" anchor="ctr">
                    <a:solidFill>
                      <a:srgbClr val="FFFFFF"/>
                    </a:solidFill>
                  </a:tcPr>
                </a:tc>
                <a:tc>
                  <a:txBody>
                    <a:bodyPr wrap="square"/>
                    <a:lstStyle/>
                    <a:p>
                      <a:pPr algn="ctr"/>
                      <a:r>
                        <a:rPr sz="1000" b="0">
                          <a:solidFill>
                            <a:srgbClr val="182433"/>
                          </a:solidFill>
                          <a:latin typeface="Calibri"/>
                        </a:rPr>
                        <a:t>Static over 1-year horizon</a:t>
                      </a:r>
                    </a:p>
                  </a:txBody>
                  <a:tcPr marL="50800" marR="50800" marT="25400" marB="25400" anchor="ctr">
                    <a:solidFill>
                      <a:srgbClr val="FFFFFF"/>
                    </a:solidFill>
                  </a:tcPr>
                </a:tc>
                <a:tc>
                  <a:txBody>
                    <a:bodyPr wrap="square"/>
                    <a:lstStyle/>
                    <a:p>
                      <a:pPr algn="ctr"/>
                      <a:r>
                        <a:rPr sz="1000" b="0">
                          <a:solidFill>
                            <a:srgbClr val="182433"/>
                          </a:solidFill>
                          <a:latin typeface="Calibri"/>
                        </a:rPr>
                        <a:t>All joint simulation</a:t>
                      </a:r>
                    </a:p>
                  </a:txBody>
                  <a:tcPr marL="50800" marR="50800" marT="25400" marB="25400" anchor="ctr">
                    <a:solidFill>
                      <a:srgbClr val="FFFFFF"/>
                    </a:solidFill>
                  </a:tcPr>
                </a:tc>
                <a:tc>
                  <a:txBody>
                    <a:bodyPr wrap="square"/>
                    <a:lstStyle/>
                    <a:p>
                      <a:pPr algn="ctr"/>
                      <a:r>
                        <a:rPr sz="1000" b="0">
                          <a:solidFill>
                            <a:srgbClr val="182433"/>
                          </a:solidFill>
                          <a:latin typeface="Calibri"/>
                        </a:rPr>
                        <a:t>+30% toward 1: portfolio MPE99 +22%</a:t>
                      </a:r>
                    </a:p>
                  </a:txBody>
                  <a:tcPr marL="50800" marR="50800" marT="25400" marB="25400" anchor="ctr">
                    <a:solidFill>
                      <a:srgbClr val="FFFFFF"/>
                    </a:solidFill>
                  </a:tcPr>
                </a:tc>
              </a:tr>
              <a:tr h="605790">
                <a:tc>
                  <a:txBody>
                    <a:bodyPr wrap="square"/>
                    <a:lstStyle/>
                    <a:p>
                      <a:pPr algn="l"/>
                      <a:r>
                        <a:rPr sz="1000" b="0">
                          <a:solidFill>
                            <a:srgbClr val="182433"/>
                          </a:solidFill>
                          <a:latin typeface="Calibri"/>
                        </a:rPr>
                        <a:t>JPY mean reversion</a:t>
                      </a:r>
                    </a:p>
                  </a:txBody>
                  <a:tcPr marL="50800" marR="50800" marT="25400" marB="25400" anchor="ctr">
                    <a:solidFill>
                      <a:srgbClr val="F7F8FA"/>
                    </a:solidFill>
                  </a:tcPr>
                </a:tc>
                <a:tc>
                  <a:txBody>
                    <a:bodyPr wrap="square"/>
                    <a:lstStyle/>
                    <a:p>
                      <a:pPr algn="ctr"/>
                      <a:r>
                        <a:rPr sz="1000" b="0">
                          <a:solidFill>
                            <a:srgbClr val="182433"/>
                          </a:solidFill>
                          <a:latin typeface="Calibri"/>
                        </a:rPr>
                        <a:t>0.001 (lower bound)</a:t>
                      </a:r>
                    </a:p>
                  </a:txBody>
                  <a:tcPr marL="50800" marR="50800" marT="25400" marB="25400" anchor="ctr">
                    <a:solidFill>
                      <a:srgbClr val="F7F8FA"/>
                    </a:solidFill>
                  </a:tcPr>
                </a:tc>
                <a:tc>
                  <a:txBody>
                    <a:bodyPr wrap="square"/>
                    <a:lstStyle/>
                    <a:p>
                      <a:pPr algn="ctr"/>
                      <a:r>
                        <a:rPr sz="1000" b="0">
                          <a:solidFill>
                            <a:srgbClr val="182433"/>
                          </a:solidFill>
                          <a:latin typeface="Calibri"/>
                        </a:rPr>
                        <a:t>JPY factor dynamics</a:t>
                      </a:r>
                    </a:p>
                  </a:txBody>
                  <a:tcPr marL="50800" marR="50800" marT="25400" marB="25400" anchor="ctr">
                    <a:solidFill>
                      <a:srgbClr val="F7F8FA"/>
                    </a:solidFill>
                  </a:tcPr>
                </a:tc>
                <a:tc>
                  <a:txBody>
                    <a:bodyPr wrap="square"/>
                    <a:lstStyle/>
                    <a:p>
                      <a:pPr algn="ctr"/>
                      <a:r>
                        <a:rPr sz="1000" b="0">
                          <a:solidFill>
                            <a:srgbClr val="182433"/>
                          </a:solidFill>
                          <a:latin typeface="Calibri"/>
                        </a:rPr>
                        <a:t>Every real calibration route gave a negative value</a:t>
                      </a:r>
                    </a:p>
                  </a:txBody>
                  <a:tcPr marL="50800" marR="50800" marT="25400" marB="25400" anchor="ctr">
                    <a:solidFill>
                      <a:srgbClr val="F7F8FA"/>
                    </a:solidFill>
                  </a:tcPr>
                </a:tc>
              </a:tr>
              <a:tr h="605790">
                <a:tc>
                  <a:txBody>
                    <a:bodyPr wrap="square"/>
                    <a:lstStyle/>
                    <a:p>
                      <a:pPr algn="l"/>
                      <a:r>
                        <a:rPr sz="1000" b="0">
                          <a:solidFill>
                            <a:srgbClr val="182433"/>
                          </a:solidFill>
                          <a:latin typeface="Calibri"/>
                        </a:rPr>
                        <a:t>Own credit / funding spread</a:t>
                      </a:r>
                    </a:p>
                  </a:txBody>
                  <a:tcPr marL="50800" marR="50800" marT="25400" marB="25400" anchor="ctr">
                    <a:solidFill>
                      <a:srgbClr val="FFFFFF"/>
                    </a:solidFill>
                  </a:tcPr>
                </a:tc>
                <a:tc>
                  <a:txBody>
                    <a:bodyPr wrap="square"/>
                    <a:lstStyle/>
                    <a:p>
                      <a:pPr algn="ctr"/>
                      <a:r>
                        <a:rPr sz="1000" b="0">
                          <a:solidFill>
                            <a:srgbClr val="182433"/>
                          </a:solidFill>
                          <a:latin typeface="Calibri"/>
                        </a:rPr>
                        <a:t>= BBB counterparty proxy curve</a:t>
                      </a:r>
                    </a:p>
                  </a:txBody>
                  <a:tcPr marL="50800" marR="50800" marT="25400" marB="25400" anchor="ctr">
                    <a:solidFill>
                      <a:srgbClr val="FFFFFF"/>
                    </a:solidFill>
                  </a:tcPr>
                </a:tc>
                <a:tc>
                  <a:txBody>
                    <a:bodyPr wrap="square"/>
                    <a:lstStyle/>
                    <a:p>
                      <a:pPr algn="ctr"/>
                      <a:r>
                        <a:rPr sz="1000" b="0">
                          <a:solidFill>
                            <a:srgbClr val="182433"/>
                          </a:solidFill>
                          <a:latin typeface="Calibri"/>
                        </a:rPr>
                        <a:t>DVA, FVA</a:t>
                      </a:r>
                    </a:p>
                  </a:txBody>
                  <a:tcPr marL="50800" marR="50800" marT="25400" marB="25400" anchor="ctr">
                    <a:solidFill>
                      <a:srgbClr val="FFFFFF"/>
                    </a:solidFill>
                  </a:tcPr>
                </a:tc>
                <a:tc>
                  <a:txBody>
                    <a:bodyPr wrap="square"/>
                    <a:lstStyle/>
                    <a:p>
                      <a:pPr algn="ctr"/>
                      <a:r>
                        <a:rPr sz="1000" b="0">
                          <a:solidFill>
                            <a:srgbClr val="182433"/>
                          </a:solidFill>
                          <a:latin typeface="Calibri"/>
                        </a:rPr>
                        <a:t>Shown across AA to BB in Section 8.5</a:t>
                      </a:r>
                    </a:p>
                  </a:txBody>
                  <a:tcPr marL="50800" marR="50800" marT="25400" marB="25400"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Pipeline and Architecture</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Six stages, data to outputs; modular, reproducible, and fast</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Six Stages From Real Market Data to Every Risk Output</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1">
                <a:solidFill>
                  <a:srgbClr val="D2006F"/>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16</a:t>
            </a:r>
          </a:p>
        </p:txBody>
      </p:sp>
      <p:sp>
        <p:nvSpPr>
          <p:cNvPr id="6" name="Rectangle 5"/>
          <p:cNvSpPr/>
          <p:nvPr/>
        </p:nvSpPr>
        <p:spPr>
          <a:xfrm>
            <a:off x="457200" y="1417320"/>
            <a:ext cx="1810512"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17320"/>
            <a:ext cx="1810512" cy="457200"/>
          </a:xfrm>
          <a:prstGeom prst="rect">
            <a:avLst/>
          </a:prstGeom>
          <a:solidFill>
            <a:srgbClr val="18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1627632" cy="320040"/>
          </a:xfrm>
          <a:prstGeom prst="rect">
            <a:avLst/>
          </a:prstGeom>
          <a:noFill/>
        </p:spPr>
        <p:txBody>
          <a:bodyPr wrap="square" anchor="t" lIns="0" rIns="0" tIns="0" bIns="0">
            <a:spAutoFit/>
          </a:bodyPr>
          <a:lstStyle/>
          <a:p>
            <a:pPr algn="l"/>
            <a:r>
              <a:rPr sz="1200" b="1" i="0">
                <a:solidFill>
                  <a:srgbClr val="FFFFFF"/>
                </a:solidFill>
                <a:latin typeface="Cambria"/>
              </a:rPr>
              <a:t>1. Calibrate</a:t>
            </a:r>
          </a:p>
        </p:txBody>
      </p:sp>
      <p:sp>
        <p:nvSpPr>
          <p:cNvPr id="9" name="TextBox 8"/>
          <p:cNvSpPr txBox="1"/>
          <p:nvPr/>
        </p:nvSpPr>
        <p:spPr>
          <a:xfrm>
            <a:off x="548640" y="1965960"/>
            <a:ext cx="1627632" cy="1691640"/>
          </a:xfrm>
          <a:prstGeom prst="rect">
            <a:avLst/>
          </a:prstGeom>
          <a:noFill/>
        </p:spPr>
        <p:txBody>
          <a:bodyPr wrap="square" anchor="t" lIns="0" rIns="0" tIns="0" bIns="0">
            <a:spAutoFit/>
          </a:bodyPr>
          <a:lstStyle/>
          <a:p>
            <a:pPr algn="l"/>
            <a:r>
              <a:rPr sz="980" b="0" i="0">
                <a:solidFill>
                  <a:srgbClr val="182433"/>
                </a:solidFill>
                <a:latin typeface="Calibri"/>
              </a:rPr>
              <a:t>Curve (futures + long end), sigma, a, JPY factor, vols, correlation -- all from real data</a:t>
            </a:r>
          </a:p>
        </p:txBody>
      </p:sp>
      <p:sp>
        <p:nvSpPr>
          <p:cNvPr id="10" name="Right Arrow 9"/>
          <p:cNvSpPr/>
          <p:nvPr/>
        </p:nvSpPr>
        <p:spPr>
          <a:xfrm>
            <a:off x="2249424" y="2423160"/>
            <a:ext cx="128016" cy="274320"/>
          </a:xfrm>
          <a:prstGeom prst="rightArrow">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40864" y="1417320"/>
            <a:ext cx="1810512"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40864" y="1417320"/>
            <a:ext cx="1810512" cy="457200"/>
          </a:xfrm>
          <a:prstGeom prst="rect">
            <a:avLst/>
          </a:prstGeom>
          <a:solidFill>
            <a:srgbClr val="18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32304" y="1508760"/>
            <a:ext cx="1627632" cy="320040"/>
          </a:xfrm>
          <a:prstGeom prst="rect">
            <a:avLst/>
          </a:prstGeom>
          <a:noFill/>
        </p:spPr>
        <p:txBody>
          <a:bodyPr wrap="square" anchor="t" lIns="0" rIns="0" tIns="0" bIns="0">
            <a:spAutoFit/>
          </a:bodyPr>
          <a:lstStyle/>
          <a:p>
            <a:pPr algn="l"/>
            <a:r>
              <a:rPr sz="1200" b="1" i="0">
                <a:solidFill>
                  <a:srgbClr val="FFFFFF"/>
                </a:solidFill>
                <a:latin typeface="Cambria"/>
              </a:rPr>
              <a:t>2. Grid</a:t>
            </a:r>
          </a:p>
        </p:txBody>
      </p:sp>
      <p:sp>
        <p:nvSpPr>
          <p:cNvPr id="14" name="TextBox 13"/>
          <p:cNvSpPr txBox="1"/>
          <p:nvPr/>
        </p:nvSpPr>
        <p:spPr>
          <a:xfrm>
            <a:off x="2432304" y="1965960"/>
            <a:ext cx="1627632" cy="1691640"/>
          </a:xfrm>
          <a:prstGeom prst="rect">
            <a:avLst/>
          </a:prstGeom>
          <a:noFill/>
        </p:spPr>
        <p:txBody>
          <a:bodyPr wrap="square" anchor="t" lIns="0" rIns="0" tIns="0" bIns="0">
            <a:spAutoFit/>
          </a:bodyPr>
          <a:lstStyle/>
          <a:p>
            <a:pPr algn="l"/>
            <a:r>
              <a:rPr sz="980" b="0" i="0">
                <a:solidFill>
                  <a:srgbClr val="182433"/>
                </a:solidFill>
                <a:latin typeface="Calibri"/>
              </a:rPr>
              <a:t>Pillar dates + every trade's reset/maturity + t-1bd / t+10bd nodes around each reporting date</a:t>
            </a:r>
          </a:p>
        </p:txBody>
      </p:sp>
      <p:sp>
        <p:nvSpPr>
          <p:cNvPr id="15" name="Right Arrow 14"/>
          <p:cNvSpPr/>
          <p:nvPr/>
        </p:nvSpPr>
        <p:spPr>
          <a:xfrm>
            <a:off x="4133088" y="2423160"/>
            <a:ext cx="128016" cy="274320"/>
          </a:xfrm>
          <a:prstGeom prst="rightArrow">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4528" y="1417320"/>
            <a:ext cx="1810512"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1417320"/>
            <a:ext cx="1810512" cy="457200"/>
          </a:xfrm>
          <a:prstGeom prst="rect">
            <a:avLst/>
          </a:prstGeom>
          <a:solidFill>
            <a:srgbClr val="18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5968" y="1508760"/>
            <a:ext cx="1627632" cy="320040"/>
          </a:xfrm>
          <a:prstGeom prst="rect">
            <a:avLst/>
          </a:prstGeom>
          <a:noFill/>
        </p:spPr>
        <p:txBody>
          <a:bodyPr wrap="square" anchor="t" lIns="0" rIns="0" tIns="0" bIns="0">
            <a:spAutoFit/>
          </a:bodyPr>
          <a:lstStyle/>
          <a:p>
            <a:pPr algn="l"/>
            <a:r>
              <a:rPr sz="1200" b="1" i="0">
                <a:solidFill>
                  <a:srgbClr val="FFFFFF"/>
                </a:solidFill>
                <a:latin typeface="Cambria"/>
              </a:rPr>
              <a:t>3. Draw</a:t>
            </a:r>
          </a:p>
        </p:txBody>
      </p:sp>
      <p:sp>
        <p:nvSpPr>
          <p:cNvPr id="19" name="TextBox 18"/>
          <p:cNvSpPr txBox="1"/>
          <p:nvPr/>
        </p:nvSpPr>
        <p:spPr>
          <a:xfrm>
            <a:off x="4315968" y="1965960"/>
            <a:ext cx="1627632" cy="1691640"/>
          </a:xfrm>
          <a:prstGeom prst="rect">
            <a:avLst/>
          </a:prstGeom>
          <a:noFill/>
        </p:spPr>
        <p:txBody>
          <a:bodyPr wrap="square" anchor="t" lIns="0" rIns="0" tIns="0" bIns="0">
            <a:spAutoFit/>
          </a:bodyPr>
          <a:lstStyle/>
          <a:p>
            <a:pPr algn="l"/>
            <a:r>
              <a:rPr sz="980" b="0" i="0">
                <a:solidFill>
                  <a:srgbClr val="182433"/>
                </a:solidFill>
                <a:latin typeface="Calibri"/>
              </a:rPr>
              <a:t>Random numbers (Latin Hypercube) -&gt; correlated shocks via Cholesky (or PCA)</a:t>
            </a:r>
          </a:p>
        </p:txBody>
      </p:sp>
      <p:sp>
        <p:nvSpPr>
          <p:cNvPr id="20" name="Right Arrow 19"/>
          <p:cNvSpPr/>
          <p:nvPr/>
        </p:nvSpPr>
        <p:spPr>
          <a:xfrm>
            <a:off x="6016752" y="2423160"/>
            <a:ext cx="128016" cy="274320"/>
          </a:xfrm>
          <a:prstGeom prst="rightArrow">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08192" y="1417320"/>
            <a:ext cx="1810512"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08192" y="1417320"/>
            <a:ext cx="1810512" cy="457200"/>
          </a:xfrm>
          <a:prstGeom prst="rect">
            <a:avLst/>
          </a:prstGeom>
          <a:solidFill>
            <a:srgbClr val="18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9632" y="1508760"/>
            <a:ext cx="1627632" cy="320040"/>
          </a:xfrm>
          <a:prstGeom prst="rect">
            <a:avLst/>
          </a:prstGeom>
          <a:noFill/>
        </p:spPr>
        <p:txBody>
          <a:bodyPr wrap="square" anchor="t" lIns="0" rIns="0" tIns="0" bIns="0">
            <a:spAutoFit/>
          </a:bodyPr>
          <a:lstStyle/>
          <a:p>
            <a:pPr algn="l"/>
            <a:r>
              <a:rPr sz="1200" b="1" i="0">
                <a:solidFill>
                  <a:srgbClr val="FFFFFF"/>
                </a:solidFill>
                <a:latin typeface="Cambria"/>
              </a:rPr>
              <a:t>4. Step</a:t>
            </a:r>
          </a:p>
        </p:txBody>
      </p:sp>
      <p:sp>
        <p:nvSpPr>
          <p:cNvPr id="24" name="TextBox 23"/>
          <p:cNvSpPr txBox="1"/>
          <p:nvPr/>
        </p:nvSpPr>
        <p:spPr>
          <a:xfrm>
            <a:off x="6199632" y="1965960"/>
            <a:ext cx="1627632" cy="1691640"/>
          </a:xfrm>
          <a:prstGeom prst="rect">
            <a:avLst/>
          </a:prstGeom>
          <a:noFill/>
        </p:spPr>
        <p:txBody>
          <a:bodyPr wrap="square" anchor="t" lIns="0" rIns="0" tIns="0" bIns="0">
            <a:spAutoFit/>
          </a:bodyPr>
          <a:lstStyle/>
          <a:p>
            <a:pPr algn="l"/>
            <a:r>
              <a:rPr sz="980" b="0" i="0">
                <a:solidFill>
                  <a:srgbClr val="182433"/>
                </a:solidFill>
                <a:latin typeface="Calibri"/>
              </a:rPr>
              <a:t>Advance USD and JPY short rates, 37 equities and USDJPY along every path</a:t>
            </a:r>
          </a:p>
        </p:txBody>
      </p:sp>
      <p:sp>
        <p:nvSpPr>
          <p:cNvPr id="25" name="Right Arrow 24"/>
          <p:cNvSpPr/>
          <p:nvPr/>
        </p:nvSpPr>
        <p:spPr>
          <a:xfrm>
            <a:off x="7900416" y="2423160"/>
            <a:ext cx="128016" cy="274320"/>
          </a:xfrm>
          <a:prstGeom prst="rightArrow">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991856" y="1417320"/>
            <a:ext cx="1810512"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991856" y="1417320"/>
            <a:ext cx="1810512" cy="457200"/>
          </a:xfrm>
          <a:prstGeom prst="rect">
            <a:avLst/>
          </a:prstGeom>
          <a:solidFill>
            <a:srgbClr val="18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83296" y="1508760"/>
            <a:ext cx="1627632" cy="320040"/>
          </a:xfrm>
          <a:prstGeom prst="rect">
            <a:avLst/>
          </a:prstGeom>
          <a:noFill/>
        </p:spPr>
        <p:txBody>
          <a:bodyPr wrap="square" anchor="t" lIns="0" rIns="0" tIns="0" bIns="0">
            <a:spAutoFit/>
          </a:bodyPr>
          <a:lstStyle/>
          <a:p>
            <a:pPr algn="l"/>
            <a:r>
              <a:rPr sz="1200" b="1" i="0">
                <a:solidFill>
                  <a:srgbClr val="FFFFFF"/>
                </a:solidFill>
                <a:latin typeface="Cambria"/>
              </a:rPr>
              <a:t>5. Reprice</a:t>
            </a:r>
          </a:p>
        </p:txBody>
      </p:sp>
      <p:sp>
        <p:nvSpPr>
          <p:cNvPr id="29" name="TextBox 28"/>
          <p:cNvSpPr txBox="1"/>
          <p:nvPr/>
        </p:nvSpPr>
        <p:spPr>
          <a:xfrm>
            <a:off x="8083296" y="1965960"/>
            <a:ext cx="1627632" cy="1691640"/>
          </a:xfrm>
          <a:prstGeom prst="rect">
            <a:avLst/>
          </a:prstGeom>
          <a:noFill/>
        </p:spPr>
        <p:txBody>
          <a:bodyPr wrap="square" anchor="t" lIns="0" rIns="0" tIns="0" bIns="0">
            <a:spAutoFit/>
          </a:bodyPr>
          <a:lstStyle/>
          <a:p>
            <a:pPr algn="l"/>
            <a:r>
              <a:rPr sz="980" b="0" i="0">
                <a:solidFill>
                  <a:srgbClr val="182433"/>
                </a:solidFill>
                <a:latin typeface="Calibri"/>
              </a:rPr>
              <a:t>For every (scenario, node): build a MarketState, call npv() of all 16 trades -- unmodified pricer library</a:t>
            </a:r>
          </a:p>
        </p:txBody>
      </p:sp>
      <p:sp>
        <p:nvSpPr>
          <p:cNvPr id="30" name="Right Arrow 29"/>
          <p:cNvSpPr/>
          <p:nvPr/>
        </p:nvSpPr>
        <p:spPr>
          <a:xfrm>
            <a:off x="9784080" y="2423160"/>
            <a:ext cx="128016" cy="274320"/>
          </a:xfrm>
          <a:prstGeom prst="rightArrow">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875520" y="1417320"/>
            <a:ext cx="1810512"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875520" y="1417320"/>
            <a:ext cx="1810512" cy="457200"/>
          </a:xfrm>
          <a:prstGeom prst="rect">
            <a:avLst/>
          </a:prstGeom>
          <a:solidFill>
            <a:srgbClr val="18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66960" y="1508760"/>
            <a:ext cx="1627632" cy="320040"/>
          </a:xfrm>
          <a:prstGeom prst="rect">
            <a:avLst/>
          </a:prstGeom>
          <a:noFill/>
        </p:spPr>
        <p:txBody>
          <a:bodyPr wrap="square" anchor="t" lIns="0" rIns="0" tIns="0" bIns="0">
            <a:spAutoFit/>
          </a:bodyPr>
          <a:lstStyle/>
          <a:p>
            <a:pPr algn="l"/>
            <a:r>
              <a:rPr sz="1200" b="1" i="0">
                <a:solidFill>
                  <a:srgbClr val="FFFFFF"/>
                </a:solidFill>
                <a:latin typeface="Cambria"/>
              </a:rPr>
              <a:t>6. Aggregate</a:t>
            </a:r>
          </a:p>
        </p:txBody>
      </p:sp>
      <p:sp>
        <p:nvSpPr>
          <p:cNvPr id="34" name="TextBox 33"/>
          <p:cNvSpPr txBox="1"/>
          <p:nvPr/>
        </p:nvSpPr>
        <p:spPr>
          <a:xfrm>
            <a:off x="9966960" y="1965960"/>
            <a:ext cx="1627632" cy="1691640"/>
          </a:xfrm>
          <a:prstGeom prst="rect">
            <a:avLst/>
          </a:prstGeom>
          <a:noFill/>
        </p:spPr>
        <p:txBody>
          <a:bodyPr wrap="square" anchor="t" lIns="0" rIns="0" tIns="0" bIns="0">
            <a:spAutoFit/>
          </a:bodyPr>
          <a:lstStyle/>
          <a:p>
            <a:pPr algn="l"/>
            <a:r>
              <a:rPr sz="980" b="0" i="0">
                <a:solidFill>
                  <a:srgbClr val="182433"/>
                </a:solidFill>
                <a:latin typeface="Calibri"/>
              </a:rPr>
              <a:t>max(V(t+10bd)-V(t-1bd),0), netted by counterparty -&gt; EE, median PFE, PFE99, MPE</a:t>
            </a:r>
          </a:p>
        </p:txBody>
      </p:sp>
      <p:sp>
        <p:nvSpPr>
          <p:cNvPr id="35" name="TextBox 34"/>
          <p:cNvSpPr txBox="1"/>
          <p:nvPr/>
        </p:nvSpPr>
        <p:spPr>
          <a:xfrm>
            <a:off x="457200" y="3931920"/>
            <a:ext cx="11247120" cy="365760"/>
          </a:xfrm>
          <a:prstGeom prst="rect">
            <a:avLst/>
          </a:prstGeom>
          <a:noFill/>
        </p:spPr>
        <p:txBody>
          <a:bodyPr wrap="square" anchor="t" lIns="0" rIns="0" tIns="0" bIns="0">
            <a:spAutoFit/>
          </a:bodyPr>
          <a:lstStyle/>
          <a:p>
            <a:pPr algn="l"/>
            <a:r>
              <a:rPr sz="1400" b="1" i="0">
                <a:solidFill>
                  <a:srgbClr val="182433"/>
                </a:solidFill>
                <a:latin typeface="Cambria"/>
              </a:rPr>
              <a:t>Speed: three bottlenecks fixed</a:t>
            </a:r>
          </a:p>
        </p:txBody>
      </p:sp>
      <p:graphicFrame>
        <p:nvGraphicFramePr>
          <p:cNvPr id="36" name="Table 35"/>
          <p:cNvGraphicFramePr>
            <a:graphicFrameLocks noGrp="1"/>
          </p:cNvGraphicFramePr>
          <p:nvPr/>
        </p:nvGraphicFramePr>
        <p:xfrm>
          <a:off x="457200" y="4343400"/>
          <a:ext cx="11247117" cy="1828800"/>
        </p:xfrm>
        <a:graphic>
          <a:graphicData uri="http://schemas.openxmlformats.org/drawingml/2006/table">
            <a:tbl>
              <a:tblPr firstRow="1" bandRow="1">
                <a:tableStyleId>{5C22544A-7EE6-4342-B048-85BDC9FD1C3A}</a:tableStyleId>
              </a:tblPr>
              <a:tblGrid>
                <a:gridCol w="3291840"/>
                <a:gridCol w="3474719"/>
                <a:gridCol w="1920239"/>
                <a:gridCol w="2560319"/>
              </a:tblGrid>
              <a:tr h="457200">
                <a:tc>
                  <a:txBody>
                    <a:bodyPr wrap="square"/>
                    <a:lstStyle/>
                    <a:p>
                      <a:pPr algn="l"/>
                      <a:r>
                        <a:rPr sz="1080" b="1">
                          <a:solidFill>
                            <a:srgbClr val="FFFFFF"/>
                          </a:solidFill>
                          <a:latin typeface="Calibri"/>
                        </a:rPr>
                        <a:t>Bottleneck</a:t>
                      </a:r>
                    </a:p>
                  </a:txBody>
                  <a:tcPr marL="50800" marR="50800" marT="25400" marB="25400" anchor="ctr">
                    <a:solidFill>
                      <a:srgbClr val="182433"/>
                    </a:solidFill>
                  </a:tcPr>
                </a:tc>
                <a:tc>
                  <a:txBody>
                    <a:bodyPr wrap="square"/>
                    <a:lstStyle/>
                    <a:p>
                      <a:pPr algn="ctr"/>
                      <a:r>
                        <a:rPr sz="1080" b="1">
                          <a:solidFill>
                            <a:srgbClr val="FFFFFF"/>
                          </a:solidFill>
                          <a:latin typeface="Calibri"/>
                        </a:rPr>
                        <a:t>Fix</a:t>
                      </a:r>
                    </a:p>
                  </a:txBody>
                  <a:tcPr marL="50800" marR="50800" marT="25400" marB="25400" anchor="ctr">
                    <a:solidFill>
                      <a:srgbClr val="182433"/>
                    </a:solidFill>
                  </a:tcPr>
                </a:tc>
                <a:tc>
                  <a:txBody>
                    <a:bodyPr wrap="square"/>
                    <a:lstStyle/>
                    <a:p>
                      <a:pPr algn="ctr"/>
                      <a:r>
                        <a:rPr sz="1080" b="1">
                          <a:solidFill>
                            <a:srgbClr val="FFFFFF"/>
                          </a:solidFill>
                          <a:latin typeface="Calibri"/>
                        </a:rPr>
                        <a:t>Before</a:t>
                      </a:r>
                    </a:p>
                  </a:txBody>
                  <a:tcPr marL="50800" marR="50800" marT="25400" marB="25400" anchor="ctr">
                    <a:solidFill>
                      <a:srgbClr val="182433"/>
                    </a:solidFill>
                  </a:tcPr>
                </a:tc>
                <a:tc>
                  <a:txBody>
                    <a:bodyPr wrap="square"/>
                    <a:lstStyle/>
                    <a:p>
                      <a:pPr algn="ctr"/>
                      <a:r>
                        <a:rPr sz="1080" b="1">
                          <a:solidFill>
                            <a:srgbClr val="FFFFFF"/>
                          </a:solidFill>
                          <a:latin typeface="Calibri"/>
                        </a:rPr>
                        <a:t>After</a:t>
                      </a:r>
                    </a:p>
                  </a:txBody>
                  <a:tcPr marL="50800" marR="50800" marT="25400" marB="25400" anchor="ctr">
                    <a:solidFill>
                      <a:srgbClr val="182433"/>
                    </a:solidFill>
                  </a:tcPr>
                </a:tc>
              </a:tr>
              <a:tr h="457200">
                <a:tc>
                  <a:txBody>
                    <a:bodyPr wrap="square"/>
                    <a:lstStyle/>
                    <a:p>
                      <a:pPr algn="l"/>
                      <a:r>
                        <a:rPr sz="1030" b="0">
                          <a:solidFill>
                            <a:srgbClr val="182433"/>
                          </a:solidFill>
                          <a:latin typeface="Calibri"/>
                        </a:rPr>
                        <a:t>Discount curve per (scenario, node)</a:t>
                      </a:r>
                    </a:p>
                  </a:txBody>
                  <a:tcPr marL="50800" marR="50800" marT="25400" marB="25400" anchor="ctr">
                    <a:solidFill>
                      <a:srgbClr val="FFFFFF"/>
                    </a:solidFill>
                  </a:tcPr>
                </a:tc>
                <a:tc>
                  <a:txBody>
                    <a:bodyPr wrap="square"/>
                    <a:lstStyle/>
                    <a:p>
                      <a:pPr algn="ctr"/>
                      <a:r>
                        <a:rPr sz="1030" b="0">
                          <a:solidFill>
                            <a:srgbClr val="182433"/>
                          </a:solidFill>
                          <a:latin typeface="Calibri"/>
                        </a:rPr>
                        <a:t>Analytic Hull-White bond price, not a Curve object</a:t>
                      </a:r>
                    </a:p>
                  </a:txBody>
                  <a:tcPr marL="50800" marR="50800" marT="25400" marB="25400" anchor="ctr">
                    <a:solidFill>
                      <a:srgbClr val="FFFFFF"/>
                    </a:solidFill>
                  </a:tcPr>
                </a:tc>
                <a:tc>
                  <a:txBody>
                    <a:bodyPr wrap="square"/>
                    <a:lstStyle/>
                    <a:p>
                      <a:pPr algn="ctr"/>
                      <a:r>
                        <a:rPr sz="1030" b="0">
                          <a:solidFill>
                            <a:srgbClr val="182433"/>
                          </a:solidFill>
                          <a:latin typeface="Calibri"/>
                        </a:rPr>
                        <a:t>0.206 ms/call</a:t>
                      </a:r>
                    </a:p>
                  </a:txBody>
                  <a:tcPr marL="50800" marR="50800" marT="25400" marB="25400" anchor="ctr">
                    <a:solidFill>
                      <a:srgbClr val="FFFFFF"/>
                    </a:solidFill>
                  </a:tcPr>
                </a:tc>
                <a:tc>
                  <a:txBody>
                    <a:bodyPr wrap="square"/>
                    <a:lstStyle/>
                    <a:p>
                      <a:pPr algn="ctr"/>
                      <a:r>
                        <a:rPr sz="1030" b="0">
                          <a:solidFill>
                            <a:srgbClr val="182433"/>
                          </a:solidFill>
                          <a:latin typeface="Calibri"/>
                        </a:rPr>
                        <a:t>0.019 ms/call (10.6x, exact)</a:t>
                      </a:r>
                    </a:p>
                  </a:txBody>
                  <a:tcPr marL="50800" marR="50800" marT="25400" marB="25400" anchor="ctr">
                    <a:solidFill>
                      <a:srgbClr val="FFFFFF"/>
                    </a:solidFill>
                  </a:tcPr>
                </a:tc>
              </a:tr>
              <a:tr h="457200">
                <a:tc>
                  <a:txBody>
                    <a:bodyPr wrap="square"/>
                    <a:lstStyle/>
                    <a:p>
                      <a:pPr algn="l"/>
                      <a:r>
                        <a:rPr sz="1030" b="0">
                          <a:solidFill>
                            <a:srgbClr val="182433"/>
                          </a:solidFill>
                          <a:latin typeface="Calibri"/>
                        </a:rPr>
                        <a:t>Pure-Python pricers (~1.2ms each)</a:t>
                      </a:r>
                    </a:p>
                  </a:txBody>
                  <a:tcPr marL="50800" marR="50800" marT="25400" marB="25400" anchor="ctr">
                    <a:solidFill>
                      <a:srgbClr val="F7F8FA"/>
                    </a:solidFill>
                  </a:tcPr>
                </a:tc>
                <a:tc>
                  <a:txBody>
                    <a:bodyPr wrap="square"/>
                    <a:lstStyle/>
                    <a:p>
                      <a:pPr algn="ctr"/>
                      <a:r>
                        <a:rPr sz="1030" b="0">
                          <a:solidFill>
                            <a:srgbClr val="182433"/>
                          </a:solidFill>
                          <a:latin typeface="Calibri"/>
                        </a:rPr>
                        <a:t>Multiprocessing over scenarios, 8 workers</a:t>
                      </a:r>
                    </a:p>
                  </a:txBody>
                  <a:tcPr marL="50800" marR="50800" marT="25400" marB="25400" anchor="ctr">
                    <a:solidFill>
                      <a:srgbClr val="F7F8FA"/>
                    </a:solidFill>
                  </a:tcPr>
                </a:tc>
                <a:tc>
                  <a:txBody>
                    <a:bodyPr wrap="square"/>
                    <a:lstStyle/>
                    <a:p>
                      <a:pPr algn="ctr"/>
                      <a:r>
                        <a:rPr sz="1030" b="0">
                          <a:solidFill>
                            <a:srgbClr val="182433"/>
                          </a:solidFill>
                          <a:latin typeface="Calibri"/>
                        </a:rPr>
                        <a:t>113 ms/scenario</a:t>
                      </a:r>
                    </a:p>
                  </a:txBody>
                  <a:tcPr marL="50800" marR="50800" marT="25400" marB="25400" anchor="ctr">
                    <a:solidFill>
                      <a:srgbClr val="F7F8FA"/>
                    </a:solidFill>
                  </a:tcPr>
                </a:tc>
                <a:tc>
                  <a:txBody>
                    <a:bodyPr wrap="square"/>
                    <a:lstStyle/>
                    <a:p>
                      <a:pPr algn="ctr"/>
                      <a:r>
                        <a:rPr sz="1030" b="0">
                          <a:solidFill>
                            <a:srgbClr val="182433"/>
                          </a:solidFill>
                          <a:latin typeface="Calibri"/>
                        </a:rPr>
                        <a:t>51 ms/scenario</a:t>
                      </a:r>
                    </a:p>
                  </a:txBody>
                  <a:tcPr marL="50800" marR="50800" marT="25400" marB="25400" anchor="ctr">
                    <a:solidFill>
                      <a:srgbClr val="F7F8FA"/>
                    </a:solidFill>
                  </a:tcPr>
                </a:tc>
              </a:tr>
              <a:tr h="457200">
                <a:tc>
                  <a:txBody>
                    <a:bodyPr wrap="square"/>
                    <a:lstStyle/>
                    <a:p>
                      <a:pPr algn="l"/>
                      <a:r>
                        <a:rPr sz="1030" b="0">
                          <a:solidFill>
                            <a:srgbClr val="182433"/>
                          </a:solidFill>
                          <a:latin typeface="Calibri"/>
                        </a:rPr>
                        <a:t>Combined, 2,000 scenarios x 16 trades</a:t>
                      </a:r>
                    </a:p>
                  </a:txBody>
                  <a:tcPr marL="50800" marR="50800" marT="25400" marB="25400" anchor="ctr">
                    <a:solidFill>
                      <a:srgbClr val="FFFFFF"/>
                    </a:solidFill>
                  </a:tcPr>
                </a:tc>
                <a:tc>
                  <a:txBody>
                    <a:bodyPr wrap="square"/>
                    <a:lstStyle/>
                    <a:p>
                      <a:pPr algn="ctr"/>
                      <a:r>
                        <a:rPr sz="1030" b="0">
                          <a:solidFill>
                            <a:srgbClr val="182433"/>
                          </a:solidFill>
                          <a:latin typeface="Calibri"/>
                        </a:rPr>
                        <a:t>Both fixes together</a:t>
                      </a:r>
                    </a:p>
                  </a:txBody>
                  <a:tcPr marL="50800" marR="50800" marT="25400" marB="25400" anchor="ctr">
                    <a:solidFill>
                      <a:srgbClr val="FFFFFF"/>
                    </a:solidFill>
                  </a:tcPr>
                </a:tc>
                <a:tc>
                  <a:txBody>
                    <a:bodyPr wrap="square"/>
                    <a:lstStyle/>
                    <a:p>
                      <a:pPr algn="ctr"/>
                      <a:r>
                        <a:rPr sz="1030" b="0">
                          <a:solidFill>
                            <a:srgbClr val="182433"/>
                          </a:solidFill>
                          <a:latin typeface="Calibri"/>
                        </a:rPr>
                        <a:t>~12 min projected</a:t>
                      </a:r>
                    </a:p>
                  </a:txBody>
                  <a:tcPr marL="50800" marR="50800" marT="25400" marB="25400" anchor="ctr">
                    <a:solidFill>
                      <a:srgbClr val="FFFFFF"/>
                    </a:solidFill>
                  </a:tcPr>
                </a:tc>
                <a:tc>
                  <a:txBody>
                    <a:bodyPr wrap="square"/>
                    <a:lstStyle/>
                    <a:p>
                      <a:pPr algn="ctr"/>
                      <a:r>
                        <a:rPr sz="1030" b="0">
                          <a:solidFill>
                            <a:srgbClr val="182433"/>
                          </a:solidFill>
                          <a:latin typeface="Calibri"/>
                        </a:rPr>
                        <a:t>93s (7.7x)</a:t>
                      </a:r>
                    </a:p>
                  </a:txBody>
                  <a:tcPr marL="50800" marR="50800" marT="25400" marB="25400"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Simulation Dates: Pillar Tenors Plus Every Trade's Own Event Date</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1">
                <a:solidFill>
                  <a:srgbClr val="D2006F"/>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17</a:t>
            </a:r>
          </a:p>
        </p:txBody>
      </p:sp>
      <p:pic>
        <p:nvPicPr>
          <p:cNvPr id="6" name="Picture 5" descr="fig20.png"/>
          <p:cNvPicPr>
            <a:picLocks noChangeAspect="1"/>
          </p:cNvPicPr>
          <p:nvPr/>
        </p:nvPicPr>
        <p:blipFill>
          <a:blip r:embed="rId3"/>
          <a:stretch>
            <a:fillRect/>
          </a:stretch>
        </p:blipFill>
        <p:spPr>
          <a:xfrm>
            <a:off x="457200" y="1371600"/>
            <a:ext cx="6949440" cy="3881269"/>
          </a:xfrm>
          <a:prstGeom prst="rect">
            <a:avLst/>
          </a:prstGeom>
        </p:spPr>
      </p:pic>
      <p:sp>
        <p:nvSpPr>
          <p:cNvPr id="7" name="TextBox 6"/>
          <p:cNvSpPr txBox="1"/>
          <p:nvPr/>
        </p:nvSpPr>
        <p:spPr>
          <a:xfrm>
            <a:off x="457200" y="5303520"/>
            <a:ext cx="6949440" cy="457200"/>
          </a:xfrm>
          <a:prstGeom prst="rect">
            <a:avLst/>
          </a:prstGeom>
          <a:noFill/>
        </p:spPr>
        <p:txBody>
          <a:bodyPr wrap="square" anchor="t" lIns="0" rIns="0" tIns="0" bIns="0">
            <a:spAutoFit/>
          </a:bodyPr>
          <a:lstStyle/>
          <a:p>
            <a:pPr algn="l"/>
            <a:r>
              <a:rPr sz="1000" b="0" i="1">
                <a:solidFill>
                  <a:srgbClr val="6B7280"/>
                </a:solidFill>
                <a:latin typeface="Calibri"/>
              </a:rPr>
              <a:t>Four candidate grids for this book: dense near-term, sparse far-term, with event dates forced in.</a:t>
            </a:r>
          </a:p>
        </p:txBody>
      </p:sp>
      <p:graphicFrame>
        <p:nvGraphicFramePr>
          <p:cNvPr id="8" name="Table 7"/>
          <p:cNvGraphicFramePr>
            <a:graphicFrameLocks noGrp="1"/>
          </p:cNvGraphicFramePr>
          <p:nvPr/>
        </p:nvGraphicFramePr>
        <p:xfrm>
          <a:off x="7589520" y="1371600"/>
          <a:ext cx="4114799" cy="2377440"/>
        </p:xfrm>
        <a:graphic>
          <a:graphicData uri="http://schemas.openxmlformats.org/drawingml/2006/table">
            <a:tbl>
              <a:tblPr firstRow="1" bandRow="1">
                <a:tableStyleId>{5C22544A-7EE6-4342-B048-85BDC9FD1C3A}</a:tableStyleId>
              </a:tblPr>
              <a:tblGrid>
                <a:gridCol w="1245268"/>
                <a:gridCol w="541421"/>
                <a:gridCol w="2328110"/>
              </a:tblGrid>
              <a:tr h="475488">
                <a:tc>
                  <a:txBody>
                    <a:bodyPr wrap="square"/>
                    <a:lstStyle/>
                    <a:p>
                      <a:pPr algn="l"/>
                      <a:r>
                        <a:rPr sz="930" b="1">
                          <a:solidFill>
                            <a:srgbClr val="FFFFFF"/>
                          </a:solidFill>
                          <a:latin typeface="Calibri"/>
                        </a:rPr>
                        <a:t>Grid</a:t>
                      </a:r>
                    </a:p>
                  </a:txBody>
                  <a:tcPr marL="50800" marR="50800" marT="25400" marB="25400" anchor="ctr">
                    <a:solidFill>
                      <a:srgbClr val="182433"/>
                    </a:solidFill>
                  </a:tcPr>
                </a:tc>
                <a:tc>
                  <a:txBody>
                    <a:bodyPr wrap="square"/>
                    <a:lstStyle/>
                    <a:p>
                      <a:pPr algn="ctr"/>
                      <a:r>
                        <a:rPr sz="930" b="1">
                          <a:solidFill>
                            <a:srgbClr val="FFFFFF"/>
                          </a:solidFill>
                          <a:latin typeface="Calibri"/>
                        </a:rPr>
                        <a:t>Node count</a:t>
                      </a:r>
                    </a:p>
                  </a:txBody>
                  <a:tcPr marL="50800" marR="50800" marT="25400" marB="25400" anchor="ctr">
                    <a:solidFill>
                      <a:srgbClr val="182433"/>
                    </a:solidFill>
                  </a:tcPr>
                </a:tc>
                <a:tc>
                  <a:txBody>
                    <a:bodyPr wrap="square"/>
                    <a:lstStyle/>
                    <a:p>
                      <a:pPr algn="ctr"/>
                      <a:r>
                        <a:rPr sz="930" b="1">
                          <a:solidFill>
                            <a:srgbClr val="FFFFFF"/>
                          </a:solidFill>
                          <a:latin typeface="Calibri"/>
                        </a:rPr>
                        <a:t>What it does</a:t>
                      </a:r>
                    </a:p>
                  </a:txBody>
                  <a:tcPr marL="50800" marR="50800" marT="25400" marB="25400" anchor="ctr">
                    <a:solidFill>
                      <a:srgbClr val="182433"/>
                    </a:solidFill>
                  </a:tcPr>
                </a:tc>
              </a:tr>
              <a:tr h="475488">
                <a:tc>
                  <a:txBody>
                    <a:bodyPr wrap="square"/>
                    <a:lstStyle/>
                    <a:p>
                      <a:pPr algn="l"/>
                      <a:r>
                        <a:rPr sz="880" b="0">
                          <a:solidFill>
                            <a:srgbClr val="182433"/>
                          </a:solidFill>
                          <a:latin typeface="Calibri"/>
                        </a:rPr>
                        <a:t>Monthly</a:t>
                      </a:r>
                    </a:p>
                  </a:txBody>
                  <a:tcPr marL="50800" marR="50800" marT="25400" marB="25400" anchor="ctr">
                    <a:solidFill>
                      <a:srgbClr val="FFFFFF"/>
                    </a:solidFill>
                  </a:tcPr>
                </a:tc>
                <a:tc>
                  <a:txBody>
                    <a:bodyPr wrap="square"/>
                    <a:lstStyle/>
                    <a:p>
                      <a:pPr algn="ctr"/>
                      <a:r>
                        <a:rPr sz="880" b="0">
                          <a:solidFill>
                            <a:srgbClr val="182433"/>
                          </a:solidFill>
                          <a:latin typeface="Calibri"/>
                        </a:rPr>
                        <a:t>18</a:t>
                      </a:r>
                    </a:p>
                  </a:txBody>
                  <a:tcPr marL="50800" marR="50800" marT="25400" marB="25400" anchor="ctr">
                    <a:solidFill>
                      <a:srgbClr val="FFFFFF"/>
                    </a:solidFill>
                  </a:tcPr>
                </a:tc>
                <a:tc>
                  <a:txBody>
                    <a:bodyPr wrap="square"/>
                    <a:lstStyle/>
                    <a:p>
                      <a:pPr algn="ctr"/>
                      <a:r>
                        <a:rPr sz="880" b="0">
                          <a:solidFill>
                            <a:srgbClr val="182433"/>
                          </a:solidFill>
                          <a:latin typeface="Calibri"/>
                        </a:rPr>
                        <a:t>Simple, but spends nodes evenly and rarely lands on a trade's own dates</a:t>
                      </a:r>
                    </a:p>
                  </a:txBody>
                  <a:tcPr marL="50800" marR="50800" marT="25400" marB="25400" anchor="ctr">
                    <a:solidFill>
                      <a:srgbClr val="FFFFFF"/>
                    </a:solidFill>
                  </a:tcPr>
                </a:tc>
              </a:tr>
              <a:tr h="475488">
                <a:tc>
                  <a:txBody>
                    <a:bodyPr wrap="square"/>
                    <a:lstStyle/>
                    <a:p>
                      <a:pPr algn="l"/>
                      <a:r>
                        <a:rPr sz="880" b="0">
                          <a:solidFill>
                            <a:srgbClr val="182433"/>
                          </a:solidFill>
                          <a:latin typeface="Calibri"/>
                        </a:rPr>
                        <a:t>Pillar dates only</a:t>
                      </a:r>
                    </a:p>
                  </a:txBody>
                  <a:tcPr marL="50800" marR="50800" marT="25400" marB="25400" anchor="ctr">
                    <a:solidFill>
                      <a:srgbClr val="F7F8FA"/>
                    </a:solidFill>
                  </a:tcPr>
                </a:tc>
                <a:tc>
                  <a:txBody>
                    <a:bodyPr wrap="square"/>
                    <a:lstStyle/>
                    <a:p>
                      <a:pPr algn="ctr"/>
                      <a:r>
                        <a:rPr sz="880" b="0">
                          <a:solidFill>
                            <a:srgbClr val="182433"/>
                          </a:solidFill>
                          <a:latin typeface="Calibri"/>
                        </a:rPr>
                        <a:t>12</a:t>
                      </a:r>
                    </a:p>
                  </a:txBody>
                  <a:tcPr marL="50800" marR="50800" marT="25400" marB="25400" anchor="ctr">
                    <a:solidFill>
                      <a:srgbClr val="F7F8FA"/>
                    </a:solidFill>
                  </a:tcPr>
                </a:tc>
                <a:tc>
                  <a:txBody>
                    <a:bodyPr wrap="square"/>
                    <a:lstStyle/>
                    <a:p>
                      <a:pPr algn="ctr"/>
                      <a:r>
                        <a:rPr sz="880" b="0">
                          <a:solidFill>
                            <a:srgbClr val="182433"/>
                          </a:solidFill>
                          <a:latin typeface="Calibri"/>
                        </a:rPr>
                        <a:t>Standard market tenors (O/N..10Y); dense short-term, sparse long-term</a:t>
                      </a:r>
                    </a:p>
                  </a:txBody>
                  <a:tcPr marL="50800" marR="50800" marT="25400" marB="25400" anchor="ctr">
                    <a:solidFill>
                      <a:srgbClr val="F7F8FA"/>
                    </a:solidFill>
                  </a:tcPr>
                </a:tc>
              </a:tr>
              <a:tr h="475488">
                <a:tc>
                  <a:txBody>
                    <a:bodyPr wrap="square"/>
                    <a:lstStyle/>
                    <a:p>
                      <a:pPr algn="l"/>
                      <a:r>
                        <a:rPr sz="880" b="0">
                          <a:solidFill>
                            <a:srgbClr val="182433"/>
                          </a:solidFill>
                          <a:latin typeface="Calibri"/>
                        </a:rPr>
                        <a:t>Pillar + trade event dates (used)</a:t>
                      </a:r>
                    </a:p>
                  </a:txBody>
                  <a:tcPr marL="50800" marR="50800" marT="25400" marB="25400" anchor="ctr">
                    <a:solidFill>
                      <a:srgbClr val="FFFFFF"/>
                    </a:solidFill>
                  </a:tcPr>
                </a:tc>
                <a:tc>
                  <a:txBody>
                    <a:bodyPr wrap="square"/>
                    <a:lstStyle/>
                    <a:p>
                      <a:pPr algn="ctr"/>
                      <a:r>
                        <a:rPr sz="880" b="0">
                          <a:solidFill>
                            <a:srgbClr val="182433"/>
                          </a:solidFill>
                          <a:latin typeface="Calibri"/>
                        </a:rPr>
                        <a:t>42</a:t>
                      </a:r>
                    </a:p>
                  </a:txBody>
                  <a:tcPr marL="50800" marR="50800" marT="25400" marB="25400" anchor="ctr">
                    <a:solidFill>
                      <a:srgbClr val="FFFFFF"/>
                    </a:solidFill>
                  </a:tcPr>
                </a:tc>
                <a:tc>
                  <a:txBody>
                    <a:bodyPr wrap="square"/>
                    <a:lstStyle/>
                    <a:p>
                      <a:pPr algn="ctr"/>
                      <a:r>
                        <a:rPr sz="880" b="0">
                          <a:solidFill>
                            <a:srgbClr val="182433"/>
                          </a:solidFill>
                          <a:latin typeface="Calibri"/>
                        </a:rPr>
                        <a:t>Pillar tenors plus every trade's reset/settlement/maturity forced in</a:t>
                      </a:r>
                    </a:p>
                  </a:txBody>
                  <a:tcPr marL="50800" marR="50800" marT="25400" marB="25400" anchor="ctr">
                    <a:solidFill>
                      <a:srgbClr val="FFFFFF"/>
                    </a:solidFill>
                  </a:tcPr>
                </a:tc>
              </a:tr>
              <a:tr h="475488">
                <a:tc>
                  <a:txBody>
                    <a:bodyPr wrap="square"/>
                    <a:lstStyle/>
                    <a:p>
                      <a:pPr algn="l"/>
                      <a:r>
                        <a:rPr sz="880" b="0">
                          <a:solidFill>
                            <a:srgbClr val="182433"/>
                          </a:solidFill>
                          <a:latin typeface="Calibri"/>
                        </a:rPr>
                        <a:t>Trade event dates only</a:t>
                      </a:r>
                    </a:p>
                  </a:txBody>
                  <a:tcPr marL="50800" marR="50800" marT="25400" marB="25400" anchor="ctr">
                    <a:solidFill>
                      <a:srgbClr val="F7F8FA"/>
                    </a:solidFill>
                  </a:tcPr>
                </a:tc>
                <a:tc>
                  <a:txBody>
                    <a:bodyPr wrap="square"/>
                    <a:lstStyle/>
                    <a:p>
                      <a:pPr algn="ctr"/>
                      <a:r>
                        <a:rPr sz="880" b="0">
                          <a:solidFill>
                            <a:srgbClr val="182433"/>
                          </a:solidFill>
                          <a:latin typeface="Calibri"/>
                        </a:rPr>
                        <a:t>33</a:t>
                      </a:r>
                    </a:p>
                  </a:txBody>
                  <a:tcPr marL="50800" marR="50800" marT="25400" marB="25400" anchor="ctr">
                    <a:solidFill>
                      <a:srgbClr val="F7F8FA"/>
                    </a:solidFill>
                  </a:tcPr>
                </a:tc>
                <a:tc>
                  <a:txBody>
                    <a:bodyPr wrap="square"/>
                    <a:lstStyle/>
                    <a:p>
                      <a:pPr algn="ctr"/>
                      <a:r>
                        <a:rPr sz="880" b="0">
                          <a:solidFill>
                            <a:srgbClr val="182433"/>
                          </a:solidFill>
                          <a:latin typeface="Calibri"/>
                        </a:rPr>
                        <a:t>Exact on cash flows, but no systematic curve-tenor coverage</a:t>
                      </a:r>
                    </a:p>
                  </a:txBody>
                  <a:tcPr marL="50800" marR="50800" marT="25400" marB="25400" anchor="ctr">
                    <a:solidFill>
                      <a:srgbClr val="F7F8FA"/>
                    </a:solidFill>
                  </a:tcPr>
                </a:tc>
              </a:tr>
            </a:tbl>
          </a:graphicData>
        </a:graphic>
      </p:graphicFrame>
      <p:sp>
        <p:nvSpPr>
          <p:cNvPr id="9" name="Rectangle 8"/>
          <p:cNvSpPr/>
          <p:nvPr/>
        </p:nvSpPr>
        <p:spPr>
          <a:xfrm>
            <a:off x="7589520" y="3931920"/>
            <a:ext cx="4114800"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589520" y="3931920"/>
            <a:ext cx="44450" cy="22860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4041648"/>
            <a:ext cx="3794760" cy="292608"/>
          </a:xfrm>
          <a:prstGeom prst="rect">
            <a:avLst/>
          </a:prstGeom>
          <a:noFill/>
        </p:spPr>
        <p:txBody>
          <a:bodyPr wrap="square" anchor="t" lIns="0" rIns="0" tIns="0" bIns="0">
            <a:spAutoFit/>
          </a:bodyPr>
          <a:lstStyle/>
          <a:p>
            <a:pPr algn="l"/>
            <a:r>
              <a:rPr sz="1200" b="1" i="0">
                <a:solidFill>
                  <a:srgbClr val="9A0052"/>
                </a:solidFill>
                <a:latin typeface="Cambria"/>
              </a:rPr>
              <a:t>WHY PILLAR + TRADE EVENT DATES</a:t>
            </a:r>
          </a:p>
        </p:txBody>
      </p:sp>
      <p:sp>
        <p:nvSpPr>
          <p:cNvPr id="12" name="TextBox 11"/>
          <p:cNvSpPr txBox="1"/>
          <p:nvPr/>
        </p:nvSpPr>
        <p:spPr>
          <a:xfrm>
            <a:off x="7772400" y="4407408"/>
            <a:ext cx="3794760" cy="1737360"/>
          </a:xfrm>
          <a:prstGeom prst="rect">
            <a:avLst/>
          </a:prstGeom>
          <a:noFill/>
        </p:spPr>
        <p:txBody>
          <a:bodyPr wrap="square" lIns="0" rIns="0" tIns="0" bIns="0">
            <a:spAutoFit/>
          </a:bodyPr>
          <a:lstStyle/>
          <a:p>
            <a:pPr>
              <a:lnSpc>
                <a:spcPct val="105000"/>
              </a:lnSpc>
              <a:spcAft>
                <a:spcPts val="500"/>
              </a:spcAft>
            </a:pPr>
            <a:r>
              <a:rPr sz="930" b="0">
                <a:solidFill>
                  <a:srgbClr val="182433"/>
                </a:solidFill>
                <a:latin typeface="Calibri"/>
              </a:rPr>
              <a:t>•  Industry convention (pillar tenors) plus exactness on this book's own cash flows -- neither alone is enough</a:t>
            </a:r>
          </a:p>
          <a:p>
            <a:pPr>
              <a:lnSpc>
                <a:spcPct val="105000"/>
              </a:lnSpc>
              <a:spcAft>
                <a:spcPts val="500"/>
              </a:spcAft>
            </a:pPr>
            <a:r>
              <a:rPr sz="930" b="0">
                <a:solidFill>
                  <a:srgbClr val="182433"/>
                </a:solidFill>
                <a:latin typeface="Calibri"/>
              </a:rPr>
              <a:t>•  Dense near-term, where the close-out window and most trade maturities sit, matches where risk actually changes fastest</a:t>
            </a:r>
          </a:p>
          <a:p>
            <a:pPr>
              <a:lnSpc>
                <a:spcPct val="105000"/>
              </a:lnSpc>
              <a:spcAft>
                <a:spcPts val="500"/>
              </a:spcAft>
            </a:pPr>
            <a:r>
              <a:rPr sz="930" b="0">
                <a:solidFill>
                  <a:srgbClr val="182433"/>
                </a:solidFill>
                <a:latin typeface="Calibri"/>
              </a:rPr>
              <a:t>•  A trade settling inside a close-out window is excluded from both legs of that window -- forcing its date onto the grid is what makes that exclusion possible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Building the Engine, Steps 1-4: From Raw Data to Calibrated Models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1">
                <a:solidFill>
                  <a:srgbClr val="D2006F"/>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18</a:t>
            </a:r>
          </a:p>
        </p:txBody>
      </p:sp>
      <p:sp>
        <p:nvSpPr>
          <p:cNvPr id="6" name="Rectangle 5"/>
          <p:cNvSpPr/>
          <p:nvPr/>
        </p:nvSpPr>
        <p:spPr>
          <a:xfrm>
            <a:off x="457200" y="14173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173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1</a:t>
            </a:r>
          </a:p>
        </p:txBody>
      </p:sp>
      <p:sp>
        <p:nvSpPr>
          <p:cNvPr id="8" name="TextBox 7"/>
          <p:cNvSpPr txBox="1"/>
          <p:nvPr/>
        </p:nvSpPr>
        <p:spPr>
          <a:xfrm>
            <a:off x="1097280" y="1389888"/>
            <a:ext cx="4206240" cy="457200"/>
          </a:xfrm>
          <a:prstGeom prst="rect">
            <a:avLst/>
          </a:prstGeom>
          <a:noFill/>
        </p:spPr>
        <p:txBody>
          <a:bodyPr wrap="square" anchor="t" lIns="0" rIns="0" tIns="0" bIns="0">
            <a:spAutoFit/>
          </a:bodyPr>
          <a:lstStyle/>
          <a:p>
            <a:pPr algn="l"/>
            <a:r>
              <a:rPr sz="1300" b="1" i="0">
                <a:solidFill>
                  <a:srgbClr val="182433"/>
                </a:solidFill>
                <a:latin typeface="Cambria"/>
              </a:rPr>
              <a:t>Repository &amp; data layer</a:t>
            </a:r>
          </a:p>
        </p:txBody>
      </p:sp>
      <p:sp>
        <p:nvSpPr>
          <p:cNvPr id="9" name="TextBox 8"/>
          <p:cNvSpPr txBox="1"/>
          <p:nvPr/>
        </p:nvSpPr>
        <p:spPr>
          <a:xfrm>
            <a:off x="1097280" y="18013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Ingest Capitolis-supplied trades/pricers; pull SOFR futures, equity/FX spots, Treasury/JPY/BOJ/MOF history</a:t>
            </a:r>
          </a:p>
        </p:txBody>
      </p:sp>
      <p:sp>
        <p:nvSpPr>
          <p:cNvPr id="10" name="TextBox 9"/>
          <p:cNvSpPr txBox="1"/>
          <p:nvPr/>
        </p:nvSpPr>
        <p:spPr>
          <a:xfrm>
            <a:off x="8138160" y="13898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market/
  sofr, equities, fx, vols,
  correlations, boj, mof_jgb,
  bloomberg, credit_spreads</a:t>
            </a:r>
          </a:p>
        </p:txBody>
      </p:sp>
      <p:sp>
        <p:nvSpPr>
          <p:cNvPr id="11" name="Rectangle 10"/>
          <p:cNvSpPr/>
          <p:nvPr/>
        </p:nvSpPr>
        <p:spPr>
          <a:xfrm>
            <a:off x="457200" y="23317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3317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2</a:t>
            </a:r>
          </a:p>
        </p:txBody>
      </p:sp>
      <p:sp>
        <p:nvSpPr>
          <p:cNvPr id="13" name="TextBox 12"/>
          <p:cNvSpPr txBox="1"/>
          <p:nvPr/>
        </p:nvSpPr>
        <p:spPr>
          <a:xfrm>
            <a:off x="1097280" y="2304288"/>
            <a:ext cx="4206240" cy="457200"/>
          </a:xfrm>
          <a:prstGeom prst="rect">
            <a:avLst/>
          </a:prstGeom>
          <a:noFill/>
        </p:spPr>
        <p:txBody>
          <a:bodyPr wrap="square" anchor="t" lIns="0" rIns="0" tIns="0" bIns="0">
            <a:spAutoFit/>
          </a:bodyPr>
          <a:lstStyle/>
          <a:p>
            <a:pPr algn="l"/>
            <a:r>
              <a:rPr sz="1300" b="1" i="0">
                <a:solidFill>
                  <a:srgbClr val="182433"/>
                </a:solidFill>
                <a:latin typeface="Cambria"/>
              </a:rPr>
              <a:t>Market data assembly</a:t>
            </a:r>
          </a:p>
        </p:txBody>
      </p:sp>
      <p:sp>
        <p:nvSpPr>
          <p:cNvPr id="14" name="TextBox 13"/>
          <p:cNvSpPr txBox="1"/>
          <p:nvPr/>
        </p:nvSpPr>
        <p:spPr>
          <a:xfrm>
            <a:off x="1097280" y="27157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Bootstrap the USD curve, compute realised vols, build the 39x39 correlation matrix, proxy credit spreads</a:t>
            </a:r>
          </a:p>
        </p:txBody>
      </p:sp>
      <p:sp>
        <p:nvSpPr>
          <p:cNvPr id="15" name="TextBox 14"/>
          <p:cNvSpPr txBox="1"/>
          <p:nvPr/>
        </p:nvSpPr>
        <p:spPr>
          <a:xfrm>
            <a:off x="8138160" y="23042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market/sofr.py
market/equities.py
market/credit_spreads.py</a:t>
            </a:r>
          </a:p>
        </p:txBody>
      </p:sp>
      <p:sp>
        <p:nvSpPr>
          <p:cNvPr id="16" name="Rectangle 15"/>
          <p:cNvSpPr/>
          <p:nvPr/>
        </p:nvSpPr>
        <p:spPr>
          <a:xfrm>
            <a:off x="457200" y="32461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2461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3</a:t>
            </a:r>
          </a:p>
        </p:txBody>
      </p:sp>
      <p:sp>
        <p:nvSpPr>
          <p:cNvPr id="18" name="TextBox 17"/>
          <p:cNvSpPr txBox="1"/>
          <p:nvPr/>
        </p:nvSpPr>
        <p:spPr>
          <a:xfrm>
            <a:off x="1097280" y="3218688"/>
            <a:ext cx="4206240" cy="457200"/>
          </a:xfrm>
          <a:prstGeom prst="rect">
            <a:avLst/>
          </a:prstGeom>
          <a:noFill/>
        </p:spPr>
        <p:txBody>
          <a:bodyPr wrap="square" anchor="t" lIns="0" rIns="0" tIns="0" bIns="0">
            <a:spAutoFit/>
          </a:bodyPr>
          <a:lstStyle/>
          <a:p>
            <a:pPr algn="l"/>
            <a:r>
              <a:rPr sz="1300" b="1" i="0">
                <a:solidFill>
                  <a:srgbClr val="182433"/>
                </a:solidFill>
                <a:latin typeface="Cambria"/>
              </a:rPr>
              <a:t>Risk-factor models</a:t>
            </a:r>
          </a:p>
        </p:txBody>
      </p:sp>
      <p:sp>
        <p:nvSpPr>
          <p:cNvPr id="19" name="TextBox 18"/>
          <p:cNvSpPr txBox="1"/>
          <p:nvPr/>
        </p:nvSpPr>
        <p:spPr>
          <a:xfrm>
            <a:off x="1097280" y="36301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Implement Hull-White 1F (+G2++), correlated GBM for equity/FX, the JPY Hull-White factor, PCA factor model</a:t>
            </a:r>
          </a:p>
        </p:txBody>
      </p:sp>
      <p:sp>
        <p:nvSpPr>
          <p:cNvPr id="20" name="TextBox 19"/>
          <p:cNvSpPr txBox="1"/>
          <p:nvPr/>
        </p:nvSpPr>
        <p:spPr>
          <a:xfrm>
            <a:off x="8138160" y="32186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models/
  rates, g2pp, equity_fx,
  equity_factor_model, credit</a:t>
            </a:r>
          </a:p>
        </p:txBody>
      </p:sp>
      <p:sp>
        <p:nvSpPr>
          <p:cNvPr id="21" name="Rectangle 20"/>
          <p:cNvSpPr/>
          <p:nvPr/>
        </p:nvSpPr>
        <p:spPr>
          <a:xfrm>
            <a:off x="457200" y="41605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4</a:t>
            </a:r>
          </a:p>
        </p:txBody>
      </p:sp>
      <p:sp>
        <p:nvSpPr>
          <p:cNvPr id="23" name="TextBox 22"/>
          <p:cNvSpPr txBox="1"/>
          <p:nvPr/>
        </p:nvSpPr>
        <p:spPr>
          <a:xfrm>
            <a:off x="1097280" y="4133088"/>
            <a:ext cx="4206240" cy="457200"/>
          </a:xfrm>
          <a:prstGeom prst="rect">
            <a:avLst/>
          </a:prstGeom>
          <a:noFill/>
        </p:spPr>
        <p:txBody>
          <a:bodyPr wrap="square" anchor="t" lIns="0" rIns="0" tIns="0" bIns="0">
            <a:spAutoFit/>
          </a:bodyPr>
          <a:lstStyle/>
          <a:p>
            <a:pPr algn="l"/>
            <a:r>
              <a:rPr sz="1300" b="1" i="0">
                <a:solidFill>
                  <a:srgbClr val="182433"/>
                </a:solidFill>
                <a:latin typeface="Cambria"/>
              </a:rPr>
              <a:t>Calibration</a:t>
            </a:r>
          </a:p>
        </p:txBody>
      </p:sp>
      <p:sp>
        <p:nvSpPr>
          <p:cNvPr id="24" name="TextBox 23"/>
          <p:cNvSpPr txBox="1"/>
          <p:nvPr/>
        </p:nvSpPr>
        <p:spPr>
          <a:xfrm>
            <a:off x="1097280" y="45445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Fit sigma/a to swaption cube and realised yield vol; fit JPY factor to the real OIS history; least-squares G2++</a:t>
            </a:r>
          </a:p>
        </p:txBody>
      </p:sp>
      <p:sp>
        <p:nvSpPr>
          <p:cNvPr id="25" name="TextBox 24"/>
          <p:cNvSpPr txBox="1"/>
          <p:nvPr/>
        </p:nvSpPr>
        <p:spPr>
          <a:xfrm>
            <a:off x="8138160" y="41330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models/
  calibration, hw_calibration</a:t>
            </a:r>
          </a:p>
        </p:txBody>
      </p:sp>
      <p:sp>
        <p:nvSpPr>
          <p:cNvPr id="26" name="Rectangle 25"/>
          <p:cNvSpPr/>
          <p:nvPr/>
        </p:nvSpPr>
        <p:spPr>
          <a:xfrm>
            <a:off x="457200" y="50749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50749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5</a:t>
            </a:r>
          </a:p>
        </p:txBody>
      </p:sp>
      <p:sp>
        <p:nvSpPr>
          <p:cNvPr id="28" name="TextBox 27"/>
          <p:cNvSpPr txBox="1"/>
          <p:nvPr/>
        </p:nvSpPr>
        <p:spPr>
          <a:xfrm>
            <a:off x="1097280" y="5047488"/>
            <a:ext cx="4206240" cy="457200"/>
          </a:xfrm>
          <a:prstGeom prst="rect">
            <a:avLst/>
          </a:prstGeom>
          <a:noFill/>
        </p:spPr>
        <p:txBody>
          <a:bodyPr wrap="square" anchor="t" lIns="0" rIns="0" tIns="0" bIns="0">
            <a:spAutoFit/>
          </a:bodyPr>
          <a:lstStyle/>
          <a:p>
            <a:pPr algn="l"/>
            <a:r>
              <a:rPr sz="1300" b="1" i="0">
                <a:solidFill>
                  <a:srgbClr val="182433"/>
                </a:solidFill>
                <a:latin typeface="Cambria"/>
              </a:rPr>
              <a:t>Simulation engine</a:t>
            </a:r>
          </a:p>
        </p:txBody>
      </p:sp>
      <p:sp>
        <p:nvSpPr>
          <p:cNvPr id="29" name="TextBox 28"/>
          <p:cNvSpPr txBox="1"/>
          <p:nvPr/>
        </p:nvSpPr>
        <p:spPr>
          <a:xfrm>
            <a:off x="1097280" y="54589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Build the date grid (pillars + trade events + MPOR nodes), draw correlated shocks, step every factor jointly</a:t>
            </a:r>
          </a:p>
        </p:txBody>
      </p:sp>
      <p:sp>
        <p:nvSpPr>
          <p:cNvPr id="30" name="TextBox 29"/>
          <p:cNvSpPr txBox="1"/>
          <p:nvPr/>
        </p:nvSpPr>
        <p:spPr>
          <a:xfrm>
            <a:off x="8138160" y="50474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simulation/
  engine, random_numbers,
  parallel</a:t>
            </a:r>
          </a:p>
        </p:txBody>
      </p:sp>
      <p:sp>
        <p:nvSpPr>
          <p:cNvPr id="31" name="Rectangle 30"/>
          <p:cNvSpPr/>
          <p:nvPr/>
        </p:nvSpPr>
        <p:spPr>
          <a:xfrm>
            <a:off x="457200" y="5989320"/>
            <a:ext cx="11247120" cy="38404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5989320"/>
            <a:ext cx="44450" cy="384048"/>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053328"/>
            <a:ext cx="10972800" cy="274320"/>
          </a:xfrm>
          <a:prstGeom prst="rect">
            <a:avLst/>
          </a:prstGeom>
          <a:noFill/>
        </p:spPr>
        <p:txBody>
          <a:bodyPr wrap="square" anchor="t" lIns="0" rIns="0" tIns="0" bIns="0">
            <a:spAutoFit/>
          </a:bodyPr>
          <a:lstStyle/>
          <a:p>
            <a:pPr algn="l"/>
            <a:r>
              <a:rPr sz="1050" b="0" i="0">
                <a:solidFill>
                  <a:srgbClr val="182433"/>
                </a:solidFill>
                <a:latin typeface="Calibri"/>
              </a:rPr>
              <a:t>Design principle -- modularity: each package has one job and is independently testable (the 142 tests target these modules directly).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Building the Engine, Steps 5-8: Pricing Through to Validation</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1">
                <a:solidFill>
                  <a:srgbClr val="D2006F"/>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19</a:t>
            </a:r>
          </a:p>
        </p:txBody>
      </p:sp>
      <p:sp>
        <p:nvSpPr>
          <p:cNvPr id="6" name="Rectangle 5"/>
          <p:cNvSpPr/>
          <p:nvPr/>
        </p:nvSpPr>
        <p:spPr>
          <a:xfrm>
            <a:off x="457200" y="14173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173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6</a:t>
            </a:r>
          </a:p>
        </p:txBody>
      </p:sp>
      <p:sp>
        <p:nvSpPr>
          <p:cNvPr id="8" name="TextBox 7"/>
          <p:cNvSpPr txBox="1"/>
          <p:nvPr/>
        </p:nvSpPr>
        <p:spPr>
          <a:xfrm>
            <a:off x="1097280" y="1389888"/>
            <a:ext cx="4206240" cy="457200"/>
          </a:xfrm>
          <a:prstGeom prst="rect">
            <a:avLst/>
          </a:prstGeom>
          <a:noFill/>
        </p:spPr>
        <p:txBody>
          <a:bodyPr wrap="square" anchor="t" lIns="0" rIns="0" tIns="0" bIns="0">
            <a:spAutoFit/>
          </a:bodyPr>
          <a:lstStyle/>
          <a:p>
            <a:pPr algn="l"/>
            <a:r>
              <a:rPr sz="1300" b="1" i="0">
                <a:solidFill>
                  <a:srgbClr val="182433"/>
                </a:solidFill>
                <a:latin typeface="Cambria"/>
              </a:rPr>
              <a:t>Pricing integration</a:t>
            </a:r>
          </a:p>
        </p:txBody>
      </p:sp>
      <p:sp>
        <p:nvSpPr>
          <p:cNvPr id="9" name="TextBox 8"/>
          <p:cNvSpPr txBox="1"/>
          <p:nvPr/>
        </p:nvSpPr>
        <p:spPr>
          <a:xfrm>
            <a:off x="1097280" y="18013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At every (scenario, node): build a MarketState from simulated rates/spots/FX, call the unmodified pricer library</a:t>
            </a:r>
          </a:p>
        </p:txBody>
      </p:sp>
      <p:sp>
        <p:nvSpPr>
          <p:cNvPr id="10" name="TextBox 9"/>
          <p:cNvSpPr txBox="1"/>
          <p:nvPr/>
        </p:nvSpPr>
        <p:spPr>
          <a:xfrm>
            <a:off x="8138160" y="13898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capitolis_pricers
  (given, independently
   reviewed, never modified)</a:t>
            </a:r>
          </a:p>
        </p:txBody>
      </p:sp>
      <p:sp>
        <p:nvSpPr>
          <p:cNvPr id="11" name="Rectangle 10"/>
          <p:cNvSpPr/>
          <p:nvPr/>
        </p:nvSpPr>
        <p:spPr>
          <a:xfrm>
            <a:off x="457200" y="23317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3317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7</a:t>
            </a:r>
          </a:p>
        </p:txBody>
      </p:sp>
      <p:sp>
        <p:nvSpPr>
          <p:cNvPr id="13" name="TextBox 12"/>
          <p:cNvSpPr txBox="1"/>
          <p:nvPr/>
        </p:nvSpPr>
        <p:spPr>
          <a:xfrm>
            <a:off x="1097280" y="2304288"/>
            <a:ext cx="4206240" cy="457200"/>
          </a:xfrm>
          <a:prstGeom prst="rect">
            <a:avLst/>
          </a:prstGeom>
          <a:noFill/>
        </p:spPr>
        <p:txBody>
          <a:bodyPr wrap="square" anchor="t" lIns="0" rIns="0" tIns="0" bIns="0">
            <a:spAutoFit/>
          </a:bodyPr>
          <a:lstStyle/>
          <a:p>
            <a:pPr algn="l"/>
            <a:r>
              <a:rPr sz="1300" b="1" i="0">
                <a:solidFill>
                  <a:srgbClr val="182433"/>
                </a:solidFill>
                <a:latin typeface="Cambria"/>
              </a:rPr>
              <a:t>Aggregation &amp; exposure</a:t>
            </a:r>
          </a:p>
        </p:txBody>
      </p:sp>
      <p:sp>
        <p:nvSpPr>
          <p:cNvPr id="14" name="TextBox 13"/>
          <p:cNvSpPr txBox="1"/>
          <p:nvPr/>
        </p:nvSpPr>
        <p:spPr>
          <a:xfrm>
            <a:off x="1097280" y="27157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Net by counterparty, apply the close-out/level exposure definitions, compute EE/median PFE/PFE99/MPE</a:t>
            </a:r>
          </a:p>
        </p:txBody>
      </p:sp>
      <p:sp>
        <p:nvSpPr>
          <p:cNvPr id="15" name="TextBox 14"/>
          <p:cNvSpPr txBox="1"/>
          <p:nvPr/>
        </p:nvSpPr>
        <p:spPr>
          <a:xfrm>
            <a:off x="8138160" y="23042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exposure/
  spec_exposure, aggregate,
  collateral</a:t>
            </a:r>
          </a:p>
        </p:txBody>
      </p:sp>
      <p:sp>
        <p:nvSpPr>
          <p:cNvPr id="16" name="Rectangle 15"/>
          <p:cNvSpPr/>
          <p:nvPr/>
        </p:nvSpPr>
        <p:spPr>
          <a:xfrm>
            <a:off x="457200" y="32461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2461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8</a:t>
            </a:r>
          </a:p>
        </p:txBody>
      </p:sp>
      <p:sp>
        <p:nvSpPr>
          <p:cNvPr id="18" name="TextBox 17"/>
          <p:cNvSpPr txBox="1"/>
          <p:nvPr/>
        </p:nvSpPr>
        <p:spPr>
          <a:xfrm>
            <a:off x="1097280" y="3218688"/>
            <a:ext cx="4206240" cy="457200"/>
          </a:xfrm>
          <a:prstGeom prst="rect">
            <a:avLst/>
          </a:prstGeom>
          <a:noFill/>
        </p:spPr>
        <p:txBody>
          <a:bodyPr wrap="square" anchor="t" lIns="0" rIns="0" tIns="0" bIns="0">
            <a:spAutoFit/>
          </a:bodyPr>
          <a:lstStyle/>
          <a:p>
            <a:pPr algn="l"/>
            <a:r>
              <a:rPr sz="1300" b="1" i="0">
                <a:solidFill>
                  <a:srgbClr val="182433"/>
                </a:solidFill>
                <a:latin typeface="Cambria"/>
              </a:rPr>
              <a:t>Greeks</a:t>
            </a:r>
          </a:p>
        </p:txBody>
      </p:sp>
      <p:sp>
        <p:nvSpPr>
          <p:cNvPr id="19" name="TextBox 18"/>
          <p:cNvSpPr txBox="1"/>
          <p:nvPr/>
        </p:nvSpPr>
        <p:spPr>
          <a:xfrm>
            <a:off x="1097280" y="36301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Bump-and-reprice with common random numbers; pathwise cross-check for equity/FX; exact analytic rate Greek</a:t>
            </a:r>
          </a:p>
        </p:txBody>
      </p:sp>
      <p:sp>
        <p:nvSpPr>
          <p:cNvPr id="20" name="TextBox 19"/>
          <p:cNvSpPr txBox="1"/>
          <p:nvPr/>
        </p:nvSpPr>
        <p:spPr>
          <a:xfrm>
            <a:off x="8138160" y="32186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greeks/
  book, exposure, pathwise,
  bumps</a:t>
            </a:r>
          </a:p>
        </p:txBody>
      </p:sp>
      <p:sp>
        <p:nvSpPr>
          <p:cNvPr id="21" name="Rectangle 20"/>
          <p:cNvSpPr/>
          <p:nvPr/>
        </p:nvSpPr>
        <p:spPr>
          <a:xfrm>
            <a:off x="457200" y="41605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9</a:t>
            </a:r>
          </a:p>
        </p:txBody>
      </p:sp>
      <p:sp>
        <p:nvSpPr>
          <p:cNvPr id="23" name="TextBox 22"/>
          <p:cNvSpPr txBox="1"/>
          <p:nvPr/>
        </p:nvSpPr>
        <p:spPr>
          <a:xfrm>
            <a:off x="1097280" y="4133088"/>
            <a:ext cx="4206240" cy="457200"/>
          </a:xfrm>
          <a:prstGeom prst="rect">
            <a:avLst/>
          </a:prstGeom>
          <a:noFill/>
        </p:spPr>
        <p:txBody>
          <a:bodyPr wrap="square" anchor="t" lIns="0" rIns="0" tIns="0" bIns="0">
            <a:spAutoFit/>
          </a:bodyPr>
          <a:lstStyle/>
          <a:p>
            <a:pPr algn="l"/>
            <a:r>
              <a:rPr sz="1300" b="1" i="0">
                <a:solidFill>
                  <a:srgbClr val="182433"/>
                </a:solidFill>
                <a:latin typeface="Cambria"/>
              </a:rPr>
              <a:t>Credit risk &amp; capital</a:t>
            </a:r>
          </a:p>
        </p:txBody>
      </p:sp>
      <p:sp>
        <p:nvSpPr>
          <p:cNvPr id="24" name="TextBox 23"/>
          <p:cNvSpPr txBox="1"/>
          <p:nvPr/>
        </p:nvSpPr>
        <p:spPr>
          <a:xfrm>
            <a:off x="1097280" y="45445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CVA/DVA/FVA/KVA on the same paths; Basel SA-CVA capital; SA-CCR EAD; the risky-bond extra-credit trade</a:t>
            </a:r>
          </a:p>
        </p:txBody>
      </p:sp>
      <p:sp>
        <p:nvSpPr>
          <p:cNvPr id="25" name="TextBox 24"/>
          <p:cNvSpPr txBox="1"/>
          <p:nvPr/>
        </p:nvSpPr>
        <p:spPr>
          <a:xfrm>
            <a:off x="8138160" y="41330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exposure/
  cva, xva, sa_cva, sa_ccr</a:t>
            </a:r>
          </a:p>
        </p:txBody>
      </p:sp>
      <p:sp>
        <p:nvSpPr>
          <p:cNvPr id="26" name="Rectangle 25"/>
          <p:cNvSpPr/>
          <p:nvPr/>
        </p:nvSpPr>
        <p:spPr>
          <a:xfrm>
            <a:off x="457200" y="5074920"/>
            <a:ext cx="457200" cy="457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5074920"/>
            <a:ext cx="457200" cy="457200"/>
          </a:xfrm>
          <a:prstGeom prst="rect">
            <a:avLst/>
          </a:prstGeom>
          <a:noFill/>
        </p:spPr>
        <p:txBody>
          <a:bodyPr wrap="square" anchor="ctr" lIns="0" rIns="0" tIns="0" bIns="0">
            <a:spAutoFit/>
          </a:bodyPr>
          <a:lstStyle/>
          <a:p>
            <a:pPr algn="ctr"/>
            <a:r>
              <a:rPr sz="1800" b="1" i="0">
                <a:solidFill>
                  <a:srgbClr val="FFFFFF"/>
                </a:solidFill>
                <a:latin typeface="Calibri"/>
              </a:rPr>
              <a:t>10</a:t>
            </a:r>
          </a:p>
        </p:txBody>
      </p:sp>
      <p:sp>
        <p:nvSpPr>
          <p:cNvPr id="28" name="TextBox 27"/>
          <p:cNvSpPr txBox="1"/>
          <p:nvPr/>
        </p:nvSpPr>
        <p:spPr>
          <a:xfrm>
            <a:off x="1097280" y="5047488"/>
            <a:ext cx="4206240" cy="457200"/>
          </a:xfrm>
          <a:prstGeom prst="rect">
            <a:avLst/>
          </a:prstGeom>
          <a:noFill/>
        </p:spPr>
        <p:txBody>
          <a:bodyPr wrap="square" anchor="t" lIns="0" rIns="0" tIns="0" bIns="0">
            <a:spAutoFit/>
          </a:bodyPr>
          <a:lstStyle/>
          <a:p>
            <a:pPr algn="l"/>
            <a:r>
              <a:rPr sz="1300" b="1" i="0">
                <a:solidFill>
                  <a:srgbClr val="182433"/>
                </a:solidFill>
                <a:latin typeface="Cambria"/>
              </a:rPr>
              <a:t>Stress, backtest &amp; tests</a:t>
            </a:r>
          </a:p>
        </p:txBody>
      </p:sp>
      <p:sp>
        <p:nvSpPr>
          <p:cNvPr id="29" name="TextBox 28"/>
          <p:cNvSpPr txBox="1"/>
          <p:nvPr/>
        </p:nvSpPr>
        <p:spPr>
          <a:xfrm>
            <a:off x="1097280" y="5458968"/>
            <a:ext cx="6949440" cy="457200"/>
          </a:xfrm>
          <a:prstGeom prst="rect">
            <a:avLst/>
          </a:prstGeom>
          <a:noFill/>
        </p:spPr>
        <p:txBody>
          <a:bodyPr wrap="square" anchor="t" lIns="0" rIns="0" tIns="0" bIns="0">
            <a:spAutoFit/>
          </a:bodyPr>
          <a:lstStyle/>
          <a:p>
            <a:pPr algn="l">
              <a:lnSpc>
                <a:spcPct val="105000"/>
              </a:lnSpc>
            </a:pPr>
            <a:r>
              <a:rPr sz="1050" b="0" i="0">
                <a:solidFill>
                  <a:srgbClr val="182433"/>
                </a:solidFill>
                <a:latin typeface="Calibri"/>
              </a:rPr>
              <a:t>13 stress scenarios; Kupiec/Christoffersen backtests against realised history; 142 automated unit/statistical tests</a:t>
            </a:r>
          </a:p>
        </p:txBody>
      </p:sp>
      <p:sp>
        <p:nvSpPr>
          <p:cNvPr id="30" name="TextBox 29"/>
          <p:cNvSpPr txBox="1"/>
          <p:nvPr/>
        </p:nvSpPr>
        <p:spPr>
          <a:xfrm>
            <a:off x="8138160" y="5047488"/>
            <a:ext cx="3566160" cy="822960"/>
          </a:xfrm>
          <a:prstGeom prst="rect">
            <a:avLst/>
          </a:prstGeom>
          <a:noFill/>
        </p:spPr>
        <p:txBody>
          <a:bodyPr wrap="square" anchor="t" lIns="0" rIns="0" tIns="0" bIns="0">
            <a:spAutoFit/>
          </a:bodyPr>
          <a:lstStyle/>
          <a:p>
            <a:pPr algn="l">
              <a:lnSpc>
                <a:spcPct val="110000"/>
              </a:lnSpc>
            </a:pPr>
            <a:r>
              <a:rPr sz="950" b="0" i="0">
                <a:solidFill>
                  <a:srgbClr val="6B7280"/>
                </a:solidFill>
                <a:latin typeface="Courier New"/>
              </a:rPr>
              <a:t>stress/scenarios.py
validation/backtest.py
tests/  (142 tests)</a:t>
            </a:r>
          </a:p>
        </p:txBody>
      </p:sp>
      <p:sp>
        <p:nvSpPr>
          <p:cNvPr id="31" name="Rectangle 30"/>
          <p:cNvSpPr/>
          <p:nvPr/>
        </p:nvSpPr>
        <p:spPr>
          <a:xfrm>
            <a:off x="457200" y="5989320"/>
            <a:ext cx="11247120" cy="38404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5989320"/>
            <a:ext cx="44450" cy="384048"/>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053328"/>
            <a:ext cx="10972800" cy="274320"/>
          </a:xfrm>
          <a:prstGeom prst="rect">
            <a:avLst/>
          </a:prstGeom>
          <a:noFill/>
        </p:spPr>
        <p:txBody>
          <a:bodyPr wrap="square" anchor="t" lIns="0" rIns="0" tIns="0" bIns="0">
            <a:spAutoFit/>
          </a:bodyPr>
          <a:lstStyle/>
          <a:p>
            <a:pPr algn="l"/>
            <a:r>
              <a:rPr sz="1050" b="0" i="0">
                <a:solidFill>
                  <a:srgbClr val="182433"/>
                </a:solidFill>
                <a:latin typeface="Calibri"/>
              </a:rPr>
              <a:t>Design principle -- reproducibility: every number regenerates from one command per stage (Appendix A10), nothing is one-off or hand-tuned.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Modelling Choices</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What we implemented, with the exact parameters used</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USD Short Rate: Hull-White 1F, Fitted Exactly to Today's Curve</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1">
                <a:solidFill>
                  <a:srgbClr val="D2006F"/>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21</a:t>
            </a:r>
          </a:p>
        </p:txBody>
      </p:sp>
      <p:sp>
        <p:nvSpPr>
          <p:cNvPr id="6" name="TextBox 5"/>
          <p:cNvSpPr txBox="1"/>
          <p:nvPr/>
        </p:nvSpPr>
        <p:spPr>
          <a:xfrm>
            <a:off x="457200" y="1371600"/>
            <a:ext cx="5486400" cy="731520"/>
          </a:xfrm>
          <a:prstGeom prst="rect">
            <a:avLst/>
          </a:prstGeom>
          <a:noFill/>
        </p:spPr>
        <p:txBody>
          <a:bodyPr wrap="square" anchor="t" lIns="0" rIns="0" tIns="0" bIns="0">
            <a:spAutoFit/>
          </a:bodyPr>
          <a:lstStyle/>
          <a:p>
            <a:pPr algn="l"/>
            <a:r>
              <a:rPr sz="1400" b="0" i="0">
                <a:solidFill>
                  <a:srgbClr val="182433"/>
                </a:solidFill>
                <a:latin typeface="Courier New"/>
              </a:rPr>
              <a:t>dr(t) = [theta(t) - a r(t)] dt + sigma dW(t)
r(t) = x(t) + alpha(t)</a:t>
            </a:r>
          </a:p>
        </p:txBody>
      </p:sp>
      <p:graphicFrame>
        <p:nvGraphicFramePr>
          <p:cNvPr id="7" name="Table 6"/>
          <p:cNvGraphicFramePr>
            <a:graphicFrameLocks noGrp="1"/>
          </p:cNvGraphicFramePr>
          <p:nvPr/>
        </p:nvGraphicFramePr>
        <p:xfrm>
          <a:off x="457200" y="2240280"/>
          <a:ext cx="5486398" cy="1371600"/>
        </p:xfrm>
        <a:graphic>
          <a:graphicData uri="http://schemas.openxmlformats.org/drawingml/2006/table">
            <a:tbl>
              <a:tblPr firstRow="1" bandRow="1">
                <a:tableStyleId>{5C22544A-7EE6-4342-B048-85BDC9FD1C3A}</a:tableStyleId>
              </a:tblPr>
              <a:tblGrid>
                <a:gridCol w="1590260"/>
                <a:gridCol w="1113182"/>
                <a:gridCol w="2782956"/>
              </a:tblGrid>
              <a:tr h="342900">
                <a:tc>
                  <a:txBody>
                    <a:bodyPr wrap="square"/>
                    <a:lstStyle/>
                    <a:p>
                      <a:pPr algn="l"/>
                      <a:r>
                        <a:rPr sz="1080" b="1">
                          <a:solidFill>
                            <a:srgbClr val="FFFFFF"/>
                          </a:solidFill>
                          <a:latin typeface="Calibri"/>
                        </a:rPr>
                        <a:t>Parameter</a:t>
                      </a:r>
                    </a:p>
                  </a:txBody>
                  <a:tcPr marL="50800" marR="50800" marT="25400" marB="25400" anchor="ctr">
                    <a:solidFill>
                      <a:srgbClr val="182433"/>
                    </a:solidFill>
                  </a:tcPr>
                </a:tc>
                <a:tc>
                  <a:txBody>
                    <a:bodyPr wrap="square"/>
                    <a:lstStyle/>
                    <a:p>
                      <a:pPr algn="ctr"/>
                      <a:r>
                        <a:rPr sz="1080" b="1">
                          <a:solidFill>
                            <a:srgbClr val="FFFFFF"/>
                          </a:solidFill>
                          <a:latin typeface="Calibri"/>
                        </a:rPr>
                        <a:t>Value</a:t>
                      </a:r>
                    </a:p>
                  </a:txBody>
                  <a:tcPr marL="50800" marR="50800" marT="25400" marB="25400" anchor="ctr">
                    <a:solidFill>
                      <a:srgbClr val="182433"/>
                    </a:solidFill>
                  </a:tcPr>
                </a:tc>
                <a:tc>
                  <a:txBody>
                    <a:bodyPr wrap="square"/>
                    <a:lstStyle/>
                    <a:p>
                      <a:pPr algn="ctr"/>
                      <a:r>
                        <a:rPr sz="1080" b="1">
                          <a:solidFill>
                            <a:srgbClr val="FFFFFF"/>
                          </a:solidFill>
                          <a:latin typeface="Calibri"/>
                        </a:rPr>
                        <a:t>Source</a:t>
                      </a:r>
                    </a:p>
                  </a:txBody>
                  <a:tcPr marL="50800" marR="50800" marT="25400" marB="25400" anchor="ctr">
                    <a:solidFill>
                      <a:srgbClr val="182433"/>
                    </a:solidFill>
                  </a:tcPr>
                </a:tc>
              </a:tr>
              <a:tr h="342900">
                <a:tc>
                  <a:txBody>
                    <a:bodyPr wrap="square"/>
                    <a:lstStyle/>
                    <a:p>
                      <a:pPr algn="l"/>
                      <a:r>
                        <a:rPr sz="1030" b="0">
                          <a:solidFill>
                            <a:srgbClr val="182433"/>
                          </a:solidFill>
                          <a:latin typeface="Calibri"/>
                        </a:rPr>
                        <a:t>sigma</a:t>
                      </a:r>
                    </a:p>
                  </a:txBody>
                  <a:tcPr marL="50800" marR="50800" marT="25400" marB="25400" anchor="ctr">
                    <a:solidFill>
                      <a:srgbClr val="FFFFFF"/>
                    </a:solidFill>
                  </a:tcPr>
                </a:tc>
                <a:tc>
                  <a:txBody>
                    <a:bodyPr wrap="square"/>
                    <a:lstStyle/>
                    <a:p>
                      <a:pPr algn="ctr"/>
                      <a:r>
                        <a:rPr sz="1030" b="0">
                          <a:solidFill>
                            <a:srgbClr val="182433"/>
                          </a:solidFill>
                          <a:latin typeface="Calibri"/>
                        </a:rPr>
                        <a:t>0.96%</a:t>
                      </a:r>
                    </a:p>
                  </a:txBody>
                  <a:tcPr marL="50800" marR="50800" marT="25400" marB="25400" anchor="ctr">
                    <a:solidFill>
                      <a:srgbClr val="FFFFFF"/>
                    </a:solidFill>
                  </a:tcPr>
                </a:tc>
                <a:tc>
                  <a:txBody>
                    <a:bodyPr wrap="square"/>
                    <a:lstStyle/>
                    <a:p>
                      <a:pPr algn="ctr"/>
                      <a:r>
                        <a:rPr sz="1030" b="0">
                          <a:solidFill>
                            <a:srgbClr val="182433"/>
                          </a:solidFill>
                          <a:latin typeface="Calibri"/>
                        </a:rPr>
                        <a:t>Fitted to realised 2y-30y Treasury yield vol</a:t>
                      </a:r>
                    </a:p>
                  </a:txBody>
                  <a:tcPr marL="50800" marR="50800" marT="25400" marB="25400" anchor="ctr">
                    <a:solidFill>
                      <a:srgbClr val="FFFFFF"/>
                    </a:solidFill>
                  </a:tcPr>
                </a:tc>
              </a:tr>
              <a:tr h="342900">
                <a:tc>
                  <a:txBody>
                    <a:bodyPr wrap="square"/>
                    <a:lstStyle/>
                    <a:p>
                      <a:pPr algn="l"/>
                      <a:r>
                        <a:rPr sz="1030" b="0">
                          <a:solidFill>
                            <a:srgbClr val="182433"/>
                          </a:solidFill>
                          <a:latin typeface="Calibri"/>
                        </a:rPr>
                        <a:t>a (mean reversion)</a:t>
                      </a:r>
                    </a:p>
                  </a:txBody>
                  <a:tcPr marL="50800" marR="50800" marT="25400" marB="25400" anchor="ctr">
                    <a:solidFill>
                      <a:srgbClr val="F7F8FA"/>
                    </a:solidFill>
                  </a:tcPr>
                </a:tc>
                <a:tc>
                  <a:txBody>
                    <a:bodyPr wrap="square"/>
                    <a:lstStyle/>
                    <a:p>
                      <a:pPr algn="ctr"/>
                      <a:r>
                        <a:rPr sz="1030" b="0">
                          <a:solidFill>
                            <a:srgbClr val="182433"/>
                          </a:solidFill>
                          <a:latin typeface="Calibri"/>
                        </a:rPr>
                        <a:t>0.0167</a:t>
                      </a:r>
                    </a:p>
                  </a:txBody>
                  <a:tcPr marL="50800" marR="50800" marT="25400" marB="25400" anchor="ctr">
                    <a:solidFill>
                      <a:srgbClr val="F7F8FA"/>
                    </a:solidFill>
                  </a:tcPr>
                </a:tc>
                <a:tc>
                  <a:txBody>
                    <a:bodyPr wrap="square"/>
                    <a:lstStyle/>
                    <a:p>
                      <a:pPr algn="ctr"/>
                      <a:r>
                        <a:rPr sz="1030" b="0">
                          <a:solidFill>
                            <a:srgbClr val="182433"/>
                          </a:solidFill>
                          <a:latin typeface="Calibri"/>
                        </a:rPr>
                        <a:t>USD swaption cube (1M expiry, 1Y-15Y tenors)</a:t>
                      </a:r>
                    </a:p>
                  </a:txBody>
                  <a:tcPr marL="50800" marR="50800" marT="25400" marB="25400" anchor="ctr">
                    <a:solidFill>
                      <a:srgbClr val="F7F8FA"/>
                    </a:solidFill>
                  </a:tcPr>
                </a:tc>
              </a:tr>
              <a:tr h="342900">
                <a:tc>
                  <a:txBody>
                    <a:bodyPr wrap="square"/>
                    <a:lstStyle/>
                    <a:p>
                      <a:pPr algn="l"/>
                      <a:r>
                        <a:rPr sz="1030" b="0">
                          <a:solidFill>
                            <a:srgbClr val="182433"/>
                          </a:solidFill>
                          <a:latin typeface="Calibri"/>
                        </a:rPr>
                        <a:t>r(0)</a:t>
                      </a:r>
                    </a:p>
                  </a:txBody>
                  <a:tcPr marL="50800" marR="50800" marT="25400" marB="25400" anchor="ctr">
                    <a:solidFill>
                      <a:srgbClr val="FFFFFF"/>
                    </a:solidFill>
                  </a:tcPr>
                </a:tc>
                <a:tc>
                  <a:txBody>
                    <a:bodyPr wrap="square"/>
                    <a:lstStyle/>
                    <a:p>
                      <a:pPr algn="ctr"/>
                      <a:r>
                        <a:rPr sz="1030" b="0">
                          <a:solidFill>
                            <a:srgbClr val="182433"/>
                          </a:solidFill>
                          <a:latin typeface="Calibri"/>
                        </a:rPr>
                        <a:t>3.69%</a:t>
                      </a:r>
                    </a:p>
                  </a:txBody>
                  <a:tcPr marL="50800" marR="50800" marT="25400" marB="25400" anchor="ctr">
                    <a:solidFill>
                      <a:srgbClr val="FFFFFF"/>
                    </a:solidFill>
                  </a:tcPr>
                </a:tc>
                <a:tc>
                  <a:txBody>
                    <a:bodyPr wrap="square"/>
                    <a:lstStyle/>
                    <a:p>
                      <a:pPr algn="ctr"/>
                      <a:r>
                        <a:rPr sz="1030" b="0">
                          <a:solidFill>
                            <a:srgbClr val="182433"/>
                          </a:solidFill>
                          <a:latin typeface="Calibri"/>
                        </a:rPr>
                        <a:t>Bootstrapped SOFR futures curve</a:t>
                      </a:r>
                    </a:p>
                  </a:txBody>
                  <a:tcPr marL="50800" marR="50800" marT="25400" marB="25400" anchor="ctr">
                    <a:solidFill>
                      <a:srgbClr val="FFFFFF"/>
                    </a:solidFill>
                  </a:tcPr>
                </a:tc>
              </a:tr>
            </a:tbl>
          </a:graphicData>
        </a:graphic>
      </p:graphicFrame>
      <p:sp>
        <p:nvSpPr>
          <p:cNvPr id="8" name="Rectangle 7"/>
          <p:cNvSpPr/>
          <p:nvPr/>
        </p:nvSpPr>
        <p:spPr>
          <a:xfrm>
            <a:off x="457200" y="3794760"/>
            <a:ext cx="5486400" cy="27432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3794760"/>
            <a:ext cx="44450" cy="27432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04488"/>
            <a:ext cx="5166360" cy="292608"/>
          </a:xfrm>
          <a:prstGeom prst="rect">
            <a:avLst/>
          </a:prstGeom>
          <a:noFill/>
        </p:spPr>
        <p:txBody>
          <a:bodyPr wrap="square" anchor="t" lIns="0" rIns="0" tIns="0" bIns="0">
            <a:spAutoFit/>
          </a:bodyPr>
          <a:lstStyle/>
          <a:p>
            <a:pPr algn="l"/>
            <a:r>
              <a:rPr sz="1200" b="1" i="0">
                <a:solidFill>
                  <a:srgbClr val="9A0052"/>
                </a:solidFill>
                <a:latin typeface="Cambria"/>
              </a:rPr>
              <a:t>WHY WHY HULL-WHITE 1F</a:t>
            </a:r>
          </a:p>
        </p:txBody>
      </p:sp>
      <p:sp>
        <p:nvSpPr>
          <p:cNvPr id="11" name="TextBox 10"/>
          <p:cNvSpPr txBox="1"/>
          <p:nvPr/>
        </p:nvSpPr>
        <p:spPr>
          <a:xfrm>
            <a:off x="640080" y="4270248"/>
            <a:ext cx="5166360" cy="2194560"/>
          </a:xfrm>
          <a:prstGeom prst="rect">
            <a:avLst/>
          </a:prstGeom>
          <a:noFill/>
        </p:spPr>
        <p:txBody>
          <a:bodyPr wrap="square" lIns="0" rIns="0" tIns="0" bIns="0">
            <a:spAutoFit/>
          </a:bodyPr>
          <a:lstStyle/>
          <a:p>
            <a:pPr>
              <a:lnSpc>
                <a:spcPct val="105000"/>
              </a:lnSpc>
              <a:spcAft>
                <a:spcPts val="500"/>
              </a:spcAft>
            </a:pPr>
            <a:r>
              <a:rPr sz="1000" b="0">
                <a:solidFill>
                  <a:srgbClr val="182433"/>
                </a:solidFill>
                <a:latin typeface="Calibri"/>
              </a:rPr>
              <a:t>•  Reproduces today's curve to 1e-9, so discounting is exact at t=0</a:t>
            </a:r>
          </a:p>
          <a:p>
            <a:pPr>
              <a:lnSpc>
                <a:spcPct val="105000"/>
              </a:lnSpc>
              <a:spcAft>
                <a:spcPts val="500"/>
              </a:spcAft>
            </a:pPr>
            <a:r>
              <a:rPr sz="1000" b="0">
                <a:solidFill>
                  <a:srgbClr val="182433"/>
                </a:solidFill>
                <a:latin typeface="Calibri"/>
              </a:rPr>
              <a:t>•  Analytic bond price at every node -- 10x faster than a curve object</a:t>
            </a:r>
          </a:p>
          <a:p>
            <a:pPr>
              <a:lnSpc>
                <a:spcPct val="105000"/>
              </a:lnSpc>
              <a:spcAft>
                <a:spcPts val="500"/>
              </a:spcAft>
            </a:pPr>
            <a:r>
              <a:rPr sz="1000" b="0">
                <a:solidFill>
                  <a:srgbClr val="182433"/>
                </a:solidFill>
                <a:latin typeface="Calibri"/>
              </a:rPr>
              <a:t>•  Gaussian: supports negative rates, essential for JPY</a:t>
            </a:r>
          </a:p>
          <a:p>
            <a:pPr>
              <a:lnSpc>
                <a:spcPct val="105000"/>
              </a:lnSpc>
              <a:spcAft>
                <a:spcPts val="500"/>
              </a:spcAft>
            </a:pPr>
            <a:r>
              <a:rPr sz="1000" b="0">
                <a:solidFill>
                  <a:srgbClr val="182433"/>
                </a:solidFill>
                <a:latin typeface="Calibri"/>
              </a:rPr>
              <a:t>•  Only 2 parameters (a, sigma) to fit and defend -- fewer than the data (a few years of swaption/yield history) can comfortably support</a:t>
            </a:r>
          </a:p>
          <a:p>
            <a:pPr>
              <a:lnSpc>
                <a:spcPct val="105000"/>
              </a:lnSpc>
              <a:spcAft>
                <a:spcPts val="500"/>
              </a:spcAft>
            </a:pPr>
            <a:r>
              <a:rPr sz="1000" b="0">
                <a:solidFill>
                  <a:srgbClr val="182433"/>
                </a:solidFill>
                <a:latin typeface="Calibri"/>
              </a:rPr>
              <a:t>•  Industry-standard and well understood, which lowers the model-validation burden for a reviewer</a:t>
            </a:r>
          </a:p>
          <a:p>
            <a:pPr>
              <a:lnSpc>
                <a:spcPct val="105000"/>
              </a:lnSpc>
              <a:spcAft>
                <a:spcPts val="500"/>
              </a:spcAft>
            </a:pPr>
            <a:r>
              <a:rPr sz="1000" b="0">
                <a:solidFill>
                  <a:srgbClr val="182433"/>
                </a:solidFill>
                <a:latin typeface="Calibri"/>
              </a:rPr>
              <a:t>•  Rejected: CIR/BK (floored at zero, invalid for JPY); LMM/HJM (too many parameters for our data and slower); constant rate (ignores funding-leg and bond-forward rate risk)</a:t>
            </a:r>
          </a:p>
        </p:txBody>
      </p:sp>
      <p:pic>
        <p:nvPicPr>
          <p:cNvPr id="12" name="Picture 11" descr="fig11.png"/>
          <p:cNvPicPr>
            <a:picLocks noChangeAspect="1"/>
          </p:cNvPicPr>
          <p:nvPr/>
        </p:nvPicPr>
        <p:blipFill>
          <a:blip r:embed="rId3"/>
          <a:stretch>
            <a:fillRect/>
          </a:stretch>
        </p:blipFill>
        <p:spPr>
          <a:xfrm>
            <a:off x="6309360" y="1371600"/>
            <a:ext cx="5394960" cy="2854336"/>
          </a:xfrm>
          <a:prstGeom prst="rect">
            <a:avLst/>
          </a:prstGeom>
        </p:spPr>
      </p:pic>
      <p:sp>
        <p:nvSpPr>
          <p:cNvPr id="13" name="TextBox 12"/>
          <p:cNvSpPr txBox="1"/>
          <p:nvPr/>
        </p:nvSpPr>
        <p:spPr>
          <a:xfrm>
            <a:off x="6309360" y="4434840"/>
            <a:ext cx="5394960" cy="320040"/>
          </a:xfrm>
          <a:prstGeom prst="rect">
            <a:avLst/>
          </a:prstGeom>
          <a:noFill/>
        </p:spPr>
        <p:txBody>
          <a:bodyPr wrap="square" anchor="t" lIns="0" rIns="0" tIns="0" bIns="0">
            <a:spAutoFit/>
          </a:bodyPr>
          <a:lstStyle/>
          <a:p>
            <a:pPr algn="l"/>
            <a:r>
              <a:rPr sz="1050" b="0" i="1">
                <a:solidFill>
                  <a:srgbClr val="6B7280"/>
                </a:solidFill>
                <a:latin typeface="Calibri"/>
              </a:rPr>
              <a:t>Simulated USD short rate fan (3,000 scenarios); median tracks today's forward curve.</a:t>
            </a:r>
          </a:p>
        </p:txBody>
      </p:sp>
      <p:sp>
        <p:nvSpPr>
          <p:cNvPr id="14" name="TextBox 13"/>
          <p:cNvSpPr txBox="1"/>
          <p:nvPr/>
        </p:nvSpPr>
        <p:spPr>
          <a:xfrm>
            <a:off x="6309360" y="4846320"/>
            <a:ext cx="5394960" cy="822960"/>
          </a:xfrm>
          <a:prstGeom prst="rect">
            <a:avLst/>
          </a:prstGeom>
          <a:noFill/>
        </p:spPr>
        <p:txBody>
          <a:bodyPr wrap="square" anchor="t" lIns="0" rIns="0" tIns="0" bIns="0">
            <a:spAutoFit/>
          </a:bodyPr>
          <a:lstStyle/>
          <a:p>
            <a:pPr algn="l"/>
            <a:r>
              <a:rPr sz="1150" b="0" i="0">
                <a:solidFill>
                  <a:srgbClr val="182433"/>
                </a:solidFill>
                <a:latin typeface="Calibri"/>
              </a:rPr>
              <a:t>A two-factor alternative (G2++) is implemented, fully calibrated and compared in the next section -- it is not the default because it changes the headline by only -3%.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Equities, FX and Correlation: GBM Driven by the Simulated Rates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1">
                <a:solidFill>
                  <a:srgbClr val="D2006F"/>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22</a:t>
            </a:r>
          </a:p>
        </p:txBody>
      </p:sp>
      <p:sp>
        <p:nvSpPr>
          <p:cNvPr id="6" name="TextBox 5"/>
          <p:cNvSpPr txBox="1"/>
          <p:nvPr/>
        </p:nvSpPr>
        <p:spPr>
          <a:xfrm>
            <a:off x="457200" y="1325880"/>
            <a:ext cx="5486400" cy="868680"/>
          </a:xfrm>
          <a:prstGeom prst="rect">
            <a:avLst/>
          </a:prstGeom>
          <a:noFill/>
        </p:spPr>
        <p:txBody>
          <a:bodyPr wrap="square" anchor="t" lIns="0" rIns="0" tIns="0" bIns="0">
            <a:spAutoFit/>
          </a:bodyPr>
          <a:lstStyle/>
          <a:p>
            <a:pPr algn="l"/>
            <a:r>
              <a:rPr sz="1250" b="0" i="0">
                <a:solidFill>
                  <a:srgbClr val="182433"/>
                </a:solidFill>
                <a:latin typeface="Courier New"/>
              </a:rPr>
              <a:t>dS_i/S_i = (r_USD - q_i) dt + sigma_i dW_i
dX/X = (r_JPY - r_USD + sigma_X^2) dt + sigma_X dW_X</a:t>
            </a:r>
          </a:p>
        </p:txBody>
      </p:sp>
      <p:sp>
        <p:nvSpPr>
          <p:cNvPr id="7" name="Rectangle 6"/>
          <p:cNvSpPr/>
          <p:nvPr/>
        </p:nvSpPr>
        <p:spPr>
          <a:xfrm>
            <a:off x="457200" y="2286000"/>
            <a:ext cx="5486400" cy="2651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286000"/>
            <a:ext cx="44450" cy="265176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395728"/>
            <a:ext cx="5166360" cy="292608"/>
          </a:xfrm>
          <a:prstGeom prst="rect">
            <a:avLst/>
          </a:prstGeom>
          <a:noFill/>
        </p:spPr>
        <p:txBody>
          <a:bodyPr wrap="square" anchor="t" lIns="0" rIns="0" tIns="0" bIns="0">
            <a:spAutoFit/>
          </a:bodyPr>
          <a:lstStyle/>
          <a:p>
            <a:pPr algn="l"/>
            <a:r>
              <a:rPr sz="1200" b="1" i="0">
                <a:solidFill>
                  <a:srgbClr val="9A0052"/>
                </a:solidFill>
                <a:latin typeface="Cambria"/>
              </a:rPr>
              <a:t>WHY GBM + CHOLESKY</a:t>
            </a:r>
          </a:p>
        </p:txBody>
      </p:sp>
      <p:sp>
        <p:nvSpPr>
          <p:cNvPr id="10" name="TextBox 9"/>
          <p:cNvSpPr txBox="1"/>
          <p:nvPr/>
        </p:nvSpPr>
        <p:spPr>
          <a:xfrm>
            <a:off x="640080" y="2761488"/>
            <a:ext cx="5166360" cy="2103120"/>
          </a:xfrm>
          <a:prstGeom prst="rect">
            <a:avLst/>
          </a:prstGeom>
          <a:noFill/>
        </p:spPr>
        <p:txBody>
          <a:bodyPr wrap="square" lIns="0" rIns="0" tIns="0" bIns="0">
            <a:spAutoFit/>
          </a:bodyPr>
          <a:lstStyle/>
          <a:p>
            <a:pPr>
              <a:lnSpc>
                <a:spcPct val="105000"/>
              </a:lnSpc>
              <a:spcAft>
                <a:spcPts val="500"/>
              </a:spcAft>
            </a:pPr>
            <a:r>
              <a:rPr sz="980" b="0">
                <a:solidFill>
                  <a:srgbClr val="182433"/>
                </a:solidFill>
                <a:latin typeface="Calibri"/>
              </a:rPr>
              <a:t>•  Matches the lognormal vol convention we measure and the market default for equity CCR; needs only one vol per name</a:t>
            </a:r>
          </a:p>
          <a:p>
            <a:pPr>
              <a:lnSpc>
                <a:spcPct val="105000"/>
              </a:lnSpc>
              <a:spcAft>
                <a:spcPts val="500"/>
              </a:spcAft>
            </a:pPr>
            <a:r>
              <a:rPr sz="980" b="0">
                <a:solidFill>
                  <a:srgbClr val="182433"/>
                </a:solidFill>
                <a:latin typeface="Calibri"/>
              </a:rPr>
              <a:t>•  Drifts derived from the martingale condition, not assumed -- verified independently by martingale tests</a:t>
            </a:r>
          </a:p>
          <a:p>
            <a:pPr>
              <a:lnSpc>
                <a:spcPct val="105000"/>
              </a:lnSpc>
              <a:spcAft>
                <a:spcPts val="500"/>
              </a:spcAft>
            </a:pPr>
            <a:r>
              <a:rPr sz="980" b="0">
                <a:solidFill>
                  <a:srgbClr val="182433"/>
                </a:solidFill>
                <a:latin typeface="Calibri"/>
              </a:rPr>
              <a:t>•  No unobservable parameters beyond that single vol -- Heston (vol-of-vol), SABR (beta, rho) and jump models all need inputs we don't have</a:t>
            </a:r>
          </a:p>
          <a:p>
            <a:pPr>
              <a:lnSpc>
                <a:spcPct val="105000"/>
              </a:lnSpc>
              <a:spcAft>
                <a:spcPts val="500"/>
              </a:spcAft>
            </a:pPr>
            <a:r>
              <a:rPr sz="980" b="0">
                <a:solidFill>
                  <a:srgbClr val="182433"/>
                </a:solidFill>
                <a:latin typeface="Calibri"/>
              </a:rPr>
              <a:t>•  Keeps paths exactly rescalable under a spot bump, which is what later makes equity/FX Greeks ~100x cheaper than naive resimulation (Section 6)</a:t>
            </a:r>
          </a:p>
          <a:p>
            <a:pPr>
              <a:lnSpc>
                <a:spcPct val="105000"/>
              </a:lnSpc>
              <a:spcAft>
                <a:spcPts val="500"/>
              </a:spcAft>
            </a:pPr>
            <a:r>
              <a:rPr sz="980" b="0">
                <a:solidFill>
                  <a:srgbClr val="182433"/>
                </a:solidFill>
                <a:latin typeface="Calibri"/>
              </a:rPr>
              <a:t>•  Rejected: Heston/SABR (no option surfaces available); jump models (unobservable parameters) -- both disclosed as understating fat tails</a:t>
            </a:r>
          </a:p>
        </p:txBody>
      </p:sp>
      <p:sp>
        <p:nvSpPr>
          <p:cNvPr id="11" name="TextBox 10"/>
          <p:cNvSpPr txBox="1"/>
          <p:nvPr/>
        </p:nvSpPr>
        <p:spPr>
          <a:xfrm>
            <a:off x="457200" y="5074920"/>
            <a:ext cx="5486400" cy="1280160"/>
          </a:xfrm>
          <a:prstGeom prst="rect">
            <a:avLst/>
          </a:prstGeom>
          <a:noFill/>
        </p:spPr>
        <p:txBody>
          <a:bodyPr wrap="square" lIns="0" rIns="0" tIns="0" bIns="0">
            <a:spAutoFit/>
          </a:bodyPr>
          <a:lstStyle/>
          <a:p>
            <a:pPr>
              <a:lnSpc>
                <a:spcPct val="105000"/>
              </a:lnSpc>
              <a:spcAft>
                <a:spcPts val="600"/>
              </a:spcAft>
            </a:pPr>
            <a:r>
              <a:rPr sz="1050" b="0">
                <a:solidFill>
                  <a:srgbClr val="182433"/>
                </a:solidFill>
                <a:latin typeface="Calibri"/>
              </a:rPr>
              <a:t>•  741 pairwise correlations, mean 0.14; first PCA factor (a 'market' mode) explains 20% of variance alone</a:t>
            </a:r>
          </a:p>
          <a:p>
            <a:pPr>
              <a:lnSpc>
                <a:spcPct val="105000"/>
              </a:lnSpc>
              <a:spcAft>
                <a:spcPts val="600"/>
              </a:spcAft>
            </a:pPr>
            <a:r>
              <a:rPr sz="1050" b="0">
                <a:solidFill>
                  <a:srgbClr val="182433"/>
                </a:solidFill>
                <a:latin typeface="Calibri"/>
              </a:rPr>
              <a:t>•  37 equities span an order of magnitude in vol (a few names at 50-76%), dominating tail exposure of the trades referencing them</a:t>
            </a:r>
          </a:p>
        </p:txBody>
      </p:sp>
      <p:pic>
        <p:nvPicPr>
          <p:cNvPr id="12" name="Picture 11" descr="fig12.png"/>
          <p:cNvPicPr>
            <a:picLocks noChangeAspect="1"/>
          </p:cNvPicPr>
          <p:nvPr/>
        </p:nvPicPr>
        <p:blipFill>
          <a:blip r:embed="rId3"/>
          <a:stretch>
            <a:fillRect/>
          </a:stretch>
        </p:blipFill>
        <p:spPr>
          <a:xfrm>
            <a:off x="6309360" y="1325880"/>
            <a:ext cx="5394960" cy="2308708"/>
          </a:xfrm>
          <a:prstGeom prst="rect">
            <a:avLst/>
          </a:prstGeom>
        </p:spPr>
      </p:pic>
      <p:sp>
        <p:nvSpPr>
          <p:cNvPr id="13" name="TextBox 12"/>
          <p:cNvSpPr txBox="1"/>
          <p:nvPr/>
        </p:nvSpPr>
        <p:spPr>
          <a:xfrm>
            <a:off x="6309360" y="3639312"/>
            <a:ext cx="5394960" cy="320040"/>
          </a:xfrm>
          <a:prstGeom prst="rect">
            <a:avLst/>
          </a:prstGeom>
          <a:noFill/>
        </p:spPr>
        <p:txBody>
          <a:bodyPr wrap="square" anchor="t" lIns="0" rIns="0" tIns="0" bIns="0">
            <a:spAutoFit/>
          </a:bodyPr>
          <a:lstStyle/>
          <a:p>
            <a:pPr algn="l"/>
            <a:r>
              <a:rPr sz="1050" b="0" i="1">
                <a:solidFill>
                  <a:srgbClr val="6B7280"/>
                </a:solidFill>
                <a:latin typeface="Calibri"/>
              </a:rPr>
              <a:t>Simulated USDJPY and two equities (low-vol vs. highest-vol name), 1-99% and 25-75% bands.</a:t>
            </a:r>
          </a:p>
        </p:txBody>
      </p:sp>
      <p:pic>
        <p:nvPicPr>
          <p:cNvPr id="14" name="Picture 13" descr="fig13.png"/>
          <p:cNvPicPr>
            <a:picLocks noChangeAspect="1"/>
          </p:cNvPicPr>
          <p:nvPr/>
        </p:nvPicPr>
        <p:blipFill>
          <a:blip r:embed="rId4"/>
          <a:stretch>
            <a:fillRect/>
          </a:stretch>
        </p:blipFill>
        <p:spPr>
          <a:xfrm>
            <a:off x="6720840" y="4023360"/>
            <a:ext cx="4572000" cy="2205588"/>
          </a:xfrm>
          <a:prstGeom prst="rect">
            <a:avLst/>
          </a:prstGeom>
        </p:spPr>
      </p:pic>
      <p:sp>
        <p:nvSpPr>
          <p:cNvPr id="15" name="TextBox 14"/>
          <p:cNvSpPr txBox="1"/>
          <p:nvPr/>
        </p:nvSpPr>
        <p:spPr>
          <a:xfrm>
            <a:off x="6309360" y="6263640"/>
            <a:ext cx="5394960" cy="320040"/>
          </a:xfrm>
          <a:prstGeom prst="rect">
            <a:avLst/>
          </a:prstGeom>
          <a:noFill/>
        </p:spPr>
        <p:txBody>
          <a:bodyPr wrap="square" anchor="t" lIns="0" rIns="0" tIns="0" bIns="0">
            <a:spAutoFit/>
          </a:bodyPr>
          <a:lstStyle/>
          <a:p>
            <a:pPr algn="l"/>
            <a:r>
              <a:rPr sz="1000" b="0" i="1">
                <a:solidFill>
                  <a:srgbClr val="6B7280"/>
                </a:solidFill>
                <a:latin typeface="Calibri"/>
              </a:rPr>
              <a:t>Cholesky demo: independent draws (left) become correlated draws (right), target corr. 0.82.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JPY: a Genuine Negative-Rate-Capable Hull-White Factor</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1">
                <a:solidFill>
                  <a:srgbClr val="D2006F"/>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23</a:t>
            </a:r>
          </a:p>
        </p:txBody>
      </p:sp>
      <p:graphicFrame>
        <p:nvGraphicFramePr>
          <p:cNvPr id="6" name="Table 5"/>
          <p:cNvGraphicFramePr>
            <a:graphicFrameLocks noGrp="1"/>
          </p:cNvGraphicFramePr>
          <p:nvPr/>
        </p:nvGraphicFramePr>
        <p:xfrm>
          <a:off x="457200" y="1371600"/>
          <a:ext cx="5669280" cy="1737360"/>
        </p:xfrm>
        <a:graphic>
          <a:graphicData uri="http://schemas.openxmlformats.org/drawingml/2006/table">
            <a:tbl>
              <a:tblPr firstRow="1" bandRow="1">
                <a:tableStyleId>{5C22544A-7EE6-4342-B048-85BDC9FD1C3A}</a:tableStyleId>
              </a:tblPr>
              <a:tblGrid>
                <a:gridCol w="1737360"/>
                <a:gridCol w="1554480"/>
                <a:gridCol w="2377440"/>
              </a:tblGrid>
              <a:tr h="347472">
                <a:tc>
                  <a:txBody>
                    <a:bodyPr wrap="square"/>
                    <a:lstStyle/>
                    <a:p>
                      <a:pPr algn="l"/>
                      <a:r>
                        <a:rPr sz="1030" b="1">
                          <a:solidFill>
                            <a:srgbClr val="FFFFFF"/>
                          </a:solidFill>
                          <a:latin typeface="Calibri"/>
                        </a:rPr>
                        <a:t>Parameter</a:t>
                      </a:r>
                    </a:p>
                  </a:txBody>
                  <a:tcPr marL="50800" marR="50800" marT="25400" marB="25400" anchor="ctr">
                    <a:solidFill>
                      <a:srgbClr val="182433"/>
                    </a:solidFill>
                  </a:tcPr>
                </a:tc>
                <a:tc>
                  <a:txBody>
                    <a:bodyPr wrap="square"/>
                    <a:lstStyle/>
                    <a:p>
                      <a:pPr algn="ctr"/>
                      <a:r>
                        <a:rPr sz="1030" b="1">
                          <a:solidFill>
                            <a:srgbClr val="FFFFFF"/>
                          </a:solidFill>
                          <a:latin typeface="Calibri"/>
                        </a:rPr>
                        <a:t>Value</a:t>
                      </a:r>
                    </a:p>
                  </a:txBody>
                  <a:tcPr marL="50800" marR="50800" marT="25400" marB="25400" anchor="ctr">
                    <a:solidFill>
                      <a:srgbClr val="182433"/>
                    </a:solidFill>
                  </a:tcPr>
                </a:tc>
                <a:tc>
                  <a:txBody>
                    <a:bodyPr wrap="square"/>
                    <a:lstStyle/>
                    <a:p>
                      <a:pPr algn="ctr"/>
                      <a:r>
                        <a:rPr sz="1030" b="1">
                          <a:solidFill>
                            <a:srgbClr val="FFFFFF"/>
                          </a:solidFill>
                          <a:latin typeface="Calibri"/>
                        </a:rPr>
                        <a:t>Source / status</a:t>
                      </a:r>
                    </a:p>
                  </a:txBody>
                  <a:tcPr marL="50800" marR="50800" marT="25400" marB="25400" anchor="ctr">
                    <a:solidFill>
                      <a:srgbClr val="182433"/>
                    </a:solidFill>
                  </a:tcPr>
                </a:tc>
              </a:tr>
              <a:tr h="347472">
                <a:tc>
                  <a:txBody>
                    <a:bodyPr wrap="square"/>
                    <a:lstStyle/>
                    <a:p>
                      <a:pPr algn="l"/>
                      <a:r>
                        <a:rPr sz="980" b="0">
                          <a:solidFill>
                            <a:srgbClr val="182433"/>
                          </a:solidFill>
                          <a:latin typeface="Calibri"/>
                        </a:rPr>
                        <a:t>Curve</a:t>
                      </a:r>
                    </a:p>
                  </a:txBody>
                  <a:tcPr marL="50800" marR="50800" marT="25400" marB="25400" anchor="ctr">
                    <a:solidFill>
                      <a:srgbClr val="FFFFFF"/>
                    </a:solidFill>
                  </a:tcPr>
                </a:tc>
                <a:tc>
                  <a:txBody>
                    <a:bodyPr wrap="square"/>
                    <a:lstStyle/>
                    <a:p>
                      <a:pPr algn="ctr"/>
                      <a:r>
                        <a:rPr sz="980" b="0">
                          <a:solidFill>
                            <a:srgbClr val="182433"/>
                          </a:solidFill>
                          <a:latin typeface="Calibri"/>
                        </a:rPr>
                        <a:t>JPY OIS zero curve, 2026-08-28</a:t>
                      </a:r>
                    </a:p>
                  </a:txBody>
                  <a:tcPr marL="50800" marR="50800" marT="25400" marB="25400" anchor="ctr">
                    <a:solidFill>
                      <a:srgbClr val="FFFFFF"/>
                    </a:solidFill>
                  </a:tcPr>
                </a:tc>
                <a:tc>
                  <a:txBody>
                    <a:bodyPr wrap="square"/>
                    <a:lstStyle/>
                    <a:p>
                      <a:pPr algn="ctr"/>
                      <a:r>
                        <a:rPr sz="980" b="0">
                          <a:solidFill>
                            <a:srgbClr val="182433"/>
                          </a:solidFill>
                          <a:latin typeface="Calibri"/>
                        </a:rPr>
                        <a:t>Bootstrapped; matches Bloomberg's own curve to 1bp</a:t>
                      </a:r>
                    </a:p>
                  </a:txBody>
                  <a:tcPr marL="50800" marR="50800" marT="25400" marB="25400" anchor="ctr">
                    <a:solidFill>
                      <a:srgbClr val="FFFFFF"/>
                    </a:solidFill>
                  </a:tcPr>
                </a:tc>
              </a:tr>
              <a:tr h="347472">
                <a:tc>
                  <a:txBody>
                    <a:bodyPr wrap="square"/>
                    <a:lstStyle/>
                    <a:p>
                      <a:pPr algn="l"/>
                      <a:r>
                        <a:rPr sz="980" b="0">
                          <a:solidFill>
                            <a:srgbClr val="182433"/>
                          </a:solidFill>
                          <a:latin typeface="Calibri"/>
                        </a:rPr>
                        <a:t>sigma</a:t>
                      </a:r>
                    </a:p>
                  </a:txBody>
                  <a:tcPr marL="50800" marR="50800" marT="25400" marB="25400" anchor="ctr">
                    <a:solidFill>
                      <a:srgbClr val="F7F8FA"/>
                    </a:solidFill>
                  </a:tcPr>
                </a:tc>
                <a:tc>
                  <a:txBody>
                    <a:bodyPr wrap="square"/>
                    <a:lstStyle/>
                    <a:p>
                      <a:pPr algn="ctr"/>
                      <a:r>
                        <a:rPr sz="980" b="0">
                          <a:solidFill>
                            <a:srgbClr val="182433"/>
                          </a:solidFill>
                          <a:latin typeface="Calibri"/>
                        </a:rPr>
                        <a:t>0.267%/yr</a:t>
                      </a:r>
                    </a:p>
                  </a:txBody>
                  <a:tcPr marL="50800" marR="50800" marT="25400" marB="25400" anchor="ctr">
                    <a:solidFill>
                      <a:srgbClr val="F7F8FA"/>
                    </a:solidFill>
                  </a:tcPr>
                </a:tc>
                <a:tc>
                  <a:txBody>
                    <a:bodyPr wrap="square"/>
                    <a:lstStyle/>
                    <a:p>
                      <a:pPr algn="ctr"/>
                      <a:r>
                        <a:rPr sz="980" b="0">
                          <a:solidFill>
                            <a:srgbClr val="182433"/>
                          </a:solidFill>
                          <a:latin typeface="Calibri"/>
                        </a:rPr>
                        <a:t>Realised vol of the overnight call rate, 3y window</a:t>
                      </a:r>
                    </a:p>
                  </a:txBody>
                  <a:tcPr marL="50800" marR="50800" marT="25400" marB="25400" anchor="ctr">
                    <a:solidFill>
                      <a:srgbClr val="F7F8FA"/>
                    </a:solidFill>
                  </a:tcPr>
                </a:tc>
              </a:tr>
              <a:tr h="347472">
                <a:tc>
                  <a:txBody>
                    <a:bodyPr wrap="square"/>
                    <a:lstStyle/>
                    <a:p>
                      <a:pPr algn="l"/>
                      <a:r>
                        <a:rPr sz="980" b="0">
                          <a:solidFill>
                            <a:srgbClr val="182433"/>
                          </a:solidFill>
                          <a:latin typeface="Calibri"/>
                        </a:rPr>
                        <a:t>a (mean reversion)</a:t>
                      </a:r>
                    </a:p>
                  </a:txBody>
                  <a:tcPr marL="50800" marR="50800" marT="25400" marB="25400" anchor="ctr">
                    <a:solidFill>
                      <a:srgbClr val="FFFFFF"/>
                    </a:solidFill>
                  </a:tcPr>
                </a:tc>
                <a:tc>
                  <a:txBody>
                    <a:bodyPr wrap="square"/>
                    <a:lstStyle/>
                    <a:p>
                      <a:pPr algn="ctr"/>
                      <a:r>
                        <a:rPr sz="980" b="0">
                          <a:solidFill>
                            <a:srgbClr val="182433"/>
                          </a:solidFill>
                          <a:latin typeface="Calibri"/>
                        </a:rPr>
                        <a:t>0.0010 (lower bound)</a:t>
                      </a:r>
                    </a:p>
                  </a:txBody>
                  <a:tcPr marL="50800" marR="50800" marT="25400" marB="25400" anchor="ctr">
                    <a:solidFill>
                      <a:srgbClr val="FFFFFF"/>
                    </a:solidFill>
                  </a:tcPr>
                </a:tc>
                <a:tc>
                  <a:txBody>
                    <a:bodyPr wrap="square"/>
                    <a:lstStyle/>
                    <a:p>
                      <a:pPr algn="ctr"/>
                      <a:r>
                        <a:rPr sz="980" b="0">
                          <a:solidFill>
                            <a:srgbClr val="182433"/>
                          </a:solidFill>
                          <a:latin typeface="Calibri"/>
                        </a:rPr>
                        <a:t>All 3 real JPY calibration routes gave a negative a</a:t>
                      </a:r>
                    </a:p>
                  </a:txBody>
                  <a:tcPr marL="50800" marR="50800" marT="25400" marB="25400" anchor="ctr">
                    <a:solidFill>
                      <a:srgbClr val="FFFFFF"/>
                    </a:solidFill>
                  </a:tcPr>
                </a:tc>
              </a:tr>
              <a:tr h="347472">
                <a:tc>
                  <a:txBody>
                    <a:bodyPr wrap="square"/>
                    <a:lstStyle/>
                    <a:p>
                      <a:pPr algn="l"/>
                      <a:r>
                        <a:rPr sz="980" b="0">
                          <a:solidFill>
                            <a:srgbClr val="182433"/>
                          </a:solidFill>
                          <a:latin typeface="Calibri"/>
                        </a:rPr>
                        <a:t>USD-JPY rate correlation</a:t>
                      </a:r>
                    </a:p>
                  </a:txBody>
                  <a:tcPr marL="50800" marR="50800" marT="25400" marB="25400" anchor="ctr">
                    <a:solidFill>
                      <a:srgbClr val="F7F8FA"/>
                    </a:solidFill>
                  </a:tcPr>
                </a:tc>
                <a:tc>
                  <a:txBody>
                    <a:bodyPr wrap="square"/>
                    <a:lstStyle/>
                    <a:p>
                      <a:pPr algn="ctr"/>
                      <a:r>
                        <a:rPr sz="980" b="0">
                          <a:solidFill>
                            <a:srgbClr val="182433"/>
                          </a:solidFill>
                          <a:latin typeface="Calibri"/>
                        </a:rPr>
                        <a:t>-0.040</a:t>
                      </a:r>
                    </a:p>
                  </a:txBody>
                  <a:tcPr marL="50800" marR="50800" marT="25400" marB="25400" anchor="ctr">
                    <a:solidFill>
                      <a:srgbClr val="F7F8FA"/>
                    </a:solidFill>
                  </a:tcPr>
                </a:tc>
                <a:tc>
                  <a:txBody>
                    <a:bodyPr wrap="square"/>
                    <a:lstStyle/>
                    <a:p>
                      <a:pPr algn="ctr"/>
                      <a:r>
                        <a:rPr sz="980" b="0">
                          <a:solidFill>
                            <a:srgbClr val="182433"/>
                          </a:solidFill>
                          <a:latin typeface="Calibri"/>
                        </a:rPr>
                        <a:t>Real SOFR vs TONA daily changes (n=1983); statistically zero</a:t>
                      </a:r>
                    </a:p>
                  </a:txBody>
                  <a:tcPr marL="50800" marR="50800" marT="25400" marB="25400" anchor="ctr">
                    <a:solidFill>
                      <a:srgbClr val="F7F8FA"/>
                    </a:solidFill>
                  </a:tcPr>
                </a:tc>
              </a:tr>
            </a:tbl>
          </a:graphicData>
        </a:graphic>
      </p:graphicFrame>
      <p:sp>
        <p:nvSpPr>
          <p:cNvPr id="7" name="Rectangle 6"/>
          <p:cNvSpPr/>
          <p:nvPr/>
        </p:nvSpPr>
        <p:spPr>
          <a:xfrm>
            <a:off x="457200" y="3291840"/>
            <a:ext cx="5669280" cy="32918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3291840"/>
            <a:ext cx="44450" cy="329184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01568"/>
            <a:ext cx="5349240" cy="292608"/>
          </a:xfrm>
          <a:prstGeom prst="rect">
            <a:avLst/>
          </a:prstGeom>
          <a:noFill/>
        </p:spPr>
        <p:txBody>
          <a:bodyPr wrap="square" anchor="t" lIns="0" rIns="0" tIns="0" bIns="0">
            <a:spAutoFit/>
          </a:bodyPr>
          <a:lstStyle/>
          <a:p>
            <a:pPr algn="l"/>
            <a:r>
              <a:rPr sz="1200" b="1" i="0">
                <a:solidFill>
                  <a:srgbClr val="9A0052"/>
                </a:solidFill>
                <a:latin typeface="Cambria"/>
              </a:rPr>
              <a:t>WHY THE LOWER-BOUND MEAN REVERSION</a:t>
            </a:r>
          </a:p>
        </p:txBody>
      </p:sp>
      <p:sp>
        <p:nvSpPr>
          <p:cNvPr id="10" name="TextBox 9"/>
          <p:cNvSpPr txBox="1"/>
          <p:nvPr/>
        </p:nvSpPr>
        <p:spPr>
          <a:xfrm>
            <a:off x="640080" y="3767328"/>
            <a:ext cx="5349240" cy="2743200"/>
          </a:xfrm>
          <a:prstGeom prst="rect">
            <a:avLst/>
          </a:prstGeom>
          <a:noFill/>
        </p:spPr>
        <p:txBody>
          <a:bodyPr wrap="square" lIns="0" rIns="0" tIns="0" bIns="0">
            <a:spAutoFit/>
          </a:bodyPr>
          <a:lstStyle/>
          <a:p>
            <a:pPr>
              <a:lnSpc>
                <a:spcPct val="105000"/>
              </a:lnSpc>
              <a:spcAft>
                <a:spcPts val="500"/>
              </a:spcAft>
            </a:pPr>
            <a:r>
              <a:rPr sz="930" b="0">
                <a:solidFill>
                  <a:srgbClr val="182433"/>
                </a:solidFill>
                <a:latin typeface="Calibri"/>
              </a:rPr>
              <a:t>•  For two decades the BOJ pinned the short end (zero / negative policy, YCC), so long tenors moved more freely than short -- the reverse of what a mean-reverting factor assumes</a:t>
            </a:r>
          </a:p>
          <a:p>
            <a:pPr>
              <a:lnSpc>
                <a:spcPct val="105000"/>
              </a:lnSpc>
              <a:spcAft>
                <a:spcPts val="500"/>
              </a:spcAft>
            </a:pPr>
            <a:r>
              <a:rPr sz="930" b="0">
                <a:solidFill>
                  <a:srgbClr val="182433"/>
                </a:solidFill>
                <a:latin typeface="Calibri"/>
              </a:rPr>
              <a:t>•  Confirmed by three independent real data sources (daily OIS history, 52 years of JGB yields, a 2026 swaption cube), every one giving a negative fitted a -- not a one-off artifact of noisy data</a:t>
            </a:r>
          </a:p>
          <a:p>
            <a:pPr>
              <a:lnSpc>
                <a:spcPct val="105000"/>
              </a:lnSpc>
              <a:spcAft>
                <a:spcPts val="500"/>
              </a:spcAft>
            </a:pPr>
            <a:r>
              <a:rPr sz="930" b="0">
                <a:solidFill>
                  <a:srgbClr val="182433"/>
                </a:solidFill>
                <a:latin typeface="Calibri"/>
              </a:rPr>
              <a:t>•  A negative a was rejected outright: it would make the simulated short rate diverge over the horizon, which is both numerically unstable and economically meaningless</a:t>
            </a:r>
          </a:p>
          <a:p>
            <a:pPr>
              <a:lnSpc>
                <a:spcPct val="105000"/>
              </a:lnSpc>
              <a:spcAft>
                <a:spcPts val="500"/>
              </a:spcAft>
            </a:pPr>
            <a:r>
              <a:rPr sz="930" b="0">
                <a:solidFill>
                  <a:srgbClr val="182433"/>
                </a:solidFill>
                <a:latin typeface="Calibri"/>
              </a:rPr>
              <a:t>•  A single Gaussian factor cannot produce the observed shape; a=0.001 (the Ho-Lee limit, flat vol across tenors) is the closest a one-factor model can get</a:t>
            </a:r>
          </a:p>
          <a:p>
            <a:pPr>
              <a:lnSpc>
                <a:spcPct val="105000"/>
              </a:lnSpc>
              <a:spcAft>
                <a:spcPts val="500"/>
              </a:spcAft>
            </a:pPr>
            <a:r>
              <a:rPr sz="930" b="0">
                <a:solidFill>
                  <a:srgbClr val="182433"/>
                </a:solidFill>
                <a:latin typeface="Calibri"/>
              </a:rPr>
              <a:t>•  The lower bound keeps the model fully analytic and negative-rate capable, so no other part of the engine needs to change to accommodate it</a:t>
            </a:r>
          </a:p>
          <a:p>
            <a:pPr>
              <a:lnSpc>
                <a:spcPct val="105000"/>
              </a:lnSpc>
              <a:spcAft>
                <a:spcPts val="500"/>
              </a:spcAft>
            </a:pPr>
            <a:r>
              <a:rPr sz="930" b="0">
                <a:solidFill>
                  <a:srgbClr val="182433"/>
                </a:solidFill>
                <a:latin typeface="Calibri"/>
              </a:rPr>
              <a:t>•  Rejected: constant USD-rate differential (cannot represent JPY's own dynamics); a two-factor or regime-dependent model would match the shape but is listed as future work</a:t>
            </a:r>
          </a:p>
        </p:txBody>
      </p:sp>
      <p:pic>
        <p:nvPicPr>
          <p:cNvPr id="11" name="Picture 10" descr="fig16.png"/>
          <p:cNvPicPr>
            <a:picLocks noChangeAspect="1"/>
          </p:cNvPicPr>
          <p:nvPr/>
        </p:nvPicPr>
        <p:blipFill>
          <a:blip r:embed="rId3"/>
          <a:stretch>
            <a:fillRect/>
          </a:stretch>
        </p:blipFill>
        <p:spPr>
          <a:xfrm>
            <a:off x="6400800" y="1371600"/>
            <a:ext cx="5303520" cy="2279333"/>
          </a:xfrm>
          <a:prstGeom prst="rect">
            <a:avLst/>
          </a:prstGeom>
        </p:spPr>
      </p:pic>
      <p:sp>
        <p:nvSpPr>
          <p:cNvPr id="12" name="TextBox 11"/>
          <p:cNvSpPr txBox="1"/>
          <p:nvPr/>
        </p:nvSpPr>
        <p:spPr>
          <a:xfrm>
            <a:off x="6400800" y="3703320"/>
            <a:ext cx="5303520" cy="548640"/>
          </a:xfrm>
          <a:prstGeom prst="rect">
            <a:avLst/>
          </a:prstGeom>
          <a:noFill/>
        </p:spPr>
        <p:txBody>
          <a:bodyPr wrap="square" anchor="t" lIns="0" rIns="0" tIns="0" bIns="0">
            <a:spAutoFit/>
          </a:bodyPr>
          <a:lstStyle/>
          <a:p>
            <a:pPr algn="l"/>
            <a:r>
              <a:rPr sz="1100" b="0" i="1">
                <a:solidFill>
                  <a:srgbClr val="6B7280"/>
                </a:solidFill>
                <a:latin typeface="Calibri"/>
              </a:rPr>
              <a:t>Real Bank of Japan TONA, 1998-2026: at or below zero for most of 25 years -- a model with a floor could not represent this.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Exposure Built to the Brief's Exact Definition, Not a Simplification</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1">
                <a:solidFill>
                  <a:srgbClr val="D2006F"/>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24</a:t>
            </a:r>
          </a:p>
        </p:txBody>
      </p:sp>
      <p:sp>
        <p:nvSpPr>
          <p:cNvPr id="6" name="TextBox 5"/>
          <p:cNvSpPr txBox="1"/>
          <p:nvPr/>
        </p:nvSpPr>
        <p:spPr>
          <a:xfrm>
            <a:off x="457200" y="1371600"/>
            <a:ext cx="11155680" cy="548640"/>
          </a:xfrm>
          <a:prstGeom prst="rect">
            <a:avLst/>
          </a:prstGeom>
          <a:noFill/>
        </p:spPr>
        <p:txBody>
          <a:bodyPr wrap="square" anchor="t" lIns="0" rIns="0" tIns="0" bIns="0">
            <a:spAutoFit/>
          </a:bodyPr>
          <a:lstStyle/>
          <a:p>
            <a:pPr algn="l"/>
            <a:r>
              <a:rPr sz="1500" b="0" i="0">
                <a:solidFill>
                  <a:srgbClr val="182433"/>
                </a:solidFill>
                <a:latin typeface="Courier New"/>
              </a:rPr>
              <a:t>exposure(t) = max( V(t + 10bd) - V(t - 1bd), 0 ),  V(t-1bd) = variation margin, signed</a:t>
            </a:r>
          </a:p>
        </p:txBody>
      </p:sp>
      <p:sp>
        <p:nvSpPr>
          <p:cNvPr id="7" name="TextBox 6"/>
          <p:cNvSpPr txBox="1"/>
          <p:nvPr/>
        </p:nvSpPr>
        <p:spPr>
          <a:xfrm>
            <a:off x="457200" y="2194560"/>
            <a:ext cx="5394960" cy="3474720"/>
          </a:xfrm>
          <a:prstGeom prst="rect">
            <a:avLst/>
          </a:prstGeom>
          <a:noFill/>
        </p:spPr>
        <p:txBody>
          <a:bodyPr wrap="square" lIns="0" rIns="0" tIns="0" bIns="0">
            <a:spAutoFit/>
          </a:bodyPr>
          <a:lstStyle/>
          <a:p>
            <a:pPr>
              <a:lnSpc>
                <a:spcPct val="105000"/>
              </a:lnSpc>
              <a:spcAft>
                <a:spcPts val="900"/>
              </a:spcAft>
            </a:pPr>
            <a:r>
              <a:rPr sz="1250" b="0">
                <a:solidFill>
                  <a:srgbClr val="182433"/>
                </a:solidFill>
                <a:latin typeface="Calibri"/>
              </a:rPr>
              <a:t>•  Netting applied to value before the positive part -- a +10M and a -6M trade with the same counterparty give exposure 4M, not 10M</a:t>
            </a:r>
          </a:p>
          <a:p>
            <a:pPr>
              <a:lnSpc>
                <a:spcPct val="105000"/>
              </a:lnSpc>
              <a:spcAft>
                <a:spcPts val="900"/>
              </a:spcAft>
            </a:pPr>
            <a:r>
              <a:rPr sz="1250" b="0">
                <a:solidFill>
                  <a:srgbClr val="182433"/>
                </a:solidFill>
                <a:latin typeface="Calibri"/>
              </a:rPr>
              <a:t>•  Netting never crosses counterparties: portfolio exposure is the SUM over counterparties of each one's own max(sum of trades, 0)</a:t>
            </a:r>
          </a:p>
          <a:p>
            <a:pPr>
              <a:lnSpc>
                <a:spcPct val="105000"/>
              </a:lnSpc>
              <a:spcAft>
                <a:spcPts val="900"/>
              </a:spcAft>
            </a:pPr>
            <a:r>
              <a:rPr sz="1250" b="0">
                <a:solidFill>
                  <a:srgbClr val="182433"/>
                </a:solidFill>
                <a:latin typeface="Calibri"/>
              </a:rPr>
              <a:t>•  EE = mean across scenarios; median PFE = 50th pct; PFE99 = 99th pct; MPE = peak of the PFE curve over all dates</a:t>
            </a:r>
          </a:p>
        </p:txBody>
      </p:sp>
      <p:sp>
        <p:nvSpPr>
          <p:cNvPr id="8" name="TextBox 7"/>
          <p:cNvSpPr txBox="1"/>
          <p:nvPr/>
        </p:nvSpPr>
        <p:spPr>
          <a:xfrm>
            <a:off x="6309360" y="2194560"/>
            <a:ext cx="5394960" cy="3474720"/>
          </a:xfrm>
          <a:prstGeom prst="rect">
            <a:avLst/>
          </a:prstGeom>
          <a:noFill/>
        </p:spPr>
        <p:txBody>
          <a:bodyPr wrap="square" lIns="0" rIns="0" tIns="0" bIns="0">
            <a:spAutoFit/>
          </a:bodyPr>
          <a:lstStyle/>
          <a:p>
            <a:pPr>
              <a:lnSpc>
                <a:spcPct val="105000"/>
              </a:lnSpc>
              <a:spcAft>
                <a:spcPts val="900"/>
              </a:spcAft>
            </a:pPr>
            <a:r>
              <a:rPr sz="1250" b="0">
                <a:solidFill>
                  <a:srgbClr val="182433"/>
                </a:solidFill>
                <a:latin typeface="Calibri"/>
              </a:rPr>
              <a:t>•  Simulation grid carries 3 nodes around every reporting date (t-1bd, t, t+10bd) on the same simulated path -- 42 reporting dates for this book</a:t>
            </a:r>
          </a:p>
          <a:p>
            <a:pPr>
              <a:lnSpc>
                <a:spcPct val="105000"/>
              </a:lnSpc>
              <a:spcAft>
                <a:spcPts val="900"/>
              </a:spcAft>
            </a:pPr>
            <a:r>
              <a:rPr sz="1250" b="0">
                <a:solidFill>
                  <a:srgbClr val="182433"/>
                </a:solidFill>
                <a:latin typeface="Calibri"/>
              </a:rPr>
              <a:t>•  Standard market pillar dates (O/N to 10Y) used, not a plain monthly grid -- denser near term, where risk changes fastest</a:t>
            </a:r>
          </a:p>
          <a:p>
            <a:pPr>
              <a:lnSpc>
                <a:spcPct val="105000"/>
              </a:lnSpc>
              <a:spcAft>
                <a:spcPts val="900"/>
              </a:spcAft>
            </a:pPr>
            <a:r>
              <a:rPr sz="1250" b="0">
                <a:solidFill>
                  <a:srgbClr val="182433"/>
                </a:solidFill>
                <a:latin typeface="Calibri"/>
              </a:rPr>
              <a:t>•  Every trade's own reset/settlement/maturity date forced onto the grid so exposure jumps at cash-flow dates are not smoothed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Trade-Offs, Alternatives and Enhancements</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What we tried and rejected, and why; every choice measured, not asserted</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Latin Hypercube Beats Four Other Sampling Methods on a Controlled Test</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1">
                <a:solidFill>
                  <a:srgbClr val="D2006F"/>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26</a:t>
            </a:r>
          </a:p>
        </p:txBody>
      </p:sp>
      <p:graphicFrame>
        <p:nvGraphicFramePr>
          <p:cNvPr id="6" name="Table 5"/>
          <p:cNvGraphicFramePr>
            <a:graphicFrameLocks noGrp="1"/>
          </p:cNvGraphicFramePr>
          <p:nvPr/>
        </p:nvGraphicFramePr>
        <p:xfrm>
          <a:off x="457200" y="1371600"/>
          <a:ext cx="6949440" cy="2286000"/>
        </p:xfrm>
        <a:graphic>
          <a:graphicData uri="http://schemas.openxmlformats.org/drawingml/2006/table">
            <a:tbl>
              <a:tblPr firstRow="1" bandRow="1">
                <a:tableStyleId>{5C22544A-7EE6-4342-B048-85BDC9FD1C3A}</a:tableStyleId>
              </a:tblPr>
              <a:tblGrid>
                <a:gridCol w="2084832"/>
                <a:gridCol w="1216152"/>
                <a:gridCol w="1216152"/>
                <a:gridCol w="1216152"/>
                <a:gridCol w="1216152"/>
              </a:tblGrid>
              <a:tr h="381000">
                <a:tc>
                  <a:txBody>
                    <a:bodyPr/>
                    <a:lstStyle/>
                    <a:p>
                      <a:pPr algn="ctr"/>
                      <a:r>
                        <a:rPr sz="880" b="1">
                          <a:solidFill>
                            <a:srgbClr val="FFFFFF"/>
                          </a:solidFill>
                          <a:latin typeface="Calibri"/>
                        </a:rPr>
                        <a:t/>
                      </a:r>
                    </a:p>
                  </a:txBody>
                  <a:tcPr anchor="ctr">
                    <a:solidFill>
                      <a:srgbClr val="182433"/>
                    </a:solidFill>
                  </a:tcPr>
                </a:tc>
                <a:tc>
                  <a:txBody>
                    <a:bodyPr/>
                    <a:lstStyle/>
                    <a:p>
                      <a:pPr algn="ctr"/>
                      <a:r>
                        <a:rPr sz="880" b="1">
                          <a:solidFill>
                            <a:srgbClr val="FFFFFF"/>
                          </a:solidFill>
                          <a:latin typeface="Calibri"/>
                        </a:rPr>
                        <a:t>RMSE vs pseudo-random</a:t>
                      </a:r>
                    </a:p>
                  </a:txBody>
                  <a:tcPr anchor="ctr">
                    <a:solidFill>
                      <a:srgbClr val="182433"/>
                    </a:solidFill>
                  </a:tcPr>
                </a:tc>
                <a:tc>
                  <a:txBody>
                    <a:bodyPr/>
                    <a:lstStyle/>
                    <a:p>
                      <a:pPr algn="ctr"/>
                      <a:r>
                        <a:rPr sz="880" b="1">
                          <a:solidFill>
                            <a:srgbClr val="FFFFFF"/>
                          </a:solidFill>
                          <a:latin typeface="Calibri"/>
                        </a:rPr>
                        <a:t>PFE99 rel. SE</a:t>
                      </a:r>
                    </a:p>
                  </a:txBody>
                  <a:tcPr anchor="ctr">
                    <a:solidFill>
                      <a:srgbClr val="182433"/>
                    </a:solidFill>
                  </a:tcPr>
                </a:tc>
                <a:tc>
                  <a:txBody>
                    <a:bodyPr/>
                    <a:lstStyle/>
                    <a:p>
                      <a:pPr algn="ctr"/>
                      <a:r>
                        <a:rPr sz="880" b="1">
                          <a:solidFill>
                            <a:srgbClr val="FFFFFF"/>
                          </a:solidFill>
                          <a:latin typeface="Calibri"/>
                        </a:rPr>
                        <a:t>Median PFE rel. SE</a:t>
                      </a:r>
                    </a:p>
                  </a:txBody>
                  <a:tcPr anchor="ctr">
                    <a:solidFill>
                      <a:srgbClr val="182433"/>
                    </a:solidFill>
                  </a:tcPr>
                </a:tc>
                <a:tc>
                  <a:txBody>
                    <a:bodyPr/>
                    <a:lstStyle/>
                    <a:p>
                      <a:pPr algn="ctr"/>
                      <a:r>
                        <a:rPr sz="880" b="1">
                          <a:solidFill>
                            <a:srgbClr val="FFFFFF"/>
                          </a:solidFill>
                          <a:latin typeface="Calibri"/>
                        </a:rPr>
                        <a:t>Verdict</a:t>
                      </a:r>
                    </a:p>
                  </a:txBody>
                  <a:tcPr anchor="ctr">
                    <a:solidFill>
                      <a:srgbClr val="182433"/>
                    </a:solidFill>
                  </a:tcPr>
                </a:tc>
              </a:tr>
              <a:tr h="381000">
                <a:tc>
                  <a:txBody>
                    <a:bodyPr wrap="square"/>
                    <a:lstStyle/>
                    <a:p>
                      <a:pPr algn="l"/>
                      <a:r>
                        <a:rPr b="1" sz="880">
                          <a:solidFill>
                            <a:srgbClr val="182433"/>
                          </a:solidFill>
                          <a:latin typeface="Calibri"/>
                        </a:rPr>
                        <a:t>Pseudo-random</a:t>
                      </a:r>
                    </a:p>
                  </a:txBody>
                  <a:tcPr anchor="ctr" marL="50800" marR="50800">
                    <a:solidFill>
                      <a:srgbClr val="FFFFFF"/>
                    </a:solidFill>
                  </a:tcPr>
                </a:tc>
                <a:tc>
                  <a:txBody>
                    <a:bodyPr wrap="square"/>
                    <a:lstStyle/>
                    <a:p>
                      <a:pPr algn="ctr"/>
                      <a:r>
                        <a:rPr sz="880">
                          <a:solidFill>
                            <a:srgbClr val="182433"/>
                          </a:solidFill>
                          <a:latin typeface="Calibri"/>
                        </a:rPr>
                        <a:t>1.0x (baseline)</a:t>
                      </a:r>
                    </a:p>
                  </a:txBody>
                  <a:tcPr anchor="ctr" marL="50800" marR="50800">
                    <a:solidFill>
                      <a:srgbClr val="FFFFFF"/>
                    </a:solidFill>
                  </a:tcPr>
                </a:tc>
                <a:tc>
                  <a:txBody>
                    <a:bodyPr wrap="square"/>
                    <a:lstStyle/>
                    <a:p>
                      <a:pPr algn="ctr"/>
                      <a:r>
                        <a:rPr sz="880">
                          <a:solidFill>
                            <a:srgbClr val="182433"/>
                          </a:solidFill>
                          <a:latin typeface="Calibri"/>
                        </a:rPr>
                        <a:t>2.60%</a:t>
                      </a:r>
                    </a:p>
                  </a:txBody>
                  <a:tcPr anchor="ctr" marL="50800" marR="50800">
                    <a:solidFill>
                      <a:srgbClr val="FFFFFF"/>
                    </a:solidFill>
                  </a:tcPr>
                </a:tc>
                <a:tc>
                  <a:txBody>
                    <a:bodyPr wrap="square"/>
                    <a:lstStyle/>
                    <a:p>
                      <a:pPr algn="ctr"/>
                      <a:r>
                        <a:rPr sz="880">
                          <a:solidFill>
                            <a:srgbClr val="182433"/>
                          </a:solidFill>
                          <a:latin typeface="Calibri"/>
                        </a:rPr>
                        <a:t>0.66%</a:t>
                      </a:r>
                    </a:p>
                  </a:txBody>
                  <a:tcPr anchor="ctr" marL="50800" marR="50800">
                    <a:solidFill>
                      <a:srgbClr val="FFFFFF"/>
                    </a:solidFill>
                  </a:tcPr>
                </a:tc>
                <a:tc>
                  <a:txBody>
                    <a:bodyPr wrap="square"/>
                    <a:lstStyle/>
                    <a:p>
                      <a:pPr algn="ctr"/>
                      <a:r>
                        <a:rPr sz="880">
                          <a:solidFill>
                            <a:srgbClr val="182433"/>
                          </a:solidFill>
                          <a:latin typeface="Calibri"/>
                        </a:rPr>
                        <a:t>Baseline</a:t>
                      </a:r>
                    </a:p>
                  </a:txBody>
                  <a:tcPr anchor="ctr" marL="50800" marR="50800">
                    <a:solidFill>
                      <a:srgbClr val="FFFFFF"/>
                    </a:solidFill>
                  </a:tcPr>
                </a:tc>
              </a:tr>
              <a:tr h="381000">
                <a:tc>
                  <a:txBody>
                    <a:bodyPr wrap="square"/>
                    <a:lstStyle/>
                    <a:p>
                      <a:pPr algn="l"/>
                      <a:r>
                        <a:rPr b="1" sz="880">
                          <a:solidFill>
                            <a:srgbClr val="182433"/>
                          </a:solidFill>
                          <a:latin typeface="Calibri"/>
                        </a:rPr>
                        <a:t>Antithetic</a:t>
                      </a:r>
                    </a:p>
                  </a:txBody>
                  <a:tcPr anchor="ctr" marL="50800" marR="50800">
                    <a:solidFill>
                      <a:srgbClr val="F7F8FA"/>
                    </a:solidFill>
                  </a:tcPr>
                </a:tc>
                <a:tc>
                  <a:txBody>
                    <a:bodyPr wrap="square"/>
                    <a:lstStyle/>
                    <a:p>
                      <a:pPr algn="ctr"/>
                      <a:r>
                        <a:rPr sz="880">
                          <a:solidFill>
                            <a:srgbClr val="182433"/>
                          </a:solidFill>
                          <a:latin typeface="Calibri"/>
                        </a:rPr>
                        <a:t>1.4x better</a:t>
                      </a:r>
                    </a:p>
                  </a:txBody>
                  <a:tcPr anchor="ctr" marL="50800" marR="50800">
                    <a:solidFill>
                      <a:srgbClr val="F7F8FA"/>
                    </a:solidFill>
                  </a:tcPr>
                </a:tc>
                <a:tc>
                  <a:txBody>
                    <a:bodyPr wrap="square"/>
                    <a:lstStyle/>
                    <a:p>
                      <a:pPr algn="ctr"/>
                      <a:r>
                        <a:rPr sz="880">
                          <a:solidFill>
                            <a:srgbClr val="182433"/>
                          </a:solidFill>
                          <a:latin typeface="Calibri"/>
                        </a:rPr>
                        <a:t>1.98%</a:t>
                      </a:r>
                    </a:p>
                  </a:txBody>
                  <a:tcPr anchor="ctr" marL="50800" marR="50800">
                    <a:solidFill>
                      <a:srgbClr val="F7F8FA"/>
                    </a:solidFill>
                  </a:tcPr>
                </a:tc>
                <a:tc>
                  <a:txBody>
                    <a:bodyPr wrap="square"/>
                    <a:lstStyle/>
                    <a:p>
                      <a:pPr algn="ctr"/>
                      <a:r>
                        <a:rPr sz="880">
                          <a:solidFill>
                            <a:srgbClr val="182433"/>
                          </a:solidFill>
                          <a:latin typeface="Calibri"/>
                        </a:rPr>
                        <a:t>0.39%</a:t>
                      </a:r>
                    </a:p>
                  </a:txBody>
                  <a:tcPr anchor="ctr" marL="50800" marR="50800">
                    <a:solidFill>
                      <a:srgbClr val="F7F8FA"/>
                    </a:solidFill>
                  </a:tcPr>
                </a:tc>
                <a:tc>
                  <a:txBody>
                    <a:bodyPr wrap="square"/>
                    <a:lstStyle/>
                    <a:p>
                      <a:pPr algn="ctr"/>
                      <a:r>
                        <a:rPr sz="880">
                          <a:solidFill>
                            <a:srgbClr val="182433"/>
                          </a:solidFill>
                          <a:latin typeface="Calibri"/>
                        </a:rPr>
                        <a:t>Modest, real engine</a:t>
                      </a:r>
                    </a:p>
                  </a:txBody>
                  <a:tcPr anchor="ctr" marL="50800" marR="50800">
                    <a:solidFill>
                      <a:srgbClr val="F7F8FA"/>
                    </a:solidFill>
                  </a:tcPr>
                </a:tc>
              </a:tr>
              <a:tr h="381000">
                <a:tc>
                  <a:txBody>
                    <a:bodyPr wrap="square"/>
                    <a:lstStyle/>
                    <a:p>
                      <a:pPr algn="l"/>
                      <a:r>
                        <a:rPr b="1" sz="880">
                          <a:solidFill>
                            <a:srgbClr val="182433"/>
                          </a:solidFill>
                          <a:latin typeface="Calibri"/>
                        </a:rPr>
                        <a:t>Moment-matched</a:t>
                      </a:r>
                    </a:p>
                  </a:txBody>
                  <a:tcPr anchor="ctr" marL="50800" marR="50800">
                    <a:solidFill>
                      <a:srgbClr val="FFFFFF"/>
                    </a:solidFill>
                  </a:tcPr>
                </a:tc>
                <a:tc>
                  <a:txBody>
                    <a:bodyPr wrap="square"/>
                    <a:lstStyle/>
                    <a:p>
                      <a:pPr algn="ctr"/>
                      <a:r>
                        <a:rPr sz="880">
                          <a:solidFill>
                            <a:srgbClr val="182433"/>
                          </a:solidFill>
                          <a:latin typeface="Calibri"/>
                        </a:rPr>
                        <a:t>6.3x better</a:t>
                      </a:r>
                    </a:p>
                  </a:txBody>
                  <a:tcPr anchor="ctr" marL="50800" marR="50800">
                    <a:solidFill>
                      <a:srgbClr val="FFFFFF"/>
                    </a:solidFill>
                  </a:tcPr>
                </a:tc>
                <a:tc>
                  <a:txBody>
                    <a:bodyPr wrap="square"/>
                    <a:lstStyle/>
                    <a:p>
                      <a:pPr algn="ctr"/>
                      <a:r>
                        <a:rPr sz="880">
                          <a:solidFill>
                            <a:srgbClr val="182433"/>
                          </a:solidFill>
                          <a:latin typeface="Calibri"/>
                        </a:rPr>
                        <a:t>2.49%</a:t>
                      </a:r>
                    </a:p>
                  </a:txBody>
                  <a:tcPr anchor="ctr" marL="50800" marR="50800">
                    <a:solidFill>
                      <a:srgbClr val="FFFFFF"/>
                    </a:solidFill>
                  </a:tcPr>
                </a:tc>
                <a:tc>
                  <a:txBody>
                    <a:bodyPr wrap="square"/>
                    <a:lstStyle/>
                    <a:p>
                      <a:pPr algn="ctr"/>
                      <a:r>
                        <a:rPr sz="880">
                          <a:solidFill>
                            <a:srgbClr val="182433"/>
                          </a:solidFill>
                          <a:latin typeface="Calibri"/>
                        </a:rPr>
                        <a:t>0.35%</a:t>
                      </a:r>
                    </a:p>
                  </a:txBody>
                  <a:tcPr anchor="ctr" marL="50800" marR="50800">
                    <a:solidFill>
                      <a:srgbClr val="FFFFFF"/>
                    </a:solidFill>
                  </a:tcPr>
                </a:tc>
                <a:tc>
                  <a:txBody>
                    <a:bodyPr wrap="square"/>
                    <a:lstStyle/>
                    <a:p>
                      <a:pPr algn="ctr"/>
                      <a:r>
                        <a:rPr sz="880">
                          <a:solidFill>
                            <a:srgbClr val="182433"/>
                          </a:solidFill>
                          <a:latin typeface="Calibri"/>
                        </a:rPr>
                        <a:t>Median only, no PFE99 gain</a:t>
                      </a:r>
                    </a:p>
                  </a:txBody>
                  <a:tcPr anchor="ctr" marL="50800" marR="50800">
                    <a:solidFill>
                      <a:srgbClr val="FFFFFF"/>
                    </a:solidFill>
                  </a:tcPr>
                </a:tc>
              </a:tr>
              <a:tr h="381000">
                <a:tc>
                  <a:txBody>
                    <a:bodyPr wrap="square"/>
                    <a:lstStyle/>
                    <a:p>
                      <a:pPr algn="l"/>
                      <a:r>
                        <a:rPr b="1" sz="880">
                          <a:solidFill>
                            <a:srgbClr val="182433"/>
                          </a:solidFill>
                          <a:latin typeface="Calibri"/>
                        </a:rPr>
                        <a:t>Sobol</a:t>
                      </a:r>
                    </a:p>
                  </a:txBody>
                  <a:tcPr anchor="ctr" marL="50800" marR="50800">
                    <a:solidFill>
                      <a:srgbClr val="F7F8FA"/>
                    </a:solidFill>
                  </a:tcPr>
                </a:tc>
                <a:tc>
                  <a:txBody>
                    <a:bodyPr wrap="square"/>
                    <a:lstStyle/>
                    <a:p>
                      <a:pPr algn="ctr"/>
                      <a:r>
                        <a:rPr sz="880">
                          <a:solidFill>
                            <a:srgbClr val="182433"/>
                          </a:solidFill>
                          <a:latin typeface="Calibri"/>
                        </a:rPr>
                        <a:t>28.7x better</a:t>
                      </a:r>
                    </a:p>
                  </a:txBody>
                  <a:tcPr anchor="ctr" marL="50800" marR="50800">
                    <a:solidFill>
                      <a:srgbClr val="F7F8FA"/>
                    </a:solidFill>
                  </a:tcPr>
                </a:tc>
                <a:tc>
                  <a:txBody>
                    <a:bodyPr wrap="square"/>
                    <a:lstStyle/>
                    <a:p>
                      <a:pPr algn="ctr"/>
                      <a:r>
                        <a:rPr sz="880">
                          <a:solidFill>
                            <a:srgbClr val="182433"/>
                          </a:solidFill>
                          <a:latin typeface="Calibri"/>
                        </a:rPr>
                        <a:t>1.64%</a:t>
                      </a:r>
                    </a:p>
                  </a:txBody>
                  <a:tcPr anchor="ctr" marL="50800" marR="50800">
                    <a:solidFill>
                      <a:srgbClr val="F7F8FA"/>
                    </a:solidFill>
                  </a:tcPr>
                </a:tc>
                <a:tc>
                  <a:txBody>
                    <a:bodyPr wrap="square"/>
                    <a:lstStyle/>
                    <a:p>
                      <a:pPr algn="ctr"/>
                      <a:r>
                        <a:rPr sz="880">
                          <a:solidFill>
                            <a:srgbClr val="182433"/>
                          </a:solidFill>
                          <a:latin typeface="Calibri"/>
                        </a:rPr>
                        <a:t>0.70%</a:t>
                      </a:r>
                    </a:p>
                  </a:txBody>
                  <a:tcPr anchor="ctr" marL="50800" marR="50800">
                    <a:solidFill>
                      <a:srgbClr val="F7F8FA"/>
                    </a:solidFill>
                  </a:tcPr>
                </a:tc>
                <a:tc>
                  <a:txBody>
                    <a:bodyPr wrap="square"/>
                    <a:lstStyle/>
                    <a:p>
                      <a:pPr algn="ctr"/>
                      <a:r>
                        <a:rPr sz="880">
                          <a:solidFill>
                            <a:srgbClr val="182433"/>
                          </a:solidFill>
                          <a:latin typeface="Calibri"/>
                        </a:rPr>
                        <a:t>Best PFE99, no median gain</a:t>
                      </a:r>
                    </a:p>
                  </a:txBody>
                  <a:tcPr anchor="ctr" marL="50800" marR="50800">
                    <a:solidFill>
                      <a:srgbClr val="F7F8FA"/>
                    </a:solidFill>
                  </a:tcPr>
                </a:tc>
              </a:tr>
              <a:tr h="381000">
                <a:tc>
                  <a:txBody>
                    <a:bodyPr wrap="square"/>
                    <a:lstStyle/>
                    <a:p>
                      <a:pPr algn="l"/>
                      <a:r>
                        <a:rPr b="1" sz="880">
                          <a:solidFill>
                            <a:srgbClr val="182433"/>
                          </a:solidFill>
                          <a:latin typeface="Calibri"/>
                        </a:rPr>
                        <a:t>Latin Hypercube</a:t>
                      </a:r>
                    </a:p>
                  </a:txBody>
                  <a:tcPr anchor="ctr" marL="50800" marR="50800">
                    <a:solidFill>
                      <a:srgbClr val="FFFFFF"/>
                    </a:solidFill>
                  </a:tcPr>
                </a:tc>
                <a:tc>
                  <a:txBody>
                    <a:bodyPr wrap="square"/>
                    <a:lstStyle/>
                    <a:p>
                      <a:pPr algn="ctr"/>
                      <a:r>
                        <a:rPr sz="880">
                          <a:solidFill>
                            <a:srgbClr val="182433"/>
                          </a:solidFill>
                          <a:latin typeface="Calibri"/>
                        </a:rPr>
                        <a:t>50.6x better</a:t>
                      </a:r>
                    </a:p>
                  </a:txBody>
                  <a:tcPr anchor="ctr" marL="50800" marR="50800">
                    <a:solidFill>
                      <a:srgbClr val="FFFFFF"/>
                    </a:solidFill>
                  </a:tcPr>
                </a:tc>
                <a:tc>
                  <a:txBody>
                    <a:bodyPr wrap="square"/>
                    <a:lstStyle/>
                    <a:p>
                      <a:pPr algn="ctr"/>
                      <a:r>
                        <a:rPr sz="880">
                          <a:solidFill>
                            <a:srgbClr val="182433"/>
                          </a:solidFill>
                          <a:latin typeface="Calibri"/>
                        </a:rPr>
                        <a:t>2.25%</a:t>
                      </a:r>
                    </a:p>
                  </a:txBody>
                  <a:tcPr anchor="ctr" marL="50800" marR="50800">
                    <a:solidFill>
                      <a:srgbClr val="FFFFFF"/>
                    </a:solidFill>
                  </a:tcPr>
                </a:tc>
                <a:tc>
                  <a:txBody>
                    <a:bodyPr wrap="square"/>
                    <a:lstStyle/>
                    <a:p>
                      <a:pPr algn="ctr"/>
                      <a:r>
                        <a:rPr sz="880">
                          <a:solidFill>
                            <a:srgbClr val="182433"/>
                          </a:solidFill>
                          <a:latin typeface="Calibri"/>
                        </a:rPr>
                        <a:t>0.42%</a:t>
                      </a:r>
                    </a:p>
                  </a:txBody>
                  <a:tcPr anchor="ctr" marL="50800" marR="50800">
                    <a:solidFill>
                      <a:srgbClr val="FFFFFF"/>
                    </a:solidFill>
                  </a:tcPr>
                </a:tc>
                <a:tc>
                  <a:txBody>
                    <a:bodyPr wrap="square"/>
                    <a:lstStyle/>
                    <a:p>
                      <a:pPr algn="ctr"/>
                      <a:r>
                        <a:rPr sz="880">
                          <a:solidFill>
                            <a:srgbClr val="182433"/>
                          </a:solidFill>
                          <a:latin typeface="Calibri"/>
                        </a:rPr>
                        <a:t>Best on both</a:t>
                      </a:r>
                    </a:p>
                  </a:txBody>
                  <a:tcPr anchor="ctr" marL="50800" marR="50800">
                    <a:solidFill>
                      <a:srgbClr val="FFFFFF"/>
                    </a:solidFill>
                  </a:tcPr>
                </a:tc>
              </a:tr>
            </a:tbl>
          </a:graphicData>
        </a:graphic>
      </p:graphicFrame>
      <p:sp>
        <p:nvSpPr>
          <p:cNvPr id="7" name="TextBox 6"/>
          <p:cNvSpPr txBox="1"/>
          <p:nvPr/>
        </p:nvSpPr>
        <p:spPr>
          <a:xfrm>
            <a:off x="457200" y="3703320"/>
            <a:ext cx="6949440" cy="365760"/>
          </a:xfrm>
          <a:prstGeom prst="rect">
            <a:avLst/>
          </a:prstGeom>
          <a:noFill/>
        </p:spPr>
        <p:txBody>
          <a:bodyPr wrap="square" anchor="t" lIns="0" rIns="0" tIns="0" bIns="0">
            <a:spAutoFit/>
          </a:bodyPr>
          <a:lstStyle/>
          <a:p>
            <a:pPr algn="l"/>
            <a:r>
              <a:rPr sz="900" b="0" i="1">
                <a:solidFill>
                  <a:srgbClr val="6B7280"/>
                </a:solidFill>
                <a:latin typeface="Calibri"/>
              </a:rPr>
              <a:t>Two studies, same table: a controlled European-call benchmark (RMSE vs. Black-Scholes, relative to pseudo-random) and the real 663-dim engine's own estimator noise (relative standard error, 8 repeats).</a:t>
            </a:r>
          </a:p>
        </p:txBody>
      </p:sp>
      <p:sp>
        <p:nvSpPr>
          <p:cNvPr id="8" name="Rounded Rectangle 7"/>
          <p:cNvSpPr/>
          <p:nvPr/>
        </p:nvSpPr>
        <p:spPr>
          <a:xfrm>
            <a:off x="7680960" y="1783080"/>
            <a:ext cx="1051560" cy="274320"/>
          </a:xfrm>
          <a:prstGeom prst="round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bIns="12700"/>
          <a:lstStyle/>
          <a:p>
            <a:pPr algn="ctr"/>
            <a:r>
              <a:rPr sz="1000" b="1">
                <a:solidFill>
                  <a:srgbClr val="FFFFFF"/>
                </a:solidFill>
                <a:latin typeface="Calibri"/>
              </a:rPr>
              <a:t>SELECTED</a:t>
            </a:r>
          </a:p>
        </p:txBody>
      </p:sp>
      <p:sp>
        <p:nvSpPr>
          <p:cNvPr id="9" name="Rectangle 8"/>
          <p:cNvSpPr/>
          <p:nvPr/>
        </p:nvSpPr>
        <p:spPr>
          <a:xfrm>
            <a:off x="7680960" y="2103120"/>
            <a:ext cx="4023360" cy="18288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680960" y="2103120"/>
            <a:ext cx="44450" cy="1828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2212848"/>
            <a:ext cx="3703320" cy="292608"/>
          </a:xfrm>
          <a:prstGeom prst="rect">
            <a:avLst/>
          </a:prstGeom>
          <a:noFill/>
        </p:spPr>
        <p:txBody>
          <a:bodyPr wrap="square" anchor="t" lIns="0" rIns="0" tIns="0" bIns="0">
            <a:spAutoFit/>
          </a:bodyPr>
          <a:lstStyle/>
          <a:p>
            <a:pPr algn="l"/>
            <a:r>
              <a:rPr sz="1200" b="1" i="0">
                <a:solidFill>
                  <a:srgbClr val="9A0052"/>
                </a:solidFill>
                <a:latin typeface="Cambria"/>
              </a:rPr>
              <a:t>WHY LATIN HYPERCUBE</a:t>
            </a:r>
          </a:p>
        </p:txBody>
      </p:sp>
      <p:sp>
        <p:nvSpPr>
          <p:cNvPr id="12" name="TextBox 11"/>
          <p:cNvSpPr txBox="1"/>
          <p:nvPr/>
        </p:nvSpPr>
        <p:spPr>
          <a:xfrm>
            <a:off x="7863840" y="2578608"/>
            <a:ext cx="3703320" cy="1280160"/>
          </a:xfrm>
          <a:prstGeom prst="rect">
            <a:avLst/>
          </a:prstGeom>
          <a:noFill/>
        </p:spPr>
        <p:txBody>
          <a:bodyPr wrap="square" lIns="0" rIns="0" tIns="0" bIns="0">
            <a:spAutoFit/>
          </a:bodyPr>
          <a:lstStyle/>
          <a:p>
            <a:pPr>
              <a:lnSpc>
                <a:spcPct val="105000"/>
              </a:lnSpc>
              <a:spcAft>
                <a:spcPts val="500"/>
              </a:spcAft>
            </a:pPr>
            <a:r>
              <a:rPr sz="950" b="0">
                <a:solidFill>
                  <a:srgbClr val="182433"/>
                </a:solidFill>
                <a:latin typeface="Calibri"/>
              </a:rPr>
              <a:t>•  Best controlled-test error, 50.6x vs pseudo-random</a:t>
            </a:r>
          </a:p>
          <a:p>
            <a:pPr>
              <a:lnSpc>
                <a:spcPct val="105000"/>
              </a:lnSpc>
              <a:spcAft>
                <a:spcPts val="500"/>
              </a:spcAft>
            </a:pPr>
            <a:r>
              <a:rPr sz="950" b="0">
                <a:solidFill>
                  <a:srgbClr val="182433"/>
                </a:solidFill>
                <a:latin typeface="Calibri"/>
              </a:rPr>
              <a:t>•  Only method better than pseudo-random on BOTH real-engine statistics -- the deciding factor</a:t>
            </a:r>
          </a:p>
          <a:p>
            <a:pPr>
              <a:lnSpc>
                <a:spcPct val="105000"/>
              </a:lnSpc>
              <a:spcAft>
                <a:spcPts val="500"/>
              </a:spcAft>
            </a:pPr>
            <a:r>
              <a:rPr sz="950" b="0">
                <a:solidFill>
                  <a:srgbClr val="182433"/>
                </a:solidFill>
                <a:latin typeface="Calibri"/>
              </a:rPr>
              <a:t>•  Negligible extra cost over pseudo-random -- ~40 factors is cheap next to repricing</a:t>
            </a:r>
          </a:p>
          <a:p>
            <a:pPr>
              <a:lnSpc>
                <a:spcPct val="105000"/>
              </a:lnSpc>
              <a:spcAft>
                <a:spcPts val="500"/>
              </a:spcAft>
            </a:pPr>
            <a:r>
              <a:rPr sz="950" b="0">
                <a:solidFill>
                  <a:srgbClr val="182433"/>
                </a:solidFill>
                <a:latin typeface="Calibri"/>
              </a:rPr>
              <a:t>•  Stratifies every marginal so tails are sampled, unlike Sobol's joint-distribution assumptions</a:t>
            </a:r>
          </a:p>
        </p:txBody>
      </p:sp>
      <p:pic>
        <p:nvPicPr>
          <p:cNvPr id="13" name="Picture 12" descr="fig_sampling_greeks.png"/>
          <p:cNvPicPr>
            <a:picLocks noChangeAspect="1"/>
          </p:cNvPicPr>
          <p:nvPr/>
        </p:nvPicPr>
        <p:blipFill>
          <a:blip r:embed="rId3"/>
          <a:stretch>
            <a:fillRect/>
          </a:stretch>
        </p:blipFill>
        <p:spPr>
          <a:xfrm>
            <a:off x="685800" y="4114800"/>
            <a:ext cx="6400800" cy="2311857"/>
          </a:xfrm>
          <a:prstGeom prst="rect">
            <a:avLst/>
          </a:prstGeom>
        </p:spPr>
      </p:pic>
      <p:sp>
        <p:nvSpPr>
          <p:cNvPr id="14" name="TextBox 13"/>
          <p:cNvSpPr txBox="1"/>
          <p:nvPr/>
        </p:nvSpPr>
        <p:spPr>
          <a:xfrm>
            <a:off x="685800" y="6446520"/>
            <a:ext cx="6400800" cy="274320"/>
          </a:xfrm>
          <a:prstGeom prst="rect">
            <a:avLst/>
          </a:prstGeom>
          <a:noFill/>
        </p:spPr>
        <p:txBody>
          <a:bodyPr wrap="square" anchor="t" lIns="0" rIns="0" tIns="0" bIns="0">
            <a:spAutoFit/>
          </a:bodyPr>
          <a:lstStyle/>
          <a:p>
            <a:pPr algn="l"/>
            <a:r>
              <a:rPr sz="1000" b="0" i="1">
                <a:solidFill>
                  <a:srgbClr val="6B7280"/>
                </a:solidFill>
                <a:latin typeface="Calibri"/>
              </a:rPr>
              <a:t>Left: 51x lower RMSE vs Black-Scholes. Right: real-engine estimator noise by method.</a:t>
            </a:r>
          </a:p>
        </p:txBody>
      </p:sp>
      <p:sp>
        <p:nvSpPr>
          <p:cNvPr id="15" name="TextBox 14"/>
          <p:cNvSpPr txBox="1"/>
          <p:nvPr/>
        </p:nvSpPr>
        <p:spPr>
          <a:xfrm>
            <a:off x="7680960" y="4114800"/>
            <a:ext cx="4023360" cy="2286000"/>
          </a:xfrm>
          <a:prstGeom prst="rect">
            <a:avLst/>
          </a:prstGeom>
          <a:noFill/>
        </p:spPr>
        <p:txBody>
          <a:bodyPr wrap="square" lIns="0" rIns="0" tIns="0" bIns="0">
            <a:spAutoFit/>
          </a:bodyPr>
          <a:lstStyle/>
          <a:p>
            <a:pPr>
              <a:lnSpc>
                <a:spcPct val="105000"/>
              </a:lnSpc>
              <a:spcAft>
                <a:spcPts val="800"/>
              </a:spcAft>
            </a:pPr>
            <a:r>
              <a:rPr sz="1100" b="0">
                <a:solidFill>
                  <a:srgbClr val="182433"/>
                </a:solidFill>
                <a:latin typeface="Calibri"/>
              </a:rPr>
              <a:t>•  On the real 663-dimensional engine, advantages compress -- no single method wins both PFE99 and the median</a:t>
            </a:r>
          </a:p>
          <a:p>
            <a:pPr>
              <a:lnSpc>
                <a:spcPct val="105000"/>
              </a:lnSpc>
              <a:spcAft>
                <a:spcPts val="800"/>
              </a:spcAft>
            </a:pPr>
            <a:r>
              <a:rPr sz="1100" b="0">
                <a:solidFill>
                  <a:srgbClr val="182433"/>
                </a:solidFill>
                <a:latin typeface="Calibri"/>
              </a:rPr>
              <a:t>•  Sobol is the controlled-test runner-up (28.7x) but loses its edge on the median PFE and is less robust at this dimensionality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Scenario Count: N=5,000 for Reporting, N=10,000 for Limit Sign-Off</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1">
                <a:solidFill>
                  <a:srgbClr val="D2006F"/>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27</a:t>
            </a:r>
          </a:p>
        </p:txBody>
      </p:sp>
      <p:graphicFrame>
        <p:nvGraphicFramePr>
          <p:cNvPr id="6" name="Chart 5"/>
          <p:cNvGraphicFramePr>
            <a:graphicFrameLocks noGrp="1"/>
          </p:cNvGraphicFramePr>
          <p:nvPr/>
        </p:nvGraphicFramePr>
        <p:xfrm>
          <a:off x="457200" y="1371600"/>
          <a:ext cx="6675120" cy="3657600"/>
        </p:xfrm>
        <a:graphic>
          <a:graphicData uri="http://schemas.openxmlformats.org/drawingml/2006/chart">
            <c:chart xmlns:c="http://schemas.openxmlformats.org/drawingml/2006/chart" r:id="rId3"/>
          </a:graphicData>
        </a:graphic>
      </p:graphicFrame>
      <p:graphicFrame>
        <p:nvGraphicFramePr>
          <p:cNvPr id="7" name="Table 6"/>
          <p:cNvGraphicFramePr>
            <a:graphicFrameLocks noGrp="1"/>
          </p:cNvGraphicFramePr>
          <p:nvPr/>
        </p:nvGraphicFramePr>
        <p:xfrm>
          <a:off x="7406640" y="1463040"/>
          <a:ext cx="4297678" cy="2377440"/>
        </p:xfrm>
        <a:graphic>
          <a:graphicData uri="http://schemas.openxmlformats.org/drawingml/2006/table">
            <a:tbl>
              <a:tblPr firstRow="1" bandRow="1">
                <a:tableStyleId>{5C22544A-7EE6-4342-B048-85BDC9FD1C3A}</a:tableStyleId>
              </a:tblPr>
              <a:tblGrid>
                <a:gridCol w="622852"/>
                <a:gridCol w="809707"/>
                <a:gridCol w="996563"/>
                <a:gridCol w="1868556"/>
              </a:tblGrid>
              <a:tr h="475488">
                <a:tc>
                  <a:txBody>
                    <a:bodyPr wrap="square"/>
                    <a:lstStyle/>
                    <a:p>
                      <a:pPr algn="l"/>
                      <a:r>
                        <a:rPr sz="980" b="1">
                          <a:solidFill>
                            <a:srgbClr val="FFFFFF"/>
                          </a:solidFill>
                          <a:latin typeface="Calibri"/>
                        </a:rPr>
                        <a:t>N</a:t>
                      </a:r>
                    </a:p>
                  </a:txBody>
                  <a:tcPr marL="50800" marR="50800" marT="25400" marB="25400" anchor="ctr">
                    <a:solidFill>
                      <a:srgbClr val="182433"/>
                    </a:solidFill>
                  </a:tcPr>
                </a:tc>
                <a:tc>
                  <a:txBody>
                    <a:bodyPr wrap="square"/>
                    <a:lstStyle/>
                    <a:p>
                      <a:pPr algn="ctr"/>
                      <a:r>
                        <a:rPr sz="980" b="1">
                          <a:solidFill>
                            <a:srgbClr val="FFFFFF"/>
                          </a:solidFill>
                          <a:latin typeface="Calibri"/>
                        </a:rPr>
                        <a:t>Rel. SE</a:t>
                      </a:r>
                    </a:p>
                  </a:txBody>
                  <a:tcPr marL="50800" marR="50800" marT="25400" marB="25400" anchor="ctr">
                    <a:solidFill>
                      <a:srgbClr val="182433"/>
                    </a:solidFill>
                  </a:tcPr>
                </a:tc>
                <a:tc>
                  <a:txBody>
                    <a:bodyPr wrap="square"/>
                    <a:lstStyle/>
                    <a:p>
                      <a:pPr algn="ctr"/>
                      <a:r>
                        <a:rPr sz="980" b="1">
                          <a:solidFill>
                            <a:srgbClr val="FFFFFF"/>
                          </a:solidFill>
                          <a:latin typeface="Calibri"/>
                        </a:rPr>
                        <a:t>Est. time (8 cores)</a:t>
                      </a:r>
                    </a:p>
                  </a:txBody>
                  <a:tcPr marL="50800" marR="50800" marT="25400" marB="25400" anchor="ctr">
                    <a:solidFill>
                      <a:srgbClr val="182433"/>
                    </a:solidFill>
                  </a:tcPr>
                </a:tc>
                <a:tc>
                  <a:txBody>
                    <a:bodyPr wrap="square"/>
                    <a:lstStyle/>
                    <a:p>
                      <a:pPr algn="ctr"/>
                      <a:r>
                        <a:rPr sz="980" b="1">
                          <a:solidFill>
                            <a:srgbClr val="FFFFFF"/>
                          </a:solidFill>
                          <a:latin typeface="Calibri"/>
                        </a:rPr>
                        <a:t>Verdict</a:t>
                      </a:r>
                    </a:p>
                  </a:txBody>
                  <a:tcPr marL="50800" marR="50800" marT="25400" marB="25400" anchor="ctr">
                    <a:solidFill>
                      <a:srgbClr val="182433"/>
                    </a:solidFill>
                  </a:tcPr>
                </a:tc>
              </a:tr>
              <a:tr h="475488">
                <a:tc>
                  <a:txBody>
                    <a:bodyPr wrap="square"/>
                    <a:lstStyle/>
                    <a:p>
                      <a:pPr algn="l"/>
                      <a:r>
                        <a:rPr sz="930" b="0">
                          <a:solidFill>
                            <a:srgbClr val="182433"/>
                          </a:solidFill>
                          <a:latin typeface="Calibri"/>
                        </a:rPr>
                        <a:t>1,000</a:t>
                      </a:r>
                    </a:p>
                  </a:txBody>
                  <a:tcPr marL="50800" marR="50800" marT="25400" marB="25400" anchor="ctr">
                    <a:solidFill>
                      <a:srgbClr val="FFFFFF"/>
                    </a:solidFill>
                  </a:tcPr>
                </a:tc>
                <a:tc>
                  <a:txBody>
                    <a:bodyPr wrap="square"/>
                    <a:lstStyle/>
                    <a:p>
                      <a:pPr algn="ctr"/>
                      <a:r>
                        <a:rPr sz="930" b="0">
                          <a:solidFill>
                            <a:srgbClr val="182433"/>
                          </a:solidFill>
                          <a:latin typeface="Calibri"/>
                        </a:rPr>
                        <a:t>0.66%</a:t>
                      </a:r>
                    </a:p>
                  </a:txBody>
                  <a:tcPr marL="50800" marR="50800" marT="25400" marB="25400" anchor="ctr">
                    <a:solidFill>
                      <a:srgbClr val="FFFFFF"/>
                    </a:solidFill>
                  </a:tcPr>
                </a:tc>
                <a:tc>
                  <a:txBody>
                    <a:bodyPr wrap="square"/>
                    <a:lstStyle/>
                    <a:p>
                      <a:pPr algn="ctr"/>
                      <a:r>
                        <a:rPr sz="930" b="0">
                          <a:solidFill>
                            <a:srgbClr val="182433"/>
                          </a:solidFill>
                          <a:latin typeface="Calibri"/>
                        </a:rPr>
                        <a:t>119s</a:t>
                      </a:r>
                    </a:p>
                  </a:txBody>
                  <a:tcPr marL="50800" marR="50800" marT="25400" marB="25400" anchor="ctr">
                    <a:solidFill>
                      <a:srgbClr val="FFFFFF"/>
                    </a:solidFill>
                  </a:tcPr>
                </a:tc>
                <a:tc>
                  <a:txBody>
                    <a:bodyPr wrap="square"/>
                    <a:lstStyle/>
                    <a:p>
                      <a:pPr algn="ctr"/>
                      <a:r>
                        <a:rPr sz="930" b="0">
                          <a:solidFill>
                            <a:srgbClr val="182433"/>
                          </a:solidFill>
                          <a:latin typeface="Calibri"/>
                        </a:rPr>
                        <a:t>Iteration / what-if</a:t>
                      </a:r>
                    </a:p>
                  </a:txBody>
                  <a:tcPr marL="50800" marR="50800" marT="25400" marB="25400" anchor="ctr">
                    <a:solidFill>
                      <a:srgbClr val="FFFFFF"/>
                    </a:solidFill>
                  </a:tcPr>
                </a:tc>
              </a:tr>
              <a:tr h="475488">
                <a:tc>
                  <a:txBody>
                    <a:bodyPr wrap="square"/>
                    <a:lstStyle/>
                    <a:p>
                      <a:pPr algn="l"/>
                      <a:r>
                        <a:rPr sz="930" b="0">
                          <a:solidFill>
                            <a:srgbClr val="182433"/>
                          </a:solidFill>
                          <a:latin typeface="Calibri"/>
                        </a:rPr>
                        <a:t>5,000</a:t>
                      </a:r>
                    </a:p>
                  </a:txBody>
                  <a:tcPr marL="50800" marR="50800" marT="25400" marB="25400" anchor="ctr">
                    <a:solidFill>
                      <a:srgbClr val="F7F8FA"/>
                    </a:solidFill>
                  </a:tcPr>
                </a:tc>
                <a:tc>
                  <a:txBody>
                    <a:bodyPr wrap="square"/>
                    <a:lstStyle/>
                    <a:p>
                      <a:pPr algn="ctr"/>
                      <a:r>
                        <a:rPr sz="930" b="0">
                          <a:solidFill>
                            <a:srgbClr val="182433"/>
                          </a:solidFill>
                          <a:latin typeface="Calibri"/>
                        </a:rPr>
                        <a:t>0.29%</a:t>
                      </a:r>
                    </a:p>
                  </a:txBody>
                  <a:tcPr marL="50800" marR="50800" marT="25400" marB="25400" anchor="ctr">
                    <a:solidFill>
                      <a:srgbClr val="F7F8FA"/>
                    </a:solidFill>
                  </a:tcPr>
                </a:tc>
                <a:tc>
                  <a:txBody>
                    <a:bodyPr wrap="square"/>
                    <a:lstStyle/>
                    <a:p>
                      <a:pPr algn="ctr"/>
                      <a:r>
                        <a:rPr sz="930" b="0">
                          <a:solidFill>
                            <a:srgbClr val="182433"/>
                          </a:solidFill>
                          <a:latin typeface="Calibri"/>
                        </a:rPr>
                        <a:t>479s</a:t>
                      </a:r>
                    </a:p>
                  </a:txBody>
                  <a:tcPr marL="50800" marR="50800" marT="25400" marB="25400" anchor="ctr">
                    <a:solidFill>
                      <a:srgbClr val="F7F8FA"/>
                    </a:solidFill>
                  </a:tcPr>
                </a:tc>
                <a:tc>
                  <a:txBody>
                    <a:bodyPr wrap="square"/>
                    <a:lstStyle/>
                    <a:p>
                      <a:pPr algn="ctr"/>
                      <a:r>
                        <a:rPr sz="930" b="0">
                          <a:solidFill>
                            <a:srgbClr val="182433"/>
                          </a:solidFill>
                          <a:latin typeface="Calibri"/>
                        </a:rPr>
                        <a:t>SELECTED: standard reporting</a:t>
                      </a:r>
                    </a:p>
                  </a:txBody>
                  <a:tcPr marL="50800" marR="50800" marT="25400" marB="25400" anchor="ctr">
                    <a:solidFill>
                      <a:srgbClr val="F7F8FA"/>
                    </a:solidFill>
                  </a:tcPr>
                </a:tc>
              </a:tr>
              <a:tr h="475488">
                <a:tc>
                  <a:txBody>
                    <a:bodyPr wrap="square"/>
                    <a:lstStyle/>
                    <a:p>
                      <a:pPr algn="l"/>
                      <a:r>
                        <a:rPr sz="930" b="0">
                          <a:solidFill>
                            <a:srgbClr val="182433"/>
                          </a:solidFill>
                          <a:latin typeface="Calibri"/>
                        </a:rPr>
                        <a:t>10,000</a:t>
                      </a:r>
                    </a:p>
                  </a:txBody>
                  <a:tcPr marL="50800" marR="50800" marT="25400" marB="25400" anchor="ctr">
                    <a:solidFill>
                      <a:srgbClr val="FFFFFF"/>
                    </a:solidFill>
                  </a:tcPr>
                </a:tc>
                <a:tc>
                  <a:txBody>
                    <a:bodyPr wrap="square"/>
                    <a:lstStyle/>
                    <a:p>
                      <a:pPr algn="ctr"/>
                      <a:r>
                        <a:rPr sz="930" b="0">
                          <a:solidFill>
                            <a:srgbClr val="182433"/>
                          </a:solidFill>
                          <a:latin typeface="Calibri"/>
                        </a:rPr>
                        <a:t>0.21%</a:t>
                      </a:r>
                    </a:p>
                  </a:txBody>
                  <a:tcPr marL="50800" marR="50800" marT="25400" marB="25400" anchor="ctr">
                    <a:solidFill>
                      <a:srgbClr val="FFFFFF"/>
                    </a:solidFill>
                  </a:tcPr>
                </a:tc>
                <a:tc>
                  <a:txBody>
                    <a:bodyPr wrap="square"/>
                    <a:lstStyle/>
                    <a:p>
                      <a:pPr algn="ctr"/>
                      <a:r>
                        <a:rPr sz="930" b="0">
                          <a:solidFill>
                            <a:srgbClr val="182433"/>
                          </a:solidFill>
                          <a:latin typeface="Calibri"/>
                        </a:rPr>
                        <a:t>929s</a:t>
                      </a:r>
                    </a:p>
                  </a:txBody>
                  <a:tcPr marL="50800" marR="50800" marT="25400" marB="25400" anchor="ctr">
                    <a:solidFill>
                      <a:srgbClr val="FFFFFF"/>
                    </a:solidFill>
                  </a:tcPr>
                </a:tc>
                <a:tc>
                  <a:txBody>
                    <a:bodyPr wrap="square"/>
                    <a:lstStyle/>
                    <a:p>
                      <a:pPr algn="ctr"/>
                      <a:r>
                        <a:rPr sz="930" b="0">
                          <a:solidFill>
                            <a:srgbClr val="182433"/>
                          </a:solidFill>
                          <a:latin typeface="Calibri"/>
                        </a:rPr>
                        <a:t>SELECTED: limit sign-off</a:t>
                      </a:r>
                    </a:p>
                  </a:txBody>
                  <a:tcPr marL="50800" marR="50800" marT="25400" marB="25400" anchor="ctr">
                    <a:solidFill>
                      <a:srgbClr val="FFFFFF"/>
                    </a:solidFill>
                  </a:tcPr>
                </a:tc>
              </a:tr>
              <a:tr h="475488">
                <a:tc>
                  <a:txBody>
                    <a:bodyPr wrap="square"/>
                    <a:lstStyle/>
                    <a:p>
                      <a:pPr algn="l"/>
                      <a:r>
                        <a:rPr sz="930" b="0">
                          <a:solidFill>
                            <a:srgbClr val="182433"/>
                          </a:solidFill>
                          <a:latin typeface="Calibri"/>
                        </a:rPr>
                        <a:t>20,000+</a:t>
                      </a:r>
                    </a:p>
                  </a:txBody>
                  <a:tcPr marL="50800" marR="50800" marT="25400" marB="25400" anchor="ctr">
                    <a:solidFill>
                      <a:srgbClr val="F7F8FA"/>
                    </a:solidFill>
                  </a:tcPr>
                </a:tc>
                <a:tc>
                  <a:txBody>
                    <a:bodyPr wrap="square"/>
                    <a:lstStyle/>
                    <a:p>
                      <a:pPr algn="ctr"/>
                      <a:r>
                        <a:rPr sz="930" b="0">
                          <a:solidFill>
                            <a:srgbClr val="182433"/>
                          </a:solidFill>
                          <a:latin typeface="Calibri"/>
                        </a:rPr>
                        <a:t>0.09%</a:t>
                      </a:r>
                    </a:p>
                  </a:txBody>
                  <a:tcPr marL="50800" marR="50800" marT="25400" marB="25400" anchor="ctr">
                    <a:solidFill>
                      <a:srgbClr val="F7F8FA"/>
                    </a:solidFill>
                  </a:tcPr>
                </a:tc>
                <a:tc>
                  <a:txBody>
                    <a:bodyPr wrap="square"/>
                    <a:lstStyle/>
                    <a:p>
                      <a:pPr algn="ctr"/>
                      <a:r>
                        <a:rPr sz="930" b="0">
                          <a:solidFill>
                            <a:srgbClr val="182433"/>
                          </a:solidFill>
                          <a:latin typeface="Calibri"/>
                        </a:rPr>
                        <a:t>1,829s+</a:t>
                      </a:r>
                    </a:p>
                  </a:txBody>
                  <a:tcPr marL="50800" marR="50800" marT="25400" marB="25400" anchor="ctr">
                    <a:solidFill>
                      <a:srgbClr val="F7F8FA"/>
                    </a:solidFill>
                  </a:tcPr>
                </a:tc>
                <a:tc>
                  <a:txBody>
                    <a:bodyPr wrap="square"/>
                    <a:lstStyle/>
                    <a:p>
                      <a:pPr algn="ctr"/>
                      <a:r>
                        <a:rPr sz="930" b="0">
                          <a:solidFill>
                            <a:srgbClr val="182433"/>
                          </a:solidFill>
                          <a:latin typeface="Calibri"/>
                        </a:rPr>
                        <a:t>Diminishing returns</a:t>
                      </a:r>
                    </a:p>
                  </a:txBody>
                  <a:tcPr marL="50800" marR="50800" marT="25400" marB="25400" anchor="ctr">
                    <a:solidFill>
                      <a:srgbClr val="F7F8FA"/>
                    </a:solidFill>
                  </a:tcPr>
                </a:tc>
              </a:tr>
            </a:tbl>
          </a:graphicData>
        </a:graphic>
      </p:graphicFrame>
      <p:sp>
        <p:nvSpPr>
          <p:cNvPr id="8" name="Rectangle 7"/>
          <p:cNvSpPr/>
          <p:nvPr/>
        </p:nvSpPr>
        <p:spPr>
          <a:xfrm>
            <a:off x="7406640" y="4114800"/>
            <a:ext cx="4297680" cy="23774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4114800"/>
            <a:ext cx="44450" cy="237744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4224528"/>
            <a:ext cx="3977640" cy="292608"/>
          </a:xfrm>
          <a:prstGeom prst="rect">
            <a:avLst/>
          </a:prstGeom>
          <a:noFill/>
        </p:spPr>
        <p:txBody>
          <a:bodyPr wrap="square" anchor="t" lIns="0" rIns="0" tIns="0" bIns="0">
            <a:spAutoFit/>
          </a:bodyPr>
          <a:lstStyle/>
          <a:p>
            <a:pPr algn="l"/>
            <a:r>
              <a:rPr sz="1200" b="1" i="0">
                <a:solidFill>
                  <a:srgbClr val="9A0052"/>
                </a:solidFill>
                <a:latin typeface="Cambria"/>
              </a:rPr>
              <a:t>WHY 5,000 / 10,000</a:t>
            </a:r>
          </a:p>
        </p:txBody>
      </p:sp>
      <p:sp>
        <p:nvSpPr>
          <p:cNvPr id="11" name="TextBox 10"/>
          <p:cNvSpPr txBox="1"/>
          <p:nvPr/>
        </p:nvSpPr>
        <p:spPr>
          <a:xfrm>
            <a:off x="7589520" y="4590288"/>
            <a:ext cx="3977640" cy="1828800"/>
          </a:xfrm>
          <a:prstGeom prst="rect">
            <a:avLst/>
          </a:prstGeom>
          <a:noFill/>
        </p:spPr>
        <p:txBody>
          <a:bodyPr wrap="square" lIns="0" rIns="0" tIns="0" bIns="0">
            <a:spAutoFit/>
          </a:bodyPr>
          <a:lstStyle/>
          <a:p>
            <a:pPr>
              <a:lnSpc>
                <a:spcPct val="105000"/>
              </a:lnSpc>
              <a:spcAft>
                <a:spcPts val="500"/>
              </a:spcAft>
            </a:pPr>
            <a:r>
              <a:rPr sz="950" b="0">
                <a:solidFill>
                  <a:srgbClr val="182433"/>
                </a:solidFill>
                <a:latin typeface="Calibri"/>
              </a:rPr>
              <a:t>•  Cost grows linearly; error falls only as 1/sqrt(N) -- diminishing returns past ~15-20k</a:t>
            </a:r>
          </a:p>
          <a:p>
            <a:pPr>
              <a:lnSpc>
                <a:spcPct val="105000"/>
              </a:lnSpc>
              <a:spcAft>
                <a:spcPts val="500"/>
              </a:spcAft>
            </a:pPr>
            <a:r>
              <a:rPr sz="950" b="0">
                <a:solidFill>
                  <a:srgbClr val="182433"/>
                </a:solidFill>
                <a:latin typeface="Calibri"/>
              </a:rPr>
              <a:t>•  Remaining sampling error (&lt;0.4%) is an order of magnitude smaller than the model-risk sensitivities (Section 7.9)</a:t>
            </a:r>
          </a:p>
          <a:p>
            <a:pPr>
              <a:lnSpc>
                <a:spcPct val="105000"/>
              </a:lnSpc>
              <a:spcAft>
                <a:spcPts val="500"/>
              </a:spcAft>
            </a:pPr>
            <a:r>
              <a:rPr sz="950" b="0">
                <a:solidFill>
                  <a:srgbClr val="182433"/>
                </a:solidFill>
                <a:latin typeface="Calibri"/>
              </a:rPr>
              <a:t>•  N=5,000 keeps a full reporting run to ~8 minutes on 8 cores -- practical for routine, repeated use, not just a one-off</a:t>
            </a:r>
          </a:p>
          <a:p>
            <a:pPr>
              <a:lnSpc>
                <a:spcPct val="105000"/>
              </a:lnSpc>
              <a:spcAft>
                <a:spcPts val="500"/>
              </a:spcAft>
            </a:pPr>
            <a:r>
              <a:rPr sz="950" b="0">
                <a:solidFill>
                  <a:srgbClr val="182433"/>
                </a:solidFill>
                <a:latin typeface="Calibri"/>
              </a:rPr>
              <a:t>•  Three tiers (1k/5k/10k) match three real use cases -- iteration, standard reporting, limit sign-off -- rather than one setting for everything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Two-Factor Rates (G2++) Changes the Portfolio MPE99 by Only -3%</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1">
                <a:solidFill>
                  <a:srgbClr val="D2006F"/>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28</a:t>
            </a:r>
          </a:p>
        </p:txBody>
      </p:sp>
      <p:graphicFrame>
        <p:nvGraphicFramePr>
          <p:cNvPr id="6" name="Table 5"/>
          <p:cNvGraphicFramePr>
            <a:graphicFrameLocks noGrp="1"/>
          </p:cNvGraphicFramePr>
          <p:nvPr/>
        </p:nvGraphicFramePr>
        <p:xfrm>
          <a:off x="457200" y="1371600"/>
          <a:ext cx="6309360" cy="1280160"/>
        </p:xfrm>
        <a:graphic>
          <a:graphicData uri="http://schemas.openxmlformats.org/drawingml/2006/table">
            <a:tbl>
              <a:tblPr firstRow="1" bandRow="1">
                <a:tableStyleId>{5C22544A-7EE6-4342-B048-85BDC9FD1C3A}</a:tableStyleId>
              </a:tblPr>
              <a:tblGrid>
                <a:gridCol w="1892808"/>
                <a:gridCol w="1104138"/>
                <a:gridCol w="1104138"/>
                <a:gridCol w="1104138"/>
                <a:gridCol w="1104138"/>
              </a:tblGrid>
              <a:tr h="426720">
                <a:tc>
                  <a:txBody>
                    <a:bodyPr/>
                    <a:lstStyle/>
                    <a:p>
                      <a:pPr algn="ctr"/>
                      <a:r>
                        <a:rPr sz="980" b="1">
                          <a:solidFill>
                            <a:srgbClr val="FFFFFF"/>
                          </a:solidFill>
                          <a:latin typeface="Calibri"/>
                        </a:rPr>
                        <a:t/>
                      </a:r>
                    </a:p>
                  </a:txBody>
                  <a:tcPr anchor="ctr">
                    <a:solidFill>
                      <a:srgbClr val="182433"/>
                    </a:solidFill>
                  </a:tcPr>
                </a:tc>
                <a:tc>
                  <a:txBody>
                    <a:bodyPr/>
                    <a:lstStyle/>
                    <a:p>
                      <a:pPr algn="ctr"/>
                      <a:r>
                        <a:rPr sz="980" b="1">
                          <a:solidFill>
                            <a:srgbClr val="FFFFFF"/>
                          </a:solidFill>
                          <a:latin typeface="Calibri"/>
                        </a:rPr>
                        <a:t>Curve fit</a:t>
                      </a:r>
                    </a:p>
                  </a:txBody>
                  <a:tcPr anchor="ctr">
                    <a:solidFill>
                      <a:srgbClr val="182433"/>
                    </a:solidFill>
                  </a:tcPr>
                </a:tc>
                <a:tc>
                  <a:txBody>
                    <a:bodyPr/>
                    <a:lstStyle/>
                    <a:p>
                      <a:pPr algn="ctr"/>
                      <a:r>
                        <a:rPr sz="980" b="1">
                          <a:solidFill>
                            <a:srgbClr val="FFFFFF"/>
                          </a:solidFill>
                          <a:latin typeface="Calibri"/>
                        </a:rPr>
                        <a:t>Negative rates</a:t>
                      </a:r>
                    </a:p>
                  </a:txBody>
                  <a:tcPr anchor="ctr">
                    <a:solidFill>
                      <a:srgbClr val="182433"/>
                    </a:solidFill>
                  </a:tcPr>
                </a:tc>
                <a:tc>
                  <a:txBody>
                    <a:bodyPr/>
                    <a:lstStyle/>
                    <a:p>
                      <a:pPr algn="ctr"/>
                      <a:r>
                        <a:rPr sz="980" b="1">
                          <a:solidFill>
                            <a:srgbClr val="FFFFFF"/>
                          </a:solidFill>
                          <a:latin typeface="Calibri"/>
                        </a:rPr>
                        <a:t>Calibration error</a:t>
                      </a:r>
                    </a:p>
                  </a:txBody>
                  <a:tcPr anchor="ctr">
                    <a:solidFill>
                      <a:srgbClr val="182433"/>
                    </a:solidFill>
                  </a:tcPr>
                </a:tc>
                <a:tc>
                  <a:txBody>
                    <a:bodyPr/>
                    <a:lstStyle/>
                    <a:p>
                      <a:pPr algn="ctr"/>
                      <a:r>
                        <a:rPr sz="980" b="1">
                          <a:solidFill>
                            <a:srgbClr val="FFFFFF"/>
                          </a:solidFill>
                          <a:latin typeface="Calibri"/>
                        </a:rPr>
                        <a:t>Params</a:t>
                      </a:r>
                    </a:p>
                  </a:txBody>
                  <a:tcPr anchor="ctr">
                    <a:solidFill>
                      <a:srgbClr val="182433"/>
                    </a:solidFill>
                  </a:tcPr>
                </a:tc>
              </a:tr>
              <a:tr h="426720">
                <a:tc>
                  <a:txBody>
                    <a:bodyPr wrap="square"/>
                    <a:lstStyle/>
                    <a:p>
                      <a:pPr algn="l"/>
                      <a:r>
                        <a:rPr b="1" sz="980">
                          <a:solidFill>
                            <a:srgbClr val="182433"/>
                          </a:solidFill>
                          <a:latin typeface="Calibri"/>
                        </a:rPr>
                        <a:t>Hull-White 1F</a:t>
                      </a:r>
                    </a:p>
                  </a:txBody>
                  <a:tcPr anchor="ctr" marL="50800" marR="50800">
                    <a:solidFill>
                      <a:srgbClr val="FFFFFF"/>
                    </a:solidFill>
                  </a:tcPr>
                </a:tc>
                <a:tc>
                  <a:txBody>
                    <a:bodyPr wrap="square"/>
                    <a:lstStyle/>
                    <a:p>
                      <a:pPr algn="ctr"/>
                      <a:r>
                        <a:rPr sz="980">
                          <a:solidFill>
                            <a:srgbClr val="182433"/>
                          </a:solidFill>
                          <a:latin typeface="Calibri"/>
                        </a:rPr>
                        <a:t>Exact</a:t>
                      </a:r>
                    </a:p>
                  </a:txBody>
                  <a:tcPr anchor="ctr" marL="50800" marR="50800">
                    <a:solidFill>
                      <a:srgbClr val="FFFFFF"/>
                    </a:solidFill>
                  </a:tcPr>
                </a:tc>
                <a:tc>
                  <a:txBody>
                    <a:bodyPr wrap="square"/>
                    <a:lstStyle/>
                    <a:p>
                      <a:pPr algn="ctr"/>
                      <a:r>
                        <a:rPr sz="980">
                          <a:solidFill>
                            <a:srgbClr val="182433"/>
                          </a:solidFill>
                          <a:latin typeface="Calibri"/>
                        </a:rPr>
                        <a:t>Yes</a:t>
                      </a:r>
                    </a:p>
                  </a:txBody>
                  <a:tcPr anchor="ctr" marL="50800" marR="50800">
                    <a:solidFill>
                      <a:srgbClr val="FFFFFF"/>
                    </a:solidFill>
                  </a:tcPr>
                </a:tc>
                <a:tc>
                  <a:txBody>
                    <a:bodyPr wrap="square"/>
                    <a:lstStyle/>
                    <a:p>
                      <a:pPr algn="ctr"/>
                      <a:r>
                        <a:rPr sz="980">
                          <a:solidFill>
                            <a:srgbClr val="182433"/>
                          </a:solidFill>
                          <a:latin typeface="Calibri"/>
                        </a:rPr>
                        <a:t>N/A (level only)</a:t>
                      </a:r>
                    </a:p>
                  </a:txBody>
                  <a:tcPr anchor="ctr" marL="50800" marR="50800">
                    <a:solidFill>
                      <a:srgbClr val="FFFFFF"/>
                    </a:solidFill>
                  </a:tcPr>
                </a:tc>
                <a:tc>
                  <a:txBody>
                    <a:bodyPr wrap="square"/>
                    <a:lstStyle/>
                    <a:p>
                      <a:pPr algn="ctr"/>
                      <a:r>
                        <a:rPr sz="980">
                          <a:solidFill>
                            <a:srgbClr val="182433"/>
                          </a:solidFill>
                          <a:latin typeface="Calibri"/>
                        </a:rPr>
                        <a:t>2 (a, sigma)</a:t>
                      </a:r>
                    </a:p>
                  </a:txBody>
                  <a:tcPr anchor="ctr" marL="50800" marR="50800">
                    <a:solidFill>
                      <a:srgbClr val="FFFFFF"/>
                    </a:solidFill>
                  </a:tcPr>
                </a:tc>
              </a:tr>
              <a:tr h="426720">
                <a:tc>
                  <a:txBody>
                    <a:bodyPr wrap="square"/>
                    <a:lstStyle/>
                    <a:p>
                      <a:pPr algn="l"/>
                      <a:r>
                        <a:rPr b="1" sz="980">
                          <a:solidFill>
                            <a:srgbClr val="182433"/>
                          </a:solidFill>
                          <a:latin typeface="Calibri"/>
                        </a:rPr>
                        <a:t>G2++ (2-factor)</a:t>
                      </a:r>
                    </a:p>
                  </a:txBody>
                  <a:tcPr anchor="ctr" marL="50800" marR="50800">
                    <a:solidFill>
                      <a:srgbClr val="F7F8FA"/>
                    </a:solidFill>
                  </a:tcPr>
                </a:tc>
                <a:tc>
                  <a:txBody>
                    <a:bodyPr wrap="square"/>
                    <a:lstStyle/>
                    <a:p>
                      <a:pPr algn="ctr"/>
                      <a:r>
                        <a:rPr sz="980">
                          <a:solidFill>
                            <a:srgbClr val="182433"/>
                          </a:solidFill>
                          <a:latin typeface="Calibri"/>
                        </a:rPr>
                        <a:t>Exact</a:t>
                      </a:r>
                    </a:p>
                  </a:txBody>
                  <a:tcPr anchor="ctr" marL="50800" marR="50800">
                    <a:solidFill>
                      <a:srgbClr val="F7F8FA"/>
                    </a:solidFill>
                  </a:tcPr>
                </a:tc>
                <a:tc>
                  <a:txBody>
                    <a:bodyPr wrap="square"/>
                    <a:lstStyle/>
                    <a:p>
                      <a:pPr algn="ctr"/>
                      <a:r>
                        <a:rPr sz="980">
                          <a:solidFill>
                            <a:srgbClr val="182433"/>
                          </a:solidFill>
                          <a:latin typeface="Calibri"/>
                        </a:rPr>
                        <a:t>Yes</a:t>
                      </a:r>
                    </a:p>
                  </a:txBody>
                  <a:tcPr anchor="ctr" marL="50800" marR="50800">
                    <a:solidFill>
                      <a:srgbClr val="F7F8FA"/>
                    </a:solidFill>
                  </a:tcPr>
                </a:tc>
                <a:tc>
                  <a:txBody>
                    <a:bodyPr wrap="square"/>
                    <a:lstStyle/>
                    <a:p>
                      <a:pPr algn="ctr"/>
                      <a:r>
                        <a:rPr sz="980">
                          <a:solidFill>
                            <a:srgbClr val="182433"/>
                          </a:solidFill>
                          <a:latin typeface="Calibri"/>
                        </a:rPr>
                        <a:t>16% (Frobenius, yield covariance)</a:t>
                      </a:r>
                    </a:p>
                  </a:txBody>
                  <a:tcPr anchor="ctr" marL="50800" marR="50800">
                    <a:solidFill>
                      <a:srgbClr val="F7F8FA"/>
                    </a:solidFill>
                  </a:tcPr>
                </a:tc>
                <a:tc>
                  <a:txBody>
                    <a:bodyPr wrap="square"/>
                    <a:lstStyle/>
                    <a:p>
                      <a:pPr algn="ctr"/>
                      <a:r>
                        <a:rPr sz="980">
                          <a:solidFill>
                            <a:srgbClr val="182433"/>
                          </a:solidFill>
                          <a:latin typeface="Calibri"/>
                        </a:rPr>
                        <a:t>5 (a,b,sigma,eta,rho)</a:t>
                      </a:r>
                    </a:p>
                  </a:txBody>
                  <a:tcPr anchor="ctr" marL="50800" marR="50800">
                    <a:solidFill>
                      <a:srgbClr val="F7F8FA"/>
                    </a:solidFill>
                  </a:tcPr>
                </a:tc>
              </a:tr>
            </a:tbl>
          </a:graphicData>
        </a:graphic>
      </p:graphicFrame>
      <p:sp>
        <p:nvSpPr>
          <p:cNvPr id="7" name="Rounded Rectangle 6"/>
          <p:cNvSpPr/>
          <p:nvPr/>
        </p:nvSpPr>
        <p:spPr>
          <a:xfrm>
            <a:off x="457200" y="2788920"/>
            <a:ext cx="1051560" cy="274320"/>
          </a:xfrm>
          <a:prstGeom prst="round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bIns="12700"/>
          <a:lstStyle/>
          <a:p>
            <a:pPr algn="ctr"/>
            <a:r>
              <a:rPr sz="1000" b="1">
                <a:solidFill>
                  <a:srgbClr val="FFFFFF"/>
                </a:solidFill>
                <a:latin typeface="Calibri"/>
              </a:rPr>
              <a:t>SELECTED</a:t>
            </a:r>
          </a:p>
        </p:txBody>
      </p:sp>
      <p:sp>
        <p:nvSpPr>
          <p:cNvPr id="8" name="TextBox 7"/>
          <p:cNvSpPr txBox="1"/>
          <p:nvPr/>
        </p:nvSpPr>
        <p:spPr>
          <a:xfrm>
            <a:off x="1691640" y="2825496"/>
            <a:ext cx="3017520" cy="274320"/>
          </a:xfrm>
          <a:prstGeom prst="rect">
            <a:avLst/>
          </a:prstGeom>
          <a:noFill/>
        </p:spPr>
        <p:txBody>
          <a:bodyPr wrap="square" anchor="t" lIns="0" rIns="0" tIns="0" bIns="0">
            <a:spAutoFit/>
          </a:bodyPr>
          <a:lstStyle/>
          <a:p>
            <a:pPr algn="l"/>
            <a:r>
              <a:rPr sz="1050" b="1" i="0">
                <a:solidFill>
                  <a:srgbClr val="182433"/>
                </a:solidFill>
                <a:latin typeface="Calibri"/>
              </a:rPr>
              <a:t>Hull-White 1F (default)</a:t>
            </a:r>
          </a:p>
        </p:txBody>
      </p:sp>
      <p:pic>
        <p:nvPicPr>
          <p:cNvPr id="9" name="Picture 8" descr="fig19.png"/>
          <p:cNvPicPr>
            <a:picLocks noChangeAspect="1"/>
          </p:cNvPicPr>
          <p:nvPr/>
        </p:nvPicPr>
        <p:blipFill>
          <a:blip r:embed="rId3"/>
          <a:stretch>
            <a:fillRect/>
          </a:stretch>
        </p:blipFill>
        <p:spPr>
          <a:xfrm>
            <a:off x="457200" y="3246120"/>
            <a:ext cx="4572000" cy="2323339"/>
          </a:xfrm>
          <a:prstGeom prst="rect">
            <a:avLst/>
          </a:prstGeom>
        </p:spPr>
      </p:pic>
      <p:sp>
        <p:nvSpPr>
          <p:cNvPr id="10" name="TextBox 9"/>
          <p:cNvSpPr txBox="1"/>
          <p:nvPr/>
        </p:nvSpPr>
        <p:spPr>
          <a:xfrm>
            <a:off x="457200" y="5605272"/>
            <a:ext cx="5486400" cy="457200"/>
          </a:xfrm>
          <a:prstGeom prst="rect">
            <a:avLst/>
          </a:prstGeom>
          <a:noFill/>
        </p:spPr>
        <p:txBody>
          <a:bodyPr wrap="square" anchor="t" lIns="0" rIns="0" tIns="0" bIns="0">
            <a:spAutoFit/>
          </a:bodyPr>
          <a:lstStyle/>
          <a:p>
            <a:pPr algn="l"/>
            <a:r>
              <a:rPr sz="1050" b="0" i="1">
                <a:solidFill>
                  <a:srgbClr val="6B7280"/>
                </a:solidFill>
                <a:latin typeface="Calibri"/>
              </a:rPr>
              <a:t>G2++ fit to realised yield-change vol by tenor: matches level/slope, not the 5y hump.</a:t>
            </a:r>
          </a:p>
        </p:txBody>
      </p:sp>
      <p:graphicFrame>
        <p:nvGraphicFramePr>
          <p:cNvPr id="11" name="Table 10"/>
          <p:cNvGraphicFramePr>
            <a:graphicFrameLocks noGrp="1"/>
          </p:cNvGraphicFramePr>
          <p:nvPr/>
        </p:nvGraphicFramePr>
        <p:xfrm>
          <a:off x="6492240" y="1371600"/>
          <a:ext cx="5212080" cy="1463040"/>
        </p:xfrm>
        <a:graphic>
          <a:graphicData uri="http://schemas.openxmlformats.org/drawingml/2006/table">
            <a:tbl>
              <a:tblPr firstRow="1" bandRow="1">
                <a:tableStyleId>{5C22544A-7EE6-4342-B048-85BDC9FD1C3A}</a:tableStyleId>
              </a:tblPr>
              <a:tblGrid>
                <a:gridCol w="1554480"/>
                <a:gridCol w="1280160"/>
                <a:gridCol w="1280160"/>
                <a:gridCol w="1097280"/>
              </a:tblGrid>
              <a:tr h="292608">
                <a:tc>
                  <a:txBody>
                    <a:bodyPr wrap="square"/>
                    <a:lstStyle/>
                    <a:p>
                      <a:pPr algn="l"/>
                      <a:r>
                        <a:rPr sz="1050" b="1">
                          <a:solidFill>
                            <a:srgbClr val="FFFFFF"/>
                          </a:solidFill>
                          <a:latin typeface="Calibri"/>
                        </a:rPr>
                        <a:t>Netting set</a:t>
                      </a:r>
                    </a:p>
                  </a:txBody>
                  <a:tcPr marL="50800" marR="50800" marT="25400" marB="25400" anchor="ctr">
                    <a:solidFill>
                      <a:srgbClr val="182433"/>
                    </a:solidFill>
                  </a:tcPr>
                </a:tc>
                <a:tc>
                  <a:txBody>
                    <a:bodyPr wrap="square"/>
                    <a:lstStyle/>
                    <a:p>
                      <a:pPr algn="ctr"/>
                      <a:r>
                        <a:rPr sz="1050" b="1">
                          <a:solidFill>
                            <a:srgbClr val="FFFFFF"/>
                          </a:solidFill>
                          <a:latin typeface="Calibri"/>
                        </a:rPr>
                        <a:t>MPE99 1F</a:t>
                      </a:r>
                    </a:p>
                  </a:txBody>
                  <a:tcPr marL="50800" marR="50800" marT="25400" marB="25400" anchor="ctr">
                    <a:solidFill>
                      <a:srgbClr val="182433"/>
                    </a:solidFill>
                  </a:tcPr>
                </a:tc>
                <a:tc>
                  <a:txBody>
                    <a:bodyPr wrap="square"/>
                    <a:lstStyle/>
                    <a:p>
                      <a:pPr algn="ctr"/>
                      <a:r>
                        <a:rPr sz="1050" b="1">
                          <a:solidFill>
                            <a:srgbClr val="FFFFFF"/>
                          </a:solidFill>
                          <a:latin typeface="Calibri"/>
                        </a:rPr>
                        <a:t>MPE99 2F</a:t>
                      </a:r>
                    </a:p>
                  </a:txBody>
                  <a:tcPr marL="50800" marR="50800" marT="25400" marB="25400" anchor="ctr">
                    <a:solidFill>
                      <a:srgbClr val="182433"/>
                    </a:solidFill>
                  </a:tcPr>
                </a:tc>
                <a:tc>
                  <a:txBody>
                    <a:bodyPr wrap="square"/>
                    <a:lstStyle/>
                    <a:p>
                      <a:pPr algn="ctr"/>
                      <a:r>
                        <a:rPr sz="1050" b="1">
                          <a:solidFill>
                            <a:srgbClr val="FFFFFF"/>
                          </a:solidFill>
                          <a:latin typeface="Calibri"/>
                        </a:rPr>
                        <a:t>Change</a:t>
                      </a:r>
                    </a:p>
                  </a:txBody>
                  <a:tcPr marL="50800" marR="50800" marT="25400" marB="25400" anchor="ctr">
                    <a:solidFill>
                      <a:srgbClr val="182433"/>
                    </a:solidFill>
                  </a:tcPr>
                </a:tc>
              </a:tr>
              <a:tr h="292608">
                <a:tc>
                  <a:txBody>
                    <a:bodyPr wrap="square"/>
                    <a:lstStyle/>
                    <a:p>
                      <a:pPr algn="l"/>
                      <a:r>
                        <a:rPr sz="1000" b="0">
                          <a:solidFill>
                            <a:srgbClr val="182433"/>
                          </a:solidFill>
                          <a:latin typeface="Calibri"/>
                        </a:rPr>
                        <a:t>CPTY_A</a:t>
                      </a:r>
                    </a:p>
                  </a:txBody>
                  <a:tcPr marL="50800" marR="50800" marT="25400" marB="25400" anchor="ctr">
                    <a:solidFill>
                      <a:srgbClr val="FFFFFF"/>
                    </a:solidFill>
                  </a:tcPr>
                </a:tc>
                <a:tc>
                  <a:txBody>
                    <a:bodyPr wrap="square"/>
                    <a:lstStyle/>
                    <a:p>
                      <a:pPr algn="ctr"/>
                      <a:r>
                        <a:rPr sz="1000" b="0">
                          <a:solidFill>
                            <a:srgbClr val="182433"/>
                          </a:solidFill>
                          <a:latin typeface="Calibri"/>
                        </a:rPr>
                        <a:t>$26.2M</a:t>
                      </a:r>
                    </a:p>
                  </a:txBody>
                  <a:tcPr marL="50800" marR="50800" marT="25400" marB="25400" anchor="ctr">
                    <a:solidFill>
                      <a:srgbClr val="FFFFFF"/>
                    </a:solidFill>
                  </a:tcPr>
                </a:tc>
                <a:tc>
                  <a:txBody>
                    <a:bodyPr wrap="square"/>
                    <a:lstStyle/>
                    <a:p>
                      <a:pPr algn="ctr"/>
                      <a:r>
                        <a:rPr sz="1000" b="0">
                          <a:solidFill>
                            <a:srgbClr val="182433"/>
                          </a:solidFill>
                          <a:latin typeface="Calibri"/>
                        </a:rPr>
                        <a:t>$26.0M</a:t>
                      </a:r>
                    </a:p>
                  </a:txBody>
                  <a:tcPr marL="50800" marR="50800" marT="25400" marB="25400" anchor="ctr">
                    <a:solidFill>
                      <a:srgbClr val="FFFFFF"/>
                    </a:solidFill>
                  </a:tcPr>
                </a:tc>
                <a:tc>
                  <a:txBody>
                    <a:bodyPr wrap="square"/>
                    <a:lstStyle/>
                    <a:p>
                      <a:pPr algn="ctr"/>
                      <a:r>
                        <a:rPr sz="1000" b="0">
                          <a:solidFill>
                            <a:srgbClr val="182433"/>
                          </a:solidFill>
                          <a:latin typeface="Calibri"/>
                        </a:rPr>
                        <a:t>-1%</a:t>
                      </a:r>
                    </a:p>
                  </a:txBody>
                  <a:tcPr marL="50800" marR="50800" marT="25400" marB="25400" anchor="ctr">
                    <a:solidFill>
                      <a:srgbClr val="FFFFFF"/>
                    </a:solidFill>
                  </a:tcPr>
                </a:tc>
              </a:tr>
              <a:tr h="292608">
                <a:tc>
                  <a:txBody>
                    <a:bodyPr wrap="square"/>
                    <a:lstStyle/>
                    <a:p>
                      <a:pPr algn="l"/>
                      <a:r>
                        <a:rPr sz="1000" b="0">
                          <a:solidFill>
                            <a:srgbClr val="182433"/>
                          </a:solidFill>
                          <a:latin typeface="Calibri"/>
                        </a:rPr>
                        <a:t>CPTY_B</a:t>
                      </a:r>
                    </a:p>
                  </a:txBody>
                  <a:tcPr marL="50800" marR="50800" marT="25400" marB="25400" anchor="ctr">
                    <a:solidFill>
                      <a:srgbClr val="F7F8FA"/>
                    </a:solidFill>
                  </a:tcPr>
                </a:tc>
                <a:tc>
                  <a:txBody>
                    <a:bodyPr wrap="square"/>
                    <a:lstStyle/>
                    <a:p>
                      <a:pPr algn="ctr"/>
                      <a:r>
                        <a:rPr sz="1000" b="0">
                          <a:solidFill>
                            <a:srgbClr val="182433"/>
                          </a:solidFill>
                          <a:latin typeface="Calibri"/>
                        </a:rPr>
                        <a:t>$9.5M</a:t>
                      </a:r>
                    </a:p>
                  </a:txBody>
                  <a:tcPr marL="50800" marR="50800" marT="25400" marB="25400" anchor="ctr">
                    <a:solidFill>
                      <a:srgbClr val="F7F8FA"/>
                    </a:solidFill>
                  </a:tcPr>
                </a:tc>
                <a:tc>
                  <a:txBody>
                    <a:bodyPr wrap="square"/>
                    <a:lstStyle/>
                    <a:p>
                      <a:pPr algn="ctr"/>
                      <a:r>
                        <a:rPr sz="1000" b="0">
                          <a:solidFill>
                            <a:srgbClr val="182433"/>
                          </a:solidFill>
                          <a:latin typeface="Calibri"/>
                        </a:rPr>
                        <a:t>$9.3M</a:t>
                      </a:r>
                    </a:p>
                  </a:txBody>
                  <a:tcPr marL="50800" marR="50800" marT="25400" marB="25400" anchor="ctr">
                    <a:solidFill>
                      <a:srgbClr val="F7F8FA"/>
                    </a:solidFill>
                  </a:tcPr>
                </a:tc>
                <a:tc>
                  <a:txBody>
                    <a:bodyPr wrap="square"/>
                    <a:lstStyle/>
                    <a:p>
                      <a:pPr algn="ctr"/>
                      <a:r>
                        <a:rPr sz="1000" b="0">
                          <a:solidFill>
                            <a:srgbClr val="182433"/>
                          </a:solidFill>
                          <a:latin typeface="Calibri"/>
                        </a:rPr>
                        <a:t>-3%</a:t>
                      </a:r>
                    </a:p>
                  </a:txBody>
                  <a:tcPr marL="50800" marR="50800" marT="25400" marB="25400" anchor="ctr">
                    <a:solidFill>
                      <a:srgbClr val="F7F8FA"/>
                    </a:solidFill>
                  </a:tcPr>
                </a:tc>
              </a:tr>
              <a:tr h="292608">
                <a:tc>
                  <a:txBody>
                    <a:bodyPr wrap="square"/>
                    <a:lstStyle/>
                    <a:p>
                      <a:pPr algn="l"/>
                      <a:r>
                        <a:rPr sz="1000" b="0">
                          <a:solidFill>
                            <a:srgbClr val="182433"/>
                          </a:solidFill>
                          <a:latin typeface="Calibri"/>
                        </a:rPr>
                        <a:t>CPTY_C</a:t>
                      </a:r>
                    </a:p>
                  </a:txBody>
                  <a:tcPr marL="50800" marR="50800" marT="25400" marB="25400" anchor="ctr">
                    <a:solidFill>
                      <a:srgbClr val="FFFFFF"/>
                    </a:solidFill>
                  </a:tcPr>
                </a:tc>
                <a:tc>
                  <a:txBody>
                    <a:bodyPr wrap="square"/>
                    <a:lstStyle/>
                    <a:p>
                      <a:pPr algn="ctr"/>
                      <a:r>
                        <a:rPr sz="1000" b="0">
                          <a:solidFill>
                            <a:srgbClr val="182433"/>
                          </a:solidFill>
                          <a:latin typeface="Calibri"/>
                        </a:rPr>
                        <a:t>$28.9M</a:t>
                      </a:r>
                    </a:p>
                  </a:txBody>
                  <a:tcPr marL="50800" marR="50800" marT="25400" marB="25400" anchor="ctr">
                    <a:solidFill>
                      <a:srgbClr val="FFFFFF"/>
                    </a:solidFill>
                  </a:tcPr>
                </a:tc>
                <a:tc>
                  <a:txBody>
                    <a:bodyPr wrap="square"/>
                    <a:lstStyle/>
                    <a:p>
                      <a:pPr algn="ctr"/>
                      <a:r>
                        <a:rPr sz="1000" b="0">
                          <a:solidFill>
                            <a:srgbClr val="182433"/>
                          </a:solidFill>
                          <a:latin typeface="Calibri"/>
                        </a:rPr>
                        <a:t>$28.9M</a:t>
                      </a:r>
                    </a:p>
                  </a:txBody>
                  <a:tcPr marL="50800" marR="50800" marT="25400" marB="25400" anchor="ctr">
                    <a:solidFill>
                      <a:srgbClr val="FFFFFF"/>
                    </a:solidFill>
                  </a:tcPr>
                </a:tc>
                <a:tc>
                  <a:txBody>
                    <a:bodyPr wrap="square"/>
                    <a:lstStyle/>
                    <a:p>
                      <a:pPr algn="ctr"/>
                      <a:r>
                        <a:rPr sz="1000" b="0">
                          <a:solidFill>
                            <a:srgbClr val="182433"/>
                          </a:solidFill>
                          <a:latin typeface="Calibri"/>
                        </a:rPr>
                        <a:t>-0%</a:t>
                      </a:r>
                    </a:p>
                  </a:txBody>
                  <a:tcPr marL="50800" marR="50800" marT="25400" marB="25400" anchor="ctr">
                    <a:solidFill>
                      <a:srgbClr val="FFFFFF"/>
                    </a:solidFill>
                  </a:tcPr>
                </a:tc>
              </a:tr>
              <a:tr h="292608">
                <a:tc>
                  <a:txBody>
                    <a:bodyPr wrap="square"/>
                    <a:lstStyle/>
                    <a:p>
                      <a:pPr algn="l"/>
                      <a:r>
                        <a:rPr sz="1000" b="0">
                          <a:solidFill>
                            <a:srgbClr val="182433"/>
                          </a:solidFill>
                          <a:latin typeface="Calibri"/>
                        </a:rPr>
                        <a:t>Portfolio</a:t>
                      </a:r>
                    </a:p>
                  </a:txBody>
                  <a:tcPr marL="50800" marR="50800" marT="25400" marB="25400" anchor="ctr">
                    <a:solidFill>
                      <a:srgbClr val="F7F8FA"/>
                    </a:solidFill>
                  </a:tcPr>
                </a:tc>
                <a:tc>
                  <a:txBody>
                    <a:bodyPr wrap="square"/>
                    <a:lstStyle/>
                    <a:p>
                      <a:pPr algn="ctr"/>
                      <a:r>
                        <a:rPr sz="1000" b="0">
                          <a:solidFill>
                            <a:srgbClr val="182433"/>
                          </a:solidFill>
                          <a:latin typeface="Calibri"/>
                        </a:rPr>
                        <a:t>$51.5M</a:t>
                      </a:r>
                    </a:p>
                  </a:txBody>
                  <a:tcPr marL="50800" marR="50800" marT="25400" marB="25400" anchor="ctr">
                    <a:solidFill>
                      <a:srgbClr val="F7F8FA"/>
                    </a:solidFill>
                  </a:tcPr>
                </a:tc>
                <a:tc>
                  <a:txBody>
                    <a:bodyPr wrap="square"/>
                    <a:lstStyle/>
                    <a:p>
                      <a:pPr algn="ctr"/>
                      <a:r>
                        <a:rPr sz="1000" b="0">
                          <a:solidFill>
                            <a:srgbClr val="182433"/>
                          </a:solidFill>
                          <a:latin typeface="Calibri"/>
                        </a:rPr>
                        <a:t>$50.0M</a:t>
                      </a:r>
                    </a:p>
                  </a:txBody>
                  <a:tcPr marL="50800" marR="50800" marT="25400" marB="25400" anchor="ctr">
                    <a:solidFill>
                      <a:srgbClr val="F7F8FA"/>
                    </a:solidFill>
                  </a:tcPr>
                </a:tc>
                <a:tc>
                  <a:txBody>
                    <a:bodyPr wrap="square"/>
                    <a:lstStyle/>
                    <a:p>
                      <a:pPr algn="ctr"/>
                      <a:r>
                        <a:rPr sz="1000" b="0">
                          <a:solidFill>
                            <a:srgbClr val="182433"/>
                          </a:solidFill>
                          <a:latin typeface="Calibri"/>
                        </a:rPr>
                        <a:t>-3%</a:t>
                      </a:r>
                    </a:p>
                  </a:txBody>
                  <a:tcPr marL="50800" marR="50800" marT="25400" marB="25400" anchor="ctr">
                    <a:solidFill>
                      <a:srgbClr val="F7F8FA"/>
                    </a:solidFill>
                  </a:tcPr>
                </a:tc>
              </a:tr>
            </a:tbl>
          </a:graphicData>
        </a:graphic>
      </p:graphicFrame>
      <p:sp>
        <p:nvSpPr>
          <p:cNvPr id="12" name="Rectangle 11"/>
          <p:cNvSpPr/>
          <p:nvPr/>
        </p:nvSpPr>
        <p:spPr>
          <a:xfrm>
            <a:off x="6492240" y="2971800"/>
            <a:ext cx="5212080" cy="37033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92240" y="2971800"/>
            <a:ext cx="44450" cy="370332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3081528"/>
            <a:ext cx="4892040" cy="292608"/>
          </a:xfrm>
          <a:prstGeom prst="rect">
            <a:avLst/>
          </a:prstGeom>
          <a:noFill/>
        </p:spPr>
        <p:txBody>
          <a:bodyPr wrap="square" anchor="t" lIns="0" rIns="0" tIns="0" bIns="0">
            <a:spAutoFit/>
          </a:bodyPr>
          <a:lstStyle/>
          <a:p>
            <a:pPr algn="l"/>
            <a:r>
              <a:rPr sz="1200" b="1" i="0">
                <a:solidFill>
                  <a:srgbClr val="9A0052"/>
                </a:solidFill>
                <a:latin typeface="Cambria"/>
              </a:rPr>
              <a:t>WHY HULL-WHITE 1F OVER G2++</a:t>
            </a:r>
          </a:p>
        </p:txBody>
      </p:sp>
      <p:sp>
        <p:nvSpPr>
          <p:cNvPr id="15" name="TextBox 14"/>
          <p:cNvSpPr txBox="1"/>
          <p:nvPr/>
        </p:nvSpPr>
        <p:spPr>
          <a:xfrm>
            <a:off x="6675120" y="3447288"/>
            <a:ext cx="4892040" cy="3154680"/>
          </a:xfrm>
          <a:prstGeom prst="rect">
            <a:avLst/>
          </a:prstGeom>
          <a:noFill/>
        </p:spPr>
        <p:txBody>
          <a:bodyPr wrap="square" lIns="0" rIns="0" tIns="0" bIns="0">
            <a:spAutoFit/>
          </a:bodyPr>
          <a:lstStyle/>
          <a:p>
            <a:pPr>
              <a:lnSpc>
                <a:spcPct val="105000"/>
              </a:lnSpc>
              <a:spcAft>
                <a:spcPts val="500"/>
              </a:spcAft>
            </a:pPr>
            <a:r>
              <a:rPr sz="1050" b="0">
                <a:solidFill>
                  <a:srgbClr val="182433"/>
                </a:solidFill>
                <a:latin typeface="Calibri"/>
              </a:rPr>
              <a:t>•  -3% on the headline doesn't justify 3 extra parameters (2 vs 5) -- no demonstrable accuracy gain for the added complexity</a:t>
            </a:r>
          </a:p>
          <a:p>
            <a:pPr>
              <a:lnSpc>
                <a:spcPct val="105000"/>
              </a:lnSpc>
              <a:spcAft>
                <a:spcPts val="500"/>
              </a:spcAft>
            </a:pPr>
            <a:r>
              <a:rPr sz="1050" b="0">
                <a:solidFill>
                  <a:srgbClr val="182433"/>
                </a:solidFill>
                <a:latin typeface="Calibri"/>
              </a:rPr>
              <a:t>•  G2++'s own calibration carries a 16% fit error -- it trades one uncertainty (1F's missing slope factor) for another (2F's imperfect fit), not a clear improvement</a:t>
            </a:r>
          </a:p>
          <a:p>
            <a:pPr>
              <a:lnSpc>
                <a:spcPct val="105000"/>
              </a:lnSpc>
              <a:spcAft>
                <a:spcPts val="500"/>
              </a:spcAft>
            </a:pPr>
            <a:r>
              <a:rPr sz="1050" b="0">
                <a:solidFill>
                  <a:srgbClr val="182433"/>
                </a:solidFill>
                <a:latin typeface="Calibri"/>
              </a:rPr>
              <a:t>•  HW1F calibrates to the forward-looking swaption cube; G2++ fits realised covariance only, with just 616 days of data to pin down 5 parameters</a:t>
            </a:r>
          </a:p>
          <a:p>
            <a:pPr>
              <a:lnSpc>
                <a:spcPct val="105000"/>
              </a:lnSpc>
              <a:spcAft>
                <a:spcPts val="500"/>
              </a:spcAft>
            </a:pPr>
            <a:r>
              <a:rPr sz="1050" b="0">
                <a:solidFill>
                  <a:srgbClr val="182433"/>
                </a:solidFill>
                <a:latin typeface="Calibri"/>
              </a:rPr>
              <a:t>•  Both are Gaussian and support negative rates and analytic bond pricing -- no capability is lost by staying 1F; fewer parameters means less to validate and govern</a:t>
            </a:r>
          </a:p>
          <a:p>
            <a:pPr>
              <a:lnSpc>
                <a:spcPct val="105000"/>
              </a:lnSpc>
              <a:spcAft>
                <a:spcPts val="500"/>
              </a:spcAft>
            </a:pPr>
            <a:r>
              <a:rPr sz="1050" b="0">
                <a:solidFill>
                  <a:srgbClr val="182433"/>
                </a:solidFill>
                <a:latin typeface="Calibri"/>
              </a:rPr>
              <a:t>•  Model risk here is dominated by equity volatility and rate-equity dependence, not rate-model choice (Section 7.9)</a:t>
            </a:r>
          </a:p>
          <a:p>
            <a:pPr>
              <a:lnSpc>
                <a:spcPct val="105000"/>
              </a:lnSpc>
              <a:spcAft>
                <a:spcPts val="500"/>
              </a:spcAft>
            </a:pPr>
            <a:r>
              <a:rPr sz="1050" b="0">
                <a:solidFill>
                  <a:srgbClr val="182433"/>
                </a:solidFill>
                <a:latin typeface="Calibri"/>
              </a:rPr>
              <a:t>•  G2++ is already implemented, calibrated and left selectable (rates_model='g2pp') -- defaulting to 1F is a reversible choice, not a one-way door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Full-Rank Correlation Kept: PCA Factor Model Adds No Speed, No Consistent Accuracy</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1">
                <a:solidFill>
                  <a:srgbClr val="D2006F"/>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29</a:t>
            </a:r>
          </a:p>
        </p:txBody>
      </p:sp>
      <p:graphicFrame>
        <p:nvGraphicFramePr>
          <p:cNvPr id="6" name="Table 5"/>
          <p:cNvGraphicFramePr>
            <a:graphicFrameLocks noGrp="1"/>
          </p:cNvGraphicFramePr>
          <p:nvPr/>
        </p:nvGraphicFramePr>
        <p:xfrm>
          <a:off x="457200" y="1325880"/>
          <a:ext cx="11247118" cy="1463040"/>
        </p:xfrm>
        <a:graphic>
          <a:graphicData uri="http://schemas.openxmlformats.org/drawingml/2006/table">
            <a:tbl>
              <a:tblPr firstRow="1" bandRow="1">
                <a:tableStyleId>{5C22544A-7EE6-4342-B048-85BDC9FD1C3A}</a:tableStyleId>
              </a:tblPr>
              <a:tblGrid>
                <a:gridCol w="1379363"/>
                <a:gridCol w="1803783"/>
                <a:gridCol w="2015993"/>
                <a:gridCol w="2015993"/>
                <a:gridCol w="2015993"/>
                <a:gridCol w="2015993"/>
              </a:tblGrid>
              <a:tr h="292608">
                <a:tc>
                  <a:txBody>
                    <a:bodyPr wrap="square"/>
                    <a:lstStyle/>
                    <a:p>
                      <a:pPr algn="l"/>
                      <a:r>
                        <a:rPr sz="980" b="1">
                          <a:solidFill>
                            <a:srgbClr val="FFFFFF"/>
                          </a:solidFill>
                          <a:latin typeface="Calibri"/>
                        </a:rPr>
                        <a:t>Factors k</a:t>
                      </a:r>
                    </a:p>
                  </a:txBody>
                  <a:tcPr marL="50800" marR="50800" marT="25400" marB="25400" anchor="ctr">
                    <a:solidFill>
                      <a:srgbClr val="182433"/>
                    </a:solidFill>
                  </a:tcPr>
                </a:tc>
                <a:tc>
                  <a:txBody>
                    <a:bodyPr wrap="square"/>
                    <a:lstStyle/>
                    <a:p>
                      <a:pPr algn="ctr"/>
                      <a:r>
                        <a:rPr sz="980" b="1">
                          <a:solidFill>
                            <a:srgbClr val="FFFFFF"/>
                          </a:solidFill>
                          <a:latin typeface="Calibri"/>
                        </a:rPr>
                        <a:t>Var. explained</a:t>
                      </a:r>
                    </a:p>
                  </a:txBody>
                  <a:tcPr marL="50800" marR="50800" marT="25400" marB="25400" anchor="ctr">
                    <a:solidFill>
                      <a:srgbClr val="182433"/>
                    </a:solidFill>
                  </a:tcPr>
                </a:tc>
                <a:tc>
                  <a:txBody>
                    <a:bodyPr wrap="square"/>
                    <a:lstStyle/>
                    <a:p>
                      <a:pPr algn="ctr"/>
                      <a:r>
                        <a:rPr sz="980" b="1">
                          <a:solidFill>
                            <a:srgbClr val="FFFFFF"/>
                          </a:solidFill>
                          <a:latin typeface="Calibri"/>
                        </a:rPr>
                        <a:t>CPTY_A vol</a:t>
                      </a:r>
                    </a:p>
                  </a:txBody>
                  <a:tcPr marL="50800" marR="50800" marT="25400" marB="25400" anchor="ctr">
                    <a:solidFill>
                      <a:srgbClr val="182433"/>
                    </a:solidFill>
                  </a:tcPr>
                </a:tc>
                <a:tc>
                  <a:txBody>
                    <a:bodyPr wrap="square"/>
                    <a:lstStyle/>
                    <a:p>
                      <a:pPr algn="ctr"/>
                      <a:r>
                        <a:rPr sz="980" b="1">
                          <a:solidFill>
                            <a:srgbClr val="FFFFFF"/>
                          </a:solidFill>
                          <a:latin typeface="Calibri"/>
                        </a:rPr>
                        <a:t>CPTY_B vol</a:t>
                      </a:r>
                    </a:p>
                  </a:txBody>
                  <a:tcPr marL="50800" marR="50800" marT="25400" marB="25400" anchor="ctr">
                    <a:solidFill>
                      <a:srgbClr val="182433"/>
                    </a:solidFill>
                  </a:tcPr>
                </a:tc>
                <a:tc>
                  <a:txBody>
                    <a:bodyPr wrap="square"/>
                    <a:lstStyle/>
                    <a:p>
                      <a:pPr algn="ctr"/>
                      <a:r>
                        <a:rPr sz="980" b="1">
                          <a:solidFill>
                            <a:srgbClr val="FFFFFF"/>
                          </a:solidFill>
                          <a:latin typeface="Calibri"/>
                        </a:rPr>
                        <a:t>CPTY_C vol</a:t>
                      </a:r>
                    </a:p>
                  </a:txBody>
                  <a:tcPr marL="50800" marR="50800" marT="25400" marB="25400" anchor="ctr">
                    <a:solidFill>
                      <a:srgbClr val="182433"/>
                    </a:solidFill>
                  </a:tcPr>
                </a:tc>
                <a:tc>
                  <a:txBody>
                    <a:bodyPr wrap="square"/>
                    <a:lstStyle/>
                    <a:p>
                      <a:pPr algn="ctr"/>
                      <a:r>
                        <a:rPr sz="980" b="1">
                          <a:solidFill>
                            <a:srgbClr val="FFFFFF"/>
                          </a:solidFill>
                          <a:latin typeface="Calibri"/>
                        </a:rPr>
                        <a:t>Shock-step time</a:t>
                      </a:r>
                    </a:p>
                  </a:txBody>
                  <a:tcPr marL="50800" marR="50800" marT="25400" marB="25400" anchor="ctr">
                    <a:solidFill>
                      <a:srgbClr val="182433"/>
                    </a:solidFill>
                  </a:tcPr>
                </a:tc>
              </a:tr>
              <a:tr h="292608">
                <a:tc>
                  <a:txBody>
                    <a:bodyPr wrap="square"/>
                    <a:lstStyle/>
                    <a:p>
                      <a:pPr algn="l"/>
                      <a:r>
                        <a:rPr sz="930" b="0">
                          <a:solidFill>
                            <a:srgbClr val="182433"/>
                          </a:solidFill>
                          <a:latin typeface="Calibri"/>
                        </a:rPr>
                        <a:t>Full (39)</a:t>
                      </a:r>
                    </a:p>
                  </a:txBody>
                  <a:tcPr marL="50800" marR="50800" marT="25400" marB="25400" anchor="ctr">
                    <a:solidFill>
                      <a:srgbClr val="FFFFFF"/>
                    </a:solidFill>
                  </a:tcPr>
                </a:tc>
                <a:tc>
                  <a:txBody>
                    <a:bodyPr wrap="square"/>
                    <a:lstStyle/>
                    <a:p>
                      <a:pPr algn="ctr"/>
                      <a:r>
                        <a:rPr sz="930" b="0">
                          <a:solidFill>
                            <a:srgbClr val="182433"/>
                          </a:solidFill>
                          <a:latin typeface="Calibri"/>
                        </a:rPr>
                        <a:t>100%</a:t>
                      </a:r>
                    </a:p>
                  </a:txBody>
                  <a:tcPr marL="50800" marR="50800" marT="25400" marB="25400" anchor="ctr">
                    <a:solidFill>
                      <a:srgbClr val="FFFFFF"/>
                    </a:solidFill>
                  </a:tcPr>
                </a:tc>
                <a:tc>
                  <a:txBody>
                    <a:bodyPr wrap="square"/>
                    <a:lstStyle/>
                    <a:p>
                      <a:pPr algn="ctr"/>
                      <a:r>
                        <a:rPr sz="930" b="0">
                          <a:solidFill>
                            <a:srgbClr val="182433"/>
                          </a:solidFill>
                          <a:latin typeface="Calibri"/>
                        </a:rPr>
                        <a:t>$52.9M (ref)</a:t>
                      </a:r>
                    </a:p>
                  </a:txBody>
                  <a:tcPr marL="50800" marR="50800" marT="25400" marB="25400" anchor="ctr">
                    <a:solidFill>
                      <a:srgbClr val="FFFFFF"/>
                    </a:solidFill>
                  </a:tcPr>
                </a:tc>
                <a:tc>
                  <a:txBody>
                    <a:bodyPr wrap="square"/>
                    <a:lstStyle/>
                    <a:p>
                      <a:pPr algn="ctr"/>
                      <a:r>
                        <a:rPr sz="930" b="0">
                          <a:solidFill>
                            <a:srgbClr val="182433"/>
                          </a:solidFill>
                          <a:latin typeface="Calibri"/>
                        </a:rPr>
                        <a:t>$19.6M (ref)</a:t>
                      </a:r>
                    </a:p>
                  </a:txBody>
                  <a:tcPr marL="50800" marR="50800" marT="25400" marB="25400" anchor="ctr">
                    <a:solidFill>
                      <a:srgbClr val="FFFFFF"/>
                    </a:solidFill>
                  </a:tcPr>
                </a:tc>
                <a:tc>
                  <a:txBody>
                    <a:bodyPr wrap="square"/>
                    <a:lstStyle/>
                    <a:p>
                      <a:pPr algn="ctr"/>
                      <a:r>
                        <a:rPr sz="930" b="0">
                          <a:solidFill>
                            <a:srgbClr val="182433"/>
                          </a:solidFill>
                          <a:latin typeface="Calibri"/>
                        </a:rPr>
                        <a:t>$25.4M (ref)</a:t>
                      </a:r>
                    </a:p>
                  </a:txBody>
                  <a:tcPr marL="50800" marR="50800" marT="25400" marB="25400" anchor="ctr">
                    <a:solidFill>
                      <a:srgbClr val="FFFFFF"/>
                    </a:solidFill>
                  </a:tcPr>
                </a:tc>
                <a:tc>
                  <a:txBody>
                    <a:bodyPr wrap="square"/>
                    <a:lstStyle/>
                    <a:p>
                      <a:pPr algn="ctr"/>
                      <a:r>
                        <a:rPr sz="930" b="0">
                          <a:solidFill>
                            <a:srgbClr val="182433"/>
                          </a:solidFill>
                          <a:latin typeface="Calibri"/>
                        </a:rPr>
                        <a:t>1.91s</a:t>
                      </a:r>
                    </a:p>
                  </a:txBody>
                  <a:tcPr marL="50800" marR="50800" marT="25400" marB="25400" anchor="ctr">
                    <a:solidFill>
                      <a:srgbClr val="FFFFFF"/>
                    </a:solidFill>
                  </a:tcPr>
                </a:tc>
              </a:tr>
              <a:tr h="292608">
                <a:tc>
                  <a:txBody>
                    <a:bodyPr wrap="square"/>
                    <a:lstStyle/>
                    <a:p>
                      <a:pPr algn="l"/>
                      <a:r>
                        <a:rPr sz="930" b="0">
                          <a:solidFill>
                            <a:srgbClr val="182433"/>
                          </a:solidFill>
                          <a:latin typeface="Calibri"/>
                        </a:rPr>
                        <a:t>10</a:t>
                      </a:r>
                    </a:p>
                  </a:txBody>
                  <a:tcPr marL="50800" marR="50800" marT="25400" marB="25400" anchor="ctr">
                    <a:solidFill>
                      <a:srgbClr val="F7F8FA"/>
                    </a:solidFill>
                  </a:tcPr>
                </a:tc>
                <a:tc>
                  <a:txBody>
                    <a:bodyPr wrap="square"/>
                    <a:lstStyle/>
                    <a:p>
                      <a:pPr algn="ctr"/>
                      <a:r>
                        <a:rPr sz="930" b="0">
                          <a:solidFill>
                            <a:srgbClr val="182433"/>
                          </a:solidFill>
                          <a:latin typeface="Calibri"/>
                        </a:rPr>
                        <a:t>62%</a:t>
                      </a:r>
                    </a:p>
                  </a:txBody>
                  <a:tcPr marL="50800" marR="50800" marT="25400" marB="25400" anchor="ctr">
                    <a:solidFill>
                      <a:srgbClr val="F7F8FA"/>
                    </a:solidFill>
                  </a:tcPr>
                </a:tc>
                <a:tc>
                  <a:txBody>
                    <a:bodyPr wrap="square"/>
                    <a:lstStyle/>
                    <a:p>
                      <a:pPr algn="ctr"/>
                      <a:r>
                        <a:rPr sz="930" b="0">
                          <a:solidFill>
                            <a:srgbClr val="182433"/>
                          </a:solidFill>
                          <a:latin typeface="Calibri"/>
                        </a:rPr>
                        <a:t>$53.5M (+1.1%)</a:t>
                      </a:r>
                    </a:p>
                  </a:txBody>
                  <a:tcPr marL="50800" marR="50800" marT="25400" marB="25400" anchor="ctr">
                    <a:solidFill>
                      <a:srgbClr val="F7F8FA"/>
                    </a:solidFill>
                  </a:tcPr>
                </a:tc>
                <a:tc>
                  <a:txBody>
                    <a:bodyPr wrap="square"/>
                    <a:lstStyle/>
                    <a:p>
                      <a:pPr algn="ctr"/>
                      <a:r>
                        <a:rPr sz="930" b="0">
                          <a:solidFill>
                            <a:srgbClr val="182433"/>
                          </a:solidFill>
                          <a:latin typeface="Calibri"/>
                        </a:rPr>
                        <a:t>$19.9M (+1.5%)</a:t>
                      </a:r>
                    </a:p>
                  </a:txBody>
                  <a:tcPr marL="50800" marR="50800" marT="25400" marB="25400" anchor="ctr">
                    <a:solidFill>
                      <a:srgbClr val="F7F8FA"/>
                    </a:solidFill>
                  </a:tcPr>
                </a:tc>
                <a:tc>
                  <a:txBody>
                    <a:bodyPr wrap="square"/>
                    <a:lstStyle/>
                    <a:p>
                      <a:pPr algn="ctr"/>
                      <a:r>
                        <a:rPr sz="930" b="0">
                          <a:solidFill>
                            <a:srgbClr val="182433"/>
                          </a:solidFill>
                          <a:latin typeface="Calibri"/>
                        </a:rPr>
                        <a:t>$25.8M (+1.7%)</a:t>
                      </a:r>
                    </a:p>
                  </a:txBody>
                  <a:tcPr marL="50800" marR="50800" marT="25400" marB="25400" anchor="ctr">
                    <a:solidFill>
                      <a:srgbClr val="F7F8FA"/>
                    </a:solidFill>
                  </a:tcPr>
                </a:tc>
                <a:tc>
                  <a:txBody>
                    <a:bodyPr wrap="square"/>
                    <a:lstStyle/>
                    <a:p>
                      <a:pPr algn="ctr"/>
                      <a:r>
                        <a:rPr sz="930" b="0">
                          <a:solidFill>
                            <a:srgbClr val="182433"/>
                          </a:solidFill>
                          <a:latin typeface="Calibri"/>
                        </a:rPr>
                        <a:t>2.29s</a:t>
                      </a:r>
                    </a:p>
                  </a:txBody>
                  <a:tcPr marL="50800" marR="50800" marT="25400" marB="25400" anchor="ctr">
                    <a:solidFill>
                      <a:srgbClr val="F7F8FA"/>
                    </a:solidFill>
                  </a:tcPr>
                </a:tc>
              </a:tr>
              <a:tr h="292608">
                <a:tc>
                  <a:txBody>
                    <a:bodyPr wrap="square"/>
                    <a:lstStyle/>
                    <a:p>
                      <a:pPr algn="l"/>
                      <a:r>
                        <a:rPr sz="930" b="0">
                          <a:solidFill>
                            <a:srgbClr val="182433"/>
                          </a:solidFill>
                          <a:latin typeface="Calibri"/>
                        </a:rPr>
                        <a:t>5</a:t>
                      </a:r>
                    </a:p>
                  </a:txBody>
                  <a:tcPr marL="50800" marR="50800" marT="25400" marB="25400" anchor="ctr">
                    <a:solidFill>
                      <a:srgbClr val="FFFFFF"/>
                    </a:solidFill>
                  </a:tcPr>
                </a:tc>
                <a:tc>
                  <a:txBody>
                    <a:bodyPr wrap="square"/>
                    <a:lstStyle/>
                    <a:p>
                      <a:pPr algn="ctr"/>
                      <a:r>
                        <a:rPr sz="930" b="0">
                          <a:solidFill>
                            <a:srgbClr val="182433"/>
                          </a:solidFill>
                          <a:latin typeface="Calibri"/>
                        </a:rPr>
                        <a:t>47%</a:t>
                      </a:r>
                    </a:p>
                  </a:txBody>
                  <a:tcPr marL="50800" marR="50800" marT="25400" marB="25400" anchor="ctr">
                    <a:solidFill>
                      <a:srgbClr val="FFFFFF"/>
                    </a:solidFill>
                  </a:tcPr>
                </a:tc>
                <a:tc>
                  <a:txBody>
                    <a:bodyPr wrap="square"/>
                    <a:lstStyle/>
                    <a:p>
                      <a:pPr algn="ctr"/>
                      <a:r>
                        <a:rPr sz="930" b="0">
                          <a:solidFill>
                            <a:srgbClr val="182433"/>
                          </a:solidFill>
                          <a:latin typeface="Calibri"/>
                        </a:rPr>
                        <a:t>$52.9M (+0.0%)</a:t>
                      </a:r>
                    </a:p>
                  </a:txBody>
                  <a:tcPr marL="50800" marR="50800" marT="25400" marB="25400" anchor="ctr">
                    <a:solidFill>
                      <a:srgbClr val="FFFFFF"/>
                    </a:solidFill>
                  </a:tcPr>
                </a:tc>
                <a:tc>
                  <a:txBody>
                    <a:bodyPr wrap="square"/>
                    <a:lstStyle/>
                    <a:p>
                      <a:pPr algn="ctr"/>
                      <a:r>
                        <a:rPr sz="930" b="0">
                          <a:solidFill>
                            <a:srgbClr val="182433"/>
                          </a:solidFill>
                          <a:latin typeface="Calibri"/>
                        </a:rPr>
                        <a:t>$19.9M (+1.7%)</a:t>
                      </a:r>
                    </a:p>
                  </a:txBody>
                  <a:tcPr marL="50800" marR="50800" marT="25400" marB="25400" anchor="ctr">
                    <a:solidFill>
                      <a:srgbClr val="FFFFFF"/>
                    </a:solidFill>
                  </a:tcPr>
                </a:tc>
                <a:tc>
                  <a:txBody>
                    <a:bodyPr wrap="square"/>
                    <a:lstStyle/>
                    <a:p>
                      <a:pPr algn="ctr"/>
                      <a:r>
                        <a:rPr sz="930" b="0">
                          <a:solidFill>
                            <a:srgbClr val="182433"/>
                          </a:solidFill>
                          <a:latin typeface="Calibri"/>
                        </a:rPr>
                        <a:t>$26.4M (+3.9%)</a:t>
                      </a:r>
                    </a:p>
                  </a:txBody>
                  <a:tcPr marL="50800" marR="50800" marT="25400" marB="25400" anchor="ctr">
                    <a:solidFill>
                      <a:srgbClr val="FFFFFF"/>
                    </a:solidFill>
                  </a:tcPr>
                </a:tc>
                <a:tc>
                  <a:txBody>
                    <a:bodyPr wrap="square"/>
                    <a:lstStyle/>
                    <a:p>
                      <a:pPr algn="ctr"/>
                      <a:r>
                        <a:rPr sz="930" b="0">
                          <a:solidFill>
                            <a:srgbClr val="182433"/>
                          </a:solidFill>
                          <a:latin typeface="Calibri"/>
                        </a:rPr>
                        <a:t>2.08s</a:t>
                      </a:r>
                    </a:p>
                  </a:txBody>
                  <a:tcPr marL="50800" marR="50800" marT="25400" marB="25400" anchor="ctr">
                    <a:solidFill>
                      <a:srgbClr val="FFFFFF"/>
                    </a:solidFill>
                  </a:tcPr>
                </a:tc>
              </a:tr>
              <a:tr h="292608">
                <a:tc>
                  <a:txBody>
                    <a:bodyPr wrap="square"/>
                    <a:lstStyle/>
                    <a:p>
                      <a:pPr algn="l"/>
                      <a:r>
                        <a:rPr sz="930" b="0">
                          <a:solidFill>
                            <a:srgbClr val="182433"/>
                          </a:solidFill>
                          <a:latin typeface="Calibri"/>
                        </a:rPr>
                        <a:t>3</a:t>
                      </a:r>
                    </a:p>
                  </a:txBody>
                  <a:tcPr marL="50800" marR="50800" marT="25400" marB="25400" anchor="ctr">
                    <a:solidFill>
                      <a:srgbClr val="F7F8FA"/>
                    </a:solidFill>
                  </a:tcPr>
                </a:tc>
                <a:tc>
                  <a:txBody>
                    <a:bodyPr wrap="square"/>
                    <a:lstStyle/>
                    <a:p>
                      <a:pPr algn="ctr"/>
                      <a:r>
                        <a:rPr sz="930" b="0">
                          <a:solidFill>
                            <a:srgbClr val="182433"/>
                          </a:solidFill>
                          <a:latin typeface="Calibri"/>
                        </a:rPr>
                        <a:t>37%</a:t>
                      </a:r>
                    </a:p>
                  </a:txBody>
                  <a:tcPr marL="50800" marR="50800" marT="25400" marB="25400" anchor="ctr">
                    <a:solidFill>
                      <a:srgbClr val="F7F8FA"/>
                    </a:solidFill>
                  </a:tcPr>
                </a:tc>
                <a:tc>
                  <a:txBody>
                    <a:bodyPr wrap="square"/>
                    <a:lstStyle/>
                    <a:p>
                      <a:pPr algn="ctr"/>
                      <a:r>
                        <a:rPr sz="930" b="0">
                          <a:solidFill>
                            <a:srgbClr val="182433"/>
                          </a:solidFill>
                          <a:latin typeface="Calibri"/>
                        </a:rPr>
                        <a:t>$53.2M (+0.6%)</a:t>
                      </a:r>
                    </a:p>
                  </a:txBody>
                  <a:tcPr marL="50800" marR="50800" marT="25400" marB="25400" anchor="ctr">
                    <a:solidFill>
                      <a:srgbClr val="F7F8FA"/>
                    </a:solidFill>
                  </a:tcPr>
                </a:tc>
                <a:tc>
                  <a:txBody>
                    <a:bodyPr wrap="square"/>
                    <a:lstStyle/>
                    <a:p>
                      <a:pPr algn="ctr"/>
                      <a:r>
                        <a:rPr sz="930" b="0">
                          <a:solidFill>
                            <a:srgbClr val="182433"/>
                          </a:solidFill>
                          <a:latin typeface="Calibri"/>
                        </a:rPr>
                        <a:t>$20.0M (+2.1%)</a:t>
                      </a:r>
                    </a:p>
                  </a:txBody>
                  <a:tcPr marL="50800" marR="50800" marT="25400" marB="25400" anchor="ctr">
                    <a:solidFill>
                      <a:srgbClr val="F7F8FA"/>
                    </a:solidFill>
                  </a:tcPr>
                </a:tc>
                <a:tc>
                  <a:txBody>
                    <a:bodyPr wrap="square"/>
                    <a:lstStyle/>
                    <a:p>
                      <a:pPr algn="ctr"/>
                      <a:r>
                        <a:rPr sz="930" b="0">
                          <a:solidFill>
                            <a:srgbClr val="182433"/>
                          </a:solidFill>
                          <a:latin typeface="Calibri"/>
                        </a:rPr>
                        <a:t>$26.3M (+3.4%)</a:t>
                      </a:r>
                    </a:p>
                  </a:txBody>
                  <a:tcPr marL="50800" marR="50800" marT="25400" marB="25400" anchor="ctr">
                    <a:solidFill>
                      <a:srgbClr val="F7F8FA"/>
                    </a:solidFill>
                  </a:tcPr>
                </a:tc>
                <a:tc>
                  <a:txBody>
                    <a:bodyPr wrap="square"/>
                    <a:lstStyle/>
                    <a:p>
                      <a:pPr algn="ctr"/>
                      <a:r>
                        <a:rPr sz="930" b="0">
                          <a:solidFill>
                            <a:srgbClr val="182433"/>
                          </a:solidFill>
                          <a:latin typeface="Calibri"/>
                        </a:rPr>
                        <a:t>n/a</a:t>
                      </a:r>
                    </a:p>
                  </a:txBody>
                  <a:tcPr marL="50800" marR="50800" marT="25400" marB="25400" anchor="ctr">
                    <a:solidFill>
                      <a:srgbClr val="F7F8FA"/>
                    </a:solidFill>
                  </a:tcPr>
                </a:tc>
              </a:tr>
            </a:tbl>
          </a:graphicData>
        </a:graphic>
      </p:graphicFrame>
      <p:sp>
        <p:nvSpPr>
          <p:cNvPr id="7" name="Rounded Rectangle 6"/>
          <p:cNvSpPr/>
          <p:nvPr/>
        </p:nvSpPr>
        <p:spPr>
          <a:xfrm>
            <a:off x="457200" y="2880360"/>
            <a:ext cx="1051560" cy="274320"/>
          </a:xfrm>
          <a:prstGeom prst="round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bIns="12700"/>
          <a:lstStyle/>
          <a:p>
            <a:pPr algn="ctr"/>
            <a:r>
              <a:rPr sz="1000" b="1">
                <a:solidFill>
                  <a:srgbClr val="FFFFFF"/>
                </a:solidFill>
                <a:latin typeface="Calibri"/>
              </a:rPr>
              <a:t>SELECTED</a:t>
            </a:r>
          </a:p>
        </p:txBody>
      </p:sp>
      <p:sp>
        <p:nvSpPr>
          <p:cNvPr id="8" name="TextBox 7"/>
          <p:cNvSpPr txBox="1"/>
          <p:nvPr/>
        </p:nvSpPr>
        <p:spPr>
          <a:xfrm>
            <a:off x="1691640" y="2916936"/>
            <a:ext cx="3017520" cy="274320"/>
          </a:xfrm>
          <a:prstGeom prst="rect">
            <a:avLst/>
          </a:prstGeom>
          <a:noFill/>
        </p:spPr>
        <p:txBody>
          <a:bodyPr wrap="square" anchor="t" lIns="0" rIns="0" tIns="0" bIns="0">
            <a:spAutoFit/>
          </a:bodyPr>
          <a:lstStyle/>
          <a:p>
            <a:pPr algn="l"/>
            <a:r>
              <a:rPr sz="1050" b="1" i="0">
                <a:solidFill>
                  <a:srgbClr val="182433"/>
                </a:solidFill>
                <a:latin typeface="Calibri"/>
              </a:rPr>
              <a:t>Full-rank Cholesky (default)</a:t>
            </a:r>
          </a:p>
        </p:txBody>
      </p:sp>
      <p:sp>
        <p:nvSpPr>
          <p:cNvPr id="9" name="TextBox 8"/>
          <p:cNvSpPr txBox="1"/>
          <p:nvPr/>
        </p:nvSpPr>
        <p:spPr>
          <a:xfrm>
            <a:off x="457200" y="3310128"/>
            <a:ext cx="11247120" cy="274320"/>
          </a:xfrm>
          <a:prstGeom prst="rect">
            <a:avLst/>
          </a:prstGeom>
          <a:noFill/>
        </p:spPr>
        <p:txBody>
          <a:bodyPr wrap="square" anchor="t" lIns="0" rIns="0" tIns="0" bIns="0">
            <a:spAutoFit/>
          </a:bodyPr>
          <a:lstStyle/>
          <a:p>
            <a:pPr algn="l"/>
            <a:r>
              <a:rPr sz="1200" b="1" i="0">
                <a:solidFill>
                  <a:srgbClr val="182433"/>
                </a:solidFill>
                <a:latin typeface="Cambria"/>
              </a:rPr>
              <a:t>What the PCA factors actually are, economically:</a:t>
            </a:r>
          </a:p>
        </p:txBody>
      </p:sp>
      <p:graphicFrame>
        <p:nvGraphicFramePr>
          <p:cNvPr id="10" name="Table 9"/>
          <p:cNvGraphicFramePr>
            <a:graphicFrameLocks noGrp="1"/>
          </p:cNvGraphicFramePr>
          <p:nvPr/>
        </p:nvGraphicFramePr>
        <p:xfrm>
          <a:off x="457200" y="3657600"/>
          <a:ext cx="5943600" cy="2377440"/>
        </p:xfrm>
        <a:graphic>
          <a:graphicData uri="http://schemas.openxmlformats.org/drawingml/2006/table">
            <a:tbl>
              <a:tblPr firstRow="1" bandRow="1">
                <a:tableStyleId>{5C22544A-7EE6-4342-B048-85BDC9FD1C3A}</a:tableStyleId>
              </a:tblPr>
              <a:tblGrid>
                <a:gridCol w="640080"/>
                <a:gridCol w="731520"/>
                <a:gridCol w="4572000"/>
              </a:tblGrid>
              <a:tr h="396240">
                <a:tc>
                  <a:txBody>
                    <a:bodyPr wrap="square"/>
                    <a:lstStyle/>
                    <a:p>
                      <a:pPr algn="l"/>
                      <a:r>
                        <a:rPr sz="950" b="1">
                          <a:solidFill>
                            <a:srgbClr val="FFFFFF"/>
                          </a:solidFill>
                          <a:latin typeface="Calibri"/>
                        </a:rPr>
                        <a:t>Factor</a:t>
                      </a:r>
                    </a:p>
                  </a:txBody>
                  <a:tcPr marL="50800" marR="50800" marT="25400" marB="25400" anchor="ctr">
                    <a:solidFill>
                      <a:srgbClr val="182433"/>
                    </a:solidFill>
                  </a:tcPr>
                </a:tc>
                <a:tc>
                  <a:txBody>
                    <a:bodyPr wrap="square"/>
                    <a:lstStyle/>
                    <a:p>
                      <a:pPr algn="ctr"/>
                      <a:r>
                        <a:rPr sz="950" b="1">
                          <a:solidFill>
                            <a:srgbClr val="FFFFFF"/>
                          </a:solidFill>
                          <a:latin typeface="Calibri"/>
                        </a:rPr>
                        <a:t>Var.</a:t>
                      </a:r>
                    </a:p>
                  </a:txBody>
                  <a:tcPr marL="50800" marR="50800" marT="25400" marB="25400" anchor="ctr">
                    <a:solidFill>
                      <a:srgbClr val="182433"/>
                    </a:solidFill>
                  </a:tcPr>
                </a:tc>
                <a:tc>
                  <a:txBody>
                    <a:bodyPr wrap="square"/>
                    <a:lstStyle/>
                    <a:p>
                      <a:pPr algn="ctr"/>
                      <a:r>
                        <a:rPr sz="950" b="1">
                          <a:solidFill>
                            <a:srgbClr val="FFFFFF"/>
                          </a:solidFill>
                          <a:latin typeface="Calibri"/>
                        </a:rPr>
                        <a:t>Reading</a:t>
                      </a:r>
                    </a:p>
                  </a:txBody>
                  <a:tcPr marL="50800" marR="50800" marT="25400" marB="25400" anchor="ctr">
                    <a:solidFill>
                      <a:srgbClr val="182433"/>
                    </a:solidFill>
                  </a:tcPr>
                </a:tc>
              </a:tr>
              <a:tr h="396240">
                <a:tc>
                  <a:txBody>
                    <a:bodyPr wrap="square"/>
                    <a:lstStyle/>
                    <a:p>
                      <a:pPr algn="l"/>
                      <a:r>
                        <a:rPr sz="900" b="0">
                          <a:solidFill>
                            <a:srgbClr val="182433"/>
                          </a:solidFill>
                          <a:latin typeface="Calibri"/>
                        </a:rPr>
                        <a:t>1</a:t>
                      </a:r>
                    </a:p>
                  </a:txBody>
                  <a:tcPr marL="50800" marR="50800" marT="25400" marB="25400" anchor="ctr">
                    <a:solidFill>
                      <a:srgbClr val="FFFFFF"/>
                    </a:solidFill>
                  </a:tcPr>
                </a:tc>
                <a:tc>
                  <a:txBody>
                    <a:bodyPr wrap="square"/>
                    <a:lstStyle/>
                    <a:p>
                      <a:pPr algn="ctr"/>
                      <a:r>
                        <a:rPr sz="900" b="0">
                          <a:solidFill>
                            <a:srgbClr val="182433"/>
                          </a:solidFill>
                          <a:latin typeface="Calibri"/>
                        </a:rPr>
                        <a:t>20.0%</a:t>
                      </a:r>
                    </a:p>
                  </a:txBody>
                  <a:tcPr marL="50800" marR="50800" marT="25400" marB="25400" anchor="ctr">
                    <a:solidFill>
                      <a:srgbClr val="FFFFFF"/>
                    </a:solidFill>
                  </a:tcPr>
                </a:tc>
                <a:tc>
                  <a:txBody>
                    <a:bodyPr wrap="square"/>
                    <a:lstStyle/>
                    <a:p>
                      <a:pPr algn="ctr"/>
                      <a:r>
                        <a:rPr sz="900" b="0">
                          <a:solidFill>
                            <a:srgbClr val="182433"/>
                          </a:solidFill>
                          <a:latin typeface="Calibri"/>
                        </a:rPr>
                        <a:t>Market factor: every name, both regions (NXPI/BAC/JPM highest)</a:t>
                      </a:r>
                    </a:p>
                  </a:txBody>
                  <a:tcPr marL="50800" marR="50800" marT="25400" marB="25400" anchor="ctr">
                    <a:solidFill>
                      <a:srgbClr val="FFFFFF"/>
                    </a:solidFill>
                  </a:tcPr>
                </a:tc>
              </a:tr>
              <a:tr h="396240">
                <a:tc>
                  <a:txBody>
                    <a:bodyPr wrap="square"/>
                    <a:lstStyle/>
                    <a:p>
                      <a:pPr algn="l"/>
                      <a:r>
                        <a:rPr sz="900" b="0">
                          <a:solidFill>
                            <a:srgbClr val="182433"/>
                          </a:solidFill>
                          <a:latin typeface="Calibri"/>
                        </a:rPr>
                        <a:t>2</a:t>
                      </a:r>
                    </a:p>
                  </a:txBody>
                  <a:tcPr marL="50800" marR="50800" marT="25400" marB="25400" anchor="ctr">
                    <a:solidFill>
                      <a:srgbClr val="F7F8FA"/>
                    </a:solidFill>
                  </a:tcPr>
                </a:tc>
                <a:tc>
                  <a:txBody>
                    <a:bodyPr wrap="square"/>
                    <a:lstStyle/>
                    <a:p>
                      <a:pPr algn="ctr"/>
                      <a:r>
                        <a:rPr sz="900" b="0">
                          <a:solidFill>
                            <a:srgbClr val="182433"/>
                          </a:solidFill>
                          <a:latin typeface="Calibri"/>
                        </a:rPr>
                        <a:t>8.9%</a:t>
                      </a:r>
                    </a:p>
                  </a:txBody>
                  <a:tcPr marL="50800" marR="50800" marT="25400" marB="25400" anchor="ctr">
                    <a:solidFill>
                      <a:srgbClr val="F7F8FA"/>
                    </a:solidFill>
                  </a:tcPr>
                </a:tc>
                <a:tc>
                  <a:txBody>
                    <a:bodyPr wrap="square"/>
                    <a:lstStyle/>
                    <a:p>
                      <a:pPr algn="ctr"/>
                      <a:r>
                        <a:rPr sz="900" b="0">
                          <a:solidFill>
                            <a:srgbClr val="182433"/>
                          </a:solidFill>
                          <a:latin typeface="Calibri"/>
                        </a:rPr>
                        <a:t>Japan vs US (6902.T/5108.T/7751.T highest; NXPI/KLAC lowest)</a:t>
                      </a:r>
                    </a:p>
                  </a:txBody>
                  <a:tcPr marL="50800" marR="50800" marT="25400" marB="25400" anchor="ctr">
                    <a:solidFill>
                      <a:srgbClr val="F7F8FA"/>
                    </a:solidFill>
                  </a:tcPr>
                </a:tc>
              </a:tr>
              <a:tr h="396240">
                <a:tc>
                  <a:txBody>
                    <a:bodyPr wrap="square"/>
                    <a:lstStyle/>
                    <a:p>
                      <a:pPr algn="l"/>
                      <a:r>
                        <a:rPr sz="900" b="0">
                          <a:solidFill>
                            <a:srgbClr val="182433"/>
                          </a:solidFill>
                          <a:latin typeface="Calibri"/>
                        </a:rPr>
                        <a:t>3</a:t>
                      </a:r>
                    </a:p>
                  </a:txBody>
                  <a:tcPr marL="50800" marR="50800" marT="25400" marB="25400" anchor="ctr">
                    <a:solidFill>
                      <a:srgbClr val="FFFFFF"/>
                    </a:solidFill>
                  </a:tcPr>
                </a:tc>
                <a:tc>
                  <a:txBody>
                    <a:bodyPr wrap="square"/>
                    <a:lstStyle/>
                    <a:p>
                      <a:pPr algn="ctr"/>
                      <a:r>
                        <a:rPr sz="900" b="0">
                          <a:solidFill>
                            <a:srgbClr val="182433"/>
                          </a:solidFill>
                          <a:latin typeface="Calibri"/>
                        </a:rPr>
                        <a:t>8.5%</a:t>
                      </a:r>
                    </a:p>
                  </a:txBody>
                  <a:tcPr marL="50800" marR="50800" marT="25400" marB="25400" anchor="ctr">
                    <a:solidFill>
                      <a:srgbClr val="FFFFFF"/>
                    </a:solidFill>
                  </a:tcPr>
                </a:tc>
                <a:tc>
                  <a:txBody>
                    <a:bodyPr wrap="square"/>
                    <a:lstStyle/>
                    <a:p>
                      <a:pPr algn="ctr"/>
                      <a:r>
                        <a:rPr sz="900" b="0">
                          <a:solidFill>
                            <a:srgbClr val="182433"/>
                          </a:solidFill>
                          <a:latin typeface="Calibri"/>
                        </a:rPr>
                        <a:t>Defensive staples vs growth tech (KO/PG/BRK.B vs KLAC/VST)</a:t>
                      </a:r>
                    </a:p>
                  </a:txBody>
                  <a:tcPr marL="50800" marR="50800" marT="25400" marB="25400" anchor="ctr">
                    <a:solidFill>
                      <a:srgbClr val="FFFFFF"/>
                    </a:solidFill>
                  </a:tcPr>
                </a:tc>
              </a:tr>
              <a:tr h="396240">
                <a:tc>
                  <a:txBody>
                    <a:bodyPr wrap="square"/>
                    <a:lstStyle/>
                    <a:p>
                      <a:pPr algn="l"/>
                      <a:r>
                        <a:rPr sz="900" b="0">
                          <a:solidFill>
                            <a:srgbClr val="182433"/>
                          </a:solidFill>
                          <a:latin typeface="Calibri"/>
                        </a:rPr>
                        <a:t>4</a:t>
                      </a:r>
                    </a:p>
                  </a:txBody>
                  <a:tcPr marL="50800" marR="50800" marT="25400" marB="25400" anchor="ctr">
                    <a:solidFill>
                      <a:srgbClr val="F7F8FA"/>
                    </a:solidFill>
                  </a:tcPr>
                </a:tc>
                <a:tc>
                  <a:txBody>
                    <a:bodyPr wrap="square"/>
                    <a:lstStyle/>
                    <a:p>
                      <a:pPr algn="ctr"/>
                      <a:r>
                        <a:rPr sz="900" b="0">
                          <a:solidFill>
                            <a:srgbClr val="182433"/>
                          </a:solidFill>
                          <a:latin typeface="Calibri"/>
                        </a:rPr>
                        <a:t>5.3%</a:t>
                      </a:r>
                    </a:p>
                  </a:txBody>
                  <a:tcPr marL="50800" marR="50800" marT="25400" marB="25400" anchor="ctr">
                    <a:solidFill>
                      <a:srgbClr val="F7F8FA"/>
                    </a:solidFill>
                  </a:tcPr>
                </a:tc>
                <a:tc>
                  <a:txBody>
                    <a:bodyPr wrap="square"/>
                    <a:lstStyle/>
                    <a:p>
                      <a:pPr algn="ctr"/>
                      <a:r>
                        <a:rPr sz="900" b="0">
                          <a:solidFill>
                            <a:srgbClr val="182433"/>
                          </a:solidFill>
                          <a:latin typeface="Calibri"/>
                        </a:rPr>
                        <a:t>Energy / rate-sensitive (MPC/XOM/RATE_USD vs HDB/IBN)</a:t>
                      </a:r>
                    </a:p>
                  </a:txBody>
                  <a:tcPr marL="50800" marR="50800" marT="25400" marB="25400" anchor="ctr">
                    <a:solidFill>
                      <a:srgbClr val="F7F8FA"/>
                    </a:solidFill>
                  </a:tcPr>
                </a:tc>
              </a:tr>
              <a:tr h="396240">
                <a:tc>
                  <a:txBody>
                    <a:bodyPr wrap="square"/>
                    <a:lstStyle/>
                    <a:p>
                      <a:pPr algn="l"/>
                      <a:r>
                        <a:rPr sz="900" b="0">
                          <a:solidFill>
                            <a:srgbClr val="182433"/>
                          </a:solidFill>
                          <a:latin typeface="Calibri"/>
                        </a:rPr>
                        <a:t>5</a:t>
                      </a:r>
                    </a:p>
                  </a:txBody>
                  <a:tcPr marL="50800" marR="50800" marT="25400" marB="25400" anchor="ctr">
                    <a:solidFill>
                      <a:srgbClr val="FFFFFF"/>
                    </a:solidFill>
                  </a:tcPr>
                </a:tc>
                <a:tc>
                  <a:txBody>
                    <a:bodyPr wrap="square"/>
                    <a:lstStyle/>
                    <a:p>
                      <a:pPr algn="ctr"/>
                      <a:r>
                        <a:rPr sz="900" b="0">
                          <a:solidFill>
                            <a:srgbClr val="182433"/>
                          </a:solidFill>
                          <a:latin typeface="Calibri"/>
                        </a:rPr>
                        <a:t>4.0%</a:t>
                      </a:r>
                    </a:p>
                  </a:txBody>
                  <a:tcPr marL="50800" marR="50800" marT="25400" marB="25400" anchor="ctr">
                    <a:solidFill>
                      <a:srgbClr val="FFFFFF"/>
                    </a:solidFill>
                  </a:tcPr>
                </a:tc>
                <a:tc>
                  <a:txBody>
                    <a:bodyPr wrap="square"/>
                    <a:lstStyle/>
                    <a:p>
                      <a:pPr algn="ctr"/>
                      <a:r>
                        <a:rPr sz="900" b="0">
                          <a:solidFill>
                            <a:srgbClr val="182433"/>
                          </a:solidFill>
                          <a:latin typeface="Calibri"/>
                        </a:rPr>
                        <a:t>Growth and financial names (CEG/NFLX/VST vs WBS/NXPI)</a:t>
                      </a:r>
                    </a:p>
                  </a:txBody>
                  <a:tcPr marL="50800" marR="50800" marT="25400" marB="25400" anchor="ctr">
                    <a:solidFill>
                      <a:srgbClr val="FFFFFF"/>
                    </a:solidFill>
                  </a:tcPr>
                </a:tc>
              </a:tr>
            </a:tbl>
          </a:graphicData>
        </a:graphic>
      </p:graphicFrame>
      <p:pic>
        <p:nvPicPr>
          <p:cNvPr id="11" name="Picture 10" descr="fig14.png"/>
          <p:cNvPicPr>
            <a:picLocks noChangeAspect="1"/>
          </p:cNvPicPr>
          <p:nvPr/>
        </p:nvPicPr>
        <p:blipFill>
          <a:blip r:embed="rId3"/>
          <a:stretch>
            <a:fillRect/>
          </a:stretch>
        </p:blipFill>
        <p:spPr>
          <a:xfrm>
            <a:off x="6583680" y="3611880"/>
            <a:ext cx="5120640" cy="2313799"/>
          </a:xfrm>
          <a:prstGeom prst="rect">
            <a:avLst/>
          </a:prstGeom>
        </p:spPr>
      </p:pic>
      <p:sp>
        <p:nvSpPr>
          <p:cNvPr id="12" name="TextBox 11"/>
          <p:cNvSpPr txBox="1"/>
          <p:nvPr/>
        </p:nvSpPr>
        <p:spPr>
          <a:xfrm>
            <a:off x="6583680" y="5943600"/>
            <a:ext cx="5120640" cy="457200"/>
          </a:xfrm>
          <a:prstGeom prst="rect">
            <a:avLst/>
          </a:prstGeom>
          <a:noFill/>
        </p:spPr>
        <p:txBody>
          <a:bodyPr wrap="square" anchor="t" lIns="0" rIns="0" tIns="0" bIns="0">
            <a:spAutoFit/>
          </a:bodyPr>
          <a:lstStyle/>
          <a:p>
            <a:pPr algn="l"/>
            <a:r>
              <a:rPr sz="900" b="0" i="1">
                <a:solidFill>
                  <a:srgbClr val="6B7280"/>
                </a:solidFill>
                <a:latin typeface="Calibri"/>
              </a:rPr>
              <a:t>Eigenvalue scree, cumulative variance explained, reconstruction error vs. k.</a:t>
            </a:r>
          </a:p>
        </p:txBody>
      </p:sp>
      <p:sp>
        <p:nvSpPr>
          <p:cNvPr id="13" name="TextBox 12"/>
          <p:cNvSpPr txBox="1"/>
          <p:nvPr/>
        </p:nvSpPr>
        <p:spPr>
          <a:xfrm>
            <a:off x="457200" y="6172200"/>
            <a:ext cx="5943600" cy="548640"/>
          </a:xfrm>
          <a:prstGeom prst="rect">
            <a:avLst/>
          </a:prstGeom>
          <a:noFill/>
        </p:spPr>
        <p:txBody>
          <a:bodyPr wrap="square" anchor="t" lIns="0" rIns="0" tIns="0" bIns="0">
            <a:spAutoFit/>
          </a:bodyPr>
          <a:lstStyle/>
          <a:p>
            <a:pPr algn="l"/>
            <a:r>
              <a:rPr sz="950" b="0" i="1">
                <a:solidFill>
                  <a:srgbClr val="6B7280"/>
                </a:solidFill>
                <a:latin typeface="Calibri"/>
              </a:rPr>
              <a:t>These are statistical factors, but their loadings read off the real data -- a risk reviewer can sanity-check each one.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Common Random Numbers Make Bump-and-Reprice 282x Less Noisy Than Independent Draws</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1">
                <a:solidFill>
                  <a:srgbClr val="D2006F"/>
                </a:solidFill>
                <a:latin typeface="Calibri"/>
              </a:rPr>
              <a:t>Trade-offs   </a:t>
            </a:r>
            <a:r>
              <a:rPr sz="850" b="0">
                <a:solidFill>
                  <a:srgbClr val="E8EAED"/>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30</a:t>
            </a:r>
          </a:p>
        </p:txBody>
      </p:sp>
      <p:sp>
        <p:nvSpPr>
          <p:cNvPr id="6" name="TextBox 5"/>
          <p:cNvSpPr txBox="1"/>
          <p:nvPr/>
        </p:nvSpPr>
        <p:spPr>
          <a:xfrm>
            <a:off x="457200" y="1371600"/>
            <a:ext cx="6492240" cy="274320"/>
          </a:xfrm>
          <a:prstGeom prst="rect">
            <a:avLst/>
          </a:prstGeom>
          <a:noFill/>
        </p:spPr>
        <p:txBody>
          <a:bodyPr wrap="square" anchor="t" lIns="0" rIns="0" tIns="0" bIns="0">
            <a:spAutoFit/>
          </a:bodyPr>
          <a:lstStyle/>
          <a:p>
            <a:pPr algn="l"/>
            <a:r>
              <a:rPr sz="1150" b="1" i="0">
                <a:solidFill>
                  <a:srgbClr val="182433"/>
                </a:solidFill>
                <a:latin typeface="Calibri"/>
              </a:rPr>
              <a:t>Validated on a European call against the known Black-Scholes answer (Section 11.6):</a:t>
            </a:r>
          </a:p>
        </p:txBody>
      </p:sp>
      <p:graphicFrame>
        <p:nvGraphicFramePr>
          <p:cNvPr id="7" name="Table 6"/>
          <p:cNvGraphicFramePr>
            <a:graphicFrameLocks noGrp="1"/>
          </p:cNvGraphicFramePr>
          <p:nvPr/>
        </p:nvGraphicFramePr>
        <p:xfrm>
          <a:off x="457200" y="1737360"/>
          <a:ext cx="6492238" cy="1371600"/>
        </p:xfrm>
        <a:graphic>
          <a:graphicData uri="http://schemas.openxmlformats.org/drawingml/2006/table">
            <a:tbl>
              <a:tblPr firstRow="1" bandRow="1">
                <a:tableStyleId>{5C22544A-7EE6-4342-B048-85BDC9FD1C3A}</a:tableStyleId>
              </a:tblPr>
              <a:tblGrid>
                <a:gridCol w="2562726"/>
                <a:gridCol w="1195938"/>
                <a:gridCol w="1452211"/>
                <a:gridCol w="1281363"/>
              </a:tblGrid>
              <a:tr h="342900">
                <a:tc>
                  <a:txBody>
                    <a:bodyPr wrap="square"/>
                    <a:lstStyle/>
                    <a:p>
                      <a:pPr algn="l"/>
                      <a:r>
                        <a:rPr sz="1019" b="1">
                          <a:solidFill>
                            <a:srgbClr val="FFFFFF"/>
                          </a:solidFill>
                          <a:latin typeface="Calibri"/>
                        </a:rPr>
                        <a:t>Estimator</a:t>
                      </a:r>
                    </a:p>
                  </a:txBody>
                  <a:tcPr marL="50800" marR="50800" marT="25400" marB="25400" anchor="ctr">
                    <a:solidFill>
                      <a:srgbClr val="182433"/>
                    </a:solidFill>
                  </a:tcPr>
                </a:tc>
                <a:tc>
                  <a:txBody>
                    <a:bodyPr wrap="square"/>
                    <a:lstStyle/>
                    <a:p>
                      <a:pPr algn="ctr"/>
                      <a:r>
                        <a:rPr sz="1019" b="1">
                          <a:solidFill>
                            <a:srgbClr val="FFFFFF"/>
                          </a:solidFill>
                          <a:latin typeface="Calibri"/>
                        </a:rPr>
                        <a:t>Bias</a:t>
                      </a:r>
                    </a:p>
                  </a:txBody>
                  <a:tcPr marL="50800" marR="50800" marT="25400" marB="25400" anchor="ctr">
                    <a:solidFill>
                      <a:srgbClr val="182433"/>
                    </a:solidFill>
                  </a:tcPr>
                </a:tc>
                <a:tc>
                  <a:txBody>
                    <a:bodyPr wrap="square"/>
                    <a:lstStyle/>
                    <a:p>
                      <a:pPr algn="ctr"/>
                      <a:r>
                        <a:rPr sz="1019" b="1">
                          <a:solidFill>
                            <a:srgbClr val="FFFFFF"/>
                          </a:solidFill>
                          <a:latin typeface="Calibri"/>
                        </a:rPr>
                        <a:t>Std of estimate</a:t>
                      </a:r>
                    </a:p>
                  </a:txBody>
                  <a:tcPr marL="50800" marR="50800" marT="25400" marB="25400" anchor="ctr">
                    <a:solidFill>
                      <a:srgbClr val="182433"/>
                    </a:solidFill>
                  </a:tcPr>
                </a:tc>
                <a:tc>
                  <a:txBody>
                    <a:bodyPr wrap="square"/>
                    <a:lstStyle/>
                    <a:p>
                      <a:pPr algn="ctr"/>
                      <a:r>
                        <a:rPr sz="1019" b="1">
                          <a:solidFill>
                            <a:srgbClr val="FFFFFF"/>
                          </a:solidFill>
                          <a:latin typeface="Calibri"/>
                        </a:rPr>
                        <a:t>Time/trial</a:t>
                      </a:r>
                    </a:p>
                  </a:txBody>
                  <a:tcPr marL="50800" marR="50800" marT="25400" marB="25400" anchor="ctr">
                    <a:solidFill>
                      <a:srgbClr val="182433"/>
                    </a:solidFill>
                  </a:tcPr>
                </a:tc>
              </a:tr>
              <a:tr h="342900">
                <a:tc>
                  <a:txBody>
                    <a:bodyPr wrap="square"/>
                    <a:lstStyle/>
                    <a:p>
                      <a:pPr algn="l"/>
                      <a:r>
                        <a:rPr sz="980" b="0">
                          <a:solidFill>
                            <a:srgbClr val="182433"/>
                          </a:solidFill>
                          <a:latin typeface="Calibri"/>
                        </a:rPr>
                        <a:t>Pathwise</a:t>
                      </a:r>
                    </a:p>
                  </a:txBody>
                  <a:tcPr marL="50800" marR="50800" marT="25400" marB="25400" anchor="ctr">
                    <a:solidFill>
                      <a:srgbClr val="FFFFFF"/>
                    </a:solidFill>
                  </a:tcPr>
                </a:tc>
                <a:tc>
                  <a:txBody>
                    <a:bodyPr wrap="square"/>
                    <a:lstStyle/>
                    <a:p>
                      <a:pPr algn="ctr"/>
                      <a:r>
                        <a:rPr sz="980" b="0">
                          <a:solidFill>
                            <a:srgbClr val="182433"/>
                          </a:solidFill>
                          <a:latin typeface="Calibri"/>
                        </a:rPr>
                        <a:t>+0.000085</a:t>
                      </a:r>
                    </a:p>
                  </a:txBody>
                  <a:tcPr marL="50800" marR="50800" marT="25400" marB="25400" anchor="ctr">
                    <a:solidFill>
                      <a:srgbClr val="FFFFFF"/>
                    </a:solidFill>
                  </a:tcPr>
                </a:tc>
                <a:tc>
                  <a:txBody>
                    <a:bodyPr wrap="square"/>
                    <a:lstStyle/>
                    <a:p>
                      <a:pPr algn="ctr"/>
                      <a:r>
                        <a:rPr sz="980" b="0">
                          <a:solidFill>
                            <a:srgbClr val="182433"/>
                          </a:solidFill>
                          <a:latin typeface="Calibri"/>
                        </a:rPr>
                        <a:t>0.003771</a:t>
                      </a:r>
                    </a:p>
                  </a:txBody>
                  <a:tcPr marL="50800" marR="50800" marT="25400" marB="25400" anchor="ctr">
                    <a:solidFill>
                      <a:srgbClr val="FFFFFF"/>
                    </a:solidFill>
                  </a:tcPr>
                </a:tc>
                <a:tc>
                  <a:txBody>
                    <a:bodyPr wrap="square"/>
                    <a:lstStyle/>
                    <a:p>
                      <a:pPr algn="ctr"/>
                      <a:r>
                        <a:rPr sz="980" b="0">
                          <a:solidFill>
                            <a:srgbClr val="182433"/>
                          </a:solidFill>
                          <a:latin typeface="Calibri"/>
                        </a:rPr>
                        <a:t>0.470 ms</a:t>
                      </a:r>
                    </a:p>
                  </a:txBody>
                  <a:tcPr marL="50800" marR="50800" marT="25400" marB="25400" anchor="ctr">
                    <a:solidFill>
                      <a:srgbClr val="FFFFFF"/>
                    </a:solidFill>
                  </a:tcPr>
                </a:tc>
              </a:tr>
              <a:tr h="342900">
                <a:tc>
                  <a:txBody>
                    <a:bodyPr wrap="square"/>
                    <a:lstStyle/>
                    <a:p>
                      <a:pPr algn="l"/>
                      <a:r>
                        <a:rPr sz="980" b="0">
                          <a:solidFill>
                            <a:srgbClr val="182433"/>
                          </a:solidFill>
                          <a:latin typeface="Calibri"/>
                        </a:rPr>
                        <a:t>Bump, common random numbers (used)</a:t>
                      </a:r>
                    </a:p>
                  </a:txBody>
                  <a:tcPr marL="50800" marR="50800" marT="25400" marB="25400" anchor="ctr">
                    <a:solidFill>
                      <a:srgbClr val="F7F8FA"/>
                    </a:solidFill>
                  </a:tcPr>
                </a:tc>
                <a:tc>
                  <a:txBody>
                    <a:bodyPr wrap="square"/>
                    <a:lstStyle/>
                    <a:p>
                      <a:pPr algn="ctr"/>
                      <a:r>
                        <a:rPr sz="980" b="0">
                          <a:solidFill>
                            <a:srgbClr val="182433"/>
                          </a:solidFill>
                          <a:latin typeface="Calibri"/>
                        </a:rPr>
                        <a:t>+0.000033</a:t>
                      </a:r>
                    </a:p>
                  </a:txBody>
                  <a:tcPr marL="50800" marR="50800" marT="25400" marB="25400" anchor="ctr">
                    <a:solidFill>
                      <a:srgbClr val="F7F8FA"/>
                    </a:solidFill>
                  </a:tcPr>
                </a:tc>
                <a:tc>
                  <a:txBody>
                    <a:bodyPr wrap="square"/>
                    <a:lstStyle/>
                    <a:p>
                      <a:pPr algn="ctr"/>
                      <a:r>
                        <a:rPr sz="980" b="0">
                          <a:solidFill>
                            <a:srgbClr val="182433"/>
                          </a:solidFill>
                          <a:latin typeface="Calibri"/>
                        </a:rPr>
                        <a:t>0.003742</a:t>
                      </a:r>
                    </a:p>
                  </a:txBody>
                  <a:tcPr marL="50800" marR="50800" marT="25400" marB="25400" anchor="ctr">
                    <a:solidFill>
                      <a:srgbClr val="F7F8FA"/>
                    </a:solidFill>
                  </a:tcPr>
                </a:tc>
                <a:tc>
                  <a:txBody>
                    <a:bodyPr wrap="square"/>
                    <a:lstStyle/>
                    <a:p>
                      <a:pPr algn="ctr"/>
                      <a:r>
                        <a:rPr sz="980" b="0">
                          <a:solidFill>
                            <a:srgbClr val="182433"/>
                          </a:solidFill>
                          <a:latin typeface="Calibri"/>
                        </a:rPr>
                        <a:t>0.327 ms</a:t>
                      </a:r>
                    </a:p>
                  </a:txBody>
                  <a:tcPr marL="50800" marR="50800" marT="25400" marB="25400" anchor="ctr">
                    <a:solidFill>
                      <a:srgbClr val="F7F8FA"/>
                    </a:solidFill>
                  </a:tcPr>
                </a:tc>
              </a:tr>
              <a:tr h="342900">
                <a:tc>
                  <a:txBody>
                    <a:bodyPr wrap="square"/>
                    <a:lstStyle/>
                    <a:p>
                      <a:pPr algn="l"/>
                      <a:r>
                        <a:rPr sz="980" b="0">
                          <a:solidFill>
                            <a:srgbClr val="182433"/>
                          </a:solidFill>
                          <a:latin typeface="Calibri"/>
                        </a:rPr>
                        <a:t>Bump, independent random numbers</a:t>
                      </a:r>
                    </a:p>
                  </a:txBody>
                  <a:tcPr marL="50800" marR="50800" marT="25400" marB="25400" anchor="ctr">
                    <a:solidFill>
                      <a:srgbClr val="FFFFFF"/>
                    </a:solidFill>
                  </a:tcPr>
                </a:tc>
                <a:tc>
                  <a:txBody>
                    <a:bodyPr wrap="square"/>
                    <a:lstStyle/>
                    <a:p>
                      <a:pPr algn="ctr"/>
                      <a:r>
                        <a:rPr sz="980" b="0">
                          <a:solidFill>
                            <a:srgbClr val="182433"/>
                          </a:solidFill>
                          <a:latin typeface="Calibri"/>
                        </a:rPr>
                        <a:t>-0.003502</a:t>
                      </a:r>
                    </a:p>
                  </a:txBody>
                  <a:tcPr marL="50800" marR="50800" marT="25400" marB="25400" anchor="ctr">
                    <a:solidFill>
                      <a:srgbClr val="FFFFFF"/>
                    </a:solidFill>
                  </a:tcPr>
                </a:tc>
                <a:tc>
                  <a:txBody>
                    <a:bodyPr wrap="square"/>
                    <a:lstStyle/>
                    <a:p>
                      <a:pPr algn="ctr"/>
                      <a:r>
                        <a:rPr sz="980" b="0">
                          <a:solidFill>
                            <a:srgbClr val="182433"/>
                          </a:solidFill>
                          <a:latin typeface="Calibri"/>
                        </a:rPr>
                        <a:t>0.096885</a:t>
                      </a:r>
                    </a:p>
                  </a:txBody>
                  <a:tcPr marL="50800" marR="50800" marT="25400" marB="25400" anchor="ctr">
                    <a:solidFill>
                      <a:srgbClr val="FFFFFF"/>
                    </a:solidFill>
                  </a:tcPr>
                </a:tc>
                <a:tc>
                  <a:txBody>
                    <a:bodyPr wrap="square"/>
                    <a:lstStyle/>
                    <a:p>
                      <a:pPr algn="ctr"/>
                      <a:r>
                        <a:rPr sz="980" b="0">
                          <a:solidFill>
                            <a:srgbClr val="182433"/>
                          </a:solidFill>
                          <a:latin typeface="Calibri"/>
                        </a:rPr>
                        <a:t>0.850 ms</a:t>
                      </a:r>
                    </a:p>
                  </a:txBody>
                  <a:tcPr marL="50800" marR="50800" marT="25400" marB="25400" anchor="ctr">
                    <a:solidFill>
                      <a:srgbClr val="FFFFFF"/>
                    </a:solidFill>
                  </a:tcPr>
                </a:tc>
              </a:tr>
            </a:tbl>
          </a:graphicData>
        </a:graphic>
      </p:graphicFrame>
      <p:sp>
        <p:nvSpPr>
          <p:cNvPr id="8" name="TextBox 7"/>
          <p:cNvSpPr txBox="1"/>
          <p:nvPr/>
        </p:nvSpPr>
        <p:spPr>
          <a:xfrm>
            <a:off x="457200" y="3200400"/>
            <a:ext cx="6492240" cy="274320"/>
          </a:xfrm>
          <a:prstGeom prst="rect">
            <a:avLst/>
          </a:prstGeom>
          <a:noFill/>
        </p:spPr>
        <p:txBody>
          <a:bodyPr wrap="square" anchor="t" lIns="0" rIns="0" tIns="0" bIns="0">
            <a:spAutoFit/>
          </a:bodyPr>
          <a:lstStyle/>
          <a:p>
            <a:pPr algn="l"/>
            <a:r>
              <a:rPr sz="950" b="0" i="1">
                <a:solidFill>
                  <a:srgbClr val="6B7280"/>
                </a:solidFill>
                <a:latin typeface="Calibri"/>
              </a:rPr>
              <a:t>CRN is statistically indistinguishable from pathwise (26x lower std than independent draws) -- and works on any pricer.</a:t>
            </a:r>
          </a:p>
        </p:txBody>
      </p:sp>
      <p:sp>
        <p:nvSpPr>
          <p:cNvPr id="9" name="TextBox 8"/>
          <p:cNvSpPr txBox="1"/>
          <p:nvPr/>
        </p:nvSpPr>
        <p:spPr>
          <a:xfrm>
            <a:off x="457200" y="3657600"/>
            <a:ext cx="6492240" cy="274320"/>
          </a:xfrm>
          <a:prstGeom prst="rect">
            <a:avLst/>
          </a:prstGeom>
          <a:noFill/>
        </p:spPr>
        <p:txBody>
          <a:bodyPr wrap="square" anchor="t" lIns="0" rIns="0" tIns="0" bIns="0">
            <a:spAutoFit/>
          </a:bodyPr>
          <a:lstStyle/>
          <a:p>
            <a:pPr algn="l"/>
            <a:r>
              <a:rPr sz="1250" b="1" i="0">
                <a:solidFill>
                  <a:srgbClr val="182433"/>
                </a:solidFill>
                <a:latin typeface="Cambria"/>
              </a:rPr>
              <a:t>All 5 Greeks methods considered:</a:t>
            </a:r>
          </a:p>
        </p:txBody>
      </p:sp>
      <p:sp>
        <p:nvSpPr>
          <p:cNvPr id="10" name="TextBox 9"/>
          <p:cNvSpPr txBox="1"/>
          <p:nvPr/>
        </p:nvSpPr>
        <p:spPr>
          <a:xfrm>
            <a:off x="457200" y="4023360"/>
            <a:ext cx="6492240" cy="2651760"/>
          </a:xfrm>
          <a:prstGeom prst="rect">
            <a:avLst/>
          </a:prstGeom>
          <a:noFill/>
        </p:spPr>
        <p:txBody>
          <a:bodyPr wrap="square" lIns="0" rIns="0" tIns="0" bIns="0">
            <a:spAutoFit/>
          </a:bodyPr>
          <a:lstStyle/>
          <a:p>
            <a:pPr>
              <a:lnSpc>
                <a:spcPct val="105000"/>
              </a:lnSpc>
              <a:spcAft>
                <a:spcPts val="600"/>
              </a:spcAft>
            </a:pPr>
            <a:r>
              <a:rPr sz="1000" b="0">
                <a:solidFill>
                  <a:srgbClr val="182433"/>
                </a:solidFill>
                <a:latin typeface="Calibri"/>
              </a:rPr>
              <a:t>•  Bump, independent draws -- unbiased, but noise swamps the signal on the real book (282x higher std): rejected</a:t>
            </a:r>
          </a:p>
          <a:p>
            <a:pPr>
              <a:lnSpc>
                <a:spcPct val="105000"/>
              </a:lnSpc>
              <a:spcAft>
                <a:spcPts val="600"/>
              </a:spcAft>
            </a:pPr>
            <a:r>
              <a:rPr sz="1000" b="0">
                <a:solidFill>
                  <a:srgbClr val="182433"/>
                </a:solidFill>
                <a:latin typeface="Calibri"/>
              </a:rPr>
              <a:t>•  Bump, common random numbers (used) -- same draws in base and bumped runs; works as a black box for every measure including PFE99, which has no pathwise derivative</a:t>
            </a:r>
          </a:p>
          <a:p>
            <a:pPr>
              <a:lnSpc>
                <a:spcPct val="105000"/>
              </a:lnSpc>
              <a:spcAft>
                <a:spcPts val="600"/>
              </a:spcAft>
            </a:pPr>
            <a:r>
              <a:rPr sz="1000" b="0">
                <a:solidFill>
                  <a:srgbClr val="182433"/>
                </a:solidFill>
                <a:latin typeface="Calibri"/>
              </a:rPr>
              <a:t>•  Pathwise (infinitesimal perturbation) -- differentiates the payoff along each path, no repricing; exact for linear equity/FX deltas, but can't reach rates without differentiating the pricers: used as a free cross-check only</a:t>
            </a:r>
          </a:p>
          <a:p>
            <a:pPr>
              <a:lnSpc>
                <a:spcPct val="105000"/>
              </a:lnSpc>
              <a:spcAft>
                <a:spcPts val="600"/>
              </a:spcAft>
            </a:pPr>
            <a:r>
              <a:rPr sz="1000" b="0">
                <a:solidFill>
                  <a:srgbClr val="182433"/>
                </a:solidFill>
                <a:latin typeface="Calibri"/>
              </a:rPr>
              <a:t>•  Likelihood ratio -- differentiates the path density instead of the payoff; suits vega-type parameters but has high variance over many time steps: not adopted</a:t>
            </a:r>
          </a:p>
          <a:p>
            <a:pPr>
              <a:lnSpc>
                <a:spcPct val="105000"/>
              </a:lnSpc>
              <a:spcAft>
                <a:spcPts val="600"/>
              </a:spcAft>
            </a:pPr>
            <a:r>
              <a:rPr sz="1000" b="0">
                <a:solidFill>
                  <a:srgbClr val="182433"/>
                </a:solidFill>
                <a:latin typeface="Calibri"/>
              </a:rPr>
              <a:t>•  Adjoint (algorithmic) differentiation -- asymptotically fastest (all Greeks for ~3-5x one valuation) but needs a differentiable port of the black-box pricers: not possible here, listed as future work</a:t>
            </a:r>
          </a:p>
        </p:txBody>
      </p:sp>
      <p:sp>
        <p:nvSpPr>
          <p:cNvPr id="11" name="Rounded Rectangle 10"/>
          <p:cNvSpPr/>
          <p:nvPr/>
        </p:nvSpPr>
        <p:spPr>
          <a:xfrm>
            <a:off x="7406640" y="1371600"/>
            <a:ext cx="1051560" cy="274320"/>
          </a:xfrm>
          <a:prstGeom prst="round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bIns="12700"/>
          <a:lstStyle/>
          <a:p>
            <a:pPr algn="ctr"/>
            <a:r>
              <a:rPr sz="1000" b="1">
                <a:solidFill>
                  <a:srgbClr val="FFFFFF"/>
                </a:solidFill>
                <a:latin typeface="Calibri"/>
              </a:rPr>
              <a:t>SELECTED</a:t>
            </a:r>
          </a:p>
        </p:txBody>
      </p:sp>
      <p:sp>
        <p:nvSpPr>
          <p:cNvPr id="12" name="TextBox 11"/>
          <p:cNvSpPr txBox="1"/>
          <p:nvPr/>
        </p:nvSpPr>
        <p:spPr>
          <a:xfrm>
            <a:off x="8595360" y="1408176"/>
            <a:ext cx="3108960" cy="274320"/>
          </a:xfrm>
          <a:prstGeom prst="rect">
            <a:avLst/>
          </a:prstGeom>
          <a:noFill/>
        </p:spPr>
        <p:txBody>
          <a:bodyPr wrap="square" anchor="t" lIns="0" rIns="0" tIns="0" bIns="0">
            <a:spAutoFit/>
          </a:bodyPr>
          <a:lstStyle/>
          <a:p>
            <a:pPr algn="l"/>
            <a:r>
              <a:rPr sz="1050" b="1" i="0">
                <a:solidFill>
                  <a:srgbClr val="182433"/>
                </a:solidFill>
                <a:latin typeface="Calibri"/>
              </a:rPr>
              <a:t>CRN bump-and-reprice</a:t>
            </a:r>
          </a:p>
        </p:txBody>
      </p:sp>
      <p:sp>
        <p:nvSpPr>
          <p:cNvPr id="13" name="Rectangle 12"/>
          <p:cNvSpPr/>
          <p:nvPr/>
        </p:nvSpPr>
        <p:spPr>
          <a:xfrm>
            <a:off x="7406640" y="1783080"/>
            <a:ext cx="4297680" cy="17373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06640" y="1783080"/>
            <a:ext cx="44450" cy="173736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0" y="1892808"/>
            <a:ext cx="3977640" cy="292608"/>
          </a:xfrm>
          <a:prstGeom prst="rect">
            <a:avLst/>
          </a:prstGeom>
          <a:noFill/>
        </p:spPr>
        <p:txBody>
          <a:bodyPr wrap="square" anchor="t" lIns="0" rIns="0" tIns="0" bIns="0">
            <a:spAutoFit/>
          </a:bodyPr>
          <a:lstStyle/>
          <a:p>
            <a:pPr algn="l"/>
            <a:r>
              <a:rPr sz="1200" b="1" i="0">
                <a:solidFill>
                  <a:srgbClr val="9A0052"/>
                </a:solidFill>
                <a:latin typeface="Cambria"/>
              </a:rPr>
              <a:t>WHY CRN</a:t>
            </a:r>
          </a:p>
        </p:txBody>
      </p:sp>
      <p:sp>
        <p:nvSpPr>
          <p:cNvPr id="16" name="TextBox 15"/>
          <p:cNvSpPr txBox="1"/>
          <p:nvPr/>
        </p:nvSpPr>
        <p:spPr>
          <a:xfrm>
            <a:off x="7589520" y="2258568"/>
            <a:ext cx="3977640" cy="1188720"/>
          </a:xfrm>
          <a:prstGeom prst="rect">
            <a:avLst/>
          </a:prstGeom>
          <a:noFill/>
        </p:spPr>
        <p:txBody>
          <a:bodyPr wrap="square" lIns="0" rIns="0" tIns="0" bIns="0">
            <a:spAutoFit/>
          </a:bodyPr>
          <a:lstStyle/>
          <a:p>
            <a:pPr>
              <a:lnSpc>
                <a:spcPct val="105000"/>
              </a:lnSpc>
              <a:spcAft>
                <a:spcPts val="500"/>
              </a:spcAft>
            </a:pPr>
            <a:r>
              <a:rPr sz="930" b="0">
                <a:solidFill>
                  <a:srgbClr val="182433"/>
                </a:solidFill>
                <a:latin typeface="Calibri"/>
              </a:rPr>
              <a:t>•  Works on any pricer as a black box, for every measure including PFE99, which has no pathwise derivative</a:t>
            </a:r>
          </a:p>
          <a:p>
            <a:pPr>
              <a:lnSpc>
                <a:spcPct val="105000"/>
              </a:lnSpc>
              <a:spcAft>
                <a:spcPts val="500"/>
              </a:spcAft>
            </a:pPr>
            <a:r>
              <a:rPr sz="930" b="0">
                <a:solidFill>
                  <a:srgbClr val="182433"/>
                </a:solidFill>
                <a:latin typeface="Calibri"/>
              </a:rPr>
              <a:t>•  282x lower estimator noise at zero extra simulation cost -- same number of paths, just reused random numbers</a:t>
            </a:r>
          </a:p>
          <a:p>
            <a:pPr>
              <a:lnSpc>
                <a:spcPct val="105000"/>
              </a:lnSpc>
              <a:spcAft>
                <a:spcPts val="500"/>
              </a:spcAft>
            </a:pPr>
            <a:r>
              <a:rPr sz="930" b="0">
                <a:solidFill>
                  <a:srgbClr val="182433"/>
                </a:solidFill>
                <a:latin typeface="Calibri"/>
              </a:rPr>
              <a:t>•  Generalises automatically to every new risk factor (e.g. the JPY factor) without new Greeks code</a:t>
            </a:r>
          </a:p>
        </p:txBody>
      </p:sp>
      <p:pic>
        <p:nvPicPr>
          <p:cNvPr id="17" name="Picture 16" descr="fig_greeks_cost.png"/>
          <p:cNvPicPr>
            <a:picLocks noChangeAspect="1"/>
          </p:cNvPicPr>
          <p:nvPr/>
        </p:nvPicPr>
        <p:blipFill>
          <a:blip r:embed="rId3"/>
          <a:stretch>
            <a:fillRect/>
          </a:stretch>
        </p:blipFill>
        <p:spPr>
          <a:xfrm>
            <a:off x="7589520" y="3657600"/>
            <a:ext cx="3840480" cy="2337515"/>
          </a:xfrm>
          <a:prstGeom prst="rect">
            <a:avLst/>
          </a:prstGeom>
        </p:spPr>
      </p:pic>
      <p:sp>
        <p:nvSpPr>
          <p:cNvPr id="18" name="TextBox 17"/>
          <p:cNvSpPr txBox="1"/>
          <p:nvPr/>
        </p:nvSpPr>
        <p:spPr>
          <a:xfrm>
            <a:off x="7406640" y="6035040"/>
            <a:ext cx="4297680" cy="457200"/>
          </a:xfrm>
          <a:prstGeom prst="rect">
            <a:avLst/>
          </a:prstGeom>
          <a:noFill/>
        </p:spPr>
        <p:txBody>
          <a:bodyPr wrap="square" anchor="t" lIns="0" rIns="0" tIns="0" bIns="0">
            <a:spAutoFit/>
          </a:bodyPr>
          <a:lstStyle/>
          <a:p>
            <a:pPr algn="l"/>
            <a:r>
              <a:rPr sz="900" b="0" i="1">
                <a:solidFill>
                  <a:srgbClr val="6B7280"/>
                </a:solidFill>
                <a:latin typeface="Calibri"/>
              </a:rPr>
              <a:t>Cost per Greeks method, measured at N=300, 8 cores. 82 of 91 factor bumps cost 88s total via exact GBM path rescaling -- vs ~8,166s naive resimulation.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Feedback Incorporated</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Every item raised across two rounds of review, addressed and evidenced</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11 Feedback Items Across Two Rounds, All Addressed</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1">
                <a:solidFill>
                  <a:srgbClr val="D2006F"/>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32</a:t>
            </a:r>
          </a:p>
        </p:txBody>
      </p:sp>
      <p:graphicFrame>
        <p:nvGraphicFramePr>
          <p:cNvPr id="6" name="Table 5"/>
          <p:cNvGraphicFramePr>
            <a:graphicFrameLocks noGrp="1"/>
          </p:cNvGraphicFramePr>
          <p:nvPr/>
        </p:nvGraphicFramePr>
        <p:xfrm>
          <a:off x="457200" y="1325880"/>
          <a:ext cx="11247119" cy="5120640"/>
        </p:xfrm>
        <a:graphic>
          <a:graphicData uri="http://schemas.openxmlformats.org/drawingml/2006/table">
            <a:tbl>
              <a:tblPr firstRow="1" bandRow="1">
                <a:tableStyleId>{5C22544A-7EE6-4342-B048-85BDC9FD1C3A}</a:tableStyleId>
              </a:tblPr>
              <a:tblGrid>
                <a:gridCol w="405301"/>
                <a:gridCol w="2533135"/>
                <a:gridCol w="4255667"/>
                <a:gridCol w="4053016"/>
              </a:tblGrid>
              <a:tr h="568960">
                <a:tc>
                  <a:txBody>
                    <a:bodyPr wrap="square"/>
                    <a:lstStyle/>
                    <a:p>
                      <a:pPr algn="l"/>
                      <a:r>
                        <a:rPr sz="1000" b="1">
                          <a:solidFill>
                            <a:srgbClr val="FFFFFF"/>
                          </a:solidFill>
                          <a:latin typeface="Calibri"/>
                        </a:rPr>
                        <a:t>#</a:t>
                      </a:r>
                    </a:p>
                  </a:txBody>
                  <a:tcPr marL="50800" marR="50800" marT="25400" marB="25400" anchor="ctr">
                    <a:solidFill>
                      <a:srgbClr val="182433"/>
                    </a:solidFill>
                  </a:tcPr>
                </a:tc>
                <a:tc>
                  <a:txBody>
                    <a:bodyPr wrap="square"/>
                    <a:lstStyle/>
                    <a:p>
                      <a:pPr algn="ctr"/>
                      <a:r>
                        <a:rPr sz="1000" b="1">
                          <a:solidFill>
                            <a:srgbClr val="FFFFFF"/>
                          </a:solidFill>
                          <a:latin typeface="Calibri"/>
                        </a:rPr>
                        <a:t>Feedback</a:t>
                      </a:r>
                    </a:p>
                  </a:txBody>
                  <a:tcPr marL="50800" marR="50800" marT="25400" marB="25400" anchor="ctr">
                    <a:solidFill>
                      <a:srgbClr val="182433"/>
                    </a:solidFill>
                  </a:tcPr>
                </a:tc>
                <a:tc>
                  <a:txBody>
                    <a:bodyPr wrap="square"/>
                    <a:lstStyle/>
                    <a:p>
                      <a:pPr algn="ctr"/>
                      <a:r>
                        <a:rPr sz="1000" b="1">
                          <a:solidFill>
                            <a:srgbClr val="FFFFFF"/>
                          </a:solidFill>
                          <a:latin typeface="Calibri"/>
                        </a:rPr>
                        <a:t>Action Taken</a:t>
                      </a:r>
                    </a:p>
                  </a:txBody>
                  <a:tcPr marL="50800" marR="50800" marT="25400" marB="25400" anchor="ctr">
                    <a:solidFill>
                      <a:srgbClr val="182433"/>
                    </a:solidFill>
                  </a:tcPr>
                </a:tc>
                <a:tc>
                  <a:txBody>
                    <a:bodyPr wrap="square"/>
                    <a:lstStyle/>
                    <a:p>
                      <a:pPr algn="ctr"/>
                      <a:r>
                        <a:rPr sz="1000" b="1">
                          <a:solidFill>
                            <a:srgbClr val="FFFFFF"/>
                          </a:solidFill>
                          <a:latin typeface="Calibri"/>
                        </a:rPr>
                        <a:t>Impact</a:t>
                      </a:r>
                    </a:p>
                  </a:txBody>
                  <a:tcPr marL="50800" marR="50800" marT="25400" marB="25400" anchor="ctr">
                    <a:solidFill>
                      <a:srgbClr val="182433"/>
                    </a:solidFill>
                  </a:tcPr>
                </a:tc>
              </a:tr>
              <a:tr h="568960">
                <a:tc>
                  <a:txBody>
                    <a:bodyPr wrap="square"/>
                    <a:lstStyle/>
                    <a:p>
                      <a:pPr algn="l"/>
                      <a:r>
                        <a:rPr sz="930" b="0">
                          <a:solidFill>
                            <a:srgbClr val="182433"/>
                          </a:solidFill>
                          <a:latin typeface="Calibri"/>
                        </a:rPr>
                        <a:t>1</a:t>
                      </a:r>
                    </a:p>
                  </a:txBody>
                  <a:tcPr marL="50800" marR="50800" marT="25400" marB="25400" anchor="ctr">
                    <a:solidFill>
                      <a:srgbClr val="FFFFFF"/>
                    </a:solidFill>
                  </a:tcPr>
                </a:tc>
                <a:tc>
                  <a:txBody>
                    <a:bodyPr wrap="square"/>
                    <a:lstStyle/>
                    <a:p>
                      <a:pPr algn="ctr"/>
                      <a:r>
                        <a:rPr sz="930" b="0">
                          <a:solidFill>
                            <a:srgbClr val="182433"/>
                          </a:solidFill>
                          <a:latin typeface="Calibri"/>
                        </a:rPr>
                        <a:t>Make stress testing robust and structured, not a paragraph</a:t>
                      </a:r>
                    </a:p>
                  </a:txBody>
                  <a:tcPr marL="50800" marR="50800" marT="25400" marB="25400" anchor="ctr">
                    <a:solidFill>
                      <a:srgbClr val="FFFFFF"/>
                    </a:solidFill>
                  </a:tcPr>
                </a:tc>
                <a:tc>
                  <a:txBody>
                    <a:bodyPr wrap="square"/>
                    <a:lstStyle/>
                    <a:p>
                      <a:pPr algn="ctr"/>
                      <a:r>
                        <a:rPr sz="930" b="0">
                          <a:solidFill>
                            <a:srgbClr val="182433"/>
                          </a:solidFill>
                          <a:latin typeface="Calibri"/>
                        </a:rPr>
                        <a:t>13 scenarios (8 round-number + 5 historical), full MC re-run from shocked state, same random draws</a:t>
                      </a:r>
                    </a:p>
                  </a:txBody>
                  <a:tcPr marL="50800" marR="50800" marT="25400" marB="25400" anchor="ctr">
                    <a:solidFill>
                      <a:srgbClr val="FFFFFF"/>
                    </a:solidFill>
                  </a:tcPr>
                </a:tc>
                <a:tc>
                  <a:txBody>
                    <a:bodyPr wrap="square"/>
                    <a:lstStyle/>
                    <a:p>
                      <a:pPr algn="ctr"/>
                      <a:r>
                        <a:rPr sz="930" b="0">
                          <a:solidFill>
                            <a:srgbClr val="182433"/>
                          </a:solidFill>
                          <a:latin typeface="Calibri"/>
                        </a:rPr>
                        <a:t>Close-out MPE99 moves -24%/+23%; level moves up to +89% -- margin is why</a:t>
                      </a:r>
                    </a:p>
                  </a:txBody>
                  <a:tcPr marL="50800" marR="50800" marT="25400" marB="25400" anchor="ctr">
                    <a:solidFill>
                      <a:srgbClr val="FFFFFF"/>
                    </a:solidFill>
                  </a:tcPr>
                </a:tc>
              </a:tr>
              <a:tr h="568960">
                <a:tc>
                  <a:txBody>
                    <a:bodyPr wrap="square"/>
                    <a:lstStyle/>
                    <a:p>
                      <a:pPr algn="l"/>
                      <a:r>
                        <a:rPr sz="930" b="0">
                          <a:solidFill>
                            <a:srgbClr val="182433"/>
                          </a:solidFill>
                          <a:latin typeface="Calibri"/>
                        </a:rPr>
                        <a:t>2</a:t>
                      </a:r>
                    </a:p>
                  </a:txBody>
                  <a:tcPr marL="50800" marR="50800" marT="25400" marB="25400" anchor="ctr">
                    <a:solidFill>
                      <a:srgbClr val="F7F8FA"/>
                    </a:solidFill>
                  </a:tcPr>
                </a:tc>
                <a:tc>
                  <a:txBody>
                    <a:bodyPr wrap="square"/>
                    <a:lstStyle/>
                    <a:p>
                      <a:pPr algn="ctr"/>
                      <a:r>
                        <a:rPr sz="930" b="0">
                          <a:solidFill>
                            <a:srgbClr val="182433"/>
                          </a:solidFill>
                          <a:latin typeface="Calibri"/>
                        </a:rPr>
                        <a:t>Explain Greeks: method, cost, faster alternative</a:t>
                      </a:r>
                    </a:p>
                  </a:txBody>
                  <a:tcPr marL="50800" marR="50800" marT="25400" marB="25400" anchor="ctr">
                    <a:solidFill>
                      <a:srgbClr val="F7F8FA"/>
                    </a:solidFill>
                  </a:tcPr>
                </a:tc>
                <a:tc>
                  <a:txBody>
                    <a:bodyPr wrap="square"/>
                    <a:lstStyle/>
                    <a:p>
                      <a:pPr algn="ctr"/>
                      <a:r>
                        <a:rPr sz="930" b="0">
                          <a:solidFill>
                            <a:srgbClr val="182433"/>
                          </a:solidFill>
                          <a:latin typeface="Calibri"/>
                        </a:rPr>
                        <a:t>CRN bump-and-reprice; pathwise cross-check for eq/FX</a:t>
                      </a:r>
                    </a:p>
                  </a:txBody>
                  <a:tcPr marL="50800" marR="50800" marT="25400" marB="25400" anchor="ctr">
                    <a:solidFill>
                      <a:srgbClr val="F7F8FA"/>
                    </a:solidFill>
                  </a:tcPr>
                </a:tc>
                <a:tc>
                  <a:txBody>
                    <a:bodyPr wrap="square"/>
                    <a:lstStyle/>
                    <a:p>
                      <a:pPr algn="ctr"/>
                      <a:r>
                        <a:rPr sz="930" b="0">
                          <a:solidFill>
                            <a:srgbClr val="182433"/>
                          </a:solidFill>
                          <a:latin typeface="Calibri"/>
                        </a:rPr>
                        <a:t>CRN cuts noise $245k-&gt;$1k (282x); pathwise 1000x faster, &lt;0.4% difference</a:t>
                      </a:r>
                    </a:p>
                  </a:txBody>
                  <a:tcPr marL="50800" marR="50800" marT="25400" marB="25400" anchor="ctr">
                    <a:solidFill>
                      <a:srgbClr val="F7F8FA"/>
                    </a:solidFill>
                  </a:tcPr>
                </a:tc>
              </a:tr>
              <a:tr h="568960">
                <a:tc>
                  <a:txBody>
                    <a:bodyPr wrap="square"/>
                    <a:lstStyle/>
                    <a:p>
                      <a:pPr algn="l"/>
                      <a:r>
                        <a:rPr sz="930" b="0">
                          <a:solidFill>
                            <a:srgbClr val="182433"/>
                          </a:solidFill>
                          <a:latin typeface="Calibri"/>
                        </a:rPr>
                        <a:t>3</a:t>
                      </a:r>
                    </a:p>
                  </a:txBody>
                  <a:tcPr marL="50800" marR="50800" marT="25400" marB="25400" anchor="ctr">
                    <a:solidFill>
                      <a:srgbClr val="FFFFFF"/>
                    </a:solidFill>
                  </a:tcPr>
                </a:tc>
                <a:tc>
                  <a:txBody>
                    <a:bodyPr wrap="square"/>
                    <a:lstStyle/>
                    <a:p>
                      <a:pPr algn="ctr"/>
                      <a:r>
                        <a:rPr sz="930" b="0">
                          <a:solidFill>
                            <a:srgbClr val="182433"/>
                          </a:solidFill>
                          <a:latin typeface="Calibri"/>
                        </a:rPr>
                        <a:t>Improve PCA explainability, quantify its speed</a:t>
                      </a:r>
                    </a:p>
                  </a:txBody>
                  <a:tcPr marL="50800" marR="50800" marT="25400" marB="25400" anchor="ctr">
                    <a:solidFill>
                      <a:srgbClr val="FFFFFF"/>
                    </a:solidFill>
                  </a:tcPr>
                </a:tc>
                <a:tc>
                  <a:txBody>
                    <a:bodyPr wrap="square"/>
                    <a:lstStyle/>
                    <a:p>
                      <a:pPr algn="ctr"/>
                      <a:r>
                        <a:rPr sz="930" b="0">
                          <a:solidFill>
                            <a:srgbClr val="182433"/>
                          </a:solidFill>
                          <a:latin typeface="Calibri"/>
                        </a:rPr>
                        <a:t>Factor-by-factor variance table; measured correlated-shock timing</a:t>
                      </a:r>
                    </a:p>
                  </a:txBody>
                  <a:tcPr marL="50800" marR="50800" marT="25400" marB="25400" anchor="ctr">
                    <a:solidFill>
                      <a:srgbClr val="FFFFFF"/>
                    </a:solidFill>
                  </a:tcPr>
                </a:tc>
                <a:tc>
                  <a:txBody>
                    <a:bodyPr wrap="square"/>
                    <a:lstStyle/>
                    <a:p>
                      <a:pPr algn="ctr"/>
                      <a:r>
                        <a:rPr sz="930" b="0">
                          <a:solidFill>
                            <a:srgbClr val="182433"/>
                          </a:solidFill>
                          <a:latin typeface="Calibri"/>
                        </a:rPr>
                        <a:t>5 factors = 47% variance; PCA is SLOWER (2.08s vs 1.91s), not faster</a:t>
                      </a:r>
                    </a:p>
                  </a:txBody>
                  <a:tcPr marL="50800" marR="50800" marT="25400" marB="25400" anchor="ctr">
                    <a:solidFill>
                      <a:srgbClr val="FFFFFF"/>
                    </a:solidFill>
                  </a:tcPr>
                </a:tc>
              </a:tr>
              <a:tr h="568960">
                <a:tc>
                  <a:txBody>
                    <a:bodyPr wrap="square"/>
                    <a:lstStyle/>
                    <a:p>
                      <a:pPr algn="l"/>
                      <a:r>
                        <a:rPr sz="930" b="0">
                          <a:solidFill>
                            <a:srgbClr val="182433"/>
                          </a:solidFill>
                          <a:latin typeface="Calibri"/>
                        </a:rPr>
                        <a:t>4</a:t>
                      </a:r>
                    </a:p>
                  </a:txBody>
                  <a:tcPr marL="50800" marR="50800" marT="25400" marB="25400" anchor="ctr">
                    <a:solidFill>
                      <a:srgbClr val="F7F8FA"/>
                    </a:solidFill>
                  </a:tcPr>
                </a:tc>
                <a:tc>
                  <a:txBody>
                    <a:bodyPr wrap="square"/>
                    <a:lstStyle/>
                    <a:p>
                      <a:pPr algn="ctr"/>
                      <a:r>
                        <a:rPr sz="930" b="0">
                          <a:solidFill>
                            <a:srgbClr val="182433"/>
                          </a:solidFill>
                          <a:latin typeface="Calibri"/>
                        </a:rPr>
                        <a:t>Confirm what drives each counterparty</a:t>
                      </a:r>
                    </a:p>
                  </a:txBody>
                  <a:tcPr marL="50800" marR="50800" marT="25400" marB="25400" anchor="ctr">
                    <a:solidFill>
                      <a:srgbClr val="F7F8FA"/>
                    </a:solidFill>
                  </a:tcPr>
                </a:tc>
                <a:tc>
                  <a:txBody>
                    <a:bodyPr wrap="square"/>
                    <a:lstStyle/>
                    <a:p>
                      <a:pPr algn="ctr"/>
                      <a:r>
                        <a:rPr sz="930" b="0">
                          <a:solidFill>
                            <a:srgbClr val="182433"/>
                          </a:solidFill>
                          <a:latin typeface="Calibri"/>
                        </a:rPr>
                        <a:t>Equity delta / DV01 table by netting set; rank correlations</a:t>
                      </a:r>
                    </a:p>
                  </a:txBody>
                  <a:tcPr marL="50800" marR="50800" marT="25400" marB="25400" anchor="ctr">
                    <a:solidFill>
                      <a:srgbClr val="F7F8FA"/>
                    </a:solidFill>
                  </a:tcPr>
                </a:tc>
                <a:tc>
                  <a:txBody>
                    <a:bodyPr wrap="square"/>
                    <a:lstStyle/>
                    <a:p>
                      <a:pPr algn="ctr"/>
                      <a:r>
                        <a:rPr sz="930" b="0">
                          <a:solidFill>
                            <a:srgbClr val="182433"/>
                          </a:solidFill>
                          <a:latin typeface="Calibri"/>
                        </a:rPr>
                        <a:t>A is equity, C is rates (+equity); portfolio MPE99 close to A+C, not A+B</a:t>
                      </a:r>
                    </a:p>
                  </a:txBody>
                  <a:tcPr marL="50800" marR="50800" marT="25400" marB="25400" anchor="ctr">
                    <a:solidFill>
                      <a:srgbClr val="F7F8FA"/>
                    </a:solidFill>
                  </a:tcPr>
                </a:tc>
              </a:tr>
              <a:tr h="568960">
                <a:tc>
                  <a:txBody>
                    <a:bodyPr wrap="square"/>
                    <a:lstStyle/>
                    <a:p>
                      <a:pPr algn="l"/>
                      <a:r>
                        <a:rPr sz="930" b="0">
                          <a:solidFill>
                            <a:srgbClr val="182433"/>
                          </a:solidFill>
                          <a:latin typeface="Calibri"/>
                        </a:rPr>
                        <a:t>5</a:t>
                      </a:r>
                    </a:p>
                  </a:txBody>
                  <a:tcPr marL="50800" marR="50800" marT="25400" marB="25400" anchor="ctr">
                    <a:solidFill>
                      <a:srgbClr val="FFFFFF"/>
                    </a:solidFill>
                  </a:tcPr>
                </a:tc>
                <a:tc>
                  <a:txBody>
                    <a:bodyPr wrap="square"/>
                    <a:lstStyle/>
                    <a:p>
                      <a:pPr algn="ctr"/>
                      <a:r>
                        <a:rPr sz="930" b="0">
                          <a:solidFill>
                            <a:srgbClr val="182433"/>
                          </a:solidFill>
                          <a:latin typeface="Calibri"/>
                        </a:rPr>
                        <a:t>Walk through the CVA calc end to end</a:t>
                      </a:r>
                    </a:p>
                  </a:txBody>
                  <a:tcPr marL="50800" marR="50800" marT="25400" marB="25400" anchor="ctr">
                    <a:solidFill>
                      <a:srgbClr val="FFFFFF"/>
                    </a:solidFill>
                  </a:tcPr>
                </a:tc>
                <a:tc>
                  <a:txBody>
                    <a:bodyPr wrap="square"/>
                    <a:lstStyle/>
                    <a:p>
                      <a:pPr algn="ctr"/>
                      <a:r>
                        <a:rPr sz="930" b="0">
                          <a:solidFill>
                            <a:srgbClr val="182433"/>
                          </a:solidFill>
                          <a:latin typeface="Calibri"/>
                        </a:rPr>
                        <a:t>Full CPTY_C step-by-step table: exposure -&gt; spread -&gt; PD -&gt; CVA</a:t>
                      </a:r>
                    </a:p>
                  </a:txBody>
                  <a:tcPr marL="50800" marR="50800" marT="25400" marB="25400" anchor="ctr">
                    <a:solidFill>
                      <a:srgbClr val="FFFFFF"/>
                    </a:solidFill>
                  </a:tcPr>
                </a:tc>
                <a:tc>
                  <a:txBody>
                    <a:bodyPr wrap="square"/>
                    <a:lstStyle/>
                    <a:p>
                      <a:pPr algn="ctr"/>
                      <a:r>
                        <a:rPr sz="930" b="0">
                          <a:solidFill>
                            <a:srgbClr val="182433"/>
                          </a:solidFill>
                          <a:latin typeface="Calibri"/>
                        </a:rPr>
                        <a:t>CPTY_C close-out CVA $8k; rating sensitivity AA $7k to BB $18k</a:t>
                      </a:r>
                    </a:p>
                  </a:txBody>
                  <a:tcPr marL="50800" marR="50800" marT="25400" marB="25400" anchor="ctr">
                    <a:solidFill>
                      <a:srgbClr val="FFFFFF"/>
                    </a:solidFill>
                  </a:tcPr>
                </a:tc>
              </a:tr>
              <a:tr h="568960">
                <a:tc>
                  <a:txBody>
                    <a:bodyPr wrap="square"/>
                    <a:lstStyle/>
                    <a:p>
                      <a:pPr algn="l"/>
                      <a:r>
                        <a:rPr sz="930" b="0">
                          <a:solidFill>
                            <a:srgbClr val="182433"/>
                          </a:solidFill>
                          <a:latin typeface="Calibri"/>
                        </a:rPr>
                        <a:t>6</a:t>
                      </a:r>
                    </a:p>
                  </a:txBody>
                  <a:tcPr marL="50800" marR="50800" marT="25400" marB="25400" anchor="ctr">
                    <a:solidFill>
                      <a:srgbClr val="F7F8FA"/>
                    </a:solidFill>
                  </a:tcPr>
                </a:tc>
                <a:tc>
                  <a:txBody>
                    <a:bodyPr wrap="square"/>
                    <a:lstStyle/>
                    <a:p>
                      <a:pPr algn="ctr"/>
                      <a:r>
                        <a:rPr sz="930" b="0">
                          <a:solidFill>
                            <a:srgbClr val="182433"/>
                          </a:solidFill>
                          <a:latin typeface="Calibri"/>
                        </a:rPr>
                        <a:t>Add more historical testing periods (incl. 2008)</a:t>
                      </a:r>
                    </a:p>
                  </a:txBody>
                  <a:tcPr marL="50800" marR="50800" marT="25400" marB="25400" anchor="ctr">
                    <a:solidFill>
                      <a:srgbClr val="F7F8FA"/>
                    </a:solidFill>
                  </a:tcPr>
                </a:tc>
                <a:tc>
                  <a:txBody>
                    <a:bodyPr wrap="square"/>
                    <a:lstStyle/>
                    <a:p>
                      <a:pPr algn="ctr"/>
                      <a:r>
                        <a:rPr sz="930" b="0">
                          <a:solidFill>
                            <a:srgbClr val="182433"/>
                          </a:solidFill>
                          <a:latin typeface="Calibri"/>
                        </a:rPr>
                        <a:t>Extended price history to 2007; found 2008 GFC and 2015 deval. windows</a:t>
                      </a:r>
                    </a:p>
                  </a:txBody>
                  <a:tcPr marL="50800" marR="50800" marT="25400" marB="25400" anchor="ctr">
                    <a:solidFill>
                      <a:srgbClr val="F7F8FA"/>
                    </a:solidFill>
                  </a:tcPr>
                </a:tc>
                <a:tc>
                  <a:txBody>
                    <a:bodyPr wrap="square"/>
                    <a:lstStyle/>
                    <a:p>
                      <a:pPr algn="ctr"/>
                      <a:r>
                        <a:rPr sz="930" b="0">
                          <a:solidFill>
                            <a:srgbClr val="182433"/>
                          </a:solidFill>
                          <a:latin typeface="Calibri"/>
                        </a:rPr>
                        <a:t>2008 moves close-out MPE99 -13% -- inside range existing scenarios covered</a:t>
                      </a:r>
                    </a:p>
                  </a:txBody>
                  <a:tcPr marL="50800" marR="50800" marT="25400" marB="25400" anchor="ctr">
                    <a:solidFill>
                      <a:srgbClr val="F7F8FA"/>
                    </a:solidFill>
                  </a:tcPr>
                </a:tc>
              </a:tr>
              <a:tr h="568960">
                <a:tc>
                  <a:txBody>
                    <a:bodyPr wrap="square"/>
                    <a:lstStyle/>
                    <a:p>
                      <a:pPr algn="l"/>
                      <a:r>
                        <a:rPr sz="930" b="0">
                          <a:solidFill>
                            <a:srgbClr val="182433"/>
                          </a:solidFill>
                          <a:latin typeface="Calibri"/>
                        </a:rPr>
                        <a:t>7</a:t>
                      </a:r>
                    </a:p>
                  </a:txBody>
                  <a:tcPr marL="50800" marR="50800" marT="25400" marB="25400" anchor="ctr">
                    <a:solidFill>
                      <a:srgbClr val="FFFFFF"/>
                    </a:solidFill>
                  </a:tcPr>
                </a:tc>
                <a:tc>
                  <a:txBody>
                    <a:bodyPr wrap="square"/>
                    <a:lstStyle/>
                    <a:p>
                      <a:pPr algn="ctr"/>
                      <a:r>
                        <a:rPr sz="930" b="0">
                          <a:solidFill>
                            <a:srgbClr val="182433"/>
                          </a:solidFill>
                          <a:latin typeface="Calibri"/>
                        </a:rPr>
                        <a:t>Can Latin Hypercube calculate a sensitivity directly?</a:t>
                      </a:r>
                    </a:p>
                  </a:txBody>
                  <a:tcPr marL="50800" marR="50800" marT="25400" marB="25400" anchor="ctr">
                    <a:solidFill>
                      <a:srgbClr val="FFFFFF"/>
                    </a:solidFill>
                  </a:tcPr>
                </a:tc>
                <a:tc>
                  <a:txBody>
                    <a:bodyPr wrap="square"/>
                    <a:lstStyle/>
                    <a:p>
                      <a:pPr algn="ctr"/>
                      <a:r>
                        <a:rPr sz="930" b="0">
                          <a:solidFill>
                            <a:srgbClr val="182433"/>
                          </a:solidFill>
                          <a:latin typeface="Calibri"/>
                        </a:rPr>
                        <a:t>Derived the exact analytic rate-shift Greek (x(t) unchanged by curve bumps)</a:t>
                      </a:r>
                    </a:p>
                  </a:txBody>
                  <a:tcPr marL="50800" marR="50800" marT="25400" marB="25400" anchor="ctr">
                    <a:solidFill>
                      <a:srgbClr val="FFFFFF"/>
                    </a:solidFill>
                  </a:tcPr>
                </a:tc>
                <a:tc>
                  <a:txBody>
                    <a:bodyPr wrap="square"/>
                    <a:lstStyle/>
                    <a:p>
                      <a:pPr algn="ctr"/>
                      <a:r>
                        <a:rPr sz="930" b="0">
                          <a:solidFill>
                            <a:srgbClr val="182433"/>
                          </a:solidFill>
                          <a:latin typeface="Calibri"/>
                        </a:rPr>
                        <a:t>No resimulation; validated to 1e-15 relative precision vs true resimulation</a:t>
                      </a:r>
                    </a:p>
                  </a:txBody>
                  <a:tcPr marL="50800" marR="50800" marT="25400" marB="25400" anchor="ctr">
                    <a:solidFill>
                      <a:srgbClr val="FFFFFF"/>
                    </a:solidFill>
                  </a:tcPr>
                </a:tc>
              </a:tr>
              <a:tr h="568960">
                <a:tc>
                  <a:txBody>
                    <a:bodyPr wrap="square"/>
                    <a:lstStyle/>
                    <a:p>
                      <a:pPr algn="l"/>
                      <a:r>
                        <a:rPr sz="930" b="0">
                          <a:solidFill>
                            <a:srgbClr val="182433"/>
                          </a:solidFill>
                          <a:latin typeface="Calibri"/>
                        </a:rPr>
                        <a:t>8</a:t>
                      </a:r>
                    </a:p>
                  </a:txBody>
                  <a:tcPr marL="50800" marR="50800" marT="25400" marB="25400" anchor="ctr">
                    <a:solidFill>
                      <a:srgbClr val="F7F8FA"/>
                    </a:solidFill>
                  </a:tcPr>
                </a:tc>
                <a:tc>
                  <a:txBody>
                    <a:bodyPr wrap="square"/>
                    <a:lstStyle/>
                    <a:p>
                      <a:pPr algn="ctr"/>
                      <a:r>
                        <a:rPr sz="930" b="0">
                          <a:solidFill>
                            <a:srgbClr val="182433"/>
                          </a:solidFill>
                          <a:latin typeface="Calibri"/>
                        </a:rPr>
                        <a:t>Add KVA</a:t>
                      </a:r>
                    </a:p>
                  </a:txBody>
                  <a:tcPr marL="50800" marR="50800" marT="25400" marB="25400" anchor="ctr">
                    <a:solidFill>
                      <a:srgbClr val="F7F8FA"/>
                    </a:solidFill>
                  </a:tcPr>
                </a:tc>
                <a:tc>
                  <a:txBody>
                    <a:bodyPr wrap="square"/>
                    <a:lstStyle/>
                    <a:p>
                      <a:pPr algn="ctr"/>
                      <a:r>
                        <a:rPr sz="930" b="0">
                          <a:solidFill>
                            <a:srgbClr val="182433"/>
                          </a:solidFill>
                          <a:latin typeface="Calibri"/>
                        </a:rPr>
                        <a:t>K(t)=8%xRWxalphaxEPE(t), cost-of-capital swept 8/10/12%</a:t>
                      </a:r>
                    </a:p>
                  </a:txBody>
                  <a:tcPr marL="50800" marR="50800" marT="25400" marB="25400" anchor="ctr">
                    <a:solidFill>
                      <a:srgbClr val="F7F8FA"/>
                    </a:solidFill>
                  </a:tcPr>
                </a:tc>
                <a:tc>
                  <a:txBody>
                    <a:bodyPr wrap="square"/>
                    <a:lstStyle/>
                    <a:p>
                      <a:pPr algn="ctr"/>
                      <a:r>
                        <a:rPr sz="930" b="0">
                          <a:solidFill>
                            <a:srgbClr val="182433"/>
                          </a:solidFill>
                          <a:latin typeface="Calibri"/>
                        </a:rPr>
                        <a:t>KVA $22.4k (close-out) vs CVA $11.7k at 10% CoC -- exceeds CVA by design</a:t>
                      </a:r>
                    </a:p>
                  </a:txBody>
                  <a:tcPr marL="50800" marR="50800" marT="25400" marB="25400" anchor="ctr">
                    <a:solidFill>
                      <a:srgbClr val="F7F8FA"/>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Items 9-11: CVA Sensitivities, DV01 via a Jacobian, Excel Parametric Check</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1">
                <a:solidFill>
                  <a:srgbClr val="D2006F"/>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33</a:t>
            </a:r>
          </a:p>
        </p:txBody>
      </p:sp>
      <p:graphicFrame>
        <p:nvGraphicFramePr>
          <p:cNvPr id="6" name="Table 5"/>
          <p:cNvGraphicFramePr>
            <a:graphicFrameLocks noGrp="1"/>
          </p:cNvGraphicFramePr>
          <p:nvPr/>
        </p:nvGraphicFramePr>
        <p:xfrm>
          <a:off x="457200" y="1325880"/>
          <a:ext cx="11247117" cy="2103120"/>
        </p:xfrm>
        <a:graphic>
          <a:graphicData uri="http://schemas.openxmlformats.org/drawingml/2006/table">
            <a:tbl>
              <a:tblPr firstRow="1" bandRow="1">
                <a:tableStyleId>{5C22544A-7EE6-4342-B048-85BDC9FD1C3A}</a:tableStyleId>
              </a:tblPr>
              <a:tblGrid>
                <a:gridCol w="365759"/>
                <a:gridCol w="2651759"/>
                <a:gridCol w="4206239"/>
                <a:gridCol w="4023360"/>
              </a:tblGrid>
              <a:tr h="525780">
                <a:tc>
                  <a:txBody>
                    <a:bodyPr wrap="square"/>
                    <a:lstStyle/>
                    <a:p>
                      <a:pPr algn="l"/>
                      <a:r>
                        <a:rPr sz="980" b="1">
                          <a:solidFill>
                            <a:srgbClr val="FFFFFF"/>
                          </a:solidFill>
                          <a:latin typeface="Calibri"/>
                        </a:rPr>
                        <a:t>#</a:t>
                      </a:r>
                    </a:p>
                  </a:txBody>
                  <a:tcPr marL="50800" marR="50800" marT="25400" marB="25400" anchor="ctr">
                    <a:solidFill>
                      <a:srgbClr val="182433"/>
                    </a:solidFill>
                  </a:tcPr>
                </a:tc>
                <a:tc>
                  <a:txBody>
                    <a:bodyPr wrap="square"/>
                    <a:lstStyle/>
                    <a:p>
                      <a:pPr algn="ctr"/>
                      <a:r>
                        <a:rPr sz="980" b="1">
                          <a:solidFill>
                            <a:srgbClr val="FFFFFF"/>
                          </a:solidFill>
                          <a:latin typeface="Calibri"/>
                        </a:rPr>
                        <a:t>Feedback</a:t>
                      </a:r>
                    </a:p>
                  </a:txBody>
                  <a:tcPr marL="50800" marR="50800" marT="25400" marB="25400" anchor="ctr">
                    <a:solidFill>
                      <a:srgbClr val="182433"/>
                    </a:solidFill>
                  </a:tcPr>
                </a:tc>
                <a:tc>
                  <a:txBody>
                    <a:bodyPr wrap="square"/>
                    <a:lstStyle/>
                    <a:p>
                      <a:pPr algn="ctr"/>
                      <a:r>
                        <a:rPr sz="980" b="1">
                          <a:solidFill>
                            <a:srgbClr val="FFFFFF"/>
                          </a:solidFill>
                          <a:latin typeface="Calibri"/>
                        </a:rPr>
                        <a:t>Action Taken</a:t>
                      </a:r>
                    </a:p>
                  </a:txBody>
                  <a:tcPr marL="50800" marR="50800" marT="25400" marB="25400" anchor="ctr">
                    <a:solidFill>
                      <a:srgbClr val="182433"/>
                    </a:solidFill>
                  </a:tcPr>
                </a:tc>
                <a:tc>
                  <a:txBody>
                    <a:bodyPr wrap="square"/>
                    <a:lstStyle/>
                    <a:p>
                      <a:pPr algn="ctr"/>
                      <a:r>
                        <a:rPr sz="980" b="1">
                          <a:solidFill>
                            <a:srgbClr val="FFFFFF"/>
                          </a:solidFill>
                          <a:latin typeface="Calibri"/>
                        </a:rPr>
                        <a:t>Impact</a:t>
                      </a:r>
                    </a:p>
                  </a:txBody>
                  <a:tcPr marL="50800" marR="50800" marT="25400" marB="25400" anchor="ctr">
                    <a:solidFill>
                      <a:srgbClr val="182433"/>
                    </a:solidFill>
                  </a:tcPr>
                </a:tc>
              </a:tr>
              <a:tr h="525780">
                <a:tc>
                  <a:txBody>
                    <a:bodyPr wrap="square"/>
                    <a:lstStyle/>
                    <a:p>
                      <a:pPr algn="l"/>
                      <a:r>
                        <a:rPr sz="930" b="0">
                          <a:solidFill>
                            <a:srgbClr val="182433"/>
                          </a:solidFill>
                          <a:latin typeface="Calibri"/>
                        </a:rPr>
                        <a:t>9</a:t>
                      </a:r>
                    </a:p>
                  </a:txBody>
                  <a:tcPr marL="50800" marR="50800" marT="25400" marB="25400" anchor="ctr">
                    <a:solidFill>
                      <a:srgbClr val="FFFFFF"/>
                    </a:solidFill>
                  </a:tcPr>
                </a:tc>
                <a:tc>
                  <a:txBody>
                    <a:bodyPr wrap="square"/>
                    <a:lstStyle/>
                    <a:p>
                      <a:pPr algn="ctr"/>
                      <a:r>
                        <a:rPr sz="930" b="0">
                          <a:solidFill>
                            <a:srgbClr val="182433"/>
                          </a:solidFill>
                          <a:latin typeface="Calibri"/>
                        </a:rPr>
                        <a:t>CVA is for understanding sensitivities, not just a number</a:t>
                      </a:r>
                    </a:p>
                  </a:txBody>
                  <a:tcPr marL="50800" marR="50800" marT="25400" marB="25400" anchor="ctr">
                    <a:solidFill>
                      <a:srgbClr val="FFFFFF"/>
                    </a:solidFill>
                  </a:tcPr>
                </a:tc>
                <a:tc>
                  <a:txBody>
                    <a:bodyPr wrap="square"/>
                    <a:lstStyle/>
                    <a:p>
                      <a:pPr algn="ctr"/>
                      <a:r>
                        <a:rPr sz="930" b="0">
                          <a:solidFill>
                            <a:srgbClr val="182433"/>
                          </a:solidFill>
                          <a:latin typeface="Calibri"/>
                        </a:rPr>
                        <a:t>Delivered CVA01, full rating table, SA-CVA weighted sensitivities by risk class</a:t>
                      </a:r>
                    </a:p>
                  </a:txBody>
                  <a:tcPr marL="50800" marR="50800" marT="25400" marB="25400" anchor="ctr">
                    <a:solidFill>
                      <a:srgbClr val="FFFFFF"/>
                    </a:solidFill>
                  </a:tcPr>
                </a:tc>
                <a:tc>
                  <a:txBody>
                    <a:bodyPr wrap="square"/>
                    <a:lstStyle/>
                    <a:p>
                      <a:pPr algn="ctr"/>
                      <a:r>
                        <a:rPr sz="930" b="0">
                          <a:solidFill>
                            <a:srgbClr val="182433"/>
                          </a:solidFill>
                          <a:latin typeface="Calibri"/>
                        </a:rPr>
                        <a:t>Rating table AAA $5.0k to B $32.8k; ccs delta is 88% of SA-CVA capital</a:t>
                      </a:r>
                    </a:p>
                  </a:txBody>
                  <a:tcPr marL="50800" marR="50800" marT="25400" marB="25400" anchor="ctr">
                    <a:solidFill>
                      <a:srgbClr val="FFFFFF"/>
                    </a:solidFill>
                  </a:tcPr>
                </a:tc>
              </a:tr>
              <a:tr h="525780">
                <a:tc>
                  <a:txBody>
                    <a:bodyPr wrap="square"/>
                    <a:lstStyle/>
                    <a:p>
                      <a:pPr algn="l"/>
                      <a:r>
                        <a:rPr sz="930" b="0">
                          <a:solidFill>
                            <a:srgbClr val="182433"/>
                          </a:solidFill>
                          <a:latin typeface="Calibri"/>
                        </a:rPr>
                        <a:t>10</a:t>
                      </a:r>
                    </a:p>
                  </a:txBody>
                  <a:tcPr marL="50800" marR="50800" marT="25400" marB="25400" anchor="ctr">
                    <a:solidFill>
                      <a:srgbClr val="F7F8FA"/>
                    </a:solidFill>
                  </a:tcPr>
                </a:tc>
                <a:tc>
                  <a:txBody>
                    <a:bodyPr wrap="square"/>
                    <a:lstStyle/>
                    <a:p>
                      <a:pPr algn="ctr"/>
                      <a:r>
                        <a:rPr sz="930" b="0">
                          <a:solidFill>
                            <a:srgbClr val="182433"/>
                          </a:solidFill>
                          <a:latin typeface="Calibri"/>
                        </a:rPr>
                        <a:t>Compute DV01 via a proper par-instrument Jacobian</a:t>
                      </a:r>
                    </a:p>
                  </a:txBody>
                  <a:tcPr marL="50800" marR="50800" marT="25400" marB="25400" anchor="ctr">
                    <a:solidFill>
                      <a:srgbClr val="F7F8FA"/>
                    </a:solidFill>
                  </a:tcPr>
                </a:tc>
                <a:tc>
                  <a:txBody>
                    <a:bodyPr wrap="square"/>
                    <a:lstStyle/>
                    <a:p>
                      <a:pPr algn="ctr"/>
                      <a:r>
                        <a:rPr sz="930" b="0">
                          <a:solidFill>
                            <a:srgbClr val="182433"/>
                          </a:solidFill>
                          <a:latin typeface="Calibri"/>
                        </a:rPr>
                        <a:t>Bump the curve's own ~45 native pillars, not 8 hand-picked zero-rate tenors</a:t>
                      </a:r>
                    </a:p>
                  </a:txBody>
                  <a:tcPr marL="50800" marR="50800" marT="25400" marB="25400" anchor="ctr">
                    <a:solidFill>
                      <a:srgbClr val="F7F8FA"/>
                    </a:solidFill>
                  </a:tcPr>
                </a:tc>
                <a:tc>
                  <a:txBody>
                    <a:bodyPr wrap="square"/>
                    <a:lstStyle/>
                    <a:p>
                      <a:pPr algn="ctr"/>
                      <a:r>
                        <a:rPr sz="930" b="0">
                          <a:solidFill>
                            <a:srgbClr val="182433"/>
                          </a:solidFill>
                          <a:latin typeface="Calibri"/>
                        </a:rPr>
                        <a:t>30y bucket: 82% of DV01 (new) vs 54% (old)</a:t>
                      </a:r>
                    </a:p>
                  </a:txBody>
                  <a:tcPr marL="50800" marR="50800" marT="25400" marB="25400" anchor="ctr">
                    <a:solidFill>
                      <a:srgbClr val="F7F8FA"/>
                    </a:solidFill>
                  </a:tcPr>
                </a:tc>
              </a:tr>
              <a:tr h="525780">
                <a:tc>
                  <a:txBody>
                    <a:bodyPr wrap="square"/>
                    <a:lstStyle/>
                    <a:p>
                      <a:pPr algn="l"/>
                      <a:r>
                        <a:rPr sz="930" b="0">
                          <a:solidFill>
                            <a:srgbClr val="182433"/>
                          </a:solidFill>
                          <a:latin typeface="Calibri"/>
                        </a:rPr>
                        <a:t>11</a:t>
                      </a:r>
                    </a:p>
                  </a:txBody>
                  <a:tcPr marL="50800" marR="50800" marT="25400" marB="25400" anchor="ctr">
                    <a:solidFill>
                      <a:srgbClr val="FFFFFF"/>
                    </a:solidFill>
                  </a:tcPr>
                </a:tc>
                <a:tc>
                  <a:txBody>
                    <a:bodyPr wrap="square"/>
                    <a:lstStyle/>
                    <a:p>
                      <a:pPr algn="ctr"/>
                      <a:r>
                        <a:rPr sz="930" b="0">
                          <a:solidFill>
                            <a:srgbClr val="182433"/>
                          </a:solidFill>
                          <a:latin typeface="Calibri"/>
                        </a:rPr>
                        <a:t>Validate with an independent Excel parametric test</a:t>
                      </a:r>
                    </a:p>
                  </a:txBody>
                  <a:tcPr marL="50800" marR="50800" marT="25400" marB="25400" anchor="ctr">
                    <a:solidFill>
                      <a:srgbClr val="FFFFFF"/>
                    </a:solidFill>
                  </a:tcPr>
                </a:tc>
                <a:tc>
                  <a:txBody>
                    <a:bodyPr wrap="square"/>
                    <a:lstStyle/>
                    <a:p>
                      <a:pPr algn="ctr"/>
                      <a:r>
                        <a:rPr sz="930" b="0">
                          <a:solidFill>
                            <a:srgbClr val="182433"/>
                          </a:solidFill>
                          <a:latin typeface="Calibri"/>
                        </a:rPr>
                        <a:t>Bump one equity's vol +-1%, compare closed-form Black vs Monte Carlo</a:t>
                      </a:r>
                    </a:p>
                  </a:txBody>
                  <a:tcPr marL="50800" marR="50800" marT="25400" marB="25400" anchor="ctr">
                    <a:solidFill>
                      <a:srgbClr val="FFFFFF"/>
                    </a:solidFill>
                  </a:tcPr>
                </a:tc>
                <a:tc>
                  <a:txBody>
                    <a:bodyPr wrap="square"/>
                    <a:lstStyle/>
                    <a:p>
                      <a:pPr algn="ctr"/>
                      <a:r>
                        <a:rPr sz="930" b="0">
                          <a:solidFill>
                            <a:srgbClr val="182433"/>
                          </a:solidFill>
                          <a:latin typeface="Calibri"/>
                        </a:rPr>
                        <a:t>Level match ~3%; vega match ~7%</a:t>
                      </a:r>
                    </a:p>
                  </a:txBody>
                  <a:tcPr marL="50800" marR="50800" marT="25400" marB="25400" anchor="ctr">
                    <a:solidFill>
                      <a:srgbClr val="FFFFFF"/>
                    </a:solidFill>
                  </a:tcPr>
                </a:tc>
              </a:tr>
            </a:tbl>
          </a:graphicData>
        </a:graphic>
      </p:graphicFrame>
      <p:pic>
        <p:nvPicPr>
          <p:cNvPr id="7" name="Picture 6" descr="fig_dv01_compare.png"/>
          <p:cNvPicPr>
            <a:picLocks noChangeAspect="1"/>
          </p:cNvPicPr>
          <p:nvPr/>
        </p:nvPicPr>
        <p:blipFill>
          <a:blip r:embed="rId3"/>
          <a:stretch>
            <a:fillRect/>
          </a:stretch>
        </p:blipFill>
        <p:spPr>
          <a:xfrm>
            <a:off x="457200" y="3657600"/>
            <a:ext cx="5212080" cy="2368463"/>
          </a:xfrm>
          <a:prstGeom prst="rect">
            <a:avLst/>
          </a:prstGeom>
        </p:spPr>
      </p:pic>
      <p:sp>
        <p:nvSpPr>
          <p:cNvPr id="8" name="TextBox 7"/>
          <p:cNvSpPr txBox="1"/>
          <p:nvPr/>
        </p:nvSpPr>
        <p:spPr>
          <a:xfrm>
            <a:off x="457200" y="6080760"/>
            <a:ext cx="5212080" cy="365760"/>
          </a:xfrm>
          <a:prstGeom prst="rect">
            <a:avLst/>
          </a:prstGeom>
          <a:noFill/>
        </p:spPr>
        <p:txBody>
          <a:bodyPr wrap="square" anchor="t" lIns="0" rIns="0" tIns="0" bIns="0">
            <a:spAutoFit/>
          </a:bodyPr>
          <a:lstStyle/>
          <a:p>
            <a:pPr algn="l"/>
            <a:r>
              <a:rPr sz="1000" b="0" i="1">
                <a:solidFill>
                  <a:srgbClr val="6B7280"/>
                </a:solidFill>
                <a:latin typeface="Calibri"/>
              </a:rPr>
              <a:t>Item 10: old zero-grid DV01 bucketing vs the new par-instrument Jacobian.</a:t>
            </a:r>
          </a:p>
        </p:txBody>
      </p:sp>
      <p:pic>
        <p:nvPicPr>
          <p:cNvPr id="9" name="Picture 8" descr="fig_kva_compare.png"/>
          <p:cNvPicPr>
            <a:picLocks noChangeAspect="1"/>
          </p:cNvPicPr>
          <p:nvPr/>
        </p:nvPicPr>
        <p:blipFill>
          <a:blip r:embed="rId4"/>
          <a:stretch>
            <a:fillRect/>
          </a:stretch>
        </p:blipFill>
        <p:spPr>
          <a:xfrm>
            <a:off x="6309360" y="3657600"/>
            <a:ext cx="4480560" cy="2727101"/>
          </a:xfrm>
          <a:prstGeom prst="rect">
            <a:avLst/>
          </a:prstGeom>
        </p:spPr>
      </p:pic>
      <p:sp>
        <p:nvSpPr>
          <p:cNvPr id="10" name="TextBox 9"/>
          <p:cNvSpPr txBox="1"/>
          <p:nvPr/>
        </p:nvSpPr>
        <p:spPr>
          <a:xfrm>
            <a:off x="6309360" y="6400800"/>
            <a:ext cx="4937760" cy="365760"/>
          </a:xfrm>
          <a:prstGeom prst="rect">
            <a:avLst/>
          </a:prstGeom>
          <a:noFill/>
        </p:spPr>
        <p:txBody>
          <a:bodyPr wrap="square" anchor="t" lIns="0" rIns="0" tIns="0" bIns="0">
            <a:spAutoFit/>
          </a:bodyPr>
          <a:lstStyle/>
          <a:p>
            <a:pPr algn="l"/>
            <a:r>
              <a:rPr sz="1000" b="0" i="1">
                <a:solidFill>
                  <a:srgbClr val="6B7280"/>
                </a:solidFill>
                <a:latin typeface="Calibri"/>
              </a:rPr>
              <a:t>Item 8: KVA vs CVA at 8/10/12% cost of capital.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DV01 via a Jacobian: Full Before/After, and Why It Changes Hedging</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66960" y="1152144"/>
            <a:ext cx="1737360" cy="274320"/>
          </a:xfrm>
          <a:prstGeom prst="roundRect">
            <a:avLst/>
          </a:prstGeom>
          <a:solidFill>
            <a:srgbClr val="FCE8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8100" tIns="12700" bIns="12700"/>
          <a:lstStyle/>
          <a:p>
            <a:pPr algn="ctr"/>
            <a:r>
              <a:rPr sz="950" b="1">
                <a:solidFill>
                  <a:srgbClr val="9A0052"/>
                </a:solidFill>
                <a:latin typeface="Calibri"/>
              </a:rPr>
              <a:t>Feedback-driven</a:t>
            </a:r>
          </a:p>
        </p:txBody>
      </p:sp>
      <p:sp>
        <p:nvSpPr>
          <p:cNvPr id="5" name="TextBox 4"/>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1">
                <a:solidFill>
                  <a:srgbClr val="D2006F"/>
                </a:solidFill>
                <a:latin typeface="Calibri"/>
              </a:rPr>
              <a:t>Feedback   </a:t>
            </a:r>
            <a:r>
              <a:rPr sz="850" b="0">
                <a:solidFill>
                  <a:srgbClr val="E8EAED"/>
                </a:solidFill>
                <a:latin typeface="Calibri"/>
              </a:rPr>
              <a:t>Results   </a:t>
            </a:r>
            <a:r>
              <a:rPr sz="850" b="0">
                <a:solidFill>
                  <a:srgbClr val="E8EAED"/>
                </a:solidFill>
                <a:latin typeface="Calibri"/>
              </a:rPr>
              <a:t>Conclusions</a:t>
            </a:r>
          </a:p>
        </p:txBody>
      </p:sp>
      <p:sp>
        <p:nvSpPr>
          <p:cNvPr id="6" name="TextBox 5"/>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34</a:t>
            </a:r>
          </a:p>
        </p:txBody>
      </p:sp>
      <p:sp>
        <p:nvSpPr>
          <p:cNvPr id="7" name="TextBox 6"/>
          <p:cNvSpPr txBox="1"/>
          <p:nvPr/>
        </p:nvSpPr>
        <p:spPr>
          <a:xfrm>
            <a:off x="457200" y="1325880"/>
            <a:ext cx="11247120" cy="822960"/>
          </a:xfrm>
          <a:prstGeom prst="rect">
            <a:avLst/>
          </a:prstGeom>
          <a:noFill/>
        </p:spPr>
        <p:txBody>
          <a:bodyPr wrap="square" anchor="t" lIns="0" rIns="0" tIns="0" bIns="0">
            <a:spAutoFit/>
          </a:bodyPr>
          <a:lstStyle/>
          <a:p>
            <a:pPr algn="l">
              <a:lnSpc>
                <a:spcPct val="110000"/>
              </a:lnSpc>
            </a:pPr>
            <a:r>
              <a:rPr sz="1200" b="0" i="0">
                <a:solidFill>
                  <a:srgbClr val="182433"/>
                </a:solidFill>
                <a:latin typeface="Calibri"/>
              </a:rPr>
              <a:t>A Jacobian is the matrix of sensitivities of one set of quantities to another. Here: dNPV / d(each of the curve's own ~45 native build instruments), summed into the 8 standard tenor buckets by the same chain-rule weights used to build the curve itself.</a:t>
            </a:r>
          </a:p>
        </p:txBody>
      </p:sp>
      <p:graphicFrame>
        <p:nvGraphicFramePr>
          <p:cNvPr id="8" name="Table 7"/>
          <p:cNvGraphicFramePr>
            <a:graphicFrameLocks noGrp="1"/>
          </p:cNvGraphicFramePr>
          <p:nvPr/>
        </p:nvGraphicFramePr>
        <p:xfrm>
          <a:off x="457200" y="2377440"/>
          <a:ext cx="5394960" cy="4114792"/>
        </p:xfrm>
        <a:graphic>
          <a:graphicData uri="http://schemas.openxmlformats.org/drawingml/2006/table">
            <a:tbl>
              <a:tblPr firstRow="1" bandRow="1">
                <a:tableStyleId>{5C22544A-7EE6-4342-B048-85BDC9FD1C3A}</a:tableStyleId>
              </a:tblPr>
              <a:tblGrid>
                <a:gridCol w="1828800"/>
                <a:gridCol w="1463040"/>
                <a:gridCol w="2103120"/>
              </a:tblGrid>
              <a:tr h="374072">
                <a:tc>
                  <a:txBody>
                    <a:bodyPr wrap="square"/>
                    <a:lstStyle/>
                    <a:p>
                      <a:pPr algn="l"/>
                      <a:r>
                        <a:rPr sz="1050" b="1">
                          <a:solidFill>
                            <a:srgbClr val="FFFFFF"/>
                          </a:solidFill>
                          <a:latin typeface="Calibri"/>
                        </a:rPr>
                        <a:t>Tenor bucket</a:t>
                      </a:r>
                    </a:p>
                  </a:txBody>
                  <a:tcPr marL="50800" marR="50800" marT="25400" marB="25400" anchor="ctr">
                    <a:solidFill>
                      <a:srgbClr val="182433"/>
                    </a:solidFill>
                  </a:tcPr>
                </a:tc>
                <a:tc>
                  <a:txBody>
                    <a:bodyPr wrap="square"/>
                    <a:lstStyle/>
                    <a:p>
                      <a:pPr algn="ctr"/>
                      <a:r>
                        <a:rPr sz="1050" b="1">
                          <a:solidFill>
                            <a:srgbClr val="FFFFFF"/>
                          </a:solidFill>
                          <a:latin typeface="Calibri"/>
                        </a:rPr>
                        <a:t>Old (zero-grid)</a:t>
                      </a:r>
                    </a:p>
                  </a:txBody>
                  <a:tcPr marL="50800" marR="50800" marT="25400" marB="25400" anchor="ctr">
                    <a:solidFill>
                      <a:srgbClr val="182433"/>
                    </a:solidFill>
                  </a:tcPr>
                </a:tc>
                <a:tc>
                  <a:txBody>
                    <a:bodyPr wrap="square"/>
                    <a:lstStyle/>
                    <a:p>
                      <a:pPr algn="ctr"/>
                      <a:r>
                        <a:rPr sz="1050" b="1">
                          <a:solidFill>
                            <a:srgbClr val="FFFFFF"/>
                          </a:solidFill>
                          <a:latin typeface="Calibri"/>
                        </a:rPr>
                        <a:t>New (par-instrument Jacobian)</a:t>
                      </a:r>
                    </a:p>
                  </a:txBody>
                  <a:tcPr marL="50800" marR="50800" marT="25400" marB="25400" anchor="ctr">
                    <a:solidFill>
                      <a:srgbClr val="182433"/>
                    </a:solidFill>
                  </a:tcPr>
                </a:tc>
              </a:tr>
              <a:tr h="374072">
                <a:tc>
                  <a:txBody>
                    <a:bodyPr wrap="square"/>
                    <a:lstStyle/>
                    <a:p>
                      <a:pPr algn="l"/>
                      <a:r>
                        <a:rPr sz="1000" b="0">
                          <a:solidFill>
                            <a:srgbClr val="182433"/>
                          </a:solidFill>
                          <a:latin typeface="Calibri"/>
                        </a:rPr>
                        <a:t>0.25y</a:t>
                      </a:r>
                    </a:p>
                  </a:txBody>
                  <a:tcPr marL="50800" marR="50800" marT="25400" marB="25400" anchor="ctr">
                    <a:solidFill>
                      <a:srgbClr val="FFFFFF"/>
                    </a:solidFill>
                  </a:tcPr>
                </a:tc>
                <a:tc>
                  <a:txBody>
                    <a:bodyPr wrap="square"/>
                    <a:lstStyle/>
                    <a:p>
                      <a:pPr algn="ctr"/>
                      <a:r>
                        <a:rPr sz="1000" b="0">
                          <a:solidFill>
                            <a:srgbClr val="182433"/>
                          </a:solidFill>
                          <a:latin typeface="Calibri"/>
                        </a:rPr>
                        <a:t>-2,182</a:t>
                      </a:r>
                    </a:p>
                  </a:txBody>
                  <a:tcPr marL="50800" marR="50800" marT="25400" marB="25400" anchor="ctr">
                    <a:solidFill>
                      <a:srgbClr val="FFFFFF"/>
                    </a:solidFill>
                  </a:tcPr>
                </a:tc>
                <a:tc>
                  <a:txBody>
                    <a:bodyPr wrap="square"/>
                    <a:lstStyle/>
                    <a:p>
                      <a:pPr algn="ctr"/>
                      <a:r>
                        <a:rPr sz="1000" b="0">
                          <a:solidFill>
                            <a:srgbClr val="182433"/>
                          </a:solidFill>
                          <a:latin typeface="Calibri"/>
                        </a:rPr>
                        <a:t>-2,892</a:t>
                      </a:r>
                    </a:p>
                  </a:txBody>
                  <a:tcPr marL="50800" marR="50800" marT="25400" marB="25400" anchor="ctr">
                    <a:solidFill>
                      <a:srgbClr val="FFFFFF"/>
                    </a:solidFill>
                  </a:tcPr>
                </a:tc>
              </a:tr>
              <a:tr h="374072">
                <a:tc>
                  <a:txBody>
                    <a:bodyPr wrap="square"/>
                    <a:lstStyle/>
                    <a:p>
                      <a:pPr algn="l"/>
                      <a:r>
                        <a:rPr sz="1000" b="0">
                          <a:solidFill>
                            <a:srgbClr val="182433"/>
                          </a:solidFill>
                          <a:latin typeface="Calibri"/>
                        </a:rPr>
                        <a:t>0.5y</a:t>
                      </a:r>
                    </a:p>
                  </a:txBody>
                  <a:tcPr marL="50800" marR="50800" marT="25400" marB="25400" anchor="ctr">
                    <a:solidFill>
                      <a:srgbClr val="F7F8FA"/>
                    </a:solidFill>
                  </a:tcPr>
                </a:tc>
                <a:tc>
                  <a:txBody>
                    <a:bodyPr wrap="square"/>
                    <a:lstStyle/>
                    <a:p>
                      <a:pPr algn="ctr"/>
                      <a:r>
                        <a:rPr sz="1000" b="0">
                          <a:solidFill>
                            <a:srgbClr val="182433"/>
                          </a:solidFill>
                          <a:latin typeface="Calibri"/>
                        </a:rPr>
                        <a:t>-46</a:t>
                      </a:r>
                    </a:p>
                  </a:txBody>
                  <a:tcPr marL="50800" marR="50800" marT="25400" marB="25400" anchor="ctr">
                    <a:solidFill>
                      <a:srgbClr val="F7F8FA"/>
                    </a:solidFill>
                  </a:tcPr>
                </a:tc>
                <a:tc>
                  <a:txBody>
                    <a:bodyPr wrap="square"/>
                    <a:lstStyle/>
                    <a:p>
                      <a:pPr algn="ctr"/>
                      <a:r>
                        <a:rPr sz="1000" b="0">
                          <a:solidFill>
                            <a:srgbClr val="182433"/>
                          </a:solidFill>
                          <a:latin typeface="Calibri"/>
                        </a:rPr>
                        <a:t>-1</a:t>
                      </a:r>
                    </a:p>
                  </a:txBody>
                  <a:tcPr marL="50800" marR="50800" marT="25400" marB="25400" anchor="ctr">
                    <a:solidFill>
                      <a:srgbClr val="F7F8FA"/>
                    </a:solidFill>
                  </a:tcPr>
                </a:tc>
              </a:tr>
              <a:tr h="374072">
                <a:tc>
                  <a:txBody>
                    <a:bodyPr wrap="square"/>
                    <a:lstStyle/>
                    <a:p>
                      <a:pPr algn="l"/>
                      <a:r>
                        <a:rPr sz="1000" b="0">
                          <a:solidFill>
                            <a:srgbClr val="182433"/>
                          </a:solidFill>
                          <a:latin typeface="Calibri"/>
                        </a:rPr>
                        <a:t>1y</a:t>
                      </a:r>
                    </a:p>
                  </a:txBody>
                  <a:tcPr marL="50800" marR="50800" marT="25400" marB="25400" anchor="ctr">
                    <a:solidFill>
                      <a:srgbClr val="FFFFFF"/>
                    </a:solidFill>
                  </a:tcPr>
                </a:tc>
                <a:tc>
                  <a:txBody>
                    <a:bodyPr wrap="square"/>
                    <a:lstStyle/>
                    <a:p>
                      <a:pPr algn="ctr"/>
                      <a:r>
                        <a:rPr sz="1000" b="0">
                          <a:solidFill>
                            <a:srgbClr val="182433"/>
                          </a:solidFill>
                          <a:latin typeface="Calibri"/>
                        </a:rPr>
                        <a:t>-44</a:t>
                      </a:r>
                    </a:p>
                  </a:txBody>
                  <a:tcPr marL="50800" marR="50800" marT="25400" marB="25400" anchor="ctr">
                    <a:solidFill>
                      <a:srgbClr val="FFFFFF"/>
                    </a:solidFill>
                  </a:tcPr>
                </a:tc>
                <a:tc>
                  <a:txBody>
                    <a:bodyPr wrap="square"/>
                    <a:lstStyle/>
                    <a:p>
                      <a:pPr algn="ctr"/>
                      <a:r>
                        <a:rPr sz="1000" b="0">
                          <a:solidFill>
                            <a:srgbClr val="182433"/>
                          </a:solidFill>
                          <a:latin typeface="Calibri"/>
                        </a:rPr>
                        <a:t>-14</a:t>
                      </a:r>
                    </a:p>
                  </a:txBody>
                  <a:tcPr marL="50800" marR="50800" marT="25400" marB="25400" anchor="ctr">
                    <a:solidFill>
                      <a:srgbClr val="FFFFFF"/>
                    </a:solidFill>
                  </a:tcPr>
                </a:tc>
              </a:tr>
              <a:tr h="374072">
                <a:tc>
                  <a:txBody>
                    <a:bodyPr wrap="square"/>
                    <a:lstStyle/>
                    <a:p>
                      <a:pPr algn="l"/>
                      <a:r>
                        <a:rPr sz="1000" b="0">
                          <a:solidFill>
                            <a:srgbClr val="182433"/>
                          </a:solidFill>
                          <a:latin typeface="Calibri"/>
                        </a:rPr>
                        <a:t>2y</a:t>
                      </a:r>
                    </a:p>
                  </a:txBody>
                  <a:tcPr marL="50800" marR="50800" marT="25400" marB="25400" anchor="ctr">
                    <a:solidFill>
                      <a:srgbClr val="F7F8FA"/>
                    </a:solidFill>
                  </a:tcPr>
                </a:tc>
                <a:tc>
                  <a:txBody>
                    <a:bodyPr wrap="square"/>
                    <a:lstStyle/>
                    <a:p>
                      <a:pPr algn="ctr"/>
                      <a:r>
                        <a:rPr sz="1000" b="0">
                          <a:solidFill>
                            <a:srgbClr val="182433"/>
                          </a:solidFill>
                          <a:latin typeface="Calibri"/>
                        </a:rPr>
                        <a:t>-131</a:t>
                      </a:r>
                    </a:p>
                  </a:txBody>
                  <a:tcPr marL="50800" marR="50800" marT="25400" marB="25400" anchor="ctr">
                    <a:solidFill>
                      <a:srgbClr val="F7F8FA"/>
                    </a:solidFill>
                  </a:tcPr>
                </a:tc>
                <a:tc>
                  <a:txBody>
                    <a:bodyPr wrap="square"/>
                    <a:lstStyle/>
                    <a:p>
                      <a:pPr algn="ctr"/>
                      <a:r>
                        <a:rPr sz="1000" b="0">
                          <a:solidFill>
                            <a:srgbClr val="182433"/>
                          </a:solidFill>
                          <a:latin typeface="Calibri"/>
                        </a:rPr>
                        <a:t>-205</a:t>
                      </a:r>
                    </a:p>
                  </a:txBody>
                  <a:tcPr marL="50800" marR="50800" marT="25400" marB="25400" anchor="ctr">
                    <a:solidFill>
                      <a:srgbClr val="F7F8FA"/>
                    </a:solidFill>
                  </a:tcPr>
                </a:tc>
              </a:tr>
              <a:tr h="374072">
                <a:tc>
                  <a:txBody>
                    <a:bodyPr wrap="square"/>
                    <a:lstStyle/>
                    <a:p>
                      <a:pPr algn="l"/>
                      <a:r>
                        <a:rPr sz="1000" b="0">
                          <a:solidFill>
                            <a:srgbClr val="182433"/>
                          </a:solidFill>
                          <a:latin typeface="Calibri"/>
                        </a:rPr>
                        <a:t>3y</a:t>
                      </a:r>
                    </a:p>
                  </a:txBody>
                  <a:tcPr marL="50800" marR="50800" marT="25400" marB="25400" anchor="ctr">
                    <a:solidFill>
                      <a:srgbClr val="FFFFFF"/>
                    </a:solidFill>
                  </a:tcPr>
                </a:tc>
                <a:tc>
                  <a:txBody>
                    <a:bodyPr wrap="square"/>
                    <a:lstStyle/>
                    <a:p>
                      <a:pPr algn="ctr"/>
                      <a:r>
                        <a:rPr sz="1000" b="0">
                          <a:solidFill>
                            <a:srgbClr val="182433"/>
                          </a:solidFill>
                          <a:latin typeface="Calibri"/>
                        </a:rPr>
                        <a:t>-96</a:t>
                      </a:r>
                    </a:p>
                  </a:txBody>
                  <a:tcPr marL="50800" marR="50800" marT="25400" marB="25400" anchor="ctr">
                    <a:solidFill>
                      <a:srgbClr val="FFFFFF"/>
                    </a:solidFill>
                  </a:tcPr>
                </a:tc>
                <a:tc>
                  <a:txBody>
                    <a:bodyPr wrap="square"/>
                    <a:lstStyle/>
                    <a:p>
                      <a:pPr algn="ctr"/>
                      <a:r>
                        <a:rPr sz="1000" b="0">
                          <a:solidFill>
                            <a:srgbClr val="182433"/>
                          </a:solidFill>
                          <a:latin typeface="Calibri"/>
                        </a:rPr>
                        <a:t>-105</a:t>
                      </a:r>
                    </a:p>
                  </a:txBody>
                  <a:tcPr marL="50800" marR="50800" marT="25400" marB="25400" anchor="ctr">
                    <a:solidFill>
                      <a:srgbClr val="FFFFFF"/>
                    </a:solidFill>
                  </a:tcPr>
                </a:tc>
              </a:tr>
              <a:tr h="374072">
                <a:tc>
                  <a:txBody>
                    <a:bodyPr wrap="square"/>
                    <a:lstStyle/>
                    <a:p>
                      <a:pPr algn="l"/>
                      <a:r>
                        <a:rPr sz="1000" b="0">
                          <a:solidFill>
                            <a:srgbClr val="182433"/>
                          </a:solidFill>
                          <a:latin typeface="Calibri"/>
                        </a:rPr>
                        <a:t>5y</a:t>
                      </a:r>
                    </a:p>
                  </a:txBody>
                  <a:tcPr marL="50800" marR="50800" marT="25400" marB="25400" anchor="ctr">
                    <a:solidFill>
                      <a:srgbClr val="F7F8FA"/>
                    </a:solidFill>
                  </a:tcPr>
                </a:tc>
                <a:tc>
                  <a:txBody>
                    <a:bodyPr wrap="square"/>
                    <a:lstStyle/>
                    <a:p>
                      <a:pPr algn="ctr"/>
                      <a:r>
                        <a:rPr sz="1000" b="0">
                          <a:solidFill>
                            <a:srgbClr val="182433"/>
                          </a:solidFill>
                          <a:latin typeface="Calibri"/>
                        </a:rPr>
                        <a:t>-770</a:t>
                      </a:r>
                    </a:p>
                  </a:txBody>
                  <a:tcPr marL="50800" marR="50800" marT="25400" marB="25400" anchor="ctr">
                    <a:solidFill>
                      <a:srgbClr val="F7F8FA"/>
                    </a:solidFill>
                  </a:tcPr>
                </a:tc>
                <a:tc>
                  <a:txBody>
                    <a:bodyPr wrap="square"/>
                    <a:lstStyle/>
                    <a:p>
                      <a:pPr algn="ctr"/>
                      <a:r>
                        <a:rPr sz="1000" b="0">
                          <a:solidFill>
                            <a:srgbClr val="182433"/>
                          </a:solidFill>
                          <a:latin typeface="Calibri"/>
                        </a:rPr>
                        <a:t>-713</a:t>
                      </a:r>
                    </a:p>
                  </a:txBody>
                  <a:tcPr marL="50800" marR="50800" marT="25400" marB="25400" anchor="ctr">
                    <a:solidFill>
                      <a:srgbClr val="F7F8FA"/>
                    </a:solidFill>
                  </a:tcPr>
                </a:tc>
              </a:tr>
              <a:tr h="374072">
                <a:tc>
                  <a:txBody>
                    <a:bodyPr wrap="square"/>
                    <a:lstStyle/>
                    <a:p>
                      <a:pPr algn="l"/>
                      <a:r>
                        <a:rPr sz="1000" b="0">
                          <a:solidFill>
                            <a:srgbClr val="182433"/>
                          </a:solidFill>
                          <a:latin typeface="Calibri"/>
                        </a:rPr>
                        <a:t>10y</a:t>
                      </a:r>
                    </a:p>
                  </a:txBody>
                  <a:tcPr marL="50800" marR="50800" marT="25400" marB="25400" anchor="ctr">
                    <a:solidFill>
                      <a:srgbClr val="FFFFFF"/>
                    </a:solidFill>
                  </a:tcPr>
                </a:tc>
                <a:tc>
                  <a:txBody>
                    <a:bodyPr wrap="square"/>
                    <a:lstStyle/>
                    <a:p>
                      <a:pPr algn="ctr"/>
                      <a:r>
                        <a:rPr sz="1000" b="0">
                          <a:solidFill>
                            <a:srgbClr val="182433"/>
                          </a:solidFill>
                          <a:latin typeface="Calibri"/>
                        </a:rPr>
                        <a:t>-18,324 (39%)</a:t>
                      </a:r>
                    </a:p>
                  </a:txBody>
                  <a:tcPr marL="50800" marR="50800" marT="25400" marB="25400" anchor="ctr">
                    <a:solidFill>
                      <a:srgbClr val="FFFFFF"/>
                    </a:solidFill>
                  </a:tcPr>
                </a:tc>
                <a:tc>
                  <a:txBody>
                    <a:bodyPr wrap="square"/>
                    <a:lstStyle/>
                    <a:p>
                      <a:pPr algn="ctr"/>
                      <a:r>
                        <a:rPr sz="1000" b="0">
                          <a:solidFill>
                            <a:srgbClr val="182433"/>
                          </a:solidFill>
                          <a:latin typeface="Calibri"/>
                        </a:rPr>
                        <a:t>-6,592 (11%)</a:t>
                      </a:r>
                    </a:p>
                  </a:txBody>
                  <a:tcPr marL="50800" marR="50800" marT="25400" marB="25400" anchor="ctr">
                    <a:solidFill>
                      <a:srgbClr val="FFFFFF"/>
                    </a:solidFill>
                  </a:tcPr>
                </a:tc>
              </a:tr>
              <a:tr h="374072">
                <a:tc>
                  <a:txBody>
                    <a:bodyPr wrap="square"/>
                    <a:lstStyle/>
                    <a:p>
                      <a:pPr algn="l"/>
                      <a:r>
                        <a:rPr sz="1000" b="0">
                          <a:solidFill>
                            <a:srgbClr val="182433"/>
                          </a:solidFill>
                          <a:latin typeface="Calibri"/>
                        </a:rPr>
                        <a:t>30y</a:t>
                      </a:r>
                    </a:p>
                  </a:txBody>
                  <a:tcPr marL="50800" marR="50800" marT="25400" marB="25400" anchor="ctr">
                    <a:solidFill>
                      <a:srgbClr val="F7F8FA"/>
                    </a:solidFill>
                  </a:tcPr>
                </a:tc>
                <a:tc>
                  <a:txBody>
                    <a:bodyPr wrap="square"/>
                    <a:lstStyle/>
                    <a:p>
                      <a:pPr algn="ctr"/>
                      <a:r>
                        <a:rPr sz="1000" b="0">
                          <a:solidFill>
                            <a:srgbClr val="182433"/>
                          </a:solidFill>
                          <a:latin typeface="Calibri"/>
                        </a:rPr>
                        <a:t>-24,988 (54%)</a:t>
                      </a:r>
                    </a:p>
                  </a:txBody>
                  <a:tcPr marL="50800" marR="50800" marT="25400" marB="25400" anchor="ctr">
                    <a:solidFill>
                      <a:srgbClr val="F7F8FA"/>
                    </a:solidFill>
                  </a:tcPr>
                </a:tc>
                <a:tc>
                  <a:txBody>
                    <a:bodyPr wrap="square"/>
                    <a:lstStyle/>
                    <a:p>
                      <a:pPr algn="ctr"/>
                      <a:r>
                        <a:rPr sz="1000" b="0">
                          <a:solidFill>
                            <a:srgbClr val="182433"/>
                          </a:solidFill>
                          <a:latin typeface="Calibri"/>
                        </a:rPr>
                        <a:t>-47,191 (82%)</a:t>
                      </a:r>
                    </a:p>
                  </a:txBody>
                  <a:tcPr marL="50800" marR="50800" marT="25400" marB="25400" anchor="ctr">
                    <a:solidFill>
                      <a:srgbClr val="F7F8FA"/>
                    </a:solidFill>
                  </a:tcPr>
                </a:tc>
              </a:tr>
              <a:tr h="374072">
                <a:tc>
                  <a:txBody>
                    <a:bodyPr wrap="square"/>
                    <a:lstStyle/>
                    <a:p>
                      <a:pPr algn="l"/>
                      <a:r>
                        <a:rPr sz="1000" b="0">
                          <a:solidFill>
                            <a:srgbClr val="182433"/>
                          </a:solidFill>
                          <a:latin typeface="Calibri"/>
                        </a:rPr>
                        <a:t>Sum</a:t>
                      </a:r>
                    </a:p>
                  </a:txBody>
                  <a:tcPr marL="50800" marR="50800" marT="25400" marB="25400" anchor="ctr">
                    <a:solidFill>
                      <a:srgbClr val="FFFFFF"/>
                    </a:solidFill>
                  </a:tcPr>
                </a:tc>
                <a:tc>
                  <a:txBody>
                    <a:bodyPr wrap="square"/>
                    <a:lstStyle/>
                    <a:p>
                      <a:pPr algn="ctr"/>
                      <a:r>
                        <a:rPr sz="1000" b="0">
                          <a:solidFill>
                            <a:srgbClr val="182433"/>
                          </a:solidFill>
                          <a:latin typeface="Calibri"/>
                        </a:rPr>
                        <a:t>-46,580</a:t>
                      </a:r>
                    </a:p>
                  </a:txBody>
                  <a:tcPr marL="50800" marR="50800" marT="25400" marB="25400" anchor="ctr">
                    <a:solidFill>
                      <a:srgbClr val="FFFFFF"/>
                    </a:solidFill>
                  </a:tcPr>
                </a:tc>
                <a:tc>
                  <a:txBody>
                    <a:bodyPr wrap="square"/>
                    <a:lstStyle/>
                    <a:p>
                      <a:pPr algn="ctr"/>
                      <a:r>
                        <a:rPr sz="1000" b="0">
                          <a:solidFill>
                            <a:srgbClr val="182433"/>
                          </a:solidFill>
                          <a:latin typeface="Calibri"/>
                        </a:rPr>
                        <a:t>-57,713</a:t>
                      </a:r>
                    </a:p>
                  </a:txBody>
                  <a:tcPr marL="50800" marR="50800" marT="25400" marB="25400" anchor="ctr">
                    <a:solidFill>
                      <a:srgbClr val="FFFFFF"/>
                    </a:solidFill>
                  </a:tcPr>
                </a:tc>
              </a:tr>
              <a:tr h="374072">
                <a:tc>
                  <a:txBody>
                    <a:bodyPr wrap="square"/>
                    <a:lstStyle/>
                    <a:p>
                      <a:pPr algn="l"/>
                      <a:r>
                        <a:rPr sz="1000" b="0">
                          <a:solidFill>
                            <a:srgbClr val="182433"/>
                          </a:solidFill>
                          <a:latin typeface="Calibri"/>
                        </a:rPr>
                        <a:t>Parallel bump (check)</a:t>
                      </a:r>
                    </a:p>
                  </a:txBody>
                  <a:tcPr marL="50800" marR="50800" marT="25400" marB="25400" anchor="ctr">
                    <a:solidFill>
                      <a:srgbClr val="F7F8FA"/>
                    </a:solidFill>
                  </a:tcPr>
                </a:tc>
                <a:tc>
                  <a:txBody>
                    <a:bodyPr wrap="square"/>
                    <a:lstStyle/>
                    <a:p>
                      <a:pPr algn="ctr"/>
                      <a:r>
                        <a:rPr sz="1000" b="0">
                          <a:solidFill>
                            <a:srgbClr val="182433"/>
                          </a:solidFill>
                          <a:latin typeface="Calibri"/>
                        </a:rPr>
                        <a:t>-46,605</a:t>
                      </a:r>
                    </a:p>
                  </a:txBody>
                  <a:tcPr marL="50800" marR="50800" marT="25400" marB="25400" anchor="ctr">
                    <a:solidFill>
                      <a:srgbClr val="F7F8FA"/>
                    </a:solidFill>
                  </a:tcPr>
                </a:tc>
                <a:tc>
                  <a:txBody>
                    <a:bodyPr wrap="square"/>
                    <a:lstStyle/>
                    <a:p>
                      <a:pPr algn="ctr"/>
                      <a:r>
                        <a:rPr sz="1000" b="0">
                          <a:solidFill>
                            <a:srgbClr val="182433"/>
                          </a:solidFill>
                          <a:latin typeface="Calibri"/>
                        </a:rPr>
                        <a:t>-57,705</a:t>
                      </a:r>
                    </a:p>
                  </a:txBody>
                  <a:tcPr marL="50800" marR="50800" marT="25400" marB="25400" anchor="ctr">
                    <a:solidFill>
                      <a:srgbClr val="F7F8FA"/>
                    </a:solidFill>
                  </a:tcPr>
                </a:tc>
              </a:tr>
            </a:tbl>
          </a:graphicData>
        </a:graphic>
      </p:graphicFrame>
      <p:sp>
        <p:nvSpPr>
          <p:cNvPr id="9" name="Rectangle 8"/>
          <p:cNvSpPr/>
          <p:nvPr/>
        </p:nvSpPr>
        <p:spPr>
          <a:xfrm>
            <a:off x="6035040" y="2377440"/>
            <a:ext cx="5669280" cy="23317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2377440"/>
            <a:ext cx="44450" cy="233172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2487168"/>
            <a:ext cx="5349240" cy="292608"/>
          </a:xfrm>
          <a:prstGeom prst="rect">
            <a:avLst/>
          </a:prstGeom>
          <a:noFill/>
        </p:spPr>
        <p:txBody>
          <a:bodyPr wrap="square" anchor="t" lIns="0" rIns="0" tIns="0" bIns="0">
            <a:spAutoFit/>
          </a:bodyPr>
          <a:lstStyle/>
          <a:p>
            <a:pPr algn="l"/>
            <a:r>
              <a:rPr sz="1200" b="1" i="0">
                <a:solidFill>
                  <a:srgbClr val="9A0052"/>
                </a:solidFill>
                <a:latin typeface="Cambria"/>
              </a:rPr>
              <a:t>WHY THE BENEFIT, CONCRETELY</a:t>
            </a:r>
          </a:p>
        </p:txBody>
      </p:sp>
      <p:sp>
        <p:nvSpPr>
          <p:cNvPr id="12" name="TextBox 11"/>
          <p:cNvSpPr txBox="1"/>
          <p:nvPr/>
        </p:nvSpPr>
        <p:spPr>
          <a:xfrm>
            <a:off x="6217920" y="2852928"/>
            <a:ext cx="5349240" cy="1783080"/>
          </a:xfrm>
          <a:prstGeom prst="rect">
            <a:avLst/>
          </a:prstGeom>
          <a:noFill/>
        </p:spPr>
        <p:txBody>
          <a:bodyPr wrap="square" lIns="0" rIns="0" tIns="0" bIns="0">
            <a:spAutoFit/>
          </a:bodyPr>
          <a:lstStyle/>
          <a:p>
            <a:pPr>
              <a:lnSpc>
                <a:spcPct val="105000"/>
              </a:lnSpc>
              <a:spcAft>
                <a:spcPts val="500"/>
              </a:spcAft>
            </a:pPr>
            <a:r>
              <a:rPr sz="930" b="0">
                <a:solidFill>
                  <a:srgbClr val="182433"/>
                </a:solidFill>
                <a:latin typeface="Calibri"/>
              </a:rPr>
              <a:t>•  Correct tenor attribution means a hedge actually offsets the risk that exists -- old grid would have left the real 30y exposure open while 'hedging' a bucket with little real risk</a:t>
            </a:r>
          </a:p>
          <a:p>
            <a:pPr>
              <a:lnSpc>
                <a:spcPct val="105000"/>
              </a:lnSpc>
              <a:spcAft>
                <a:spcPts val="500"/>
              </a:spcAft>
            </a:pPr>
            <a:r>
              <a:rPr sz="930" b="0">
                <a:solidFill>
                  <a:srgbClr val="182433"/>
                </a:solidFill>
                <a:latin typeface="Calibri"/>
              </a:rPr>
              <a:t>•  Total portfolio DV01 itself moves from $46.6k to $57.7k/bp -- the par-instrument method captures curvature the old linear zero-rate interpolation missed, not just a reallocation</a:t>
            </a:r>
          </a:p>
          <a:p>
            <a:pPr>
              <a:lnSpc>
                <a:spcPct val="105000"/>
              </a:lnSpc>
              <a:spcAft>
                <a:spcPts val="500"/>
              </a:spcAft>
            </a:pPr>
            <a:r>
              <a:rPr sz="930" b="0">
                <a:solidFill>
                  <a:srgbClr val="182433"/>
                </a:solidFill>
                <a:latin typeface="Calibri"/>
              </a:rPr>
              <a:t>•  Each method is internally consistent (bucket sum matches its own parallel-shift check to within 0.05%) -- the two totals differ because they measure genuinely different things</a:t>
            </a:r>
          </a:p>
          <a:p>
            <a:pPr>
              <a:lnSpc>
                <a:spcPct val="105000"/>
              </a:lnSpc>
              <a:spcAft>
                <a:spcPts val="500"/>
              </a:spcAft>
            </a:pPr>
            <a:r>
              <a:rPr sz="930" b="0">
                <a:solidFill>
                  <a:srgbClr val="182433"/>
                </a:solidFill>
                <a:latin typeface="Calibri"/>
              </a:rPr>
              <a:t>•  The par-instrument pillars are the curve's own construction instruments (SOFR futures + Bloomberg long end) -- bumping them is the sensitivity a trader would actually hedge against</a:t>
            </a:r>
          </a:p>
          <a:p>
            <a:pPr>
              <a:lnSpc>
                <a:spcPct val="105000"/>
              </a:lnSpc>
              <a:spcAft>
                <a:spcPts val="500"/>
              </a:spcAft>
            </a:pPr>
            <a:r>
              <a:rPr sz="930" b="0">
                <a:solidFill>
                  <a:srgbClr val="182433"/>
                </a:solidFill>
                <a:latin typeface="Calibri"/>
              </a:rPr>
              <a:t>•  SA-CVA interest-rate delta uses the same tenor bucketing -- the old grid would have misallocated regulatory capital by tenor in exactly the same way</a:t>
            </a:r>
          </a:p>
        </p:txBody>
      </p:sp>
      <p:pic>
        <p:nvPicPr>
          <p:cNvPr id="13" name="Picture 12" descr="fig_dv01_compare.png"/>
          <p:cNvPicPr>
            <a:picLocks noChangeAspect="1"/>
          </p:cNvPicPr>
          <p:nvPr/>
        </p:nvPicPr>
        <p:blipFill>
          <a:blip r:embed="rId3"/>
          <a:stretch>
            <a:fillRect/>
          </a:stretch>
        </p:blipFill>
        <p:spPr>
          <a:xfrm>
            <a:off x="6766560" y="4754880"/>
            <a:ext cx="4023360" cy="1828287"/>
          </a:xfrm>
          <a:prstGeom prst="rect">
            <a:avLst/>
          </a:prstGeom>
        </p:spPr>
      </p:pic>
      <p:sp>
        <p:nvSpPr>
          <p:cNvPr id="14" name="TextBox 13"/>
          <p:cNvSpPr txBox="1"/>
          <p:nvPr/>
        </p:nvSpPr>
        <p:spPr>
          <a:xfrm>
            <a:off x="6035040" y="6601968"/>
            <a:ext cx="5577840" cy="228600"/>
          </a:xfrm>
          <a:prstGeom prst="rect">
            <a:avLst/>
          </a:prstGeom>
          <a:noFill/>
        </p:spPr>
        <p:txBody>
          <a:bodyPr wrap="square" anchor="t" lIns="0" rIns="0" tIns="0" bIns="0">
            <a:spAutoFit/>
          </a:bodyPr>
          <a:lstStyle/>
          <a:p>
            <a:pPr algn="l"/>
            <a:r>
              <a:rPr sz="900" b="0" i="1">
                <a:solidFill>
                  <a:srgbClr val="6B7280"/>
                </a:solidFill>
                <a:latin typeface="Calibri"/>
              </a:rPr>
              <a:t>Bucketed DV01, old vs new method.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Results</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Exposure, validation, Greeks, stress, credit -- the full output of the engine</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Peak Portfolio MPE99 is $51.0M, 78% of the Sum of Counterparty MPE99s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36</a:t>
            </a:r>
          </a:p>
        </p:txBody>
      </p:sp>
      <p:sp>
        <p:nvSpPr>
          <p:cNvPr id="6" name="Rectangle 5"/>
          <p:cNvSpPr/>
          <p:nvPr/>
        </p:nvSpPr>
        <p:spPr>
          <a:xfrm>
            <a:off x="457200" y="1371600"/>
            <a:ext cx="2697480" cy="12344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371600"/>
            <a:ext cx="38100" cy="123444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$51.0M</a:t>
            </a:r>
          </a:p>
        </p:txBody>
      </p:sp>
      <p:sp>
        <p:nvSpPr>
          <p:cNvPr id="9" name="TextBox 8"/>
          <p:cNvSpPr txBox="1"/>
          <p:nvPr/>
        </p:nvSpPr>
        <p:spPr>
          <a:xfrm>
            <a:off x="621792" y="2039112"/>
            <a:ext cx="2423160" cy="320040"/>
          </a:xfrm>
          <a:prstGeom prst="rect">
            <a:avLst/>
          </a:prstGeom>
          <a:noFill/>
        </p:spPr>
        <p:txBody>
          <a:bodyPr wrap="square" anchor="t" lIns="0" rIns="0" tIns="0" bIns="0">
            <a:spAutoFit/>
          </a:bodyPr>
          <a:lstStyle/>
          <a:p>
            <a:pPr algn="l"/>
            <a:r>
              <a:rPr sz="1150" b="1" i="0">
                <a:solidFill>
                  <a:srgbClr val="182433"/>
                </a:solidFill>
                <a:latin typeface="Calibri"/>
              </a:rPr>
              <a:t>Portfolio MPE99 (close-out)</a:t>
            </a:r>
          </a:p>
        </p:txBody>
      </p:sp>
      <p:sp>
        <p:nvSpPr>
          <p:cNvPr id="10" name="TextBox 9"/>
          <p:cNvSpPr txBox="1"/>
          <p:nvPr/>
        </p:nvSpPr>
        <p:spPr>
          <a:xfrm>
            <a:off x="621792" y="2331720"/>
            <a:ext cx="2423160" cy="274320"/>
          </a:xfrm>
          <a:prstGeom prst="rect">
            <a:avLst/>
          </a:prstGeom>
          <a:noFill/>
        </p:spPr>
        <p:txBody>
          <a:bodyPr wrap="square" anchor="t" lIns="0" rIns="0" tIns="0" bIns="0">
            <a:spAutoFit/>
          </a:bodyPr>
          <a:lstStyle/>
          <a:p>
            <a:pPr algn="l"/>
            <a:r>
              <a:rPr sz="900" b="0" i="0">
                <a:solidFill>
                  <a:srgbClr val="6B7280"/>
                </a:solidFill>
                <a:latin typeface="Calibri"/>
              </a:rPr>
              <a:t>2026-09-20, 99th pct</a:t>
            </a:r>
          </a:p>
        </p:txBody>
      </p:sp>
      <p:sp>
        <p:nvSpPr>
          <p:cNvPr id="11" name="Rectangle 10"/>
          <p:cNvSpPr/>
          <p:nvPr/>
        </p:nvSpPr>
        <p:spPr>
          <a:xfrm>
            <a:off x="3319272" y="1371600"/>
            <a:ext cx="2697480" cy="12344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19272" y="1371600"/>
            <a:ext cx="38100" cy="123444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$11.6M</a:t>
            </a:r>
          </a:p>
        </p:txBody>
      </p:sp>
      <p:sp>
        <p:nvSpPr>
          <p:cNvPr id="14" name="TextBox 13"/>
          <p:cNvSpPr txBox="1"/>
          <p:nvPr/>
        </p:nvSpPr>
        <p:spPr>
          <a:xfrm>
            <a:off x="3483864" y="2039112"/>
            <a:ext cx="2423160" cy="320040"/>
          </a:xfrm>
          <a:prstGeom prst="rect">
            <a:avLst/>
          </a:prstGeom>
          <a:noFill/>
        </p:spPr>
        <p:txBody>
          <a:bodyPr wrap="square" anchor="t" lIns="0" rIns="0" tIns="0" bIns="0">
            <a:spAutoFit/>
          </a:bodyPr>
          <a:lstStyle/>
          <a:p>
            <a:pPr algn="l"/>
            <a:r>
              <a:rPr sz="1150" b="1" i="0">
                <a:solidFill>
                  <a:srgbClr val="182433"/>
                </a:solidFill>
                <a:latin typeface="Calibri"/>
              </a:rPr>
              <a:t>Peak EE (close-out)</a:t>
            </a:r>
          </a:p>
        </p:txBody>
      </p:sp>
      <p:sp>
        <p:nvSpPr>
          <p:cNvPr id="15" name="TextBox 14"/>
          <p:cNvSpPr txBox="1"/>
          <p:nvPr/>
        </p:nvSpPr>
        <p:spPr>
          <a:xfrm>
            <a:off x="3483864" y="2331720"/>
            <a:ext cx="2423160" cy="274320"/>
          </a:xfrm>
          <a:prstGeom prst="rect">
            <a:avLst/>
          </a:prstGeom>
          <a:noFill/>
        </p:spPr>
        <p:txBody>
          <a:bodyPr wrap="square" anchor="t" lIns="0" rIns="0" tIns="0" bIns="0">
            <a:spAutoFit/>
          </a:bodyPr>
          <a:lstStyle/>
          <a:p>
            <a:pPr algn="l"/>
            <a:r>
              <a:rPr sz="900" b="0" i="0">
                <a:solidFill>
                  <a:srgbClr val="6B7280"/>
                </a:solidFill>
                <a:latin typeface="Calibri"/>
              </a:rPr>
              <a:t>within 1 year</a:t>
            </a:r>
          </a:p>
        </p:txBody>
      </p:sp>
      <p:sp>
        <p:nvSpPr>
          <p:cNvPr id="16" name="Rectangle 15"/>
          <p:cNvSpPr/>
          <p:nvPr/>
        </p:nvSpPr>
        <p:spPr>
          <a:xfrm>
            <a:off x="6181344" y="1371600"/>
            <a:ext cx="2697480" cy="12344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1344" y="1371600"/>
            <a:ext cx="38100" cy="123444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$8.2M</a:t>
            </a:r>
          </a:p>
        </p:txBody>
      </p:sp>
      <p:sp>
        <p:nvSpPr>
          <p:cNvPr id="19" name="TextBox 18"/>
          <p:cNvSpPr txBox="1"/>
          <p:nvPr/>
        </p:nvSpPr>
        <p:spPr>
          <a:xfrm>
            <a:off x="6345936" y="2039112"/>
            <a:ext cx="2423160" cy="320040"/>
          </a:xfrm>
          <a:prstGeom prst="rect">
            <a:avLst/>
          </a:prstGeom>
          <a:noFill/>
        </p:spPr>
        <p:txBody>
          <a:bodyPr wrap="square" anchor="t" lIns="0" rIns="0" tIns="0" bIns="0">
            <a:spAutoFit/>
          </a:bodyPr>
          <a:lstStyle/>
          <a:p>
            <a:pPr algn="l"/>
            <a:r>
              <a:rPr sz="1150" b="1" i="0">
                <a:solidFill>
                  <a:srgbClr val="182433"/>
                </a:solidFill>
                <a:latin typeface="Calibri"/>
              </a:rPr>
              <a:t>Peak median PFE (close-out)</a:t>
            </a:r>
          </a:p>
        </p:txBody>
      </p:sp>
      <p:sp>
        <p:nvSpPr>
          <p:cNvPr id="20" name="TextBox 19"/>
          <p:cNvSpPr txBox="1"/>
          <p:nvPr/>
        </p:nvSpPr>
        <p:spPr>
          <a:xfrm>
            <a:off x="6345936" y="2331720"/>
            <a:ext cx="2423160" cy="274320"/>
          </a:xfrm>
          <a:prstGeom prst="rect">
            <a:avLst/>
          </a:prstGeom>
          <a:noFill/>
        </p:spPr>
        <p:txBody>
          <a:bodyPr wrap="square" anchor="t" lIns="0" rIns="0" tIns="0" bIns="0">
            <a:spAutoFit/>
          </a:bodyPr>
          <a:lstStyle/>
          <a:p>
            <a:pPr algn="l"/>
            <a:r>
              <a:rPr sz="900" b="0" i="0">
                <a:solidFill>
                  <a:srgbClr val="6B7280"/>
                </a:solidFill>
                <a:latin typeface="Calibri"/>
              </a:rPr>
              <a:t>50th pct</a:t>
            </a:r>
          </a:p>
        </p:txBody>
      </p:sp>
      <p:sp>
        <p:nvSpPr>
          <p:cNvPr id="21" name="Rectangle 20"/>
          <p:cNvSpPr/>
          <p:nvPr/>
        </p:nvSpPr>
        <p:spPr>
          <a:xfrm>
            <a:off x="9043416" y="1371600"/>
            <a:ext cx="2697480" cy="12344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3416" y="1371600"/>
            <a:ext cx="38100" cy="123444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08008" y="1517904"/>
            <a:ext cx="2423160" cy="502920"/>
          </a:xfrm>
          <a:prstGeom prst="rect">
            <a:avLst/>
          </a:prstGeom>
          <a:noFill/>
        </p:spPr>
        <p:txBody>
          <a:bodyPr wrap="square" anchor="t" lIns="0" rIns="0" tIns="0" bIns="0">
            <a:spAutoFit/>
          </a:bodyPr>
          <a:lstStyle/>
          <a:p>
            <a:pPr algn="l"/>
            <a:r>
              <a:rPr sz="2700" b="1" i="0">
                <a:solidFill>
                  <a:srgbClr val="182433"/>
                </a:solidFill>
                <a:latin typeface="Cambria"/>
              </a:rPr>
              <a:t>$65.1M</a:t>
            </a:r>
          </a:p>
        </p:txBody>
      </p:sp>
      <p:sp>
        <p:nvSpPr>
          <p:cNvPr id="24" name="TextBox 23"/>
          <p:cNvSpPr txBox="1"/>
          <p:nvPr/>
        </p:nvSpPr>
        <p:spPr>
          <a:xfrm>
            <a:off x="9208008" y="2039112"/>
            <a:ext cx="2423160" cy="320040"/>
          </a:xfrm>
          <a:prstGeom prst="rect">
            <a:avLst/>
          </a:prstGeom>
          <a:noFill/>
        </p:spPr>
        <p:txBody>
          <a:bodyPr wrap="square" anchor="t" lIns="0" rIns="0" tIns="0" bIns="0">
            <a:spAutoFit/>
          </a:bodyPr>
          <a:lstStyle/>
          <a:p>
            <a:pPr algn="l"/>
            <a:r>
              <a:rPr sz="1150" b="1" i="0">
                <a:solidFill>
                  <a:srgbClr val="182433"/>
                </a:solidFill>
                <a:latin typeface="Calibri"/>
              </a:rPr>
              <a:t>Sum of standalone MPE99s</a:t>
            </a:r>
          </a:p>
        </p:txBody>
      </p:sp>
      <p:sp>
        <p:nvSpPr>
          <p:cNvPr id="25" name="TextBox 24"/>
          <p:cNvSpPr txBox="1"/>
          <p:nvPr/>
        </p:nvSpPr>
        <p:spPr>
          <a:xfrm>
            <a:off x="9208008" y="2331720"/>
            <a:ext cx="2423160" cy="274320"/>
          </a:xfrm>
          <a:prstGeom prst="rect">
            <a:avLst/>
          </a:prstGeom>
          <a:noFill/>
        </p:spPr>
        <p:txBody>
          <a:bodyPr wrap="square" anchor="t" lIns="0" rIns="0" tIns="0" bIns="0">
            <a:spAutoFit/>
          </a:bodyPr>
          <a:lstStyle/>
          <a:p>
            <a:pPr algn="l"/>
            <a:r>
              <a:rPr sz="900" b="0" i="0">
                <a:solidFill>
                  <a:srgbClr val="6B7280"/>
                </a:solidFill>
                <a:latin typeface="Calibri"/>
              </a:rPr>
              <a:t>vs $51.0M portfolio: 78%</a:t>
            </a:r>
          </a:p>
        </p:txBody>
      </p:sp>
      <p:graphicFrame>
        <p:nvGraphicFramePr>
          <p:cNvPr id="26" name="Table 25"/>
          <p:cNvGraphicFramePr>
            <a:graphicFrameLocks noGrp="1"/>
          </p:cNvGraphicFramePr>
          <p:nvPr/>
        </p:nvGraphicFramePr>
        <p:xfrm>
          <a:off x="457200" y="2834640"/>
          <a:ext cx="6583680" cy="1920240"/>
        </p:xfrm>
        <a:graphic>
          <a:graphicData uri="http://schemas.openxmlformats.org/drawingml/2006/table">
            <a:tbl>
              <a:tblPr firstRow="1" bandRow="1">
                <a:tableStyleId>{5C22544A-7EE6-4342-B048-85BDC9FD1C3A}</a:tableStyleId>
              </a:tblPr>
              <a:tblGrid>
                <a:gridCol w="1280160"/>
                <a:gridCol w="1280160"/>
                <a:gridCol w="1371600"/>
                <a:gridCol w="1371600"/>
                <a:gridCol w="1280160"/>
              </a:tblGrid>
              <a:tr h="384048">
                <a:tc>
                  <a:txBody>
                    <a:bodyPr wrap="square"/>
                    <a:lstStyle/>
                    <a:p>
                      <a:pPr algn="l"/>
                      <a:r>
                        <a:rPr sz="1080" b="1">
                          <a:solidFill>
                            <a:srgbClr val="FFFFFF"/>
                          </a:solidFill>
                          <a:latin typeface="Calibri"/>
                        </a:rPr>
                        <a:t>Netting set</a:t>
                      </a:r>
                    </a:p>
                  </a:txBody>
                  <a:tcPr marL="50800" marR="50800" marT="25400" marB="25400" anchor="ctr">
                    <a:solidFill>
                      <a:srgbClr val="182433"/>
                    </a:solidFill>
                  </a:tcPr>
                </a:tc>
                <a:tc>
                  <a:txBody>
                    <a:bodyPr wrap="square"/>
                    <a:lstStyle/>
                    <a:p>
                      <a:pPr algn="ctr"/>
                      <a:r>
                        <a:rPr sz="1080" b="1">
                          <a:solidFill>
                            <a:srgbClr val="FFFFFF"/>
                          </a:solidFill>
                          <a:latin typeface="Calibri"/>
                        </a:rPr>
                        <a:t>Peak EE</a:t>
                      </a:r>
                    </a:p>
                  </a:txBody>
                  <a:tcPr marL="50800" marR="50800" marT="25400" marB="25400" anchor="ctr">
                    <a:solidFill>
                      <a:srgbClr val="182433"/>
                    </a:solidFill>
                  </a:tcPr>
                </a:tc>
                <a:tc>
                  <a:txBody>
                    <a:bodyPr wrap="square"/>
                    <a:lstStyle/>
                    <a:p>
                      <a:pPr algn="ctr"/>
                      <a:r>
                        <a:rPr sz="1080" b="1">
                          <a:solidFill>
                            <a:srgbClr val="FFFFFF"/>
                          </a:solidFill>
                          <a:latin typeface="Calibri"/>
                        </a:rPr>
                        <a:t>Peak median PFE</a:t>
                      </a:r>
                    </a:p>
                  </a:txBody>
                  <a:tcPr marL="50800" marR="50800" marT="25400" marB="25400" anchor="ctr">
                    <a:solidFill>
                      <a:srgbClr val="182433"/>
                    </a:solidFill>
                  </a:tcPr>
                </a:tc>
                <a:tc>
                  <a:txBody>
                    <a:bodyPr wrap="square"/>
                    <a:lstStyle/>
                    <a:p>
                      <a:pPr algn="ctr"/>
                      <a:r>
                        <a:rPr sz="1080" b="1">
                          <a:solidFill>
                            <a:srgbClr val="FFFFFF"/>
                          </a:solidFill>
                          <a:latin typeface="Calibri"/>
                        </a:rPr>
                        <a:t>MPE (peak PFE99)</a:t>
                      </a:r>
                    </a:p>
                  </a:txBody>
                  <a:tcPr marL="50800" marR="50800" marT="25400" marB="25400" anchor="ctr">
                    <a:solidFill>
                      <a:srgbClr val="182433"/>
                    </a:solidFill>
                  </a:tcPr>
                </a:tc>
                <a:tc>
                  <a:txBody>
                    <a:bodyPr wrap="square"/>
                    <a:lstStyle/>
                    <a:p>
                      <a:pPr algn="ctr"/>
                      <a:r>
                        <a:rPr sz="1080" b="1">
                          <a:solidFill>
                            <a:srgbClr val="FFFFFF"/>
                          </a:solidFill>
                          <a:latin typeface="Calibri"/>
                        </a:rPr>
                        <a:t>MPE date</a:t>
                      </a:r>
                    </a:p>
                  </a:txBody>
                  <a:tcPr marL="50800" marR="50800" marT="25400" marB="25400" anchor="ctr">
                    <a:solidFill>
                      <a:srgbClr val="182433"/>
                    </a:solidFill>
                  </a:tcPr>
                </a:tc>
              </a:tr>
              <a:tr h="384048">
                <a:tc>
                  <a:txBody>
                    <a:bodyPr wrap="square"/>
                    <a:lstStyle/>
                    <a:p>
                      <a:pPr algn="l"/>
                      <a:r>
                        <a:rPr sz="1030" b="0">
                          <a:solidFill>
                            <a:srgbClr val="182433"/>
                          </a:solidFill>
                          <a:latin typeface="Calibri"/>
                        </a:rPr>
                        <a:t>CPTY_A</a:t>
                      </a:r>
                    </a:p>
                  </a:txBody>
                  <a:tcPr marL="50800" marR="50800" marT="25400" marB="25400" anchor="ctr">
                    <a:solidFill>
                      <a:srgbClr val="FFFFFF"/>
                    </a:solidFill>
                  </a:tcPr>
                </a:tc>
                <a:tc>
                  <a:txBody>
                    <a:bodyPr wrap="square"/>
                    <a:lstStyle/>
                    <a:p>
                      <a:pPr algn="ctr"/>
                      <a:r>
                        <a:rPr sz="1030" b="0">
                          <a:solidFill>
                            <a:srgbClr val="182433"/>
                          </a:solidFill>
                          <a:latin typeface="Calibri"/>
                        </a:rPr>
                        <a:t>$4.7M</a:t>
                      </a:r>
                    </a:p>
                  </a:txBody>
                  <a:tcPr marL="50800" marR="50800" marT="25400" marB="25400" anchor="ctr">
                    <a:solidFill>
                      <a:srgbClr val="FFFFFF"/>
                    </a:solidFill>
                  </a:tcPr>
                </a:tc>
                <a:tc>
                  <a:txBody>
                    <a:bodyPr wrap="square"/>
                    <a:lstStyle/>
                    <a:p>
                      <a:pPr algn="ctr"/>
                      <a:r>
                        <a:rPr sz="1030" b="0">
                          <a:solidFill>
                            <a:srgbClr val="182433"/>
                          </a:solidFill>
                          <a:latin typeface="Calibri"/>
                        </a:rPr>
                        <a:t>$0.5M</a:t>
                      </a:r>
                    </a:p>
                  </a:txBody>
                  <a:tcPr marL="50800" marR="50800" marT="25400" marB="25400" anchor="ctr">
                    <a:solidFill>
                      <a:srgbClr val="FFFFFF"/>
                    </a:solidFill>
                  </a:tcPr>
                </a:tc>
                <a:tc>
                  <a:txBody>
                    <a:bodyPr wrap="square"/>
                    <a:lstStyle/>
                    <a:p>
                      <a:pPr algn="ctr"/>
                      <a:r>
                        <a:rPr sz="1030" b="0">
                          <a:solidFill>
                            <a:srgbClr val="182433"/>
                          </a:solidFill>
                          <a:latin typeface="Calibri"/>
                        </a:rPr>
                        <a:t>$25.9M</a:t>
                      </a:r>
                    </a:p>
                  </a:txBody>
                  <a:tcPr marL="50800" marR="50800" marT="25400" marB="25400" anchor="ctr">
                    <a:solidFill>
                      <a:srgbClr val="FFFFFF"/>
                    </a:solidFill>
                  </a:tcPr>
                </a:tc>
                <a:tc>
                  <a:txBody>
                    <a:bodyPr wrap="square"/>
                    <a:lstStyle/>
                    <a:p>
                      <a:pPr algn="ctr"/>
                      <a:r>
                        <a:rPr sz="1030" b="0">
                          <a:solidFill>
                            <a:srgbClr val="182433"/>
                          </a:solidFill>
                          <a:latin typeface="Calibri"/>
                        </a:rPr>
                        <a:t>2026-09-20</a:t>
                      </a:r>
                    </a:p>
                  </a:txBody>
                  <a:tcPr marL="50800" marR="50800" marT="25400" marB="25400" anchor="ctr">
                    <a:solidFill>
                      <a:srgbClr val="FFFFFF"/>
                    </a:solidFill>
                  </a:tcPr>
                </a:tc>
              </a:tr>
              <a:tr h="384048">
                <a:tc>
                  <a:txBody>
                    <a:bodyPr wrap="square"/>
                    <a:lstStyle/>
                    <a:p>
                      <a:pPr algn="l"/>
                      <a:r>
                        <a:rPr sz="1030" b="0">
                          <a:solidFill>
                            <a:srgbClr val="182433"/>
                          </a:solidFill>
                          <a:latin typeface="Calibri"/>
                        </a:rPr>
                        <a:t>CPTY_B</a:t>
                      </a:r>
                    </a:p>
                  </a:txBody>
                  <a:tcPr marL="50800" marR="50800" marT="25400" marB="25400" anchor="ctr">
                    <a:solidFill>
                      <a:srgbClr val="F7F8FA"/>
                    </a:solidFill>
                  </a:tcPr>
                </a:tc>
                <a:tc>
                  <a:txBody>
                    <a:bodyPr wrap="square"/>
                    <a:lstStyle/>
                    <a:p>
                      <a:pPr algn="ctr"/>
                      <a:r>
                        <a:rPr sz="1030" b="0">
                          <a:solidFill>
                            <a:srgbClr val="182433"/>
                          </a:solidFill>
                          <a:latin typeface="Calibri"/>
                        </a:rPr>
                        <a:t>$1.8M</a:t>
                      </a:r>
                    </a:p>
                  </a:txBody>
                  <a:tcPr marL="50800" marR="50800" marT="25400" marB="25400" anchor="ctr">
                    <a:solidFill>
                      <a:srgbClr val="F7F8FA"/>
                    </a:solidFill>
                  </a:tcPr>
                </a:tc>
                <a:tc>
                  <a:txBody>
                    <a:bodyPr wrap="square"/>
                    <a:lstStyle/>
                    <a:p>
                      <a:pPr algn="ctr"/>
                      <a:r>
                        <a:rPr sz="1030" b="0">
                          <a:solidFill>
                            <a:srgbClr val="182433"/>
                          </a:solidFill>
                          <a:latin typeface="Calibri"/>
                        </a:rPr>
                        <a:t>$0.3M</a:t>
                      </a:r>
                    </a:p>
                  </a:txBody>
                  <a:tcPr marL="50800" marR="50800" marT="25400" marB="25400" anchor="ctr">
                    <a:solidFill>
                      <a:srgbClr val="F7F8FA"/>
                    </a:solidFill>
                  </a:tcPr>
                </a:tc>
                <a:tc>
                  <a:txBody>
                    <a:bodyPr wrap="square"/>
                    <a:lstStyle/>
                    <a:p>
                      <a:pPr algn="ctr"/>
                      <a:r>
                        <a:rPr sz="1030" b="0">
                          <a:solidFill>
                            <a:srgbClr val="182433"/>
                          </a:solidFill>
                          <a:latin typeface="Calibri"/>
                        </a:rPr>
                        <a:t>$9.6M</a:t>
                      </a:r>
                    </a:p>
                  </a:txBody>
                  <a:tcPr marL="50800" marR="50800" marT="25400" marB="25400" anchor="ctr">
                    <a:solidFill>
                      <a:srgbClr val="F7F8FA"/>
                    </a:solidFill>
                  </a:tcPr>
                </a:tc>
                <a:tc>
                  <a:txBody>
                    <a:bodyPr wrap="square"/>
                    <a:lstStyle/>
                    <a:p>
                      <a:pPr algn="ctr"/>
                      <a:r>
                        <a:rPr sz="1030" b="0">
                          <a:solidFill>
                            <a:srgbClr val="182433"/>
                          </a:solidFill>
                          <a:latin typeface="Calibri"/>
                        </a:rPr>
                        <a:t>2026-09-04</a:t>
                      </a:r>
                    </a:p>
                  </a:txBody>
                  <a:tcPr marL="50800" marR="50800" marT="25400" marB="25400" anchor="ctr">
                    <a:solidFill>
                      <a:srgbClr val="F7F8FA"/>
                    </a:solidFill>
                  </a:tcPr>
                </a:tc>
              </a:tr>
              <a:tr h="384048">
                <a:tc>
                  <a:txBody>
                    <a:bodyPr wrap="square"/>
                    <a:lstStyle/>
                    <a:p>
                      <a:pPr algn="l"/>
                      <a:r>
                        <a:rPr sz="1030" b="0">
                          <a:solidFill>
                            <a:srgbClr val="182433"/>
                          </a:solidFill>
                          <a:latin typeface="Calibri"/>
                        </a:rPr>
                        <a:t>CPTY_C</a:t>
                      </a:r>
                    </a:p>
                  </a:txBody>
                  <a:tcPr marL="50800" marR="50800" marT="25400" marB="25400" anchor="ctr">
                    <a:solidFill>
                      <a:srgbClr val="FFFFFF"/>
                    </a:solidFill>
                  </a:tcPr>
                </a:tc>
                <a:tc>
                  <a:txBody>
                    <a:bodyPr wrap="square"/>
                    <a:lstStyle/>
                    <a:p>
                      <a:pPr algn="ctr"/>
                      <a:r>
                        <a:rPr sz="1030" b="0">
                          <a:solidFill>
                            <a:srgbClr val="182433"/>
                          </a:solidFill>
                          <a:latin typeface="Calibri"/>
                        </a:rPr>
                        <a:t>$5.2M</a:t>
                      </a:r>
                    </a:p>
                  </a:txBody>
                  <a:tcPr marL="50800" marR="50800" marT="25400" marB="25400" anchor="ctr">
                    <a:solidFill>
                      <a:srgbClr val="FFFFFF"/>
                    </a:solidFill>
                  </a:tcPr>
                </a:tc>
                <a:tc>
                  <a:txBody>
                    <a:bodyPr wrap="square"/>
                    <a:lstStyle/>
                    <a:p>
                      <a:pPr algn="ctr"/>
                      <a:r>
                        <a:rPr sz="1030" b="0">
                          <a:solidFill>
                            <a:srgbClr val="182433"/>
                          </a:solidFill>
                          <a:latin typeface="Calibri"/>
                        </a:rPr>
                        <a:t>$0.9M</a:t>
                      </a:r>
                    </a:p>
                  </a:txBody>
                  <a:tcPr marL="50800" marR="50800" marT="25400" marB="25400" anchor="ctr">
                    <a:solidFill>
                      <a:srgbClr val="FFFFFF"/>
                    </a:solidFill>
                  </a:tcPr>
                </a:tc>
                <a:tc>
                  <a:txBody>
                    <a:bodyPr wrap="square"/>
                    <a:lstStyle/>
                    <a:p>
                      <a:pPr algn="ctr"/>
                      <a:r>
                        <a:rPr sz="1030" b="0">
                          <a:solidFill>
                            <a:srgbClr val="182433"/>
                          </a:solidFill>
                          <a:latin typeface="Calibri"/>
                        </a:rPr>
                        <a:t>$29.6M</a:t>
                      </a:r>
                    </a:p>
                  </a:txBody>
                  <a:tcPr marL="50800" marR="50800" marT="25400" marB="25400" anchor="ctr">
                    <a:solidFill>
                      <a:srgbClr val="FFFFFF"/>
                    </a:solidFill>
                  </a:tcPr>
                </a:tc>
                <a:tc>
                  <a:txBody>
                    <a:bodyPr wrap="square"/>
                    <a:lstStyle/>
                    <a:p>
                      <a:pPr algn="ctr"/>
                      <a:r>
                        <a:rPr sz="1030" b="0">
                          <a:solidFill>
                            <a:srgbClr val="182433"/>
                          </a:solidFill>
                          <a:latin typeface="Calibri"/>
                        </a:rPr>
                        <a:t>2026-09-28</a:t>
                      </a:r>
                    </a:p>
                  </a:txBody>
                  <a:tcPr marL="50800" marR="50800" marT="25400" marB="25400" anchor="ctr">
                    <a:solidFill>
                      <a:srgbClr val="FFFFFF"/>
                    </a:solidFill>
                  </a:tcPr>
                </a:tc>
              </a:tr>
              <a:tr h="384048">
                <a:tc>
                  <a:txBody>
                    <a:bodyPr wrap="square"/>
                    <a:lstStyle/>
                    <a:p>
                      <a:pPr algn="l"/>
                      <a:r>
                        <a:rPr sz="1030" b="0">
                          <a:solidFill>
                            <a:srgbClr val="182433"/>
                          </a:solidFill>
                          <a:latin typeface="Calibri"/>
                        </a:rPr>
                        <a:t>Portfolio</a:t>
                      </a:r>
                    </a:p>
                  </a:txBody>
                  <a:tcPr marL="50800" marR="50800" marT="25400" marB="25400" anchor="ctr">
                    <a:solidFill>
                      <a:srgbClr val="F7F8FA"/>
                    </a:solidFill>
                  </a:tcPr>
                </a:tc>
                <a:tc>
                  <a:txBody>
                    <a:bodyPr wrap="square"/>
                    <a:lstStyle/>
                    <a:p>
                      <a:pPr algn="ctr"/>
                      <a:r>
                        <a:rPr sz="1030" b="0">
                          <a:solidFill>
                            <a:srgbClr val="182433"/>
                          </a:solidFill>
                          <a:latin typeface="Calibri"/>
                        </a:rPr>
                        <a:t>$11.6M</a:t>
                      </a:r>
                    </a:p>
                  </a:txBody>
                  <a:tcPr marL="50800" marR="50800" marT="25400" marB="25400" anchor="ctr">
                    <a:solidFill>
                      <a:srgbClr val="F7F8FA"/>
                    </a:solidFill>
                  </a:tcPr>
                </a:tc>
                <a:tc>
                  <a:txBody>
                    <a:bodyPr wrap="square"/>
                    <a:lstStyle/>
                    <a:p>
                      <a:pPr algn="ctr"/>
                      <a:r>
                        <a:rPr sz="1030" b="0">
                          <a:solidFill>
                            <a:srgbClr val="182433"/>
                          </a:solidFill>
                          <a:latin typeface="Calibri"/>
                        </a:rPr>
                        <a:t>$8.2M</a:t>
                      </a:r>
                    </a:p>
                  </a:txBody>
                  <a:tcPr marL="50800" marR="50800" marT="25400" marB="25400" anchor="ctr">
                    <a:solidFill>
                      <a:srgbClr val="F7F8FA"/>
                    </a:solidFill>
                  </a:tcPr>
                </a:tc>
                <a:tc>
                  <a:txBody>
                    <a:bodyPr wrap="square"/>
                    <a:lstStyle/>
                    <a:p>
                      <a:pPr algn="ctr"/>
                      <a:r>
                        <a:rPr sz="1030" b="0">
                          <a:solidFill>
                            <a:srgbClr val="182433"/>
                          </a:solidFill>
                          <a:latin typeface="Calibri"/>
                        </a:rPr>
                        <a:t>$51.0M</a:t>
                      </a:r>
                    </a:p>
                  </a:txBody>
                  <a:tcPr marL="50800" marR="50800" marT="25400" marB="25400" anchor="ctr">
                    <a:solidFill>
                      <a:srgbClr val="F7F8FA"/>
                    </a:solidFill>
                  </a:tcPr>
                </a:tc>
                <a:tc>
                  <a:txBody>
                    <a:bodyPr wrap="square"/>
                    <a:lstStyle/>
                    <a:p>
                      <a:pPr algn="ctr"/>
                      <a:r>
                        <a:rPr sz="1030" b="0">
                          <a:solidFill>
                            <a:srgbClr val="182433"/>
                          </a:solidFill>
                          <a:latin typeface="Calibri"/>
                        </a:rPr>
                        <a:t>2026-09-20</a:t>
                      </a:r>
                    </a:p>
                  </a:txBody>
                  <a:tcPr marL="50800" marR="50800" marT="25400" marB="25400" anchor="ctr">
                    <a:solidFill>
                      <a:srgbClr val="F7F8FA"/>
                    </a:solidFill>
                  </a:tcPr>
                </a:tc>
              </a:tr>
            </a:tbl>
          </a:graphicData>
        </a:graphic>
      </p:graphicFrame>
      <p:pic>
        <p:nvPicPr>
          <p:cNvPr id="27" name="Picture 26" descr="fig26.png"/>
          <p:cNvPicPr>
            <a:picLocks noChangeAspect="1"/>
          </p:cNvPicPr>
          <p:nvPr/>
        </p:nvPicPr>
        <p:blipFill>
          <a:blip r:embed="rId3"/>
          <a:stretch>
            <a:fillRect/>
          </a:stretch>
        </p:blipFill>
        <p:spPr>
          <a:xfrm>
            <a:off x="7315200" y="2788920"/>
            <a:ext cx="4389120" cy="2075643"/>
          </a:xfrm>
          <a:prstGeom prst="rect">
            <a:avLst/>
          </a:prstGeom>
        </p:spPr>
      </p:pic>
      <p:sp>
        <p:nvSpPr>
          <p:cNvPr id="28" name="TextBox 27"/>
          <p:cNvSpPr txBox="1"/>
          <p:nvPr/>
        </p:nvSpPr>
        <p:spPr>
          <a:xfrm>
            <a:off x="7315200" y="4937760"/>
            <a:ext cx="4389120" cy="274320"/>
          </a:xfrm>
          <a:prstGeom prst="rect">
            <a:avLst/>
          </a:prstGeom>
          <a:noFill/>
        </p:spPr>
        <p:txBody>
          <a:bodyPr wrap="square" anchor="t" lIns="0" rIns="0" tIns="0" bIns="0">
            <a:spAutoFit/>
          </a:bodyPr>
          <a:lstStyle/>
          <a:p>
            <a:pPr algn="l"/>
            <a:r>
              <a:rPr sz="950" b="0" i="1">
                <a:solidFill>
                  <a:srgbClr val="6B7280"/>
                </a:solidFill>
                <a:latin typeface="Calibri"/>
              </a:rPr>
              <a:t>Peak PFE99 by counterparty under three exposure definitions.</a:t>
            </a:r>
          </a:p>
        </p:txBody>
      </p:sp>
      <p:sp>
        <p:nvSpPr>
          <p:cNvPr id="29" name="TextBox 28"/>
          <p:cNvSpPr txBox="1"/>
          <p:nvPr/>
        </p:nvSpPr>
        <p:spPr>
          <a:xfrm>
            <a:off x="457200" y="5029200"/>
            <a:ext cx="11247120" cy="1280160"/>
          </a:xfrm>
          <a:prstGeom prst="rect">
            <a:avLst/>
          </a:prstGeom>
          <a:noFill/>
        </p:spPr>
        <p:txBody>
          <a:bodyPr wrap="square" lIns="0" rIns="0" tIns="0" bIns="0">
            <a:spAutoFit/>
          </a:bodyPr>
          <a:lstStyle/>
          <a:p>
            <a:pPr>
              <a:lnSpc>
                <a:spcPct val="105000"/>
              </a:lnSpc>
              <a:spcAft>
                <a:spcPts val="600"/>
              </a:spcAft>
            </a:pPr>
            <a:r>
              <a:rPr sz="1200" b="0">
                <a:solidFill>
                  <a:srgbClr val="182433"/>
                </a:solidFill>
                <a:latin typeface="Calibri"/>
              </a:rPr>
              <a:t>•  Close-out MPE99 is far below the level exposure because the prior-day value is margined: CPTY_C's $121.3M bond forward has a 99th-pct 10-day move that peaks at just $25.6M</a:t>
            </a:r>
          </a:p>
          <a:p>
            <a:pPr>
              <a:lnSpc>
                <a:spcPct val="105000"/>
              </a:lnSpc>
              <a:spcAft>
                <a:spcPts val="600"/>
              </a:spcAft>
            </a:pPr>
            <a:r>
              <a:rPr sz="1200" b="0">
                <a:solidFill>
                  <a:srgbClr val="182433"/>
                </a:solidFill>
                <a:latin typeface="Calibri"/>
              </a:rPr>
              <a:t>•  CPTY_A and CPTY_B are driven by the equity swap baskets; their peak occurs in the first weeks, when the baskets are largest, and falls as trades mature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Exposure Runs Off Within Four Months as the Book's Trades Mature</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37</a:t>
            </a:r>
          </a:p>
        </p:txBody>
      </p:sp>
      <p:pic>
        <p:nvPicPr>
          <p:cNvPr id="6" name="Picture 5" descr="fig25.png"/>
          <p:cNvPicPr>
            <a:picLocks noChangeAspect="1"/>
          </p:cNvPicPr>
          <p:nvPr/>
        </p:nvPicPr>
        <p:blipFill>
          <a:blip r:embed="rId3"/>
          <a:stretch>
            <a:fillRect/>
          </a:stretch>
        </p:blipFill>
        <p:spPr>
          <a:xfrm>
            <a:off x="457200" y="1371600"/>
            <a:ext cx="6400800" cy="4434189"/>
          </a:xfrm>
          <a:prstGeom prst="rect">
            <a:avLst/>
          </a:prstGeom>
        </p:spPr>
      </p:pic>
      <p:sp>
        <p:nvSpPr>
          <p:cNvPr id="7" name="TextBox 6"/>
          <p:cNvSpPr txBox="1"/>
          <p:nvPr/>
        </p:nvSpPr>
        <p:spPr>
          <a:xfrm>
            <a:off x="457200" y="5852160"/>
            <a:ext cx="6400800" cy="274320"/>
          </a:xfrm>
          <a:prstGeom prst="rect">
            <a:avLst/>
          </a:prstGeom>
          <a:noFill/>
        </p:spPr>
        <p:txBody>
          <a:bodyPr wrap="square" anchor="t" lIns="0" rIns="0" tIns="0" bIns="0">
            <a:spAutoFit/>
          </a:bodyPr>
          <a:lstStyle/>
          <a:p>
            <a:pPr algn="l"/>
            <a:r>
              <a:rPr sz="1000" b="0" i="1">
                <a:solidFill>
                  <a:srgbClr val="6B7280"/>
                </a:solidFill>
                <a:latin typeface="Calibri"/>
              </a:rPr>
              <a:t>Close-out EE, median PFE and PFE99 by counterparty and for the portfolio (Report Fig. 25).</a:t>
            </a:r>
          </a:p>
        </p:txBody>
      </p:sp>
      <p:sp>
        <p:nvSpPr>
          <p:cNvPr id="8" name="TextBox 7"/>
          <p:cNvSpPr txBox="1"/>
          <p:nvPr/>
        </p:nvSpPr>
        <p:spPr>
          <a:xfrm>
            <a:off x="8046720" y="1463040"/>
            <a:ext cx="3703320" cy="4572000"/>
          </a:xfrm>
          <a:prstGeom prst="rect">
            <a:avLst/>
          </a:prstGeom>
          <a:noFill/>
        </p:spPr>
        <p:txBody>
          <a:bodyPr wrap="square" lIns="0" rIns="0" tIns="0" bIns="0">
            <a:spAutoFit/>
          </a:bodyPr>
          <a:lstStyle/>
          <a:p>
            <a:pPr>
              <a:lnSpc>
                <a:spcPct val="105000"/>
              </a:lnSpc>
              <a:spcAft>
                <a:spcPts val="900"/>
              </a:spcAft>
            </a:pPr>
            <a:r>
              <a:rPr sz="1200" b="0">
                <a:solidFill>
                  <a:srgbClr val="182433"/>
                </a:solidFill>
                <a:latin typeface="Calibri"/>
              </a:rPr>
              <a:t>•  CPTY_C concentration: one trade, BF_0003, accounts for 90% of the portfolio's peak PFE99 and 96% of today's exposure</a:t>
            </a:r>
          </a:p>
          <a:p>
            <a:pPr>
              <a:lnSpc>
                <a:spcPct val="105000"/>
              </a:lnSpc>
              <a:spcAft>
                <a:spcPts val="900"/>
              </a:spcAft>
            </a:pPr>
            <a:r>
              <a:rPr sz="1200" b="0">
                <a:solidFill>
                  <a:srgbClr val="182433"/>
                </a:solidFill>
                <a:latin typeface="Calibri"/>
              </a:rPr>
              <a:t>•  This is concentration risk, not diversified counterparty risk -- a limit or collateral on that single trade would move the portfolio number more than any modelling choice in this report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Per-Trade Detail: BF_0003 Alone Drives CPTY_C's $29.6M Peak MPE99</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38</a:t>
            </a:r>
          </a:p>
        </p:txBody>
      </p:sp>
      <p:graphicFrame>
        <p:nvGraphicFramePr>
          <p:cNvPr id="6" name="Table 5"/>
          <p:cNvGraphicFramePr>
            <a:graphicFrameLocks noGrp="1"/>
          </p:cNvGraphicFramePr>
          <p:nvPr/>
        </p:nvGraphicFramePr>
        <p:xfrm>
          <a:off x="457200" y="1371600"/>
          <a:ext cx="11247116" cy="4846320"/>
        </p:xfrm>
        <a:graphic>
          <a:graphicData uri="http://schemas.openxmlformats.org/drawingml/2006/table">
            <a:tbl>
              <a:tblPr firstRow="1" bandRow="1">
                <a:tableStyleId>{5C22544A-7EE6-4342-B048-85BDC9FD1C3A}</a:tableStyleId>
              </a:tblPr>
              <a:tblGrid>
                <a:gridCol w="2367814"/>
                <a:gridCol w="1065516"/>
                <a:gridCol w="2722986"/>
                <a:gridCol w="2367814"/>
                <a:gridCol w="2722986"/>
              </a:tblGrid>
              <a:tr h="538480">
                <a:tc>
                  <a:txBody>
                    <a:bodyPr wrap="square"/>
                    <a:lstStyle/>
                    <a:p>
                      <a:pPr algn="l"/>
                      <a:r>
                        <a:rPr sz="1080" b="1">
                          <a:solidFill>
                            <a:srgbClr val="FFFFFF"/>
                          </a:solidFill>
                          <a:latin typeface="Calibri"/>
                        </a:rPr>
                        <a:t>Trade</a:t>
                      </a:r>
                    </a:p>
                  </a:txBody>
                  <a:tcPr marL="50800" marR="50800" marT="25400" marB="25400" anchor="ctr">
                    <a:solidFill>
                      <a:srgbClr val="182433"/>
                    </a:solidFill>
                  </a:tcPr>
                </a:tc>
                <a:tc>
                  <a:txBody>
                    <a:bodyPr wrap="square"/>
                    <a:lstStyle/>
                    <a:p>
                      <a:pPr algn="ctr"/>
                      <a:r>
                        <a:rPr sz="1080" b="1">
                          <a:solidFill>
                            <a:srgbClr val="FFFFFF"/>
                          </a:solidFill>
                          <a:latin typeface="Calibri"/>
                        </a:rPr>
                        <a:t>Cpty</a:t>
                      </a:r>
                    </a:p>
                  </a:txBody>
                  <a:tcPr marL="50800" marR="50800" marT="25400" marB="25400" anchor="ctr">
                    <a:solidFill>
                      <a:srgbClr val="182433"/>
                    </a:solidFill>
                  </a:tcPr>
                </a:tc>
                <a:tc>
                  <a:txBody>
                    <a:bodyPr wrap="square"/>
                    <a:lstStyle/>
                    <a:p>
                      <a:pPr algn="ctr"/>
                      <a:r>
                        <a:rPr sz="1080" b="1">
                          <a:solidFill>
                            <a:srgbClr val="FFFFFF"/>
                          </a:solidFill>
                          <a:latin typeface="Calibri"/>
                        </a:rPr>
                        <a:t>NPV today</a:t>
                      </a:r>
                    </a:p>
                  </a:txBody>
                  <a:tcPr marL="50800" marR="50800" marT="25400" marB="25400" anchor="ctr">
                    <a:solidFill>
                      <a:srgbClr val="182433"/>
                    </a:solidFill>
                  </a:tcPr>
                </a:tc>
                <a:tc>
                  <a:txBody>
                    <a:bodyPr wrap="square"/>
                    <a:lstStyle/>
                    <a:p>
                      <a:pPr algn="ctr"/>
                      <a:r>
                        <a:rPr sz="1080" b="1">
                          <a:solidFill>
                            <a:srgbClr val="FFFFFF"/>
                          </a:solidFill>
                          <a:latin typeface="Calibri"/>
                        </a:rPr>
                        <a:t>Peak EE</a:t>
                      </a:r>
                    </a:p>
                  </a:txBody>
                  <a:tcPr marL="50800" marR="50800" marT="25400" marB="25400" anchor="ctr">
                    <a:solidFill>
                      <a:srgbClr val="182433"/>
                    </a:solidFill>
                  </a:tcPr>
                </a:tc>
                <a:tc>
                  <a:txBody>
                    <a:bodyPr wrap="square"/>
                    <a:lstStyle/>
                    <a:p>
                      <a:pPr algn="ctr"/>
                      <a:r>
                        <a:rPr sz="1080" b="1">
                          <a:solidFill>
                            <a:srgbClr val="FFFFFF"/>
                          </a:solidFill>
                          <a:latin typeface="Calibri"/>
                        </a:rPr>
                        <a:t>MPE (peak PFE99)</a:t>
                      </a:r>
                    </a:p>
                  </a:txBody>
                  <a:tcPr marL="50800" marR="50800" marT="25400" marB="25400" anchor="ctr">
                    <a:solidFill>
                      <a:srgbClr val="182433"/>
                    </a:solidFill>
                  </a:tcPr>
                </a:tc>
              </a:tr>
              <a:tr h="538480">
                <a:tc>
                  <a:txBody>
                    <a:bodyPr wrap="square"/>
                    <a:lstStyle/>
                    <a:p>
                      <a:pPr algn="l"/>
                      <a:r>
                        <a:rPr sz="1030" b="0">
                          <a:solidFill>
                            <a:srgbClr val="182433"/>
                          </a:solidFill>
                          <a:latin typeface="Calibri"/>
                        </a:rPr>
                        <a:t>EQTRS_0003</a:t>
                      </a:r>
                    </a:p>
                  </a:txBody>
                  <a:tcPr marL="50800" marR="50800" marT="25400" marB="25400" anchor="ctr">
                    <a:solidFill>
                      <a:srgbClr val="FFFFFF"/>
                    </a:solidFill>
                  </a:tcPr>
                </a:tc>
                <a:tc>
                  <a:txBody>
                    <a:bodyPr wrap="square"/>
                    <a:lstStyle/>
                    <a:p>
                      <a:pPr algn="ctr"/>
                      <a:r>
                        <a:rPr sz="1030" b="0">
                          <a:solidFill>
                            <a:srgbClr val="182433"/>
                          </a:solidFill>
                          <a:latin typeface="Calibri"/>
                        </a:rPr>
                        <a:t>A</a:t>
                      </a:r>
                    </a:p>
                  </a:txBody>
                  <a:tcPr marL="50800" marR="50800" marT="25400" marB="25400" anchor="ctr">
                    <a:solidFill>
                      <a:srgbClr val="FFFFFF"/>
                    </a:solidFill>
                  </a:tcPr>
                </a:tc>
                <a:tc>
                  <a:txBody>
                    <a:bodyPr wrap="square"/>
                    <a:lstStyle/>
                    <a:p>
                      <a:pPr algn="ctr"/>
                      <a:r>
                        <a:rPr sz="1030" b="0">
                          <a:solidFill>
                            <a:srgbClr val="182433"/>
                          </a:solidFill>
                          <a:latin typeface="Calibri"/>
                        </a:rPr>
                        <a:t>$9,921,581</a:t>
                      </a:r>
                    </a:p>
                  </a:txBody>
                  <a:tcPr marL="50800" marR="50800" marT="25400" marB="25400" anchor="ctr">
                    <a:solidFill>
                      <a:srgbClr val="FFFFFF"/>
                    </a:solidFill>
                  </a:tcPr>
                </a:tc>
                <a:tc>
                  <a:txBody>
                    <a:bodyPr wrap="square"/>
                    <a:lstStyle/>
                    <a:p>
                      <a:pPr algn="ctr"/>
                      <a:r>
                        <a:rPr sz="1030" b="0">
                          <a:solidFill>
                            <a:srgbClr val="182433"/>
                          </a:solidFill>
                          <a:latin typeface="Calibri"/>
                        </a:rPr>
                        <a:t>$2,219,389</a:t>
                      </a:r>
                    </a:p>
                  </a:txBody>
                  <a:tcPr marL="50800" marR="50800" marT="25400" marB="25400" anchor="ctr">
                    <a:solidFill>
                      <a:srgbClr val="FFFFFF"/>
                    </a:solidFill>
                  </a:tcPr>
                </a:tc>
                <a:tc>
                  <a:txBody>
                    <a:bodyPr wrap="square"/>
                    <a:lstStyle/>
                    <a:p>
                      <a:pPr algn="ctr"/>
                      <a:r>
                        <a:rPr sz="1030" b="0">
                          <a:solidFill>
                            <a:srgbClr val="182433"/>
                          </a:solidFill>
                          <a:latin typeface="Calibri"/>
                        </a:rPr>
                        <a:t>$12,021,160</a:t>
                      </a:r>
                    </a:p>
                  </a:txBody>
                  <a:tcPr marL="50800" marR="50800" marT="25400" marB="25400" anchor="ctr">
                    <a:solidFill>
                      <a:srgbClr val="FFFFFF"/>
                    </a:solidFill>
                  </a:tcPr>
                </a:tc>
              </a:tr>
              <a:tr h="538480">
                <a:tc>
                  <a:txBody>
                    <a:bodyPr wrap="square"/>
                    <a:lstStyle/>
                    <a:p>
                      <a:pPr algn="l"/>
                      <a:r>
                        <a:rPr sz="1030" b="0">
                          <a:solidFill>
                            <a:srgbClr val="182433"/>
                          </a:solidFill>
                          <a:latin typeface="Calibri"/>
                        </a:rPr>
                        <a:t>EQTRS_0002</a:t>
                      </a:r>
                    </a:p>
                  </a:txBody>
                  <a:tcPr marL="50800" marR="50800" marT="25400" marB="25400" anchor="ctr">
                    <a:solidFill>
                      <a:srgbClr val="F7F8FA"/>
                    </a:solidFill>
                  </a:tcPr>
                </a:tc>
                <a:tc>
                  <a:txBody>
                    <a:bodyPr wrap="square"/>
                    <a:lstStyle/>
                    <a:p>
                      <a:pPr algn="ctr"/>
                      <a:r>
                        <a:rPr sz="1030" b="0">
                          <a:solidFill>
                            <a:srgbClr val="182433"/>
                          </a:solidFill>
                          <a:latin typeface="Calibri"/>
                        </a:rPr>
                        <a:t>A</a:t>
                      </a:r>
                    </a:p>
                  </a:txBody>
                  <a:tcPr marL="50800" marR="50800" marT="25400" marB="25400" anchor="ctr">
                    <a:solidFill>
                      <a:srgbClr val="F7F8FA"/>
                    </a:solidFill>
                  </a:tcPr>
                </a:tc>
                <a:tc>
                  <a:txBody>
                    <a:bodyPr wrap="square"/>
                    <a:lstStyle/>
                    <a:p>
                      <a:pPr algn="ctr"/>
                      <a:r>
                        <a:rPr sz="1030" b="0">
                          <a:solidFill>
                            <a:srgbClr val="182433"/>
                          </a:solidFill>
                          <a:latin typeface="Calibri"/>
                        </a:rPr>
                        <a:t>-$1,076,056</a:t>
                      </a:r>
                    </a:p>
                  </a:txBody>
                  <a:tcPr marL="50800" marR="50800" marT="25400" marB="25400" anchor="ctr">
                    <a:solidFill>
                      <a:srgbClr val="F7F8FA"/>
                    </a:solidFill>
                  </a:tcPr>
                </a:tc>
                <a:tc>
                  <a:txBody>
                    <a:bodyPr wrap="square"/>
                    <a:lstStyle/>
                    <a:p>
                      <a:pPr algn="ctr"/>
                      <a:r>
                        <a:rPr sz="1030" b="0">
                          <a:solidFill>
                            <a:srgbClr val="182433"/>
                          </a:solidFill>
                          <a:latin typeface="Calibri"/>
                        </a:rPr>
                        <a:t>$1,903,453</a:t>
                      </a:r>
                    </a:p>
                  </a:txBody>
                  <a:tcPr marL="50800" marR="50800" marT="25400" marB="25400" anchor="ctr">
                    <a:solidFill>
                      <a:srgbClr val="F7F8FA"/>
                    </a:solidFill>
                  </a:tcPr>
                </a:tc>
                <a:tc>
                  <a:txBody>
                    <a:bodyPr wrap="square"/>
                    <a:lstStyle/>
                    <a:p>
                      <a:pPr algn="ctr"/>
                      <a:r>
                        <a:rPr sz="1030" b="0">
                          <a:solidFill>
                            <a:srgbClr val="182433"/>
                          </a:solidFill>
                          <a:latin typeface="Calibri"/>
                        </a:rPr>
                        <a:t>$10,500,714</a:t>
                      </a:r>
                    </a:p>
                  </a:txBody>
                  <a:tcPr marL="50800" marR="50800" marT="25400" marB="25400" anchor="ctr">
                    <a:solidFill>
                      <a:srgbClr val="F7F8FA"/>
                    </a:solidFill>
                  </a:tcPr>
                </a:tc>
              </a:tr>
              <a:tr h="538480">
                <a:tc>
                  <a:txBody>
                    <a:bodyPr wrap="square"/>
                    <a:lstStyle/>
                    <a:p>
                      <a:pPr algn="l"/>
                      <a:r>
                        <a:rPr sz="1030" b="0">
                          <a:solidFill>
                            <a:srgbClr val="182433"/>
                          </a:solidFill>
                          <a:latin typeface="Calibri"/>
                        </a:rPr>
                        <a:t>EQTRS_0001</a:t>
                      </a:r>
                    </a:p>
                  </a:txBody>
                  <a:tcPr marL="50800" marR="50800" marT="25400" marB="25400" anchor="ctr">
                    <a:solidFill>
                      <a:srgbClr val="FFFFFF"/>
                    </a:solidFill>
                  </a:tcPr>
                </a:tc>
                <a:tc>
                  <a:txBody>
                    <a:bodyPr wrap="square"/>
                    <a:lstStyle/>
                    <a:p>
                      <a:pPr algn="ctr"/>
                      <a:r>
                        <a:rPr sz="1030" b="0">
                          <a:solidFill>
                            <a:srgbClr val="182433"/>
                          </a:solidFill>
                          <a:latin typeface="Calibri"/>
                        </a:rPr>
                        <a:t>A</a:t>
                      </a:r>
                    </a:p>
                  </a:txBody>
                  <a:tcPr marL="50800" marR="50800" marT="25400" marB="25400" anchor="ctr">
                    <a:solidFill>
                      <a:srgbClr val="FFFFFF"/>
                    </a:solidFill>
                  </a:tcPr>
                </a:tc>
                <a:tc>
                  <a:txBody>
                    <a:bodyPr wrap="square"/>
                    <a:lstStyle/>
                    <a:p>
                      <a:pPr algn="ctr"/>
                      <a:r>
                        <a:rPr sz="1030" b="0">
                          <a:solidFill>
                            <a:srgbClr val="182433"/>
                          </a:solidFill>
                          <a:latin typeface="Calibri"/>
                        </a:rPr>
                        <a:t>-$5,547,056</a:t>
                      </a:r>
                    </a:p>
                  </a:txBody>
                  <a:tcPr marL="50800" marR="50800" marT="25400" marB="25400" anchor="ctr">
                    <a:solidFill>
                      <a:srgbClr val="FFFFFF"/>
                    </a:solidFill>
                  </a:tcPr>
                </a:tc>
                <a:tc>
                  <a:txBody>
                    <a:bodyPr wrap="square"/>
                    <a:lstStyle/>
                    <a:p>
                      <a:pPr algn="ctr"/>
                      <a:r>
                        <a:rPr sz="1030" b="0">
                          <a:solidFill>
                            <a:srgbClr val="182433"/>
                          </a:solidFill>
                          <a:latin typeface="Calibri"/>
                        </a:rPr>
                        <a:t>$1,694,458</a:t>
                      </a:r>
                    </a:p>
                  </a:txBody>
                  <a:tcPr marL="50800" marR="50800" marT="25400" marB="25400" anchor="ctr">
                    <a:solidFill>
                      <a:srgbClr val="FFFFFF"/>
                    </a:solidFill>
                  </a:tcPr>
                </a:tc>
                <a:tc>
                  <a:txBody>
                    <a:bodyPr wrap="square"/>
                    <a:lstStyle/>
                    <a:p>
                      <a:pPr algn="ctr"/>
                      <a:r>
                        <a:rPr sz="1030" b="0">
                          <a:solidFill>
                            <a:srgbClr val="182433"/>
                          </a:solidFill>
                          <a:latin typeface="Calibri"/>
                        </a:rPr>
                        <a:t>$9,348,743</a:t>
                      </a:r>
                    </a:p>
                  </a:txBody>
                  <a:tcPr marL="50800" marR="50800" marT="25400" marB="25400" anchor="ctr">
                    <a:solidFill>
                      <a:srgbClr val="FFFFFF"/>
                    </a:solidFill>
                  </a:tcPr>
                </a:tc>
              </a:tr>
              <a:tr h="538480">
                <a:tc>
                  <a:txBody>
                    <a:bodyPr wrap="square"/>
                    <a:lstStyle/>
                    <a:p>
                      <a:pPr algn="l"/>
                      <a:r>
                        <a:rPr sz="1030" b="0">
                          <a:solidFill>
                            <a:srgbClr val="182433"/>
                          </a:solidFill>
                          <a:latin typeface="Calibri"/>
                        </a:rPr>
                        <a:t>EQTRS_0007</a:t>
                      </a:r>
                    </a:p>
                  </a:txBody>
                  <a:tcPr marL="50800" marR="50800" marT="25400" marB="25400" anchor="ctr">
                    <a:solidFill>
                      <a:srgbClr val="F7F8FA"/>
                    </a:solidFill>
                  </a:tcPr>
                </a:tc>
                <a:tc>
                  <a:txBody>
                    <a:bodyPr wrap="square"/>
                    <a:lstStyle/>
                    <a:p>
                      <a:pPr algn="ctr"/>
                      <a:r>
                        <a:rPr sz="1030" b="0">
                          <a:solidFill>
                            <a:srgbClr val="182433"/>
                          </a:solidFill>
                          <a:latin typeface="Calibri"/>
                        </a:rPr>
                        <a:t>C</a:t>
                      </a:r>
                    </a:p>
                  </a:txBody>
                  <a:tcPr marL="50800" marR="50800" marT="25400" marB="25400" anchor="ctr">
                    <a:solidFill>
                      <a:srgbClr val="F7F8FA"/>
                    </a:solidFill>
                  </a:tcPr>
                </a:tc>
                <a:tc>
                  <a:txBody>
                    <a:bodyPr wrap="square"/>
                    <a:lstStyle/>
                    <a:p>
                      <a:pPr algn="ctr"/>
                      <a:r>
                        <a:rPr sz="1030" b="0">
                          <a:solidFill>
                            <a:srgbClr val="182433"/>
                          </a:solidFill>
                          <a:latin typeface="Calibri"/>
                        </a:rPr>
                        <a:t>-$373,630</a:t>
                      </a:r>
                    </a:p>
                  </a:txBody>
                  <a:tcPr marL="50800" marR="50800" marT="25400" marB="25400" anchor="ctr">
                    <a:solidFill>
                      <a:srgbClr val="F7F8FA"/>
                    </a:solidFill>
                  </a:tcPr>
                </a:tc>
                <a:tc>
                  <a:txBody>
                    <a:bodyPr wrap="square"/>
                    <a:lstStyle/>
                    <a:p>
                      <a:pPr algn="ctr"/>
                      <a:r>
                        <a:rPr sz="1030" b="0">
                          <a:solidFill>
                            <a:srgbClr val="182433"/>
                          </a:solidFill>
                          <a:latin typeface="Calibri"/>
                        </a:rPr>
                        <a:t>$2,071,358</a:t>
                      </a:r>
                    </a:p>
                  </a:txBody>
                  <a:tcPr marL="50800" marR="50800" marT="25400" marB="25400" anchor="ctr">
                    <a:solidFill>
                      <a:srgbClr val="F7F8FA"/>
                    </a:solidFill>
                  </a:tcPr>
                </a:tc>
                <a:tc>
                  <a:txBody>
                    <a:bodyPr wrap="square"/>
                    <a:lstStyle/>
                    <a:p>
                      <a:pPr algn="ctr"/>
                      <a:r>
                        <a:rPr sz="1030" b="0">
                          <a:solidFill>
                            <a:srgbClr val="182433"/>
                          </a:solidFill>
                          <a:latin typeface="Calibri"/>
                        </a:rPr>
                        <a:t>$11,351,099</a:t>
                      </a:r>
                    </a:p>
                  </a:txBody>
                  <a:tcPr marL="50800" marR="50800" marT="25400" marB="25400" anchor="ctr">
                    <a:solidFill>
                      <a:srgbClr val="F7F8FA"/>
                    </a:solidFill>
                  </a:tcPr>
                </a:tc>
              </a:tr>
              <a:tr h="538480">
                <a:tc>
                  <a:txBody>
                    <a:bodyPr wrap="square"/>
                    <a:lstStyle/>
                    <a:p>
                      <a:pPr algn="l"/>
                      <a:r>
                        <a:rPr sz="1030" b="0">
                          <a:solidFill>
                            <a:srgbClr val="182433"/>
                          </a:solidFill>
                          <a:latin typeface="Calibri"/>
                        </a:rPr>
                        <a:t>BF_0003</a:t>
                      </a:r>
                    </a:p>
                  </a:txBody>
                  <a:tcPr marL="50800" marR="50800" marT="25400" marB="25400" anchor="ctr">
                    <a:solidFill>
                      <a:srgbClr val="FFFFFF"/>
                    </a:solidFill>
                  </a:tcPr>
                </a:tc>
                <a:tc>
                  <a:txBody>
                    <a:bodyPr wrap="square"/>
                    <a:lstStyle/>
                    <a:p>
                      <a:pPr algn="ctr"/>
                      <a:r>
                        <a:rPr sz="1030" b="0">
                          <a:solidFill>
                            <a:srgbClr val="182433"/>
                          </a:solidFill>
                          <a:latin typeface="Calibri"/>
                        </a:rPr>
                        <a:t>C</a:t>
                      </a:r>
                    </a:p>
                  </a:txBody>
                  <a:tcPr marL="50800" marR="50800" marT="25400" marB="25400" anchor="ctr">
                    <a:solidFill>
                      <a:srgbClr val="FFFFFF"/>
                    </a:solidFill>
                  </a:tcPr>
                </a:tc>
                <a:tc>
                  <a:txBody>
                    <a:bodyPr wrap="square"/>
                    <a:lstStyle/>
                    <a:p>
                      <a:pPr algn="ctr"/>
                      <a:r>
                        <a:rPr sz="1030" b="0">
                          <a:solidFill>
                            <a:srgbClr val="182433"/>
                          </a:solidFill>
                          <a:latin typeface="Calibri"/>
                        </a:rPr>
                        <a:t>$121,262,854</a:t>
                      </a:r>
                    </a:p>
                  </a:txBody>
                  <a:tcPr marL="50800" marR="50800" marT="25400" marB="25400" anchor="ctr">
                    <a:solidFill>
                      <a:srgbClr val="FFFFFF"/>
                    </a:solidFill>
                  </a:tcPr>
                </a:tc>
                <a:tc>
                  <a:txBody>
                    <a:bodyPr wrap="square"/>
                    <a:lstStyle/>
                    <a:p>
                      <a:pPr algn="ctr"/>
                      <a:r>
                        <a:rPr sz="1030" b="0">
                          <a:solidFill>
                            <a:srgbClr val="182433"/>
                          </a:solidFill>
                          <a:latin typeface="Calibri"/>
                        </a:rPr>
                        <a:t>$4,547,555</a:t>
                      </a:r>
                    </a:p>
                  </a:txBody>
                  <a:tcPr marL="50800" marR="50800" marT="25400" marB="25400" anchor="ctr">
                    <a:solidFill>
                      <a:srgbClr val="FFFFFF"/>
                    </a:solidFill>
                  </a:tcPr>
                </a:tc>
                <a:tc>
                  <a:txBody>
                    <a:bodyPr wrap="square"/>
                    <a:lstStyle/>
                    <a:p>
                      <a:pPr algn="ctr"/>
                      <a:r>
                        <a:rPr sz="1030" b="0">
                          <a:solidFill>
                            <a:srgbClr val="182433"/>
                          </a:solidFill>
                          <a:latin typeface="Calibri"/>
                        </a:rPr>
                        <a:t>$25,557,208</a:t>
                      </a:r>
                    </a:p>
                  </a:txBody>
                  <a:tcPr marL="50800" marR="50800" marT="25400" marB="25400" anchor="ctr">
                    <a:solidFill>
                      <a:srgbClr val="FFFFFF"/>
                    </a:solidFill>
                  </a:tcPr>
                </a:tc>
              </a:tr>
              <a:tr h="538480">
                <a:tc>
                  <a:txBody>
                    <a:bodyPr wrap="square"/>
                    <a:lstStyle/>
                    <a:p>
                      <a:pPr algn="l"/>
                      <a:r>
                        <a:rPr sz="1030" b="0">
                          <a:solidFill>
                            <a:srgbClr val="182433"/>
                          </a:solidFill>
                          <a:latin typeface="Calibri"/>
                        </a:rPr>
                        <a:t>EQTRS_0006</a:t>
                      </a:r>
                    </a:p>
                  </a:txBody>
                  <a:tcPr marL="50800" marR="50800" marT="25400" marB="25400" anchor="ctr">
                    <a:solidFill>
                      <a:srgbClr val="F7F8FA"/>
                    </a:solidFill>
                  </a:tcPr>
                </a:tc>
                <a:tc>
                  <a:txBody>
                    <a:bodyPr wrap="square"/>
                    <a:lstStyle/>
                    <a:p>
                      <a:pPr algn="ctr"/>
                      <a:r>
                        <a:rPr sz="1030" b="0">
                          <a:solidFill>
                            <a:srgbClr val="182433"/>
                          </a:solidFill>
                          <a:latin typeface="Calibri"/>
                        </a:rPr>
                        <a:t>B</a:t>
                      </a:r>
                    </a:p>
                  </a:txBody>
                  <a:tcPr marL="50800" marR="50800" marT="25400" marB="25400" anchor="ctr">
                    <a:solidFill>
                      <a:srgbClr val="F7F8FA"/>
                    </a:solidFill>
                  </a:tcPr>
                </a:tc>
                <a:tc>
                  <a:txBody>
                    <a:bodyPr wrap="square"/>
                    <a:lstStyle/>
                    <a:p>
                      <a:pPr algn="ctr"/>
                      <a:r>
                        <a:rPr sz="1030" b="0">
                          <a:solidFill>
                            <a:srgbClr val="182433"/>
                          </a:solidFill>
                          <a:latin typeface="Calibri"/>
                        </a:rPr>
                        <a:t>$1,629,065</a:t>
                      </a:r>
                    </a:p>
                  </a:txBody>
                  <a:tcPr marL="50800" marR="50800" marT="25400" marB="25400" anchor="ctr">
                    <a:solidFill>
                      <a:srgbClr val="F7F8FA"/>
                    </a:solidFill>
                  </a:tcPr>
                </a:tc>
                <a:tc>
                  <a:txBody>
                    <a:bodyPr wrap="square"/>
                    <a:lstStyle/>
                    <a:p>
                      <a:pPr algn="ctr"/>
                      <a:r>
                        <a:rPr sz="1030" b="0">
                          <a:solidFill>
                            <a:srgbClr val="182433"/>
                          </a:solidFill>
                          <a:latin typeface="Calibri"/>
                        </a:rPr>
                        <a:t>$1,306,113</a:t>
                      </a:r>
                    </a:p>
                  </a:txBody>
                  <a:tcPr marL="50800" marR="50800" marT="25400" marB="25400" anchor="ctr">
                    <a:solidFill>
                      <a:srgbClr val="F7F8FA"/>
                    </a:solidFill>
                  </a:tcPr>
                </a:tc>
                <a:tc>
                  <a:txBody>
                    <a:bodyPr wrap="square"/>
                    <a:lstStyle/>
                    <a:p>
                      <a:pPr algn="ctr"/>
                      <a:r>
                        <a:rPr sz="1030" b="0">
                          <a:solidFill>
                            <a:srgbClr val="182433"/>
                          </a:solidFill>
                          <a:latin typeface="Calibri"/>
                        </a:rPr>
                        <a:t>$7,021,957</a:t>
                      </a:r>
                    </a:p>
                  </a:txBody>
                  <a:tcPr marL="50800" marR="50800" marT="25400" marB="25400" anchor="ctr">
                    <a:solidFill>
                      <a:srgbClr val="F7F8FA"/>
                    </a:solidFill>
                  </a:tcPr>
                </a:tc>
              </a:tr>
              <a:tr h="538480">
                <a:tc>
                  <a:txBody>
                    <a:bodyPr wrap="square"/>
                    <a:lstStyle/>
                    <a:p>
                      <a:pPr algn="l"/>
                      <a:r>
                        <a:rPr sz="1030" b="0">
                          <a:solidFill>
                            <a:srgbClr val="182433"/>
                          </a:solidFill>
                          <a:latin typeface="Calibri"/>
                        </a:rPr>
                        <a:t>EQTRS_0004</a:t>
                      </a:r>
                    </a:p>
                  </a:txBody>
                  <a:tcPr marL="50800" marR="50800" marT="25400" marB="25400" anchor="ctr">
                    <a:solidFill>
                      <a:srgbClr val="FFFFFF"/>
                    </a:solidFill>
                  </a:tcPr>
                </a:tc>
                <a:tc>
                  <a:txBody>
                    <a:bodyPr wrap="square"/>
                    <a:lstStyle/>
                    <a:p>
                      <a:pPr algn="ctr"/>
                      <a:r>
                        <a:rPr sz="1030" b="0">
                          <a:solidFill>
                            <a:srgbClr val="182433"/>
                          </a:solidFill>
                          <a:latin typeface="Calibri"/>
                        </a:rPr>
                        <a:t>B</a:t>
                      </a:r>
                    </a:p>
                  </a:txBody>
                  <a:tcPr marL="50800" marR="50800" marT="25400" marB="25400" anchor="ctr">
                    <a:solidFill>
                      <a:srgbClr val="FFFFFF"/>
                    </a:solidFill>
                  </a:tcPr>
                </a:tc>
                <a:tc>
                  <a:txBody>
                    <a:bodyPr wrap="square"/>
                    <a:lstStyle/>
                    <a:p>
                      <a:pPr algn="ctr"/>
                      <a:r>
                        <a:rPr sz="1030" b="0">
                          <a:solidFill>
                            <a:srgbClr val="182433"/>
                          </a:solidFill>
                          <a:latin typeface="Calibri"/>
                        </a:rPr>
                        <a:t>-$873,451</a:t>
                      </a:r>
                    </a:p>
                  </a:txBody>
                  <a:tcPr marL="50800" marR="50800" marT="25400" marB="25400" anchor="ctr">
                    <a:solidFill>
                      <a:srgbClr val="FFFFFF"/>
                    </a:solidFill>
                  </a:tcPr>
                </a:tc>
                <a:tc>
                  <a:txBody>
                    <a:bodyPr wrap="square"/>
                    <a:lstStyle/>
                    <a:p>
                      <a:pPr algn="ctr"/>
                      <a:r>
                        <a:rPr sz="1030" b="0">
                          <a:solidFill>
                            <a:srgbClr val="182433"/>
                          </a:solidFill>
                          <a:latin typeface="Calibri"/>
                        </a:rPr>
                        <a:t>$860,053</a:t>
                      </a:r>
                    </a:p>
                  </a:txBody>
                  <a:tcPr marL="50800" marR="50800" marT="25400" marB="25400" anchor="ctr">
                    <a:solidFill>
                      <a:srgbClr val="FFFFFF"/>
                    </a:solidFill>
                  </a:tcPr>
                </a:tc>
                <a:tc>
                  <a:txBody>
                    <a:bodyPr wrap="square"/>
                    <a:lstStyle/>
                    <a:p>
                      <a:pPr algn="ctr"/>
                      <a:r>
                        <a:rPr sz="1030" b="0">
                          <a:solidFill>
                            <a:srgbClr val="182433"/>
                          </a:solidFill>
                          <a:latin typeface="Calibri"/>
                        </a:rPr>
                        <a:t>$4,850,697</a:t>
                      </a:r>
                    </a:p>
                  </a:txBody>
                  <a:tcPr marL="50800" marR="50800" marT="25400" marB="25400" anchor="ctr">
                    <a:solidFill>
                      <a:srgbClr val="FFFFFF"/>
                    </a:solidFill>
                  </a:tcPr>
                </a:tc>
              </a:tr>
              <a:tr h="538480">
                <a:tc>
                  <a:txBody>
                    <a:bodyPr wrap="square"/>
                    <a:lstStyle/>
                    <a:p>
                      <a:pPr algn="l"/>
                      <a:r>
                        <a:rPr sz="1030" b="0">
                          <a:solidFill>
                            <a:srgbClr val="182433"/>
                          </a:solidFill>
                          <a:latin typeface="Calibri"/>
                        </a:rPr>
                        <a:t>BTRS_0002</a:t>
                      </a:r>
                    </a:p>
                  </a:txBody>
                  <a:tcPr marL="50800" marR="50800" marT="25400" marB="25400" anchor="ctr">
                    <a:solidFill>
                      <a:srgbClr val="F7F8FA"/>
                    </a:solidFill>
                  </a:tcPr>
                </a:tc>
                <a:tc>
                  <a:txBody>
                    <a:bodyPr wrap="square"/>
                    <a:lstStyle/>
                    <a:p>
                      <a:pPr algn="ctr"/>
                      <a:r>
                        <a:rPr sz="1030" b="0">
                          <a:solidFill>
                            <a:srgbClr val="182433"/>
                          </a:solidFill>
                          <a:latin typeface="Calibri"/>
                        </a:rPr>
                        <a:t>B</a:t>
                      </a:r>
                    </a:p>
                  </a:txBody>
                  <a:tcPr marL="50800" marR="50800" marT="25400" marB="25400" anchor="ctr">
                    <a:solidFill>
                      <a:srgbClr val="F7F8FA"/>
                    </a:solidFill>
                  </a:tcPr>
                </a:tc>
                <a:tc>
                  <a:txBody>
                    <a:bodyPr wrap="square"/>
                    <a:lstStyle/>
                    <a:p>
                      <a:pPr algn="ctr"/>
                      <a:r>
                        <a:rPr sz="1030" b="0">
                          <a:solidFill>
                            <a:srgbClr val="182433"/>
                          </a:solidFill>
                          <a:latin typeface="Calibri"/>
                        </a:rPr>
                        <a:t>$210,278</a:t>
                      </a:r>
                    </a:p>
                  </a:txBody>
                  <a:tcPr marL="50800" marR="50800" marT="25400" marB="25400" anchor="ctr">
                    <a:solidFill>
                      <a:srgbClr val="F7F8FA"/>
                    </a:solidFill>
                  </a:tcPr>
                </a:tc>
                <a:tc>
                  <a:txBody>
                    <a:bodyPr wrap="square"/>
                    <a:lstStyle/>
                    <a:p>
                      <a:pPr algn="ctr"/>
                      <a:r>
                        <a:rPr sz="1030" b="0">
                          <a:solidFill>
                            <a:srgbClr val="182433"/>
                          </a:solidFill>
                          <a:latin typeface="Calibri"/>
                        </a:rPr>
                        <a:t>$63,404</a:t>
                      </a:r>
                    </a:p>
                  </a:txBody>
                  <a:tcPr marL="50800" marR="50800" marT="25400" marB="25400" anchor="ctr">
                    <a:solidFill>
                      <a:srgbClr val="F7F8FA"/>
                    </a:solidFill>
                  </a:tcPr>
                </a:tc>
                <a:tc>
                  <a:txBody>
                    <a:bodyPr wrap="square"/>
                    <a:lstStyle/>
                    <a:p>
                      <a:pPr algn="ctr"/>
                      <a:r>
                        <a:rPr sz="1030" b="0">
                          <a:solidFill>
                            <a:srgbClr val="182433"/>
                          </a:solidFill>
                          <a:latin typeface="Calibri"/>
                        </a:rPr>
                        <a:t>$126,670</a:t>
                      </a:r>
                    </a:p>
                  </a:txBody>
                  <a:tcPr marL="50800" marR="50800" marT="25400" marB="25400" anchor="ctr">
                    <a:solidFill>
                      <a:srgbClr val="F7F8FA"/>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Why the Portfolio is Close to A+C, Not A+B: All Three Are Pay-Equity</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39</a:t>
            </a:r>
          </a:p>
        </p:txBody>
      </p:sp>
      <p:graphicFrame>
        <p:nvGraphicFramePr>
          <p:cNvPr id="6" name="Table 5"/>
          <p:cNvGraphicFramePr>
            <a:graphicFrameLocks noGrp="1"/>
          </p:cNvGraphicFramePr>
          <p:nvPr/>
        </p:nvGraphicFramePr>
        <p:xfrm>
          <a:off x="457200" y="1371600"/>
          <a:ext cx="5760718" cy="1554480"/>
        </p:xfrm>
        <a:graphic>
          <a:graphicData uri="http://schemas.openxmlformats.org/drawingml/2006/table">
            <a:tbl>
              <a:tblPr firstRow="1" bandRow="1">
                <a:tableStyleId>{5C22544A-7EE6-4342-B048-85BDC9FD1C3A}</a:tableStyleId>
              </a:tblPr>
              <a:tblGrid>
                <a:gridCol w="1054779"/>
                <a:gridCol w="1541601"/>
                <a:gridCol w="1217053"/>
                <a:gridCol w="1947285"/>
              </a:tblGrid>
              <a:tr h="388620">
                <a:tc>
                  <a:txBody>
                    <a:bodyPr wrap="square"/>
                    <a:lstStyle/>
                    <a:p>
                      <a:pPr algn="l"/>
                      <a:r>
                        <a:rPr sz="1030" b="1">
                          <a:solidFill>
                            <a:srgbClr val="FFFFFF"/>
                          </a:solidFill>
                          <a:latin typeface="Calibri"/>
                        </a:rPr>
                        <a:t>Netting set</a:t>
                      </a:r>
                    </a:p>
                  </a:txBody>
                  <a:tcPr marL="50800" marR="50800" marT="25400" marB="25400" anchor="ctr">
                    <a:solidFill>
                      <a:srgbClr val="182433"/>
                    </a:solidFill>
                  </a:tcPr>
                </a:tc>
                <a:tc>
                  <a:txBody>
                    <a:bodyPr wrap="square"/>
                    <a:lstStyle/>
                    <a:p>
                      <a:pPr algn="ctr"/>
                      <a:r>
                        <a:rPr sz="1030" b="1">
                          <a:solidFill>
                            <a:srgbClr val="FFFFFF"/>
                          </a:solidFill>
                          <a:latin typeface="Calibri"/>
                        </a:rPr>
                        <a:t>Equity delta (/+1%)</a:t>
                      </a:r>
                    </a:p>
                  </a:txBody>
                  <a:tcPr marL="50800" marR="50800" marT="25400" marB="25400" anchor="ctr">
                    <a:solidFill>
                      <a:srgbClr val="182433"/>
                    </a:solidFill>
                  </a:tcPr>
                </a:tc>
                <a:tc>
                  <a:txBody>
                    <a:bodyPr wrap="square"/>
                    <a:lstStyle/>
                    <a:p>
                      <a:pPr algn="ctr"/>
                      <a:r>
                        <a:rPr sz="1030" b="1">
                          <a:solidFill>
                            <a:srgbClr val="FFFFFF"/>
                          </a:solidFill>
                          <a:latin typeface="Calibri"/>
                        </a:rPr>
                        <a:t>DV01 (/+1bp)</a:t>
                      </a:r>
                    </a:p>
                  </a:txBody>
                  <a:tcPr marL="50800" marR="50800" marT="25400" marB="25400" anchor="ctr">
                    <a:solidFill>
                      <a:srgbClr val="182433"/>
                    </a:solidFill>
                  </a:tcPr>
                </a:tc>
                <a:tc>
                  <a:txBody>
                    <a:bodyPr wrap="square"/>
                    <a:lstStyle/>
                    <a:p>
                      <a:pPr algn="ctr"/>
                      <a:r>
                        <a:rPr sz="1030" b="1">
                          <a:solidFill>
                            <a:srgbClr val="FFFFFF"/>
                          </a:solidFill>
                          <a:latin typeface="Calibri"/>
                        </a:rPr>
                        <a:t>Driver</a:t>
                      </a:r>
                    </a:p>
                  </a:txBody>
                  <a:tcPr marL="50800" marR="50800" marT="25400" marB="25400" anchor="ctr">
                    <a:solidFill>
                      <a:srgbClr val="182433"/>
                    </a:solidFill>
                  </a:tcPr>
                </a:tc>
              </a:tr>
              <a:tr h="388620">
                <a:tc>
                  <a:txBody>
                    <a:bodyPr wrap="square"/>
                    <a:lstStyle/>
                    <a:p>
                      <a:pPr algn="l"/>
                      <a:r>
                        <a:rPr sz="980" b="0">
                          <a:solidFill>
                            <a:srgbClr val="182433"/>
                          </a:solidFill>
                          <a:latin typeface="Calibri"/>
                        </a:rPr>
                        <a:t>CPTY_A</a:t>
                      </a:r>
                    </a:p>
                  </a:txBody>
                  <a:tcPr marL="50800" marR="50800" marT="25400" marB="25400" anchor="ctr">
                    <a:solidFill>
                      <a:srgbClr val="FFFFFF"/>
                    </a:solidFill>
                  </a:tcPr>
                </a:tc>
                <a:tc>
                  <a:txBody>
                    <a:bodyPr wrap="square"/>
                    <a:lstStyle/>
                    <a:p>
                      <a:pPr algn="ctr"/>
                      <a:r>
                        <a:rPr sz="980" b="0">
                          <a:solidFill>
                            <a:srgbClr val="182433"/>
                          </a:solidFill>
                          <a:latin typeface="Calibri"/>
                        </a:rPr>
                        <a:t>-$2,254,257</a:t>
                      </a:r>
                    </a:p>
                  </a:txBody>
                  <a:tcPr marL="50800" marR="50800" marT="25400" marB="25400" anchor="ctr">
                    <a:solidFill>
                      <a:srgbClr val="FFFFFF"/>
                    </a:solidFill>
                  </a:tcPr>
                </a:tc>
                <a:tc>
                  <a:txBody>
                    <a:bodyPr wrap="square"/>
                    <a:lstStyle/>
                    <a:p>
                      <a:pPr algn="ctr"/>
                      <a:r>
                        <a:rPr sz="980" b="0">
                          <a:solidFill>
                            <a:srgbClr val="182433"/>
                          </a:solidFill>
                          <a:latin typeface="Calibri"/>
                        </a:rPr>
                        <a:t>$31,203</a:t>
                      </a:r>
                    </a:p>
                  </a:txBody>
                  <a:tcPr marL="50800" marR="50800" marT="25400" marB="25400" anchor="ctr">
                    <a:solidFill>
                      <a:srgbClr val="FFFFFF"/>
                    </a:solidFill>
                  </a:tcPr>
                </a:tc>
                <a:tc>
                  <a:txBody>
                    <a:bodyPr wrap="square"/>
                    <a:lstStyle/>
                    <a:p>
                      <a:pPr algn="ctr"/>
                      <a:r>
                        <a:rPr sz="980" b="0">
                          <a:solidFill>
                            <a:srgbClr val="182433"/>
                          </a:solidFill>
                          <a:latin typeface="Calibri"/>
                        </a:rPr>
                        <a:t>Equities fall</a:t>
                      </a:r>
                    </a:p>
                  </a:txBody>
                  <a:tcPr marL="50800" marR="50800" marT="25400" marB="25400" anchor="ctr">
                    <a:solidFill>
                      <a:srgbClr val="FFFFFF"/>
                    </a:solidFill>
                  </a:tcPr>
                </a:tc>
              </a:tr>
              <a:tr h="388620">
                <a:tc>
                  <a:txBody>
                    <a:bodyPr wrap="square"/>
                    <a:lstStyle/>
                    <a:p>
                      <a:pPr algn="l"/>
                      <a:r>
                        <a:rPr sz="980" b="0">
                          <a:solidFill>
                            <a:srgbClr val="182433"/>
                          </a:solidFill>
                          <a:latin typeface="Calibri"/>
                        </a:rPr>
                        <a:t>CPTY_B</a:t>
                      </a:r>
                    </a:p>
                  </a:txBody>
                  <a:tcPr marL="50800" marR="50800" marT="25400" marB="25400" anchor="ctr">
                    <a:solidFill>
                      <a:srgbClr val="F7F8FA"/>
                    </a:solidFill>
                  </a:tcPr>
                </a:tc>
                <a:tc>
                  <a:txBody>
                    <a:bodyPr wrap="square"/>
                    <a:lstStyle/>
                    <a:p>
                      <a:pPr algn="ctr"/>
                      <a:r>
                        <a:rPr sz="980" b="0">
                          <a:solidFill>
                            <a:srgbClr val="182433"/>
                          </a:solidFill>
                          <a:latin typeface="Calibri"/>
                        </a:rPr>
                        <a:t>-$961,146</a:t>
                      </a:r>
                    </a:p>
                  </a:txBody>
                  <a:tcPr marL="50800" marR="50800" marT="25400" marB="25400" anchor="ctr">
                    <a:solidFill>
                      <a:srgbClr val="F7F8FA"/>
                    </a:solidFill>
                  </a:tcPr>
                </a:tc>
                <a:tc>
                  <a:txBody>
                    <a:bodyPr wrap="square"/>
                    <a:lstStyle/>
                    <a:p>
                      <a:pPr algn="ctr"/>
                      <a:r>
                        <a:rPr sz="980" b="0">
                          <a:solidFill>
                            <a:srgbClr val="182433"/>
                          </a:solidFill>
                          <a:latin typeface="Calibri"/>
                        </a:rPr>
                        <a:t>-$3,663</a:t>
                      </a:r>
                    </a:p>
                  </a:txBody>
                  <a:tcPr marL="50800" marR="50800" marT="25400" marB="25400" anchor="ctr">
                    <a:solidFill>
                      <a:srgbClr val="F7F8FA"/>
                    </a:solidFill>
                  </a:tcPr>
                </a:tc>
                <a:tc>
                  <a:txBody>
                    <a:bodyPr wrap="square"/>
                    <a:lstStyle/>
                    <a:p>
                      <a:pPr algn="ctr"/>
                      <a:r>
                        <a:rPr sz="980" b="0">
                          <a:solidFill>
                            <a:srgbClr val="182433"/>
                          </a:solidFill>
                          <a:latin typeface="Calibri"/>
                        </a:rPr>
                        <a:t>Equities fall, yen weakens</a:t>
                      </a:r>
                    </a:p>
                  </a:txBody>
                  <a:tcPr marL="50800" marR="50800" marT="25400" marB="25400" anchor="ctr">
                    <a:solidFill>
                      <a:srgbClr val="F7F8FA"/>
                    </a:solidFill>
                  </a:tcPr>
                </a:tc>
              </a:tr>
              <a:tr h="388620">
                <a:tc>
                  <a:txBody>
                    <a:bodyPr wrap="square"/>
                    <a:lstStyle/>
                    <a:p>
                      <a:pPr algn="l"/>
                      <a:r>
                        <a:rPr sz="980" b="0">
                          <a:solidFill>
                            <a:srgbClr val="182433"/>
                          </a:solidFill>
                          <a:latin typeface="Calibri"/>
                        </a:rPr>
                        <a:t>CPTY_C</a:t>
                      </a:r>
                    </a:p>
                  </a:txBody>
                  <a:tcPr marL="50800" marR="50800" marT="25400" marB="25400" anchor="ctr">
                    <a:solidFill>
                      <a:srgbClr val="FFFFFF"/>
                    </a:solidFill>
                  </a:tcPr>
                </a:tc>
                <a:tc>
                  <a:txBody>
                    <a:bodyPr wrap="square"/>
                    <a:lstStyle/>
                    <a:p>
                      <a:pPr algn="ctr"/>
                      <a:r>
                        <a:rPr sz="980" b="0">
                          <a:solidFill>
                            <a:srgbClr val="182433"/>
                          </a:solidFill>
                          <a:latin typeface="Calibri"/>
                        </a:rPr>
                        <a:t>-$1,240,431</a:t>
                      </a:r>
                    </a:p>
                  </a:txBody>
                  <a:tcPr marL="50800" marR="50800" marT="25400" marB="25400" anchor="ctr">
                    <a:solidFill>
                      <a:srgbClr val="FFFFFF"/>
                    </a:solidFill>
                  </a:tcPr>
                </a:tc>
                <a:tc>
                  <a:txBody>
                    <a:bodyPr wrap="square"/>
                    <a:lstStyle/>
                    <a:p>
                      <a:pPr algn="ctr"/>
                      <a:r>
                        <a:rPr sz="980" b="0">
                          <a:solidFill>
                            <a:srgbClr val="182433"/>
                          </a:solidFill>
                          <a:latin typeface="Calibri"/>
                        </a:rPr>
                        <a:t>$594,443</a:t>
                      </a:r>
                    </a:p>
                  </a:txBody>
                  <a:tcPr marL="50800" marR="50800" marT="25400" marB="25400" anchor="ctr">
                    <a:solidFill>
                      <a:srgbClr val="FFFFFF"/>
                    </a:solidFill>
                  </a:tcPr>
                </a:tc>
                <a:tc>
                  <a:txBody>
                    <a:bodyPr wrap="square"/>
                    <a:lstStyle/>
                    <a:p>
                      <a:pPr algn="ctr"/>
                      <a:r>
                        <a:rPr sz="980" b="0">
                          <a:solidFill>
                            <a:srgbClr val="182433"/>
                          </a:solidFill>
                          <a:latin typeface="Calibri"/>
                        </a:rPr>
                        <a:t>Equities fall AND yields rise</a:t>
                      </a:r>
                    </a:p>
                  </a:txBody>
                  <a:tcPr marL="50800" marR="50800" marT="25400" marB="25400" anchor="ctr">
                    <a:solidFill>
                      <a:srgbClr val="FFFFFF"/>
                    </a:solidFill>
                  </a:tcPr>
                </a:tc>
              </a:tr>
            </a:tbl>
          </a:graphicData>
        </a:graphic>
      </p:graphicFrame>
      <p:pic>
        <p:nvPicPr>
          <p:cNvPr id="7" name="Picture 6" descr="fig28.png"/>
          <p:cNvPicPr>
            <a:picLocks noChangeAspect="1"/>
          </p:cNvPicPr>
          <p:nvPr/>
        </p:nvPicPr>
        <p:blipFill>
          <a:blip r:embed="rId3"/>
          <a:stretch>
            <a:fillRect/>
          </a:stretch>
        </p:blipFill>
        <p:spPr>
          <a:xfrm>
            <a:off x="6400800" y="1325880"/>
            <a:ext cx="4846320" cy="2303793"/>
          </a:xfrm>
          <a:prstGeom prst="rect">
            <a:avLst/>
          </a:prstGeom>
        </p:spPr>
      </p:pic>
      <p:sp>
        <p:nvSpPr>
          <p:cNvPr id="8" name="TextBox 7"/>
          <p:cNvSpPr txBox="1"/>
          <p:nvPr/>
        </p:nvSpPr>
        <p:spPr>
          <a:xfrm>
            <a:off x="6400800" y="3675887"/>
            <a:ext cx="4846320" cy="274320"/>
          </a:xfrm>
          <a:prstGeom prst="rect">
            <a:avLst/>
          </a:prstGeom>
          <a:noFill/>
        </p:spPr>
        <p:txBody>
          <a:bodyPr wrap="square" anchor="t" lIns="0" rIns="0" tIns="0" bIns="0">
            <a:spAutoFit/>
          </a:bodyPr>
          <a:lstStyle/>
          <a:p>
            <a:pPr algn="l"/>
            <a:r>
              <a:rPr sz="950" b="0" i="1">
                <a:solidFill>
                  <a:srgbClr val="6B7280"/>
                </a:solidFill>
                <a:latin typeface="Calibri"/>
              </a:rPr>
              <a:t>Probability of positive exposure by counterparty -- why median PFE differs from EE.</a:t>
            </a:r>
          </a:p>
        </p:txBody>
      </p:sp>
      <p:sp>
        <p:nvSpPr>
          <p:cNvPr id="9" name="TextBox 8"/>
          <p:cNvSpPr txBox="1"/>
          <p:nvPr/>
        </p:nvSpPr>
        <p:spPr>
          <a:xfrm>
            <a:off x="457200" y="3063240"/>
            <a:ext cx="5760720" cy="1371600"/>
          </a:xfrm>
          <a:prstGeom prst="rect">
            <a:avLst/>
          </a:prstGeom>
          <a:noFill/>
        </p:spPr>
        <p:txBody>
          <a:bodyPr wrap="square" lIns="0" rIns="0" tIns="0" bIns="0">
            <a:spAutoFit/>
          </a:bodyPr>
          <a:lstStyle/>
          <a:p>
            <a:pPr>
              <a:lnSpc>
                <a:spcPct val="105000"/>
              </a:lnSpc>
              <a:spcAft>
                <a:spcPts val="600"/>
              </a:spcAft>
            </a:pPr>
            <a:r>
              <a:rPr sz="1100" b="0">
                <a:solidFill>
                  <a:srgbClr val="182433"/>
                </a:solidFill>
                <a:latin typeface="Calibri"/>
              </a:rPr>
              <a:t>•  Rank correlation of exposures: A-B 0.34, A-C 0.33, B-C 0.12</a:t>
            </a:r>
          </a:p>
          <a:p>
            <a:pPr>
              <a:lnSpc>
                <a:spcPct val="105000"/>
              </a:lnSpc>
              <a:spcAft>
                <a:spcPts val="600"/>
              </a:spcAft>
            </a:pPr>
            <a:r>
              <a:rPr sz="1100" b="0">
                <a:solidFill>
                  <a:srgbClr val="182433"/>
                </a:solidFill>
                <a:latin typeface="Calibri"/>
              </a:rPr>
              <a:t>•  Yield-equity correlation in our data is ~0.00 -- the 'bonds vs equities inversely' intuition is regime-dependent, not fixed</a:t>
            </a:r>
          </a:p>
        </p:txBody>
      </p:sp>
      <p:pic>
        <p:nvPicPr>
          <p:cNvPr id="10" name="Picture 9" descr="fig30.png"/>
          <p:cNvPicPr>
            <a:picLocks noChangeAspect="1"/>
          </p:cNvPicPr>
          <p:nvPr/>
        </p:nvPicPr>
        <p:blipFill>
          <a:blip r:embed="rId4"/>
          <a:stretch>
            <a:fillRect/>
          </a:stretch>
        </p:blipFill>
        <p:spPr>
          <a:xfrm>
            <a:off x="457200" y="4572000"/>
            <a:ext cx="4114800" cy="1897396"/>
          </a:xfrm>
          <a:prstGeom prst="rect">
            <a:avLst/>
          </a:prstGeom>
        </p:spPr>
      </p:pic>
      <p:sp>
        <p:nvSpPr>
          <p:cNvPr id="11" name="TextBox 10"/>
          <p:cNvSpPr txBox="1"/>
          <p:nvPr/>
        </p:nvSpPr>
        <p:spPr>
          <a:xfrm>
            <a:off x="457200" y="6510528"/>
            <a:ext cx="4114800" cy="274320"/>
          </a:xfrm>
          <a:prstGeom prst="rect">
            <a:avLst/>
          </a:prstGeom>
          <a:noFill/>
        </p:spPr>
        <p:txBody>
          <a:bodyPr wrap="square" anchor="t" lIns="0" rIns="0" tIns="0" bIns="0">
            <a:spAutoFit/>
          </a:bodyPr>
          <a:lstStyle/>
          <a:p>
            <a:pPr algn="l"/>
            <a:r>
              <a:rPr sz="900" b="0" i="1">
                <a:solidFill>
                  <a:srgbClr val="6B7280"/>
                </a:solidFill>
                <a:latin typeface="Calibri"/>
              </a:rPr>
              <a:t>Expected NPV by trade through time -- BF_0003 dominates, disappears Dec 2026.</a:t>
            </a:r>
          </a:p>
        </p:txBody>
      </p:sp>
      <p:sp>
        <p:nvSpPr>
          <p:cNvPr id="12" name="TextBox 11"/>
          <p:cNvSpPr txBox="1"/>
          <p:nvPr/>
        </p:nvSpPr>
        <p:spPr>
          <a:xfrm>
            <a:off x="4846320" y="4572000"/>
            <a:ext cx="6858000" cy="1828800"/>
          </a:xfrm>
          <a:prstGeom prst="rect">
            <a:avLst/>
          </a:prstGeom>
          <a:noFill/>
        </p:spPr>
        <p:txBody>
          <a:bodyPr wrap="square" lIns="0" rIns="0" tIns="0" bIns="0">
            <a:spAutoFit/>
          </a:bodyPr>
          <a:lstStyle/>
          <a:p>
            <a:pPr>
              <a:lnSpc>
                <a:spcPct val="105000"/>
              </a:lnSpc>
              <a:spcAft>
                <a:spcPts val="600"/>
              </a:spcAft>
            </a:pPr>
            <a:r>
              <a:rPr sz="1150" b="0">
                <a:solidFill>
                  <a:srgbClr val="182433"/>
                </a:solidFill>
                <a:latin typeface="Calibri"/>
              </a:rPr>
              <a:t>•  Standalone PFE99 at portfolio peak date: A $25.9M, B $9.1M, C $28.5M -- A+C = $54.4M (107% of portfolio)</a:t>
            </a:r>
          </a:p>
          <a:p>
            <a:pPr>
              <a:lnSpc>
                <a:spcPct val="105000"/>
              </a:lnSpc>
              <a:spcAft>
                <a:spcPts val="600"/>
              </a:spcAft>
            </a:pPr>
            <a:r>
              <a:rPr sz="1150" b="0">
                <a:solidFill>
                  <a:srgbClr val="182433"/>
                </a:solidFill>
                <a:latin typeface="Calibri"/>
              </a:rPr>
              <a:t>•  Rate-equity dependence stress: flight-to-quality moves portfolio MPE to 70% of sum; both-fall-together moves it to 85%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Corrections Moved the Headline From $45.7M to $51.5M, One Fix at a Time</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40</a:t>
            </a:r>
          </a:p>
        </p:txBody>
      </p:sp>
      <p:graphicFrame>
        <p:nvGraphicFramePr>
          <p:cNvPr id="6" name="Chart 5"/>
          <p:cNvGraphicFramePr>
            <a:graphicFrameLocks noGrp="1"/>
          </p:cNvGraphicFramePr>
          <p:nvPr/>
        </p:nvGraphicFramePr>
        <p:xfrm>
          <a:off x="457200" y="1371600"/>
          <a:ext cx="11247120" cy="4023360"/>
        </p:xfrm>
        <a:graphic>
          <a:graphicData uri="http://schemas.openxmlformats.org/drawingml/2006/chart">
            <c:chart xmlns:c="http://schemas.openxmlformats.org/drawingml/2006/chart" r:id="rId3"/>
          </a:graphicData>
        </a:graphic>
      </p:graphicFrame>
      <p:sp>
        <p:nvSpPr>
          <p:cNvPr id="7" name="TextBox 6"/>
          <p:cNvSpPr txBox="1"/>
          <p:nvPr/>
        </p:nvSpPr>
        <p:spPr>
          <a:xfrm>
            <a:off x="457200" y="5577840"/>
            <a:ext cx="11247120" cy="822960"/>
          </a:xfrm>
          <a:prstGeom prst="rect">
            <a:avLst/>
          </a:prstGeom>
          <a:noFill/>
        </p:spPr>
        <p:txBody>
          <a:bodyPr wrap="square" anchor="t" lIns="0" rIns="0" tIns="0" bIns="0">
            <a:spAutoFit/>
          </a:bodyPr>
          <a:lstStyle/>
          <a:p>
            <a:pPr algn="l"/>
            <a:r>
              <a:rPr sz="1100" b="0" i="1">
                <a:solidFill>
                  <a:srgbClr val="6B7280"/>
                </a:solidFill>
                <a:latin typeface="Calibri"/>
              </a:rPr>
              <a:t>Rows are cumulative. Final model portfolio MPE99: $51.5M (2,000-scenario comparison run); headline reporting run (5,000 scenarios) gives $51.0M.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Model Risk: Equity Volatility and Rate-Equity Dependence Dominate, Not the Rate Model</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41</a:t>
            </a:r>
          </a:p>
        </p:txBody>
      </p:sp>
      <p:graphicFrame>
        <p:nvGraphicFramePr>
          <p:cNvPr id="6" name="Chart 5"/>
          <p:cNvGraphicFramePr>
            <a:graphicFrameLocks noGrp="1"/>
          </p:cNvGraphicFramePr>
          <p:nvPr/>
        </p:nvGraphicFramePr>
        <p:xfrm>
          <a:off x="457200" y="1371600"/>
          <a:ext cx="6766560" cy="3657600"/>
        </p:xfrm>
        <a:graphic>
          <a:graphicData uri="http://schemas.openxmlformats.org/drawingml/2006/chart">
            <c:chart xmlns:c="http://schemas.openxmlformats.org/drawingml/2006/chart" r:id="rId3"/>
          </a:graphicData>
        </a:graphic>
      </p:graphicFrame>
      <p:graphicFrame>
        <p:nvGraphicFramePr>
          <p:cNvPr id="7" name="Table 6"/>
          <p:cNvGraphicFramePr>
            <a:graphicFrameLocks noGrp="1"/>
          </p:cNvGraphicFramePr>
          <p:nvPr/>
        </p:nvGraphicFramePr>
        <p:xfrm>
          <a:off x="7498079" y="1371600"/>
          <a:ext cx="4206238" cy="3566160"/>
        </p:xfrm>
        <a:graphic>
          <a:graphicData uri="http://schemas.openxmlformats.org/drawingml/2006/table">
            <a:tbl>
              <a:tblPr firstRow="1" bandRow="1">
                <a:tableStyleId>{5C22544A-7EE6-4342-B048-85BDC9FD1C3A}</a:tableStyleId>
              </a:tblPr>
              <a:tblGrid>
                <a:gridCol w="1422698"/>
                <a:gridCol w="680421"/>
                <a:gridCol w="680421"/>
                <a:gridCol w="680421"/>
                <a:gridCol w="742277"/>
              </a:tblGrid>
              <a:tr h="594360">
                <a:tc>
                  <a:txBody>
                    <a:bodyPr wrap="square"/>
                    <a:lstStyle/>
                    <a:p>
                      <a:pPr algn="l"/>
                      <a:r>
                        <a:rPr sz="960" b="1">
                          <a:solidFill>
                            <a:srgbClr val="FFFFFF"/>
                          </a:solidFill>
                          <a:latin typeface="Calibri"/>
                        </a:rPr>
                        <a:t>Perturbation</a:t>
                      </a:r>
                    </a:p>
                  </a:txBody>
                  <a:tcPr marL="50800" marR="50800" marT="25400" marB="25400" anchor="ctr">
                    <a:solidFill>
                      <a:srgbClr val="182433"/>
                    </a:solidFill>
                  </a:tcPr>
                </a:tc>
                <a:tc>
                  <a:txBody>
                    <a:bodyPr wrap="square"/>
                    <a:lstStyle/>
                    <a:p>
                      <a:pPr algn="ctr"/>
                      <a:r>
                        <a:rPr sz="960" b="1">
                          <a:solidFill>
                            <a:srgbClr val="FFFFFF"/>
                          </a:solidFill>
                          <a:latin typeface="Calibri"/>
                        </a:rPr>
                        <a:t>CPTY_A</a:t>
                      </a:r>
                    </a:p>
                  </a:txBody>
                  <a:tcPr marL="50800" marR="50800" marT="25400" marB="25400" anchor="ctr">
                    <a:solidFill>
                      <a:srgbClr val="182433"/>
                    </a:solidFill>
                  </a:tcPr>
                </a:tc>
                <a:tc>
                  <a:txBody>
                    <a:bodyPr wrap="square"/>
                    <a:lstStyle/>
                    <a:p>
                      <a:pPr algn="ctr"/>
                      <a:r>
                        <a:rPr sz="960" b="1">
                          <a:solidFill>
                            <a:srgbClr val="FFFFFF"/>
                          </a:solidFill>
                          <a:latin typeface="Calibri"/>
                        </a:rPr>
                        <a:t>CPTY_B</a:t>
                      </a:r>
                    </a:p>
                  </a:txBody>
                  <a:tcPr marL="50800" marR="50800" marT="25400" marB="25400" anchor="ctr">
                    <a:solidFill>
                      <a:srgbClr val="182433"/>
                    </a:solidFill>
                  </a:tcPr>
                </a:tc>
                <a:tc>
                  <a:txBody>
                    <a:bodyPr wrap="square"/>
                    <a:lstStyle/>
                    <a:p>
                      <a:pPr algn="ctr"/>
                      <a:r>
                        <a:rPr sz="960" b="1">
                          <a:solidFill>
                            <a:srgbClr val="FFFFFF"/>
                          </a:solidFill>
                          <a:latin typeface="Calibri"/>
                        </a:rPr>
                        <a:t>CPTY_C</a:t>
                      </a:r>
                    </a:p>
                  </a:txBody>
                  <a:tcPr marL="50800" marR="50800" marT="25400" marB="25400" anchor="ctr">
                    <a:solidFill>
                      <a:srgbClr val="182433"/>
                    </a:solidFill>
                  </a:tcPr>
                </a:tc>
                <a:tc>
                  <a:txBody>
                    <a:bodyPr wrap="square"/>
                    <a:lstStyle/>
                    <a:p>
                      <a:pPr algn="ctr"/>
                      <a:r>
                        <a:rPr sz="960" b="1">
                          <a:solidFill>
                            <a:srgbClr val="FFFFFF"/>
                          </a:solidFill>
                          <a:latin typeface="Calibri"/>
                        </a:rPr>
                        <a:t>Portfolio</a:t>
                      </a:r>
                    </a:p>
                  </a:txBody>
                  <a:tcPr marL="50800" marR="50800" marT="25400" marB="25400" anchor="ctr">
                    <a:solidFill>
                      <a:srgbClr val="182433"/>
                    </a:solidFill>
                  </a:tcPr>
                </a:tc>
              </a:tr>
              <a:tr h="594360">
                <a:tc>
                  <a:txBody>
                    <a:bodyPr wrap="square"/>
                    <a:lstStyle/>
                    <a:p>
                      <a:pPr algn="l"/>
                      <a:r>
                        <a:rPr sz="930" b="0">
                          <a:solidFill>
                            <a:srgbClr val="182433"/>
                          </a:solidFill>
                          <a:latin typeface="Calibri"/>
                        </a:rPr>
                        <a:t>Equity/FX vols x1.25</a:t>
                      </a:r>
                    </a:p>
                  </a:txBody>
                  <a:tcPr marL="50800" marR="50800" marT="25400" marB="25400" anchor="ctr">
                    <a:solidFill>
                      <a:srgbClr val="FFFFFF"/>
                    </a:solidFill>
                  </a:tcPr>
                </a:tc>
                <a:tc>
                  <a:txBody>
                    <a:bodyPr wrap="square"/>
                    <a:lstStyle/>
                    <a:p>
                      <a:pPr algn="ctr"/>
                      <a:r>
                        <a:rPr sz="930" b="0">
                          <a:solidFill>
                            <a:srgbClr val="182433"/>
                          </a:solidFill>
                          <a:latin typeface="Calibri"/>
                        </a:rPr>
                        <a:t>+29%</a:t>
                      </a:r>
                    </a:p>
                  </a:txBody>
                  <a:tcPr marL="50800" marR="50800" marT="25400" marB="25400" anchor="ctr">
                    <a:solidFill>
                      <a:srgbClr val="FFFFFF"/>
                    </a:solidFill>
                  </a:tcPr>
                </a:tc>
                <a:tc>
                  <a:txBody>
                    <a:bodyPr wrap="square"/>
                    <a:lstStyle/>
                    <a:p>
                      <a:pPr algn="ctr"/>
                      <a:r>
                        <a:rPr sz="930" b="0">
                          <a:solidFill>
                            <a:srgbClr val="182433"/>
                          </a:solidFill>
                          <a:latin typeface="Calibri"/>
                        </a:rPr>
                        <a:t>+26%</a:t>
                      </a:r>
                    </a:p>
                  </a:txBody>
                  <a:tcPr marL="50800" marR="50800" marT="25400" marB="25400" anchor="ctr">
                    <a:solidFill>
                      <a:srgbClr val="FFFFFF"/>
                    </a:solidFill>
                  </a:tcPr>
                </a:tc>
                <a:tc>
                  <a:txBody>
                    <a:bodyPr wrap="square"/>
                    <a:lstStyle/>
                    <a:p>
                      <a:pPr algn="ctr"/>
                      <a:r>
                        <a:rPr sz="930" b="0">
                          <a:solidFill>
                            <a:srgbClr val="182433"/>
                          </a:solidFill>
                          <a:latin typeface="Calibri"/>
                        </a:rPr>
                        <a:t>+11%</a:t>
                      </a:r>
                    </a:p>
                  </a:txBody>
                  <a:tcPr marL="50800" marR="50800" marT="25400" marB="25400" anchor="ctr">
                    <a:solidFill>
                      <a:srgbClr val="FFFFFF"/>
                    </a:solidFill>
                  </a:tcPr>
                </a:tc>
                <a:tc>
                  <a:txBody>
                    <a:bodyPr wrap="square"/>
                    <a:lstStyle/>
                    <a:p>
                      <a:pPr algn="ctr"/>
                      <a:r>
                        <a:rPr sz="930" b="0">
                          <a:solidFill>
                            <a:srgbClr val="182433"/>
                          </a:solidFill>
                          <a:latin typeface="Calibri"/>
                        </a:rPr>
                        <a:t>+19%</a:t>
                      </a:r>
                    </a:p>
                  </a:txBody>
                  <a:tcPr marL="50800" marR="50800" marT="25400" marB="25400" anchor="ctr">
                    <a:solidFill>
                      <a:srgbClr val="FFFFFF"/>
                    </a:solidFill>
                  </a:tcPr>
                </a:tc>
              </a:tr>
              <a:tr h="594360">
                <a:tc>
                  <a:txBody>
                    <a:bodyPr wrap="square"/>
                    <a:lstStyle/>
                    <a:p>
                      <a:pPr algn="l"/>
                      <a:r>
                        <a:rPr sz="930" b="0">
                          <a:solidFill>
                            <a:srgbClr val="182433"/>
                          </a:solidFill>
                          <a:latin typeface="Calibri"/>
                        </a:rPr>
                        <a:t>Equity correl. +30% to 1</a:t>
                      </a:r>
                    </a:p>
                  </a:txBody>
                  <a:tcPr marL="50800" marR="50800" marT="25400" marB="25400" anchor="ctr">
                    <a:solidFill>
                      <a:srgbClr val="F7F8FA"/>
                    </a:solidFill>
                  </a:tcPr>
                </a:tc>
                <a:tc>
                  <a:txBody>
                    <a:bodyPr wrap="square"/>
                    <a:lstStyle/>
                    <a:p>
                      <a:pPr algn="ctr"/>
                      <a:r>
                        <a:rPr sz="930" b="0">
                          <a:solidFill>
                            <a:srgbClr val="182433"/>
                          </a:solidFill>
                          <a:latin typeface="Calibri"/>
                        </a:rPr>
                        <a:t>+23%</a:t>
                      </a:r>
                    </a:p>
                  </a:txBody>
                  <a:tcPr marL="50800" marR="50800" marT="25400" marB="25400" anchor="ctr">
                    <a:solidFill>
                      <a:srgbClr val="F7F8FA"/>
                    </a:solidFill>
                  </a:tcPr>
                </a:tc>
                <a:tc>
                  <a:txBody>
                    <a:bodyPr wrap="square"/>
                    <a:lstStyle/>
                    <a:p>
                      <a:pPr algn="ctr"/>
                      <a:r>
                        <a:rPr sz="930" b="0">
                          <a:solidFill>
                            <a:srgbClr val="182433"/>
                          </a:solidFill>
                          <a:latin typeface="Calibri"/>
                        </a:rPr>
                        <a:t>+35%</a:t>
                      </a:r>
                    </a:p>
                  </a:txBody>
                  <a:tcPr marL="50800" marR="50800" marT="25400" marB="25400" anchor="ctr">
                    <a:solidFill>
                      <a:srgbClr val="F7F8FA"/>
                    </a:solidFill>
                  </a:tcPr>
                </a:tc>
                <a:tc>
                  <a:txBody>
                    <a:bodyPr wrap="square"/>
                    <a:lstStyle/>
                    <a:p>
                      <a:pPr algn="ctr"/>
                      <a:r>
                        <a:rPr sz="930" b="0">
                          <a:solidFill>
                            <a:srgbClr val="182433"/>
                          </a:solidFill>
                          <a:latin typeface="Calibri"/>
                        </a:rPr>
                        <a:t>+9%</a:t>
                      </a:r>
                    </a:p>
                  </a:txBody>
                  <a:tcPr marL="50800" marR="50800" marT="25400" marB="25400" anchor="ctr">
                    <a:solidFill>
                      <a:srgbClr val="F7F8FA"/>
                    </a:solidFill>
                  </a:tcPr>
                </a:tc>
                <a:tc>
                  <a:txBody>
                    <a:bodyPr wrap="square"/>
                    <a:lstStyle/>
                    <a:p>
                      <a:pPr algn="ctr"/>
                      <a:r>
                        <a:rPr sz="930" b="0">
                          <a:solidFill>
                            <a:srgbClr val="182433"/>
                          </a:solidFill>
                          <a:latin typeface="Calibri"/>
                        </a:rPr>
                        <a:t>+22%</a:t>
                      </a:r>
                    </a:p>
                  </a:txBody>
                  <a:tcPr marL="50800" marR="50800" marT="25400" marB="25400" anchor="ctr">
                    <a:solidFill>
                      <a:srgbClr val="F7F8FA"/>
                    </a:solidFill>
                  </a:tcPr>
                </a:tc>
              </a:tr>
              <a:tr h="594360">
                <a:tc>
                  <a:txBody>
                    <a:bodyPr wrap="square"/>
                    <a:lstStyle/>
                    <a:p>
                      <a:pPr algn="l"/>
                      <a:r>
                        <a:rPr sz="930" b="0">
                          <a:solidFill>
                            <a:srgbClr val="182433"/>
                          </a:solidFill>
                          <a:latin typeface="Calibri"/>
                        </a:rPr>
                        <a:t>USD rate sigma x1.25</a:t>
                      </a:r>
                    </a:p>
                  </a:txBody>
                  <a:tcPr marL="50800" marR="50800" marT="25400" marB="25400" anchor="ctr">
                    <a:solidFill>
                      <a:srgbClr val="FFFFFF"/>
                    </a:solidFill>
                  </a:tcPr>
                </a:tc>
                <a:tc>
                  <a:txBody>
                    <a:bodyPr wrap="square"/>
                    <a:lstStyle/>
                    <a:p>
                      <a:pPr algn="ctr"/>
                      <a:r>
                        <a:rPr sz="930" b="0">
                          <a:solidFill>
                            <a:srgbClr val="182433"/>
                          </a:solidFill>
                          <a:latin typeface="Calibri"/>
                        </a:rPr>
                        <a:t>+3%</a:t>
                      </a:r>
                    </a:p>
                  </a:txBody>
                  <a:tcPr marL="50800" marR="50800" marT="25400" marB="25400" anchor="ctr">
                    <a:solidFill>
                      <a:srgbClr val="FFFFFF"/>
                    </a:solidFill>
                  </a:tcPr>
                </a:tc>
                <a:tc>
                  <a:txBody>
                    <a:bodyPr wrap="square"/>
                    <a:lstStyle/>
                    <a:p>
                      <a:pPr algn="ctr"/>
                      <a:r>
                        <a:rPr sz="930" b="0">
                          <a:solidFill>
                            <a:srgbClr val="182433"/>
                          </a:solidFill>
                          <a:latin typeface="Calibri"/>
                        </a:rPr>
                        <a:t>+1%</a:t>
                      </a:r>
                    </a:p>
                  </a:txBody>
                  <a:tcPr marL="50800" marR="50800" marT="25400" marB="25400" anchor="ctr">
                    <a:solidFill>
                      <a:srgbClr val="FFFFFF"/>
                    </a:solidFill>
                  </a:tcPr>
                </a:tc>
                <a:tc>
                  <a:txBody>
                    <a:bodyPr wrap="square"/>
                    <a:lstStyle/>
                    <a:p>
                      <a:pPr algn="ctr"/>
                      <a:r>
                        <a:rPr sz="930" b="0">
                          <a:solidFill>
                            <a:srgbClr val="182433"/>
                          </a:solidFill>
                          <a:latin typeface="Calibri"/>
                        </a:rPr>
                        <a:t>+24%</a:t>
                      </a:r>
                    </a:p>
                  </a:txBody>
                  <a:tcPr marL="50800" marR="50800" marT="25400" marB="25400" anchor="ctr">
                    <a:solidFill>
                      <a:srgbClr val="FFFFFF"/>
                    </a:solidFill>
                  </a:tcPr>
                </a:tc>
                <a:tc>
                  <a:txBody>
                    <a:bodyPr wrap="square"/>
                    <a:lstStyle/>
                    <a:p>
                      <a:pPr algn="ctr"/>
                      <a:r>
                        <a:rPr sz="930" b="0">
                          <a:solidFill>
                            <a:srgbClr val="182433"/>
                          </a:solidFill>
                          <a:latin typeface="Calibri"/>
                        </a:rPr>
                        <a:t>+9%</a:t>
                      </a:r>
                    </a:p>
                  </a:txBody>
                  <a:tcPr marL="50800" marR="50800" marT="25400" marB="25400" anchor="ctr">
                    <a:solidFill>
                      <a:srgbClr val="FFFFFF"/>
                    </a:solidFill>
                  </a:tcPr>
                </a:tc>
              </a:tr>
              <a:tr h="594360">
                <a:tc>
                  <a:txBody>
                    <a:bodyPr wrap="square"/>
                    <a:lstStyle/>
                    <a:p>
                      <a:pPr algn="l"/>
                      <a:r>
                        <a:rPr sz="930" b="0">
                          <a:solidFill>
                            <a:srgbClr val="182433"/>
                          </a:solidFill>
                          <a:latin typeface="Calibri"/>
                        </a:rPr>
                        <a:t>USD mean reversion x3</a:t>
                      </a:r>
                    </a:p>
                  </a:txBody>
                  <a:tcPr marL="50800" marR="50800" marT="25400" marB="25400" anchor="ctr">
                    <a:solidFill>
                      <a:srgbClr val="F7F8FA"/>
                    </a:solidFill>
                  </a:tcPr>
                </a:tc>
                <a:tc>
                  <a:txBody>
                    <a:bodyPr wrap="square"/>
                    <a:lstStyle/>
                    <a:p>
                      <a:pPr algn="ctr"/>
                      <a:r>
                        <a:rPr sz="930" b="0">
                          <a:solidFill>
                            <a:srgbClr val="182433"/>
                          </a:solidFill>
                          <a:latin typeface="Calibri"/>
                        </a:rPr>
                        <a:t>+2%</a:t>
                      </a:r>
                    </a:p>
                  </a:txBody>
                  <a:tcPr marL="50800" marR="50800" marT="25400" marB="25400" anchor="ctr">
                    <a:solidFill>
                      <a:srgbClr val="F7F8FA"/>
                    </a:solidFill>
                  </a:tcPr>
                </a:tc>
                <a:tc>
                  <a:txBody>
                    <a:bodyPr wrap="square"/>
                    <a:lstStyle/>
                    <a:p>
                      <a:pPr algn="ctr"/>
                      <a:r>
                        <a:rPr sz="930" b="0">
                          <a:solidFill>
                            <a:srgbClr val="182433"/>
                          </a:solidFill>
                          <a:latin typeface="Calibri"/>
                        </a:rPr>
                        <a:t>+1%</a:t>
                      </a:r>
                    </a:p>
                  </a:txBody>
                  <a:tcPr marL="50800" marR="50800" marT="25400" marB="25400" anchor="ctr">
                    <a:solidFill>
                      <a:srgbClr val="F7F8FA"/>
                    </a:solidFill>
                  </a:tcPr>
                </a:tc>
                <a:tc>
                  <a:txBody>
                    <a:bodyPr wrap="square"/>
                    <a:lstStyle/>
                    <a:p>
                      <a:pPr algn="ctr"/>
                      <a:r>
                        <a:rPr sz="930" b="0">
                          <a:solidFill>
                            <a:srgbClr val="182433"/>
                          </a:solidFill>
                          <a:latin typeface="Calibri"/>
                        </a:rPr>
                        <a:t>-13%</a:t>
                      </a:r>
                    </a:p>
                  </a:txBody>
                  <a:tcPr marL="50800" marR="50800" marT="25400" marB="25400" anchor="ctr">
                    <a:solidFill>
                      <a:srgbClr val="F7F8FA"/>
                    </a:solidFill>
                  </a:tcPr>
                </a:tc>
                <a:tc>
                  <a:txBody>
                    <a:bodyPr wrap="square"/>
                    <a:lstStyle/>
                    <a:p>
                      <a:pPr algn="ctr"/>
                      <a:r>
                        <a:rPr sz="930" b="0">
                          <a:solidFill>
                            <a:srgbClr val="182433"/>
                          </a:solidFill>
                          <a:latin typeface="Calibri"/>
                        </a:rPr>
                        <a:t>-5%</a:t>
                      </a:r>
                    </a:p>
                  </a:txBody>
                  <a:tcPr marL="50800" marR="50800" marT="25400" marB="25400" anchor="ctr">
                    <a:solidFill>
                      <a:srgbClr val="F7F8FA"/>
                    </a:solidFill>
                  </a:tcPr>
                </a:tc>
              </a:tr>
              <a:tr h="594360">
                <a:tc>
                  <a:txBody>
                    <a:bodyPr wrap="square"/>
                    <a:lstStyle/>
                    <a:p>
                      <a:pPr algn="l"/>
                      <a:r>
                        <a:rPr sz="930" b="0">
                          <a:solidFill>
                            <a:srgbClr val="182433"/>
                          </a:solidFill>
                          <a:latin typeface="Calibri"/>
                        </a:rPr>
                        <a:t>G2++ vs HW1F</a:t>
                      </a:r>
                    </a:p>
                  </a:txBody>
                  <a:tcPr marL="50800" marR="50800" marT="25400" marB="25400" anchor="ctr">
                    <a:solidFill>
                      <a:srgbClr val="FFFFFF"/>
                    </a:solidFill>
                  </a:tcPr>
                </a:tc>
                <a:tc>
                  <a:txBody>
                    <a:bodyPr wrap="square"/>
                    <a:lstStyle/>
                    <a:p>
                      <a:pPr algn="ctr"/>
                      <a:r>
                        <a:rPr sz="930" b="0">
                          <a:solidFill>
                            <a:srgbClr val="182433"/>
                          </a:solidFill>
                          <a:latin typeface="Calibri"/>
                        </a:rPr>
                        <a:t>-1%</a:t>
                      </a:r>
                    </a:p>
                  </a:txBody>
                  <a:tcPr marL="50800" marR="50800" marT="25400" marB="25400" anchor="ctr">
                    <a:solidFill>
                      <a:srgbClr val="FFFFFF"/>
                    </a:solidFill>
                  </a:tcPr>
                </a:tc>
                <a:tc>
                  <a:txBody>
                    <a:bodyPr wrap="square"/>
                    <a:lstStyle/>
                    <a:p>
                      <a:pPr algn="ctr"/>
                      <a:r>
                        <a:rPr sz="930" b="0">
                          <a:solidFill>
                            <a:srgbClr val="182433"/>
                          </a:solidFill>
                          <a:latin typeface="Calibri"/>
                        </a:rPr>
                        <a:t>-3%</a:t>
                      </a:r>
                    </a:p>
                  </a:txBody>
                  <a:tcPr marL="50800" marR="50800" marT="25400" marB="25400" anchor="ctr">
                    <a:solidFill>
                      <a:srgbClr val="FFFFFF"/>
                    </a:solidFill>
                  </a:tcPr>
                </a:tc>
                <a:tc>
                  <a:txBody>
                    <a:bodyPr wrap="square"/>
                    <a:lstStyle/>
                    <a:p>
                      <a:pPr algn="ctr"/>
                      <a:r>
                        <a:rPr sz="930" b="0">
                          <a:solidFill>
                            <a:srgbClr val="182433"/>
                          </a:solidFill>
                          <a:latin typeface="Calibri"/>
                        </a:rPr>
                        <a:t>-0%</a:t>
                      </a:r>
                    </a:p>
                  </a:txBody>
                  <a:tcPr marL="50800" marR="50800" marT="25400" marB="25400" anchor="ctr">
                    <a:solidFill>
                      <a:srgbClr val="FFFFFF"/>
                    </a:solidFill>
                  </a:tcPr>
                </a:tc>
                <a:tc>
                  <a:txBody>
                    <a:bodyPr wrap="square"/>
                    <a:lstStyle/>
                    <a:p>
                      <a:pPr algn="ctr"/>
                      <a:r>
                        <a:rPr sz="930" b="0">
                          <a:solidFill>
                            <a:srgbClr val="182433"/>
                          </a:solidFill>
                          <a:latin typeface="Calibri"/>
                        </a:rPr>
                        <a:t>-3%</a:t>
                      </a:r>
                    </a:p>
                  </a:txBody>
                  <a:tcPr marL="50800" marR="50800" marT="25400" marB="25400" anchor="ctr">
                    <a:solidFill>
                      <a:srgbClr val="FFFFFF"/>
                    </a:solidFill>
                  </a:tcPr>
                </a:tc>
              </a:tr>
            </a:tbl>
          </a:graphicData>
        </a:graphic>
      </p:graphicFrame>
      <p:sp>
        <p:nvSpPr>
          <p:cNvPr id="8" name="TextBox 7"/>
          <p:cNvSpPr txBox="1"/>
          <p:nvPr/>
        </p:nvSpPr>
        <p:spPr>
          <a:xfrm>
            <a:off x="457200" y="5257800"/>
            <a:ext cx="11247120" cy="1280160"/>
          </a:xfrm>
          <a:prstGeom prst="rect">
            <a:avLst/>
          </a:prstGeom>
          <a:noFill/>
        </p:spPr>
        <p:txBody>
          <a:bodyPr wrap="square" lIns="0" rIns="0" tIns="0" bIns="0">
            <a:spAutoFit/>
          </a:bodyPr>
          <a:lstStyle/>
          <a:p>
            <a:pPr>
              <a:lnSpc>
                <a:spcPct val="105000"/>
              </a:lnSpc>
              <a:spcAft>
                <a:spcPts val="600"/>
              </a:spcAft>
            </a:pPr>
            <a:r>
              <a:rPr sz="1200" b="0">
                <a:solidFill>
                  <a:srgbClr val="182433"/>
                </a:solidFill>
                <a:latin typeface="Calibri"/>
              </a:rPr>
              <a:t>•  Model risk in the headline is dominated by equity volatility and by the (unobservable) rate-equity dependence, not by the choice of rate model</a:t>
            </a:r>
          </a:p>
          <a:p>
            <a:pPr>
              <a:lnSpc>
                <a:spcPct val="105000"/>
              </a:lnSpc>
              <a:spcAft>
                <a:spcPts val="600"/>
              </a:spcAft>
            </a:pPr>
            <a:r>
              <a:rPr sz="1200" b="0">
                <a:solidFill>
                  <a:srgbClr val="182433"/>
                </a:solidFill>
                <a:latin typeface="Calibri"/>
              </a:rPr>
              <a:t>•  This directly supports retaining the simpler one-factor Hull-White: the bigger uncertainty lives elsewhere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Book Greeks Today: DV01 of $622k/bp Dominated by the CPTY_C Bond Forward</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66960" y="1316736"/>
            <a:ext cx="1737360" cy="274320"/>
          </a:xfrm>
          <a:prstGeom prst="roundRect">
            <a:avLst/>
          </a:prstGeom>
          <a:solidFill>
            <a:srgbClr val="FCE8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8100" tIns="12700" bIns="12700"/>
          <a:lstStyle/>
          <a:p>
            <a:pPr algn="ctr"/>
            <a:r>
              <a:rPr sz="950" b="1">
                <a:solidFill>
                  <a:srgbClr val="9A0052"/>
                </a:solidFill>
                <a:latin typeface="Calibri"/>
              </a:rPr>
              <a:t>Feedback-driven</a:t>
            </a:r>
          </a:p>
        </p:txBody>
      </p:sp>
      <p:sp>
        <p:nvSpPr>
          <p:cNvPr id="5" name="TextBox 4"/>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6" name="TextBox 5"/>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42</a:t>
            </a:r>
          </a:p>
        </p:txBody>
      </p:sp>
      <p:graphicFrame>
        <p:nvGraphicFramePr>
          <p:cNvPr id="7" name="Table 6"/>
          <p:cNvGraphicFramePr>
            <a:graphicFrameLocks noGrp="1"/>
          </p:cNvGraphicFramePr>
          <p:nvPr/>
        </p:nvGraphicFramePr>
        <p:xfrm>
          <a:off x="457200" y="1645920"/>
          <a:ext cx="11247117" cy="2011680"/>
        </p:xfrm>
        <a:graphic>
          <a:graphicData uri="http://schemas.openxmlformats.org/drawingml/2006/table">
            <a:tbl>
              <a:tblPr firstRow="1" bandRow="1">
                <a:tableStyleId>{5C22544A-7EE6-4342-B048-85BDC9FD1C3A}</a:tableStyleId>
              </a:tblPr>
              <a:tblGrid>
                <a:gridCol w="1786925"/>
                <a:gridCol w="2627831"/>
                <a:gridCol w="2627831"/>
                <a:gridCol w="2102265"/>
                <a:gridCol w="2102265"/>
              </a:tblGrid>
              <a:tr h="402336">
                <a:tc>
                  <a:txBody>
                    <a:bodyPr wrap="square"/>
                    <a:lstStyle/>
                    <a:p>
                      <a:pPr algn="l"/>
                      <a:r>
                        <a:rPr sz="1080" b="1">
                          <a:solidFill>
                            <a:srgbClr val="FFFFFF"/>
                          </a:solidFill>
                          <a:latin typeface="Calibri"/>
                        </a:rPr>
                        <a:t>Netting set</a:t>
                      </a:r>
                    </a:p>
                  </a:txBody>
                  <a:tcPr marL="50800" marR="50800" marT="25400" marB="25400" anchor="ctr">
                    <a:solidFill>
                      <a:srgbClr val="182433"/>
                    </a:solidFill>
                  </a:tcPr>
                </a:tc>
                <a:tc>
                  <a:txBody>
                    <a:bodyPr wrap="square"/>
                    <a:lstStyle/>
                    <a:p>
                      <a:pPr algn="ctr"/>
                      <a:r>
                        <a:rPr sz="1080" b="1">
                          <a:solidFill>
                            <a:srgbClr val="FFFFFF"/>
                          </a:solidFill>
                          <a:latin typeface="Calibri"/>
                        </a:rPr>
                        <a:t>NPV</a:t>
                      </a:r>
                    </a:p>
                  </a:txBody>
                  <a:tcPr marL="50800" marR="50800" marT="25400" marB="25400" anchor="ctr">
                    <a:solidFill>
                      <a:srgbClr val="182433"/>
                    </a:solidFill>
                  </a:tcPr>
                </a:tc>
                <a:tc>
                  <a:txBody>
                    <a:bodyPr wrap="square"/>
                    <a:lstStyle/>
                    <a:p>
                      <a:pPr algn="ctr"/>
                      <a:r>
                        <a:rPr sz="1080" b="1">
                          <a:solidFill>
                            <a:srgbClr val="FFFFFF"/>
                          </a:solidFill>
                          <a:latin typeface="Calibri"/>
                        </a:rPr>
                        <a:t>Equity delta (/+1%)</a:t>
                      </a:r>
                    </a:p>
                  </a:txBody>
                  <a:tcPr marL="50800" marR="50800" marT="25400" marB="25400" anchor="ctr">
                    <a:solidFill>
                      <a:srgbClr val="182433"/>
                    </a:solidFill>
                  </a:tcPr>
                </a:tc>
                <a:tc>
                  <a:txBody>
                    <a:bodyPr wrap="square"/>
                    <a:lstStyle/>
                    <a:p>
                      <a:pPr algn="ctr"/>
                      <a:r>
                        <a:rPr sz="1080" b="1">
                          <a:solidFill>
                            <a:srgbClr val="FFFFFF"/>
                          </a:solidFill>
                          <a:latin typeface="Calibri"/>
                        </a:rPr>
                        <a:t>FX delta (/+1%)</a:t>
                      </a:r>
                    </a:p>
                  </a:txBody>
                  <a:tcPr marL="50800" marR="50800" marT="25400" marB="25400" anchor="ctr">
                    <a:solidFill>
                      <a:srgbClr val="182433"/>
                    </a:solidFill>
                  </a:tcPr>
                </a:tc>
                <a:tc>
                  <a:txBody>
                    <a:bodyPr wrap="square"/>
                    <a:lstStyle/>
                    <a:p>
                      <a:pPr algn="ctr"/>
                      <a:r>
                        <a:rPr sz="1080" b="1">
                          <a:solidFill>
                            <a:srgbClr val="FFFFFF"/>
                          </a:solidFill>
                          <a:latin typeface="Calibri"/>
                        </a:rPr>
                        <a:t>DV01 (/+1bp)</a:t>
                      </a:r>
                    </a:p>
                  </a:txBody>
                  <a:tcPr marL="50800" marR="50800" marT="25400" marB="25400" anchor="ctr">
                    <a:solidFill>
                      <a:srgbClr val="182433"/>
                    </a:solidFill>
                  </a:tcPr>
                </a:tc>
              </a:tr>
              <a:tr h="402336">
                <a:tc>
                  <a:txBody>
                    <a:bodyPr wrap="square"/>
                    <a:lstStyle/>
                    <a:p>
                      <a:pPr algn="l"/>
                      <a:r>
                        <a:rPr sz="1030" b="0">
                          <a:solidFill>
                            <a:srgbClr val="182433"/>
                          </a:solidFill>
                          <a:latin typeface="Calibri"/>
                        </a:rPr>
                        <a:t>CPTY_A</a:t>
                      </a:r>
                    </a:p>
                  </a:txBody>
                  <a:tcPr marL="50800" marR="50800" marT="25400" marB="25400" anchor="ctr">
                    <a:solidFill>
                      <a:srgbClr val="FFFFFF"/>
                    </a:solidFill>
                  </a:tcPr>
                </a:tc>
                <a:tc>
                  <a:txBody>
                    <a:bodyPr wrap="square"/>
                    <a:lstStyle/>
                    <a:p>
                      <a:pPr algn="ctr"/>
                      <a:r>
                        <a:rPr sz="1030" b="0">
                          <a:solidFill>
                            <a:srgbClr val="182433"/>
                          </a:solidFill>
                          <a:latin typeface="Calibri"/>
                        </a:rPr>
                        <a:t>$3,572,955</a:t>
                      </a:r>
                    </a:p>
                  </a:txBody>
                  <a:tcPr marL="50800" marR="50800" marT="25400" marB="25400" anchor="ctr">
                    <a:solidFill>
                      <a:srgbClr val="FFFFFF"/>
                    </a:solidFill>
                  </a:tcPr>
                </a:tc>
                <a:tc>
                  <a:txBody>
                    <a:bodyPr wrap="square"/>
                    <a:lstStyle/>
                    <a:p>
                      <a:pPr algn="ctr"/>
                      <a:r>
                        <a:rPr sz="1030" b="0">
                          <a:solidFill>
                            <a:srgbClr val="182433"/>
                          </a:solidFill>
                          <a:latin typeface="Calibri"/>
                        </a:rPr>
                        <a:t>-$2,254,257</a:t>
                      </a:r>
                    </a:p>
                  </a:txBody>
                  <a:tcPr marL="50800" marR="50800" marT="25400" marB="25400" anchor="ctr">
                    <a:solidFill>
                      <a:srgbClr val="FFFFFF"/>
                    </a:solidFill>
                  </a:tcPr>
                </a:tc>
                <a:tc>
                  <a:txBody>
                    <a:bodyPr wrap="square"/>
                    <a:lstStyle/>
                    <a:p>
                      <a:pPr algn="ctr"/>
                      <a:r>
                        <a:rPr sz="1030" b="0">
                          <a:solidFill>
                            <a:srgbClr val="182433"/>
                          </a:solidFill>
                          <a:latin typeface="Calibri"/>
                        </a:rPr>
                        <a:t>$0</a:t>
                      </a:r>
                    </a:p>
                  </a:txBody>
                  <a:tcPr marL="50800" marR="50800" marT="25400" marB="25400" anchor="ctr">
                    <a:solidFill>
                      <a:srgbClr val="FFFFFF"/>
                    </a:solidFill>
                  </a:tcPr>
                </a:tc>
                <a:tc>
                  <a:txBody>
                    <a:bodyPr wrap="square"/>
                    <a:lstStyle/>
                    <a:p>
                      <a:pPr algn="ctr"/>
                      <a:r>
                        <a:rPr sz="1030" b="0">
                          <a:solidFill>
                            <a:srgbClr val="182433"/>
                          </a:solidFill>
                          <a:latin typeface="Calibri"/>
                        </a:rPr>
                        <a:t>$31,203</a:t>
                      </a:r>
                    </a:p>
                  </a:txBody>
                  <a:tcPr marL="50800" marR="50800" marT="25400" marB="25400" anchor="ctr">
                    <a:solidFill>
                      <a:srgbClr val="FFFFFF"/>
                    </a:solidFill>
                  </a:tcPr>
                </a:tc>
              </a:tr>
              <a:tr h="402336">
                <a:tc>
                  <a:txBody>
                    <a:bodyPr wrap="square"/>
                    <a:lstStyle/>
                    <a:p>
                      <a:pPr algn="l"/>
                      <a:r>
                        <a:rPr sz="1030" b="0">
                          <a:solidFill>
                            <a:srgbClr val="182433"/>
                          </a:solidFill>
                          <a:latin typeface="Calibri"/>
                        </a:rPr>
                        <a:t>CPTY_B</a:t>
                      </a:r>
                    </a:p>
                  </a:txBody>
                  <a:tcPr marL="50800" marR="50800" marT="25400" marB="25400" anchor="ctr">
                    <a:solidFill>
                      <a:srgbClr val="F7F8FA"/>
                    </a:solidFill>
                  </a:tcPr>
                </a:tc>
                <a:tc>
                  <a:txBody>
                    <a:bodyPr wrap="square"/>
                    <a:lstStyle/>
                    <a:p>
                      <a:pPr algn="ctr"/>
                      <a:r>
                        <a:rPr sz="1030" b="0">
                          <a:solidFill>
                            <a:srgbClr val="182433"/>
                          </a:solidFill>
                          <a:latin typeface="Calibri"/>
                        </a:rPr>
                        <a:t>$1,145,975</a:t>
                      </a:r>
                    </a:p>
                  </a:txBody>
                  <a:tcPr marL="50800" marR="50800" marT="25400" marB="25400" anchor="ctr">
                    <a:solidFill>
                      <a:srgbClr val="F7F8FA"/>
                    </a:solidFill>
                  </a:tcPr>
                </a:tc>
                <a:tc>
                  <a:txBody>
                    <a:bodyPr wrap="square"/>
                    <a:lstStyle/>
                    <a:p>
                      <a:pPr algn="ctr"/>
                      <a:r>
                        <a:rPr sz="1030" b="0">
                          <a:solidFill>
                            <a:srgbClr val="182433"/>
                          </a:solidFill>
                          <a:latin typeface="Calibri"/>
                        </a:rPr>
                        <a:t>-$961,146</a:t>
                      </a:r>
                    </a:p>
                  </a:txBody>
                  <a:tcPr marL="50800" marR="50800" marT="25400" marB="25400" anchor="ctr">
                    <a:solidFill>
                      <a:srgbClr val="F7F8FA"/>
                    </a:solidFill>
                  </a:tcPr>
                </a:tc>
                <a:tc>
                  <a:txBody>
                    <a:bodyPr wrap="square"/>
                    <a:lstStyle/>
                    <a:p>
                      <a:pPr algn="ctr"/>
                      <a:r>
                        <a:rPr sz="1030" b="0">
                          <a:solidFill>
                            <a:srgbClr val="182433"/>
                          </a:solidFill>
                          <a:latin typeface="Calibri"/>
                        </a:rPr>
                        <a:t>$416,550</a:t>
                      </a:r>
                    </a:p>
                  </a:txBody>
                  <a:tcPr marL="50800" marR="50800" marT="25400" marB="25400" anchor="ctr">
                    <a:solidFill>
                      <a:srgbClr val="F7F8FA"/>
                    </a:solidFill>
                  </a:tcPr>
                </a:tc>
                <a:tc>
                  <a:txBody>
                    <a:bodyPr wrap="square"/>
                    <a:lstStyle/>
                    <a:p>
                      <a:pPr algn="ctr"/>
                      <a:r>
                        <a:rPr sz="1030" b="0">
                          <a:solidFill>
                            <a:srgbClr val="182433"/>
                          </a:solidFill>
                          <a:latin typeface="Calibri"/>
                        </a:rPr>
                        <a:t>-$3,663</a:t>
                      </a:r>
                    </a:p>
                  </a:txBody>
                  <a:tcPr marL="50800" marR="50800" marT="25400" marB="25400" anchor="ctr">
                    <a:solidFill>
                      <a:srgbClr val="F7F8FA"/>
                    </a:solidFill>
                  </a:tcPr>
                </a:tc>
              </a:tr>
              <a:tr h="402336">
                <a:tc>
                  <a:txBody>
                    <a:bodyPr wrap="square"/>
                    <a:lstStyle/>
                    <a:p>
                      <a:pPr algn="l"/>
                      <a:r>
                        <a:rPr sz="1030" b="0">
                          <a:solidFill>
                            <a:srgbClr val="182433"/>
                          </a:solidFill>
                          <a:latin typeface="Calibri"/>
                        </a:rPr>
                        <a:t>CPTY_C</a:t>
                      </a:r>
                    </a:p>
                  </a:txBody>
                  <a:tcPr marL="50800" marR="50800" marT="25400" marB="25400" anchor="ctr">
                    <a:solidFill>
                      <a:srgbClr val="FFFFFF"/>
                    </a:solidFill>
                  </a:tcPr>
                </a:tc>
                <a:tc>
                  <a:txBody>
                    <a:bodyPr wrap="square"/>
                    <a:lstStyle/>
                    <a:p>
                      <a:pPr algn="ctr"/>
                      <a:r>
                        <a:rPr sz="1030" b="0">
                          <a:solidFill>
                            <a:srgbClr val="182433"/>
                          </a:solidFill>
                          <a:latin typeface="Calibri"/>
                        </a:rPr>
                        <a:t>$125,116,984</a:t>
                      </a:r>
                    </a:p>
                  </a:txBody>
                  <a:tcPr marL="50800" marR="50800" marT="25400" marB="25400" anchor="ctr">
                    <a:solidFill>
                      <a:srgbClr val="FFFFFF"/>
                    </a:solidFill>
                  </a:tcPr>
                </a:tc>
                <a:tc>
                  <a:txBody>
                    <a:bodyPr wrap="square"/>
                    <a:lstStyle/>
                    <a:p>
                      <a:pPr algn="ctr"/>
                      <a:r>
                        <a:rPr sz="1030" b="0">
                          <a:solidFill>
                            <a:srgbClr val="182433"/>
                          </a:solidFill>
                          <a:latin typeface="Calibri"/>
                        </a:rPr>
                        <a:t>-$1,240,431</a:t>
                      </a:r>
                    </a:p>
                  </a:txBody>
                  <a:tcPr marL="50800" marR="50800" marT="25400" marB="25400" anchor="ctr">
                    <a:solidFill>
                      <a:srgbClr val="FFFFFF"/>
                    </a:solidFill>
                  </a:tcPr>
                </a:tc>
                <a:tc>
                  <a:txBody>
                    <a:bodyPr wrap="square"/>
                    <a:lstStyle/>
                    <a:p>
                      <a:pPr algn="ctr"/>
                      <a:r>
                        <a:rPr sz="1030" b="0">
                          <a:solidFill>
                            <a:srgbClr val="182433"/>
                          </a:solidFill>
                          <a:latin typeface="Calibri"/>
                        </a:rPr>
                        <a:t>$0</a:t>
                      </a:r>
                    </a:p>
                  </a:txBody>
                  <a:tcPr marL="50800" marR="50800" marT="25400" marB="25400" anchor="ctr">
                    <a:solidFill>
                      <a:srgbClr val="FFFFFF"/>
                    </a:solidFill>
                  </a:tcPr>
                </a:tc>
                <a:tc>
                  <a:txBody>
                    <a:bodyPr wrap="square"/>
                    <a:lstStyle/>
                    <a:p>
                      <a:pPr algn="ctr"/>
                      <a:r>
                        <a:rPr sz="1030" b="0">
                          <a:solidFill>
                            <a:srgbClr val="182433"/>
                          </a:solidFill>
                          <a:latin typeface="Calibri"/>
                        </a:rPr>
                        <a:t>$594,443</a:t>
                      </a:r>
                    </a:p>
                  </a:txBody>
                  <a:tcPr marL="50800" marR="50800" marT="25400" marB="25400" anchor="ctr">
                    <a:solidFill>
                      <a:srgbClr val="FFFFFF"/>
                    </a:solidFill>
                  </a:tcPr>
                </a:tc>
              </a:tr>
              <a:tr h="402336">
                <a:tc>
                  <a:txBody>
                    <a:bodyPr wrap="square"/>
                    <a:lstStyle/>
                    <a:p>
                      <a:pPr algn="l"/>
                      <a:r>
                        <a:rPr sz="1030" b="0">
                          <a:solidFill>
                            <a:srgbClr val="182433"/>
                          </a:solidFill>
                          <a:latin typeface="Calibri"/>
                        </a:rPr>
                        <a:t>Portfolio</a:t>
                      </a:r>
                    </a:p>
                  </a:txBody>
                  <a:tcPr marL="50800" marR="50800" marT="25400" marB="25400" anchor="ctr">
                    <a:solidFill>
                      <a:srgbClr val="F7F8FA"/>
                    </a:solidFill>
                  </a:tcPr>
                </a:tc>
                <a:tc>
                  <a:txBody>
                    <a:bodyPr wrap="square"/>
                    <a:lstStyle/>
                    <a:p>
                      <a:pPr algn="ctr"/>
                      <a:r>
                        <a:rPr sz="1030" b="0">
                          <a:solidFill>
                            <a:srgbClr val="182433"/>
                          </a:solidFill>
                          <a:latin typeface="Calibri"/>
                        </a:rPr>
                        <a:t>$129,835,914</a:t>
                      </a:r>
                    </a:p>
                  </a:txBody>
                  <a:tcPr marL="50800" marR="50800" marT="25400" marB="25400" anchor="ctr">
                    <a:solidFill>
                      <a:srgbClr val="F7F8FA"/>
                    </a:solidFill>
                  </a:tcPr>
                </a:tc>
                <a:tc>
                  <a:txBody>
                    <a:bodyPr wrap="square"/>
                    <a:lstStyle/>
                    <a:p>
                      <a:pPr algn="ctr"/>
                      <a:r>
                        <a:rPr sz="1030" b="0">
                          <a:solidFill>
                            <a:srgbClr val="182433"/>
                          </a:solidFill>
                          <a:latin typeface="Calibri"/>
                        </a:rPr>
                        <a:t>-$4,455,835</a:t>
                      </a:r>
                    </a:p>
                  </a:txBody>
                  <a:tcPr marL="50800" marR="50800" marT="25400" marB="25400" anchor="ctr">
                    <a:solidFill>
                      <a:srgbClr val="F7F8FA"/>
                    </a:solidFill>
                  </a:tcPr>
                </a:tc>
                <a:tc>
                  <a:txBody>
                    <a:bodyPr wrap="square"/>
                    <a:lstStyle/>
                    <a:p>
                      <a:pPr algn="ctr"/>
                      <a:r>
                        <a:rPr sz="1030" b="0">
                          <a:solidFill>
                            <a:srgbClr val="182433"/>
                          </a:solidFill>
                          <a:latin typeface="Calibri"/>
                        </a:rPr>
                        <a:t>$416,550</a:t>
                      </a:r>
                    </a:p>
                  </a:txBody>
                  <a:tcPr marL="50800" marR="50800" marT="25400" marB="25400" anchor="ctr">
                    <a:solidFill>
                      <a:srgbClr val="F7F8FA"/>
                    </a:solidFill>
                  </a:tcPr>
                </a:tc>
                <a:tc>
                  <a:txBody>
                    <a:bodyPr wrap="square"/>
                    <a:lstStyle/>
                    <a:p>
                      <a:pPr algn="ctr"/>
                      <a:r>
                        <a:rPr sz="1030" b="0">
                          <a:solidFill>
                            <a:srgbClr val="182433"/>
                          </a:solidFill>
                          <a:latin typeface="Calibri"/>
                        </a:rPr>
                        <a:t>$621,983</a:t>
                      </a:r>
                    </a:p>
                  </a:txBody>
                  <a:tcPr marL="50800" marR="50800" marT="25400" marB="25400" anchor="ctr">
                    <a:solidFill>
                      <a:srgbClr val="F7F8FA"/>
                    </a:solidFill>
                  </a:tcPr>
                </a:tc>
              </a:tr>
            </a:tbl>
          </a:graphicData>
        </a:graphic>
      </p:graphicFrame>
      <p:sp>
        <p:nvSpPr>
          <p:cNvPr id="8" name="TextBox 7"/>
          <p:cNvSpPr txBox="1"/>
          <p:nvPr/>
        </p:nvSpPr>
        <p:spPr>
          <a:xfrm>
            <a:off x="457200" y="3931920"/>
            <a:ext cx="11247120" cy="2377440"/>
          </a:xfrm>
          <a:prstGeom prst="rect">
            <a:avLst/>
          </a:prstGeom>
          <a:noFill/>
        </p:spPr>
        <p:txBody>
          <a:bodyPr wrap="square" lIns="0" rIns="0" tIns="0" bIns="0">
            <a:spAutoFit/>
          </a:bodyPr>
          <a:lstStyle/>
          <a:p>
            <a:pPr>
              <a:lnSpc>
                <a:spcPct val="105000"/>
              </a:lnSpc>
              <a:spcAft>
                <a:spcPts val="800"/>
              </a:spcAft>
            </a:pPr>
            <a:r>
              <a:rPr sz="1250" b="0">
                <a:solidFill>
                  <a:srgbClr val="182433"/>
                </a:solidFill>
                <a:latin typeface="Calibri"/>
              </a:rPr>
              <a:t>•  Efficiency: equity/FX Greeks cost almost nothing extra -- 78 bumps in 88s (1.1s each) because a spot bump rescales every GBM path exactly, no resimulation needed</a:t>
            </a:r>
          </a:p>
          <a:p>
            <a:pPr>
              <a:lnSpc>
                <a:spcPct val="105000"/>
              </a:lnSpc>
              <a:spcAft>
                <a:spcPts val="800"/>
              </a:spcAft>
            </a:pPr>
            <a:r>
              <a:rPr sz="1250" b="0">
                <a:solidFill>
                  <a:srgbClr val="182433"/>
                </a:solidFill>
                <a:latin typeface="Calibri"/>
              </a:rPr>
              <a:t>•  vs ~8,166s if each were a naive resimulation -- 93x cheaper; only 13 rate/vol bumps need true resimulation at ~109s each</a:t>
            </a:r>
          </a:p>
          <a:p>
            <a:pPr>
              <a:lnSpc>
                <a:spcPct val="105000"/>
              </a:lnSpc>
              <a:spcAft>
                <a:spcPts val="800"/>
              </a:spcAft>
            </a:pPr>
            <a:r>
              <a:rPr sz="1250" b="0">
                <a:solidFill>
                  <a:srgbClr val="182433"/>
                </a:solidFill>
                <a:latin typeface="Calibri"/>
              </a:rPr>
              <a:t>•  Full Greeks set (~91 factor bumps) costs ~1,614s at N=300 (8 cores) against ~9,690s naive -- 6.0x; at production N=1,000 the whole set costs roughly 1.5 hours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Validated to 0.0000%, Then Stress-Tested Across 13 Scenarios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66960" y="1152144"/>
            <a:ext cx="1737360" cy="274320"/>
          </a:xfrm>
          <a:prstGeom prst="roundRect">
            <a:avLst/>
          </a:prstGeom>
          <a:solidFill>
            <a:srgbClr val="FCE8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8100" tIns="12700" bIns="12700"/>
          <a:lstStyle/>
          <a:p>
            <a:pPr algn="ctr"/>
            <a:r>
              <a:rPr sz="950" b="1">
                <a:solidFill>
                  <a:srgbClr val="9A0052"/>
                </a:solidFill>
                <a:latin typeface="Calibri"/>
              </a:rPr>
              <a:t>Feedback-driven</a:t>
            </a:r>
          </a:p>
        </p:txBody>
      </p:sp>
      <p:sp>
        <p:nvSpPr>
          <p:cNvPr id="5" name="TextBox 4"/>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6" name="TextBox 5"/>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43</a:t>
            </a:r>
          </a:p>
        </p:txBody>
      </p:sp>
      <p:sp>
        <p:nvSpPr>
          <p:cNvPr id="7" name="TextBox 6"/>
          <p:cNvSpPr txBox="1"/>
          <p:nvPr/>
        </p:nvSpPr>
        <p:spPr>
          <a:xfrm>
            <a:off x="457200" y="1325880"/>
            <a:ext cx="11247120" cy="274320"/>
          </a:xfrm>
          <a:prstGeom prst="rect">
            <a:avLst/>
          </a:prstGeom>
          <a:noFill/>
        </p:spPr>
        <p:txBody>
          <a:bodyPr wrap="square" anchor="t" lIns="0" rIns="0" tIns="0" bIns="0">
            <a:spAutoFit/>
          </a:bodyPr>
          <a:lstStyle/>
          <a:p>
            <a:pPr algn="l"/>
            <a:r>
              <a:rPr sz="1300" b="1" i="0">
                <a:solidFill>
                  <a:srgbClr val="182433"/>
                </a:solidFill>
                <a:latin typeface="Cambria"/>
              </a:rPr>
              <a:t>Validation: 5 independent checks</a:t>
            </a:r>
          </a:p>
        </p:txBody>
      </p:sp>
      <p:graphicFrame>
        <p:nvGraphicFramePr>
          <p:cNvPr id="8" name="Table 7"/>
          <p:cNvGraphicFramePr>
            <a:graphicFrameLocks noGrp="1"/>
          </p:cNvGraphicFramePr>
          <p:nvPr/>
        </p:nvGraphicFramePr>
        <p:xfrm>
          <a:off x="457200" y="1627632"/>
          <a:ext cx="11247119" cy="1371600"/>
        </p:xfrm>
        <a:graphic>
          <a:graphicData uri="http://schemas.openxmlformats.org/drawingml/2006/table">
            <a:tbl>
              <a:tblPr firstRow="1" bandRow="1">
                <a:tableStyleId>{5C22544A-7EE6-4342-B048-85BDC9FD1C3A}</a:tableStyleId>
              </a:tblPr>
              <a:tblGrid>
                <a:gridCol w="5943600"/>
                <a:gridCol w="5303519"/>
              </a:tblGrid>
              <a:tr h="228600">
                <a:tc>
                  <a:txBody>
                    <a:bodyPr wrap="square"/>
                    <a:lstStyle/>
                    <a:p>
                      <a:pPr algn="l"/>
                      <a:r>
                        <a:rPr sz="950" b="1">
                          <a:solidFill>
                            <a:srgbClr val="FFFFFF"/>
                          </a:solidFill>
                          <a:latin typeface="Calibri"/>
                        </a:rPr>
                        <a:t>Check</a:t>
                      </a:r>
                    </a:p>
                  </a:txBody>
                  <a:tcPr marL="50800" marR="50800" marT="25400" marB="25400" anchor="ctr">
                    <a:solidFill>
                      <a:srgbClr val="182433"/>
                    </a:solidFill>
                  </a:tcPr>
                </a:tc>
                <a:tc>
                  <a:txBody>
                    <a:bodyPr wrap="square"/>
                    <a:lstStyle/>
                    <a:p>
                      <a:pPr algn="ctr"/>
                      <a:r>
                        <a:rPr sz="950" b="1">
                          <a:solidFill>
                            <a:srgbClr val="FFFFFF"/>
                          </a:solidFill>
                          <a:latin typeface="Calibri"/>
                        </a:rPr>
                        <a:t>Result</a:t>
                      </a:r>
                    </a:p>
                  </a:txBody>
                  <a:tcPr marL="50800" marR="50800" marT="25400" marB="25400" anchor="ctr">
                    <a:solidFill>
                      <a:srgbClr val="182433"/>
                    </a:solidFill>
                  </a:tcPr>
                </a:tc>
              </a:tr>
              <a:tr h="228600">
                <a:tc>
                  <a:txBody>
                    <a:bodyPr wrap="square"/>
                    <a:lstStyle/>
                    <a:p>
                      <a:pPr algn="l"/>
                      <a:r>
                        <a:rPr sz="900" b="0">
                          <a:solidFill>
                            <a:srgbClr val="182433"/>
                          </a:solidFill>
                          <a:latin typeface="Calibri"/>
                        </a:rPr>
                        <a:t>t=0 self-consistency (EE(0) vs direct exposure)</a:t>
                      </a:r>
                    </a:p>
                  </a:txBody>
                  <a:tcPr marL="50800" marR="50800" marT="25400" marB="25400" anchor="ctr">
                    <a:solidFill>
                      <a:srgbClr val="FFFFFF"/>
                    </a:solidFill>
                  </a:tcPr>
                </a:tc>
                <a:tc>
                  <a:txBody>
                    <a:bodyPr wrap="square"/>
                    <a:lstStyle/>
                    <a:p>
                      <a:pPr algn="ctr"/>
                      <a:r>
                        <a:rPr sz="900" b="0">
                          <a:solidFill>
                            <a:srgbClr val="182433"/>
                          </a:solidFill>
                          <a:latin typeface="Calibri"/>
                        </a:rPr>
                        <a:t>Matches to 0.0000%</a:t>
                      </a:r>
                    </a:p>
                  </a:txBody>
                  <a:tcPr marL="50800" marR="50800" marT="25400" marB="25400" anchor="ctr">
                    <a:solidFill>
                      <a:srgbClr val="FFFFFF"/>
                    </a:solidFill>
                  </a:tcPr>
                </a:tc>
              </a:tr>
              <a:tr h="228600">
                <a:tc>
                  <a:txBody>
                    <a:bodyPr wrap="square"/>
                    <a:lstStyle/>
                    <a:p>
                      <a:pPr algn="l"/>
                      <a:r>
                        <a:rPr sz="900" b="0">
                          <a:solidFill>
                            <a:srgbClr val="182433"/>
                          </a:solidFill>
                          <a:latin typeface="Calibri"/>
                        </a:rPr>
                        <a:t>Martingale / no-arbitrage (bank-account check, 8,000 paths)</a:t>
                      </a:r>
                    </a:p>
                  </a:txBody>
                  <a:tcPr marL="50800" marR="50800" marT="25400" marB="25400" anchor="ctr">
                    <a:solidFill>
                      <a:srgbClr val="F7F8FA"/>
                    </a:solidFill>
                  </a:tcPr>
                </a:tc>
                <a:tc>
                  <a:txBody>
                    <a:bodyPr wrap="square"/>
                    <a:lstStyle/>
                    <a:p>
                      <a:pPr algn="ctr"/>
                      <a:r>
                        <a:rPr sz="900" b="0">
                          <a:solidFill>
                            <a:srgbClr val="182433"/>
                          </a:solidFill>
                          <a:latin typeface="Calibri"/>
                        </a:rPr>
                        <a:t>Max relative difference 0.85bp across nodes</a:t>
                      </a:r>
                    </a:p>
                  </a:txBody>
                  <a:tcPr marL="50800" marR="50800" marT="25400" marB="25400" anchor="ctr">
                    <a:solidFill>
                      <a:srgbClr val="F7F8FA"/>
                    </a:solidFill>
                  </a:tcPr>
                </a:tc>
              </a:tr>
              <a:tr h="228600">
                <a:tc>
                  <a:txBody>
                    <a:bodyPr wrap="square"/>
                    <a:lstStyle/>
                    <a:p>
                      <a:pPr algn="l"/>
                      <a:r>
                        <a:rPr sz="900" b="0">
                          <a:solidFill>
                            <a:srgbClr val="182433"/>
                          </a:solidFill>
                          <a:latin typeface="Calibri"/>
                        </a:rPr>
                        <a:t>JPY bank-account martingale (valued in USD)</a:t>
                      </a:r>
                    </a:p>
                  </a:txBody>
                  <a:tcPr marL="50800" marR="50800" marT="25400" marB="25400" anchor="ctr">
                    <a:solidFill>
                      <a:srgbClr val="FFFFFF"/>
                    </a:solidFill>
                  </a:tcPr>
                </a:tc>
                <a:tc>
                  <a:txBody>
                    <a:bodyPr wrap="square"/>
                    <a:lstStyle/>
                    <a:p>
                      <a:pPr algn="ctr"/>
                      <a:r>
                        <a:rPr sz="900" b="0">
                          <a:solidFill>
                            <a:srgbClr val="182433"/>
                          </a:solidFill>
                          <a:latin typeface="Calibri"/>
                        </a:rPr>
                        <a:t>z = +0.03 (|z|&lt;~2 expected under null)</a:t>
                      </a:r>
                    </a:p>
                  </a:txBody>
                  <a:tcPr marL="50800" marR="50800" marT="25400" marB="25400" anchor="ctr">
                    <a:solidFill>
                      <a:srgbClr val="FFFFFF"/>
                    </a:solidFill>
                  </a:tcPr>
                </a:tc>
              </a:tr>
              <a:tr h="228600">
                <a:tc>
                  <a:txBody>
                    <a:bodyPr wrap="square"/>
                    <a:lstStyle/>
                    <a:p>
                      <a:pPr algn="l"/>
                      <a:r>
                        <a:rPr sz="900" b="0">
                          <a:solidFill>
                            <a:srgbClr val="182433"/>
                          </a:solidFill>
                          <a:latin typeface="Calibri"/>
                        </a:rPr>
                        <a:t>Delta-normal VaR benchmark (99%, 1-day)</a:t>
                      </a:r>
                    </a:p>
                  </a:txBody>
                  <a:tcPr marL="50800" marR="50800" marT="25400" marB="25400" anchor="ctr">
                    <a:solidFill>
                      <a:srgbClr val="F7F8FA"/>
                    </a:solidFill>
                  </a:tcPr>
                </a:tc>
                <a:tc>
                  <a:txBody>
                    <a:bodyPr wrap="square"/>
                    <a:lstStyle/>
                    <a:p>
                      <a:pPr algn="ctr"/>
                      <a:r>
                        <a:rPr sz="900" b="0">
                          <a:solidFill>
                            <a:srgbClr val="182433"/>
                          </a:solidFill>
                          <a:latin typeface="Calibri"/>
                        </a:rPr>
                        <a:t>$12.6M (parametric) vs $12.1M (Monte Carlo); ratio 1.04x</a:t>
                      </a:r>
                    </a:p>
                  </a:txBody>
                  <a:tcPr marL="50800" marR="50800" marT="25400" marB="25400" anchor="ctr">
                    <a:solidFill>
                      <a:srgbClr val="F7F8FA"/>
                    </a:solidFill>
                  </a:tcPr>
                </a:tc>
              </a:tr>
              <a:tr h="228600">
                <a:tc>
                  <a:txBody>
                    <a:bodyPr wrap="square"/>
                    <a:lstStyle/>
                    <a:p>
                      <a:pPr algn="l"/>
                      <a:r>
                        <a:rPr sz="900" b="0">
                          <a:solidFill>
                            <a:srgbClr val="182433"/>
                          </a:solidFill>
                          <a:latin typeface="Calibri"/>
                        </a:rPr>
                        <a:t>Automated statistical and unit tests</a:t>
                      </a:r>
                    </a:p>
                  </a:txBody>
                  <a:tcPr marL="50800" marR="50800" marT="25400" marB="25400" anchor="ctr">
                    <a:solidFill>
                      <a:srgbClr val="FFFFFF"/>
                    </a:solidFill>
                  </a:tcPr>
                </a:tc>
                <a:tc>
                  <a:txBody>
                    <a:bodyPr wrap="square"/>
                    <a:lstStyle/>
                    <a:p>
                      <a:pPr algn="ctr"/>
                      <a:r>
                        <a:rPr sz="900" b="0">
                          <a:solidFill>
                            <a:srgbClr val="182433"/>
                          </a:solidFill>
                          <a:latin typeface="Calibri"/>
                        </a:rPr>
                        <a:t>142 pass</a:t>
                      </a:r>
                    </a:p>
                  </a:txBody>
                  <a:tcPr marL="50800" marR="50800" marT="25400" marB="25400" anchor="ctr">
                    <a:solidFill>
                      <a:srgbClr val="FFFFFF"/>
                    </a:solidFill>
                  </a:tcPr>
                </a:tc>
              </a:tr>
            </a:tbl>
          </a:graphicData>
        </a:graphic>
      </p:graphicFrame>
      <p:sp>
        <p:nvSpPr>
          <p:cNvPr id="9" name="TextBox 8"/>
          <p:cNvSpPr txBox="1"/>
          <p:nvPr/>
        </p:nvSpPr>
        <p:spPr>
          <a:xfrm>
            <a:off x="457200" y="3063240"/>
            <a:ext cx="11247120" cy="274320"/>
          </a:xfrm>
          <a:prstGeom prst="rect">
            <a:avLst/>
          </a:prstGeom>
          <a:noFill/>
        </p:spPr>
        <p:txBody>
          <a:bodyPr wrap="square" anchor="t" lIns="0" rIns="0" tIns="0" bIns="0">
            <a:spAutoFit/>
          </a:bodyPr>
          <a:lstStyle/>
          <a:p>
            <a:pPr algn="l"/>
            <a:r>
              <a:rPr sz="950" b="0" i="1">
                <a:solidFill>
                  <a:srgbClr val="6B7280"/>
                </a:solidFill>
                <a:latin typeface="Calibri"/>
              </a:rPr>
              <a:t>Each check isolates one layer (paths, pricing, calibration, aggregation) and rests on an independent method, not a circular check of the engine against itself.</a:t>
            </a:r>
          </a:p>
        </p:txBody>
      </p:sp>
      <p:sp>
        <p:nvSpPr>
          <p:cNvPr id="10" name="TextBox 9"/>
          <p:cNvSpPr txBox="1"/>
          <p:nvPr/>
        </p:nvSpPr>
        <p:spPr>
          <a:xfrm>
            <a:off x="457200" y="3429000"/>
            <a:ext cx="11247120" cy="274320"/>
          </a:xfrm>
          <a:prstGeom prst="rect">
            <a:avLst/>
          </a:prstGeom>
          <a:noFill/>
        </p:spPr>
        <p:txBody>
          <a:bodyPr wrap="square" anchor="t" lIns="0" rIns="0" tIns="0" bIns="0">
            <a:spAutoFit/>
          </a:bodyPr>
          <a:lstStyle/>
          <a:p>
            <a:pPr algn="l"/>
            <a:r>
              <a:rPr sz="1300" b="1" i="0">
                <a:solidFill>
                  <a:srgbClr val="182433"/>
                </a:solidFill>
                <a:latin typeface="Cambria"/>
              </a:rPr>
              <a:t>Stress testing: 13 scenarios, close-out vs. level</a:t>
            </a:r>
          </a:p>
        </p:txBody>
      </p:sp>
      <p:graphicFrame>
        <p:nvGraphicFramePr>
          <p:cNvPr id="11" name="Table 10"/>
          <p:cNvGraphicFramePr>
            <a:graphicFrameLocks noGrp="1"/>
          </p:cNvGraphicFramePr>
          <p:nvPr/>
        </p:nvGraphicFramePr>
        <p:xfrm>
          <a:off x="457200" y="3703320"/>
          <a:ext cx="4663440" cy="1737358"/>
        </p:xfrm>
        <a:graphic>
          <a:graphicData uri="http://schemas.openxmlformats.org/drawingml/2006/table">
            <a:tbl>
              <a:tblPr firstRow="1" bandRow="1">
                <a:tableStyleId>{5C22544A-7EE6-4342-B048-85BDC9FD1C3A}</a:tableStyleId>
              </a:tblPr>
              <a:tblGrid>
                <a:gridCol w="1865376"/>
                <a:gridCol w="1399032"/>
                <a:gridCol w="1399032"/>
              </a:tblGrid>
              <a:tr h="248194">
                <a:tc>
                  <a:txBody>
                    <a:bodyPr wrap="square"/>
                    <a:lstStyle/>
                    <a:p>
                      <a:pPr algn="l"/>
                      <a:r>
                        <a:rPr sz="930" b="1">
                          <a:solidFill>
                            <a:srgbClr val="FFFFFF"/>
                          </a:solidFill>
                          <a:latin typeface="Calibri"/>
                        </a:rPr>
                        <a:t>Scenario</a:t>
                      </a:r>
                    </a:p>
                  </a:txBody>
                  <a:tcPr marL="50800" marR="50800" marT="25400" marB="25400" anchor="ctr">
                    <a:solidFill>
                      <a:srgbClr val="182433"/>
                    </a:solidFill>
                  </a:tcPr>
                </a:tc>
                <a:tc>
                  <a:txBody>
                    <a:bodyPr wrap="square"/>
                    <a:lstStyle/>
                    <a:p>
                      <a:pPr algn="ctr"/>
                      <a:r>
                        <a:rPr sz="930" b="1">
                          <a:solidFill>
                            <a:srgbClr val="FFFFFF"/>
                          </a:solidFill>
                          <a:latin typeface="Calibri"/>
                        </a:rPr>
                        <a:t>Close-out MPE99</a:t>
                      </a:r>
                    </a:p>
                  </a:txBody>
                  <a:tcPr marL="50800" marR="50800" marT="25400" marB="25400" anchor="ctr">
                    <a:solidFill>
                      <a:srgbClr val="182433"/>
                    </a:solidFill>
                  </a:tcPr>
                </a:tc>
                <a:tc>
                  <a:txBody>
                    <a:bodyPr wrap="square"/>
                    <a:lstStyle/>
                    <a:p>
                      <a:pPr algn="ctr"/>
                      <a:r>
                        <a:rPr sz="930" b="1">
                          <a:solidFill>
                            <a:srgbClr val="FFFFFF"/>
                          </a:solidFill>
                          <a:latin typeface="Calibri"/>
                        </a:rPr>
                        <a:t>Level MPE99</a:t>
                      </a:r>
                    </a:p>
                  </a:txBody>
                  <a:tcPr marL="50800" marR="50800" marT="25400" marB="25400" anchor="ctr">
                    <a:solidFill>
                      <a:srgbClr val="182433"/>
                    </a:solidFill>
                  </a:tcPr>
                </a:tc>
              </a:tr>
              <a:tr h="248194">
                <a:tc>
                  <a:txBody>
                    <a:bodyPr wrap="square"/>
                    <a:lstStyle/>
                    <a:p>
                      <a:pPr algn="l"/>
                      <a:r>
                        <a:rPr sz="880" b="0">
                          <a:solidFill>
                            <a:srgbClr val="182433"/>
                          </a:solidFill>
                          <a:latin typeface="Calibri"/>
                        </a:rPr>
                        <a:t>Base case</a:t>
                      </a:r>
                    </a:p>
                  </a:txBody>
                  <a:tcPr marL="50800" marR="50800" marT="25400" marB="25400" anchor="ctr">
                    <a:solidFill>
                      <a:srgbClr val="FFFFFF"/>
                    </a:solidFill>
                  </a:tcPr>
                </a:tc>
                <a:tc>
                  <a:txBody>
                    <a:bodyPr wrap="square"/>
                    <a:lstStyle/>
                    <a:p>
                      <a:pPr algn="ctr"/>
                      <a:r>
                        <a:rPr sz="880" b="0">
                          <a:solidFill>
                            <a:srgbClr val="182433"/>
                          </a:solidFill>
                          <a:latin typeface="Calibri"/>
                        </a:rPr>
                        <a:t>$49.2M</a:t>
                      </a:r>
                    </a:p>
                  </a:txBody>
                  <a:tcPr marL="50800" marR="50800" marT="25400" marB="25400" anchor="ctr">
                    <a:solidFill>
                      <a:srgbClr val="FFFFFF"/>
                    </a:solidFill>
                  </a:tcPr>
                </a:tc>
                <a:tc>
                  <a:txBody>
                    <a:bodyPr wrap="square"/>
                    <a:lstStyle/>
                    <a:p>
                      <a:pPr algn="ctr"/>
                      <a:r>
                        <a:rPr sz="880" b="0">
                          <a:solidFill>
                            <a:srgbClr val="182433"/>
                          </a:solidFill>
                          <a:latin typeface="Calibri"/>
                        </a:rPr>
                        <a:t>$201.7M</a:t>
                      </a:r>
                    </a:p>
                  </a:txBody>
                  <a:tcPr marL="50800" marR="50800" marT="25400" marB="25400" anchor="ctr">
                    <a:solidFill>
                      <a:srgbClr val="FFFFFF"/>
                    </a:solidFill>
                  </a:tcPr>
                </a:tc>
              </a:tr>
              <a:tr h="248194">
                <a:tc>
                  <a:txBody>
                    <a:bodyPr wrap="square"/>
                    <a:lstStyle/>
                    <a:p>
                      <a:pPr algn="l"/>
                      <a:r>
                        <a:rPr sz="880" b="0">
                          <a:solidFill>
                            <a:srgbClr val="182433"/>
                          </a:solidFill>
                          <a:latin typeface="Calibri"/>
                        </a:rPr>
                        <a:t>Equities -30%</a:t>
                      </a:r>
                    </a:p>
                  </a:txBody>
                  <a:tcPr marL="50800" marR="50800" marT="25400" marB="25400" anchor="ctr">
                    <a:solidFill>
                      <a:srgbClr val="F7F8FA"/>
                    </a:solidFill>
                  </a:tcPr>
                </a:tc>
                <a:tc>
                  <a:txBody>
                    <a:bodyPr wrap="square"/>
                    <a:lstStyle/>
                    <a:p>
                      <a:pPr algn="ctr"/>
                      <a:r>
                        <a:rPr sz="880" b="0">
                          <a:solidFill>
                            <a:srgbClr val="182433"/>
                          </a:solidFill>
                          <a:latin typeface="Calibri"/>
                        </a:rPr>
                        <a:t>-16%</a:t>
                      </a:r>
                    </a:p>
                  </a:txBody>
                  <a:tcPr marL="50800" marR="50800" marT="25400" marB="25400" anchor="ctr">
                    <a:solidFill>
                      <a:srgbClr val="F7F8FA"/>
                    </a:solidFill>
                  </a:tcPr>
                </a:tc>
                <a:tc>
                  <a:txBody>
                    <a:bodyPr wrap="square"/>
                    <a:lstStyle/>
                    <a:p>
                      <a:pPr algn="ctr"/>
                      <a:r>
                        <a:rPr sz="880" b="0">
                          <a:solidFill>
                            <a:srgbClr val="182433"/>
                          </a:solidFill>
                          <a:latin typeface="Calibri"/>
                        </a:rPr>
                        <a:t>+60%</a:t>
                      </a:r>
                    </a:p>
                  </a:txBody>
                  <a:tcPr marL="50800" marR="50800" marT="25400" marB="25400" anchor="ctr">
                    <a:solidFill>
                      <a:srgbClr val="F7F8FA"/>
                    </a:solidFill>
                  </a:tcPr>
                </a:tc>
              </a:tr>
              <a:tr h="248194">
                <a:tc>
                  <a:txBody>
                    <a:bodyPr wrap="square"/>
                    <a:lstStyle/>
                    <a:p>
                      <a:pPr algn="l"/>
                      <a:r>
                        <a:rPr sz="880" b="0">
                          <a:solidFill>
                            <a:srgbClr val="182433"/>
                          </a:solidFill>
                          <a:latin typeface="Calibri"/>
                        </a:rPr>
                        <a:t>Rates -200bp</a:t>
                      </a:r>
                    </a:p>
                  </a:txBody>
                  <a:tcPr marL="50800" marR="50800" marT="25400" marB="25400" anchor="ctr">
                    <a:solidFill>
                      <a:srgbClr val="FFFFFF"/>
                    </a:solidFill>
                  </a:tcPr>
                </a:tc>
                <a:tc>
                  <a:txBody>
                    <a:bodyPr wrap="square"/>
                    <a:lstStyle/>
                    <a:p>
                      <a:pPr algn="ctr"/>
                      <a:r>
                        <a:rPr sz="880" b="0">
                          <a:solidFill>
                            <a:srgbClr val="182433"/>
                          </a:solidFill>
                          <a:latin typeface="Calibri"/>
                        </a:rPr>
                        <a:t>+23%</a:t>
                      </a:r>
                    </a:p>
                  </a:txBody>
                  <a:tcPr marL="50800" marR="50800" marT="25400" marB="25400" anchor="ctr">
                    <a:solidFill>
                      <a:srgbClr val="FFFFFF"/>
                    </a:solidFill>
                  </a:tcPr>
                </a:tc>
                <a:tc>
                  <a:txBody>
                    <a:bodyPr wrap="square"/>
                    <a:lstStyle/>
                    <a:p>
                      <a:pPr algn="ctr"/>
                      <a:r>
                        <a:rPr sz="880" b="0">
                          <a:solidFill>
                            <a:srgbClr val="182433"/>
                          </a:solidFill>
                          <a:latin typeface="Calibri"/>
                        </a:rPr>
                        <a:t>-68%</a:t>
                      </a:r>
                    </a:p>
                  </a:txBody>
                  <a:tcPr marL="50800" marR="50800" marT="25400" marB="25400" anchor="ctr">
                    <a:solidFill>
                      <a:srgbClr val="FFFFFF"/>
                    </a:solidFill>
                  </a:tcPr>
                </a:tc>
              </a:tr>
              <a:tr h="248194">
                <a:tc>
                  <a:txBody>
                    <a:bodyPr wrap="square"/>
                    <a:lstStyle/>
                    <a:p>
                      <a:pPr algn="l"/>
                      <a:r>
                        <a:rPr sz="880" b="0">
                          <a:solidFill>
                            <a:srgbClr val="182433"/>
                          </a:solidFill>
                          <a:latin typeface="Calibri"/>
                        </a:rPr>
                        <a:t>Flight to quality</a:t>
                      </a:r>
                    </a:p>
                  </a:txBody>
                  <a:tcPr marL="50800" marR="50800" marT="25400" marB="25400" anchor="ctr">
                    <a:solidFill>
                      <a:srgbClr val="F7F8FA"/>
                    </a:solidFill>
                  </a:tcPr>
                </a:tc>
                <a:tc>
                  <a:txBody>
                    <a:bodyPr wrap="square"/>
                    <a:lstStyle/>
                    <a:p>
                      <a:pPr algn="ctr"/>
                      <a:r>
                        <a:rPr sz="880" b="0">
                          <a:solidFill>
                            <a:srgbClr val="182433"/>
                          </a:solidFill>
                          <a:latin typeface="Calibri"/>
                        </a:rPr>
                        <a:t>-3%</a:t>
                      </a:r>
                    </a:p>
                  </a:txBody>
                  <a:tcPr marL="50800" marR="50800" marT="25400" marB="25400" anchor="ctr">
                    <a:solidFill>
                      <a:srgbClr val="F7F8FA"/>
                    </a:solidFill>
                  </a:tcPr>
                </a:tc>
                <a:tc>
                  <a:txBody>
                    <a:bodyPr wrap="square"/>
                    <a:lstStyle/>
                    <a:p>
                      <a:pPr algn="ctr"/>
                      <a:r>
                        <a:rPr sz="880" b="0">
                          <a:solidFill>
                            <a:srgbClr val="182433"/>
                          </a:solidFill>
                          <a:latin typeface="Calibri"/>
                        </a:rPr>
                        <a:t>+19%</a:t>
                      </a:r>
                    </a:p>
                  </a:txBody>
                  <a:tcPr marL="50800" marR="50800" marT="25400" marB="25400" anchor="ctr">
                    <a:solidFill>
                      <a:srgbClr val="F7F8FA"/>
                    </a:solidFill>
                  </a:tcPr>
                </a:tc>
              </a:tr>
              <a:tr h="248194">
                <a:tc>
                  <a:txBody>
                    <a:bodyPr wrap="square"/>
                    <a:lstStyle/>
                    <a:p>
                      <a:pPr algn="l"/>
                      <a:r>
                        <a:rPr sz="880" b="0">
                          <a:solidFill>
                            <a:srgbClr val="182433"/>
                          </a:solidFill>
                          <a:latin typeface="Calibri"/>
                        </a:rPr>
                        <a:t>Stagflation</a:t>
                      </a:r>
                    </a:p>
                  </a:txBody>
                  <a:tcPr marL="50800" marR="50800" marT="25400" marB="25400" anchor="ctr">
                    <a:solidFill>
                      <a:srgbClr val="FFFFFF"/>
                    </a:solidFill>
                  </a:tcPr>
                </a:tc>
                <a:tc>
                  <a:txBody>
                    <a:bodyPr wrap="square"/>
                    <a:lstStyle/>
                    <a:p>
                      <a:pPr algn="ctr"/>
                      <a:r>
                        <a:rPr sz="880" b="0">
                          <a:solidFill>
                            <a:srgbClr val="182433"/>
                          </a:solidFill>
                          <a:latin typeface="Calibri"/>
                        </a:rPr>
                        <a:t>-24%</a:t>
                      </a:r>
                    </a:p>
                  </a:txBody>
                  <a:tcPr marL="50800" marR="50800" marT="25400" marB="25400" anchor="ctr">
                    <a:solidFill>
                      <a:srgbClr val="FFFFFF"/>
                    </a:solidFill>
                  </a:tcPr>
                </a:tc>
                <a:tc>
                  <a:txBody>
                    <a:bodyPr wrap="square"/>
                    <a:lstStyle/>
                    <a:p>
                      <a:pPr algn="ctr"/>
                      <a:r>
                        <a:rPr sz="880" b="0">
                          <a:solidFill>
                            <a:srgbClr val="182433"/>
                          </a:solidFill>
                          <a:latin typeface="Calibri"/>
                        </a:rPr>
                        <a:t>+86%</a:t>
                      </a:r>
                    </a:p>
                  </a:txBody>
                  <a:tcPr marL="50800" marR="50800" marT="25400" marB="25400" anchor="ctr">
                    <a:solidFill>
                      <a:srgbClr val="FFFFFF"/>
                    </a:solidFill>
                  </a:tcPr>
                </a:tc>
              </a:tr>
              <a:tr h="248194">
                <a:tc>
                  <a:txBody>
                    <a:bodyPr wrap="square"/>
                    <a:lstStyle/>
                    <a:p>
                      <a:pPr algn="l"/>
                      <a:r>
                        <a:rPr sz="880" b="0">
                          <a:solidFill>
                            <a:srgbClr val="182433"/>
                          </a:solidFill>
                          <a:latin typeface="Calibri"/>
                        </a:rPr>
                        <a:t>Hist. equity crash (2020)</a:t>
                      </a:r>
                    </a:p>
                  </a:txBody>
                  <a:tcPr marL="50800" marR="50800" marT="25400" marB="25400" anchor="ctr">
                    <a:solidFill>
                      <a:srgbClr val="F7F8FA"/>
                    </a:solidFill>
                  </a:tcPr>
                </a:tc>
                <a:tc>
                  <a:txBody>
                    <a:bodyPr wrap="square"/>
                    <a:lstStyle/>
                    <a:p>
                      <a:pPr algn="ctr"/>
                      <a:r>
                        <a:rPr sz="880" b="0">
                          <a:solidFill>
                            <a:srgbClr val="182433"/>
                          </a:solidFill>
                          <a:latin typeface="Calibri"/>
                        </a:rPr>
                        <a:t>-15%</a:t>
                      </a:r>
                    </a:p>
                  </a:txBody>
                  <a:tcPr marL="50800" marR="50800" marT="25400" marB="25400" anchor="ctr">
                    <a:solidFill>
                      <a:srgbClr val="F7F8FA"/>
                    </a:solidFill>
                  </a:tcPr>
                </a:tc>
                <a:tc>
                  <a:txBody>
                    <a:bodyPr wrap="square"/>
                    <a:lstStyle/>
                    <a:p>
                      <a:pPr algn="ctr"/>
                      <a:r>
                        <a:rPr sz="880" b="0">
                          <a:solidFill>
                            <a:srgbClr val="182433"/>
                          </a:solidFill>
                          <a:latin typeface="Calibri"/>
                        </a:rPr>
                        <a:t>+53%</a:t>
                      </a:r>
                    </a:p>
                  </a:txBody>
                  <a:tcPr marL="50800" marR="50800" marT="25400" marB="25400" anchor="ctr">
                    <a:solidFill>
                      <a:srgbClr val="F7F8FA"/>
                    </a:solidFill>
                  </a:tcPr>
                </a:tc>
              </a:tr>
            </a:tbl>
          </a:graphicData>
        </a:graphic>
      </p:graphicFrame>
      <p:pic>
        <p:nvPicPr>
          <p:cNvPr id="12" name="Picture 11" descr="fig33.png"/>
          <p:cNvPicPr>
            <a:picLocks noChangeAspect="1"/>
          </p:cNvPicPr>
          <p:nvPr/>
        </p:nvPicPr>
        <p:blipFill>
          <a:blip r:embed="rId3"/>
          <a:stretch>
            <a:fillRect/>
          </a:stretch>
        </p:blipFill>
        <p:spPr>
          <a:xfrm>
            <a:off x="5303520" y="3703320"/>
            <a:ext cx="4297680" cy="2036410"/>
          </a:xfrm>
          <a:prstGeom prst="rect">
            <a:avLst/>
          </a:prstGeom>
        </p:spPr>
      </p:pic>
      <p:sp>
        <p:nvSpPr>
          <p:cNvPr id="13" name="TextBox 12"/>
          <p:cNvSpPr txBox="1"/>
          <p:nvPr/>
        </p:nvSpPr>
        <p:spPr>
          <a:xfrm>
            <a:off x="5303520" y="5779008"/>
            <a:ext cx="4297680" cy="274320"/>
          </a:xfrm>
          <a:prstGeom prst="rect">
            <a:avLst/>
          </a:prstGeom>
          <a:noFill/>
        </p:spPr>
        <p:txBody>
          <a:bodyPr wrap="square" anchor="t" lIns="0" rIns="0" tIns="0" bIns="0">
            <a:spAutoFit/>
          </a:bodyPr>
          <a:lstStyle/>
          <a:p>
            <a:pPr algn="l"/>
            <a:r>
              <a:rPr sz="850" b="0" i="1">
                <a:solidFill>
                  <a:srgbClr val="6B7280"/>
                </a:solidFill>
                <a:latin typeface="Calibri"/>
              </a:rPr>
              <a:t>Close-out PFE99 ratio to base, by scenario -- margin dampens the shock.</a:t>
            </a:r>
          </a:p>
        </p:txBody>
      </p:sp>
      <p:sp>
        <p:nvSpPr>
          <p:cNvPr id="14" name="TextBox 13"/>
          <p:cNvSpPr txBox="1"/>
          <p:nvPr/>
        </p:nvSpPr>
        <p:spPr>
          <a:xfrm>
            <a:off x="9738360" y="3703320"/>
            <a:ext cx="1965960" cy="2926080"/>
          </a:xfrm>
          <a:prstGeom prst="rect">
            <a:avLst/>
          </a:prstGeom>
          <a:noFill/>
        </p:spPr>
        <p:txBody>
          <a:bodyPr wrap="square" lIns="0" rIns="0" tIns="0" bIns="0">
            <a:spAutoFit/>
          </a:bodyPr>
          <a:lstStyle/>
          <a:p>
            <a:pPr>
              <a:lnSpc>
                <a:spcPct val="105000"/>
              </a:lnSpc>
              <a:spcAft>
                <a:spcPts val="500"/>
              </a:spcAft>
            </a:pPr>
            <a:r>
              <a:rPr sz="830" b="0">
                <a:solidFill>
                  <a:srgbClr val="182433"/>
                </a:solidFill>
                <a:latin typeface="Calibri"/>
              </a:rPr>
              <a:t>•  13 scenarios: 8 hypothetical + 5 historical (incl. 2008 GFC, 2015 China deval. -- Appendix A3)</a:t>
            </a:r>
          </a:p>
          <a:p>
            <a:pPr>
              <a:lnSpc>
                <a:spcPct val="105000"/>
              </a:lnSpc>
              <a:spcAft>
                <a:spcPts val="500"/>
              </a:spcAft>
            </a:pPr>
            <a:r>
              <a:rPr sz="830" b="0">
                <a:solidFill>
                  <a:srgbClr val="182433"/>
                </a:solidFill>
                <a:latin typeface="Calibri"/>
              </a:rPr>
              <a:t>•  Same random numbers as base case -- the difference is the shock, not noise</a:t>
            </a:r>
          </a:p>
          <a:p>
            <a:pPr>
              <a:lnSpc>
                <a:spcPct val="105000"/>
              </a:lnSpc>
              <a:spcAft>
                <a:spcPts val="500"/>
              </a:spcAft>
            </a:pPr>
            <a:r>
              <a:rPr sz="830" b="0">
                <a:solidFill>
                  <a:srgbClr val="182433"/>
                </a:solidFill>
                <a:latin typeface="Calibri"/>
              </a:rPr>
              <a:t>•  Flight-to-quality / stagflation: same equity shock, opposite rate shocks -- CPTY_C moves oppositely (22-year bond duration)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Backtest: 99% Quantiles Close to Calibrated, 4/6/2 Exceptions vs 2.4 Expected</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44</a:t>
            </a:r>
          </a:p>
        </p:txBody>
      </p:sp>
      <p:graphicFrame>
        <p:nvGraphicFramePr>
          <p:cNvPr id="6" name="Table 5"/>
          <p:cNvGraphicFramePr>
            <a:graphicFrameLocks noGrp="1"/>
          </p:cNvGraphicFramePr>
          <p:nvPr/>
        </p:nvGraphicFramePr>
        <p:xfrm>
          <a:off x="457200" y="1371600"/>
          <a:ext cx="8412476" cy="2011680"/>
        </p:xfrm>
        <a:graphic>
          <a:graphicData uri="http://schemas.openxmlformats.org/drawingml/2006/table">
            <a:tbl>
              <a:tblPr firstRow="1" bandRow="1">
                <a:tableStyleId>{5C22544A-7EE6-4342-B048-85BDC9FD1C3A}</a:tableStyleId>
              </a:tblPr>
              <a:tblGrid>
                <a:gridCol w="1450427"/>
                <a:gridCol w="966951"/>
                <a:gridCol w="1450427"/>
                <a:gridCol w="1257037"/>
                <a:gridCol w="1063646"/>
                <a:gridCol w="2223988"/>
              </a:tblGrid>
              <a:tr h="502920">
                <a:tc>
                  <a:txBody>
                    <a:bodyPr wrap="square"/>
                    <a:lstStyle/>
                    <a:p>
                      <a:pPr algn="l"/>
                      <a:r>
                        <a:rPr sz="1080" b="1">
                          <a:solidFill>
                            <a:srgbClr val="FFFFFF"/>
                          </a:solidFill>
                          <a:latin typeface="Calibri"/>
                        </a:rPr>
                        <a:t>Netting set</a:t>
                      </a:r>
                    </a:p>
                  </a:txBody>
                  <a:tcPr marL="50800" marR="50800" marT="25400" marB="25400" anchor="ctr">
                    <a:solidFill>
                      <a:srgbClr val="182433"/>
                    </a:solidFill>
                  </a:tcPr>
                </a:tc>
                <a:tc>
                  <a:txBody>
                    <a:bodyPr wrap="square"/>
                    <a:lstStyle/>
                    <a:p>
                      <a:pPr algn="ctr"/>
                      <a:r>
                        <a:rPr sz="1080" b="1">
                          <a:solidFill>
                            <a:srgbClr val="FFFFFF"/>
                          </a:solidFill>
                          <a:latin typeface="Calibri"/>
                        </a:rPr>
                        <a:t>Level</a:t>
                      </a:r>
                    </a:p>
                  </a:txBody>
                  <a:tcPr marL="50800" marR="50800" marT="25400" marB="25400" anchor="ctr">
                    <a:solidFill>
                      <a:srgbClr val="182433"/>
                    </a:solidFill>
                  </a:tcPr>
                </a:tc>
                <a:tc>
                  <a:txBody>
                    <a:bodyPr wrap="square"/>
                    <a:lstStyle/>
                    <a:p>
                      <a:pPr algn="ctr"/>
                      <a:r>
                        <a:rPr sz="1080" b="1">
                          <a:solidFill>
                            <a:srgbClr val="FFFFFF"/>
                          </a:solidFill>
                          <a:latin typeface="Calibri"/>
                        </a:rPr>
                        <a:t>Exceptions</a:t>
                      </a:r>
                    </a:p>
                  </a:txBody>
                  <a:tcPr marL="50800" marR="50800" marT="25400" marB="25400" anchor="ctr">
                    <a:solidFill>
                      <a:srgbClr val="182433"/>
                    </a:solidFill>
                  </a:tcPr>
                </a:tc>
                <a:tc>
                  <a:txBody>
                    <a:bodyPr wrap="square"/>
                    <a:lstStyle/>
                    <a:p>
                      <a:pPr algn="ctr"/>
                      <a:r>
                        <a:rPr sz="1080" b="1">
                          <a:solidFill>
                            <a:srgbClr val="FFFFFF"/>
                          </a:solidFill>
                          <a:latin typeface="Calibri"/>
                        </a:rPr>
                        <a:t>Expected</a:t>
                      </a:r>
                    </a:p>
                  </a:txBody>
                  <a:tcPr marL="50800" marR="50800" marT="25400" marB="25400" anchor="ctr">
                    <a:solidFill>
                      <a:srgbClr val="182433"/>
                    </a:solidFill>
                  </a:tcPr>
                </a:tc>
                <a:tc>
                  <a:txBody>
                    <a:bodyPr wrap="square"/>
                    <a:lstStyle/>
                    <a:p>
                      <a:pPr algn="ctr"/>
                      <a:r>
                        <a:rPr sz="1080" b="1">
                          <a:solidFill>
                            <a:srgbClr val="FFFFFF"/>
                          </a:solidFill>
                          <a:latin typeface="Calibri"/>
                        </a:rPr>
                        <a:t>Rate</a:t>
                      </a:r>
                    </a:p>
                  </a:txBody>
                  <a:tcPr marL="50800" marR="50800" marT="25400" marB="25400" anchor="ctr">
                    <a:solidFill>
                      <a:srgbClr val="182433"/>
                    </a:solidFill>
                  </a:tcPr>
                </a:tc>
                <a:tc>
                  <a:txBody>
                    <a:bodyPr wrap="square"/>
                    <a:lstStyle/>
                    <a:p>
                      <a:pPr algn="ctr"/>
                      <a:r>
                        <a:rPr sz="1080" b="1">
                          <a:solidFill>
                            <a:srgbClr val="FFFFFF"/>
                          </a:solidFill>
                          <a:latin typeface="Calibri"/>
                        </a:rPr>
                        <a:t>Kupiec p-value</a:t>
                      </a:r>
                    </a:p>
                  </a:txBody>
                  <a:tcPr marL="50800" marR="50800" marT="25400" marB="25400" anchor="ctr">
                    <a:solidFill>
                      <a:srgbClr val="182433"/>
                    </a:solidFill>
                  </a:tcPr>
                </a:tc>
              </a:tr>
              <a:tr h="502920">
                <a:tc>
                  <a:txBody>
                    <a:bodyPr wrap="square"/>
                    <a:lstStyle/>
                    <a:p>
                      <a:pPr algn="l"/>
                      <a:r>
                        <a:rPr sz="1030" b="0">
                          <a:solidFill>
                            <a:srgbClr val="182433"/>
                          </a:solidFill>
                          <a:latin typeface="Calibri"/>
                        </a:rPr>
                        <a:t>CPTY_A</a:t>
                      </a:r>
                    </a:p>
                  </a:txBody>
                  <a:tcPr marL="50800" marR="50800" marT="25400" marB="25400" anchor="ctr">
                    <a:solidFill>
                      <a:srgbClr val="FFFFFF"/>
                    </a:solidFill>
                  </a:tcPr>
                </a:tc>
                <a:tc>
                  <a:txBody>
                    <a:bodyPr wrap="square"/>
                    <a:lstStyle/>
                    <a:p>
                      <a:pPr algn="ctr"/>
                      <a:r>
                        <a:rPr sz="1030" b="0">
                          <a:solidFill>
                            <a:srgbClr val="182433"/>
                          </a:solidFill>
                          <a:latin typeface="Calibri"/>
                        </a:rPr>
                        <a:t>99%</a:t>
                      </a:r>
                    </a:p>
                  </a:txBody>
                  <a:tcPr marL="50800" marR="50800" marT="25400" marB="25400" anchor="ctr">
                    <a:solidFill>
                      <a:srgbClr val="FFFFFF"/>
                    </a:solidFill>
                  </a:tcPr>
                </a:tc>
                <a:tc>
                  <a:txBody>
                    <a:bodyPr wrap="square"/>
                    <a:lstStyle/>
                    <a:p>
                      <a:pPr algn="ctr"/>
                      <a:r>
                        <a:rPr sz="1030" b="0">
                          <a:solidFill>
                            <a:srgbClr val="182433"/>
                          </a:solidFill>
                          <a:latin typeface="Calibri"/>
                        </a:rPr>
                        <a:t>4 of 242</a:t>
                      </a:r>
                    </a:p>
                  </a:txBody>
                  <a:tcPr marL="50800" marR="50800" marT="25400" marB="25400" anchor="ctr">
                    <a:solidFill>
                      <a:srgbClr val="FFFFFF"/>
                    </a:solidFill>
                  </a:tcPr>
                </a:tc>
                <a:tc>
                  <a:txBody>
                    <a:bodyPr wrap="square"/>
                    <a:lstStyle/>
                    <a:p>
                      <a:pPr algn="ctr"/>
                      <a:r>
                        <a:rPr sz="1030" b="0">
                          <a:solidFill>
                            <a:srgbClr val="182433"/>
                          </a:solidFill>
                          <a:latin typeface="Calibri"/>
                        </a:rPr>
                        <a:t>2.4</a:t>
                      </a:r>
                    </a:p>
                  </a:txBody>
                  <a:tcPr marL="50800" marR="50800" marT="25400" marB="25400" anchor="ctr">
                    <a:solidFill>
                      <a:srgbClr val="FFFFFF"/>
                    </a:solidFill>
                  </a:tcPr>
                </a:tc>
                <a:tc>
                  <a:txBody>
                    <a:bodyPr wrap="square"/>
                    <a:lstStyle/>
                    <a:p>
                      <a:pPr algn="ctr"/>
                      <a:r>
                        <a:rPr sz="1030" b="0">
                          <a:solidFill>
                            <a:srgbClr val="182433"/>
                          </a:solidFill>
                          <a:latin typeface="Calibri"/>
                        </a:rPr>
                        <a:t>1.7%</a:t>
                      </a:r>
                    </a:p>
                  </a:txBody>
                  <a:tcPr marL="50800" marR="50800" marT="25400" marB="25400" anchor="ctr">
                    <a:solidFill>
                      <a:srgbClr val="FFFFFF"/>
                    </a:solidFill>
                  </a:tcPr>
                </a:tc>
                <a:tc>
                  <a:txBody>
                    <a:bodyPr wrap="square"/>
                    <a:lstStyle/>
                    <a:p>
                      <a:pPr algn="ctr"/>
                      <a:r>
                        <a:rPr sz="1030" b="0">
                          <a:solidFill>
                            <a:srgbClr val="182433"/>
                          </a:solidFill>
                          <a:latin typeface="Calibri"/>
                        </a:rPr>
                        <a:t>0.35 (not rejected)</a:t>
                      </a:r>
                    </a:p>
                  </a:txBody>
                  <a:tcPr marL="50800" marR="50800" marT="25400" marB="25400" anchor="ctr">
                    <a:solidFill>
                      <a:srgbClr val="FFFFFF"/>
                    </a:solidFill>
                  </a:tcPr>
                </a:tc>
              </a:tr>
              <a:tr h="502920">
                <a:tc>
                  <a:txBody>
                    <a:bodyPr wrap="square"/>
                    <a:lstStyle/>
                    <a:p>
                      <a:pPr algn="l"/>
                      <a:r>
                        <a:rPr sz="1030" b="0">
                          <a:solidFill>
                            <a:srgbClr val="182433"/>
                          </a:solidFill>
                          <a:latin typeface="Calibri"/>
                        </a:rPr>
                        <a:t>CPTY_B</a:t>
                      </a:r>
                    </a:p>
                  </a:txBody>
                  <a:tcPr marL="50800" marR="50800" marT="25400" marB="25400" anchor="ctr">
                    <a:solidFill>
                      <a:srgbClr val="F7F8FA"/>
                    </a:solidFill>
                  </a:tcPr>
                </a:tc>
                <a:tc>
                  <a:txBody>
                    <a:bodyPr wrap="square"/>
                    <a:lstStyle/>
                    <a:p>
                      <a:pPr algn="ctr"/>
                      <a:r>
                        <a:rPr sz="1030" b="0">
                          <a:solidFill>
                            <a:srgbClr val="182433"/>
                          </a:solidFill>
                          <a:latin typeface="Calibri"/>
                        </a:rPr>
                        <a:t>99%</a:t>
                      </a:r>
                    </a:p>
                  </a:txBody>
                  <a:tcPr marL="50800" marR="50800" marT="25400" marB="25400" anchor="ctr">
                    <a:solidFill>
                      <a:srgbClr val="F7F8FA"/>
                    </a:solidFill>
                  </a:tcPr>
                </a:tc>
                <a:tc>
                  <a:txBody>
                    <a:bodyPr wrap="square"/>
                    <a:lstStyle/>
                    <a:p>
                      <a:pPr algn="ctr"/>
                      <a:r>
                        <a:rPr sz="1030" b="0">
                          <a:solidFill>
                            <a:srgbClr val="182433"/>
                          </a:solidFill>
                          <a:latin typeface="Calibri"/>
                        </a:rPr>
                        <a:t>6 of 242</a:t>
                      </a:r>
                    </a:p>
                  </a:txBody>
                  <a:tcPr marL="50800" marR="50800" marT="25400" marB="25400" anchor="ctr">
                    <a:solidFill>
                      <a:srgbClr val="F7F8FA"/>
                    </a:solidFill>
                  </a:tcPr>
                </a:tc>
                <a:tc>
                  <a:txBody>
                    <a:bodyPr wrap="square"/>
                    <a:lstStyle/>
                    <a:p>
                      <a:pPr algn="ctr"/>
                      <a:r>
                        <a:rPr sz="1030" b="0">
                          <a:solidFill>
                            <a:srgbClr val="182433"/>
                          </a:solidFill>
                          <a:latin typeface="Calibri"/>
                        </a:rPr>
                        <a:t>2.4</a:t>
                      </a:r>
                    </a:p>
                  </a:txBody>
                  <a:tcPr marL="50800" marR="50800" marT="25400" marB="25400" anchor="ctr">
                    <a:solidFill>
                      <a:srgbClr val="F7F8FA"/>
                    </a:solidFill>
                  </a:tcPr>
                </a:tc>
                <a:tc>
                  <a:txBody>
                    <a:bodyPr wrap="square"/>
                    <a:lstStyle/>
                    <a:p>
                      <a:pPr algn="ctr"/>
                      <a:r>
                        <a:rPr sz="1030" b="0">
                          <a:solidFill>
                            <a:srgbClr val="182433"/>
                          </a:solidFill>
                          <a:latin typeface="Calibri"/>
                        </a:rPr>
                        <a:t>2.5%</a:t>
                      </a:r>
                    </a:p>
                  </a:txBody>
                  <a:tcPr marL="50800" marR="50800" marT="25400" marB="25400" anchor="ctr">
                    <a:solidFill>
                      <a:srgbClr val="F7F8FA"/>
                    </a:solidFill>
                  </a:tcPr>
                </a:tc>
                <a:tc>
                  <a:txBody>
                    <a:bodyPr wrap="square"/>
                    <a:lstStyle/>
                    <a:p>
                      <a:pPr algn="ctr"/>
                      <a:r>
                        <a:rPr sz="1030" b="0">
                          <a:solidFill>
                            <a:srgbClr val="182433"/>
                          </a:solidFill>
                          <a:latin typeface="Calibri"/>
                        </a:rPr>
                        <a:t>0.05 (borderline)</a:t>
                      </a:r>
                    </a:p>
                  </a:txBody>
                  <a:tcPr marL="50800" marR="50800" marT="25400" marB="25400" anchor="ctr">
                    <a:solidFill>
                      <a:srgbClr val="F7F8FA"/>
                    </a:solidFill>
                  </a:tcPr>
                </a:tc>
              </a:tr>
              <a:tr h="502920">
                <a:tc>
                  <a:txBody>
                    <a:bodyPr wrap="square"/>
                    <a:lstStyle/>
                    <a:p>
                      <a:pPr algn="l"/>
                      <a:r>
                        <a:rPr sz="1030" b="0">
                          <a:solidFill>
                            <a:srgbClr val="182433"/>
                          </a:solidFill>
                          <a:latin typeface="Calibri"/>
                        </a:rPr>
                        <a:t>CPTY_C</a:t>
                      </a:r>
                    </a:p>
                  </a:txBody>
                  <a:tcPr marL="50800" marR="50800" marT="25400" marB="25400" anchor="ctr">
                    <a:solidFill>
                      <a:srgbClr val="FFFFFF"/>
                    </a:solidFill>
                  </a:tcPr>
                </a:tc>
                <a:tc>
                  <a:txBody>
                    <a:bodyPr wrap="square"/>
                    <a:lstStyle/>
                    <a:p>
                      <a:pPr algn="ctr"/>
                      <a:r>
                        <a:rPr sz="1030" b="0">
                          <a:solidFill>
                            <a:srgbClr val="182433"/>
                          </a:solidFill>
                          <a:latin typeface="Calibri"/>
                        </a:rPr>
                        <a:t>99%</a:t>
                      </a:r>
                    </a:p>
                  </a:txBody>
                  <a:tcPr marL="50800" marR="50800" marT="25400" marB="25400" anchor="ctr">
                    <a:solidFill>
                      <a:srgbClr val="FFFFFF"/>
                    </a:solidFill>
                  </a:tcPr>
                </a:tc>
                <a:tc>
                  <a:txBody>
                    <a:bodyPr wrap="square"/>
                    <a:lstStyle/>
                    <a:p>
                      <a:pPr algn="ctr"/>
                      <a:r>
                        <a:rPr sz="1030" b="0">
                          <a:solidFill>
                            <a:srgbClr val="182433"/>
                          </a:solidFill>
                          <a:latin typeface="Calibri"/>
                        </a:rPr>
                        <a:t>2 of 242</a:t>
                      </a:r>
                    </a:p>
                  </a:txBody>
                  <a:tcPr marL="50800" marR="50800" marT="25400" marB="25400" anchor="ctr">
                    <a:solidFill>
                      <a:srgbClr val="FFFFFF"/>
                    </a:solidFill>
                  </a:tcPr>
                </a:tc>
                <a:tc>
                  <a:txBody>
                    <a:bodyPr wrap="square"/>
                    <a:lstStyle/>
                    <a:p>
                      <a:pPr algn="ctr"/>
                      <a:r>
                        <a:rPr sz="1030" b="0">
                          <a:solidFill>
                            <a:srgbClr val="182433"/>
                          </a:solidFill>
                          <a:latin typeface="Calibri"/>
                        </a:rPr>
                        <a:t>2.4</a:t>
                      </a:r>
                    </a:p>
                  </a:txBody>
                  <a:tcPr marL="50800" marR="50800" marT="25400" marB="25400" anchor="ctr">
                    <a:solidFill>
                      <a:srgbClr val="FFFFFF"/>
                    </a:solidFill>
                  </a:tcPr>
                </a:tc>
                <a:tc>
                  <a:txBody>
                    <a:bodyPr wrap="square"/>
                    <a:lstStyle/>
                    <a:p>
                      <a:pPr algn="ctr"/>
                      <a:r>
                        <a:rPr sz="1030" b="0">
                          <a:solidFill>
                            <a:srgbClr val="182433"/>
                          </a:solidFill>
                          <a:latin typeface="Calibri"/>
                        </a:rPr>
                        <a:t>0.8%</a:t>
                      </a:r>
                    </a:p>
                  </a:txBody>
                  <a:tcPr marL="50800" marR="50800" marT="25400" marB="25400" anchor="ctr">
                    <a:solidFill>
                      <a:srgbClr val="FFFFFF"/>
                    </a:solidFill>
                  </a:tcPr>
                </a:tc>
                <a:tc>
                  <a:txBody>
                    <a:bodyPr wrap="square"/>
                    <a:lstStyle/>
                    <a:p>
                      <a:pPr algn="ctr"/>
                      <a:r>
                        <a:rPr sz="1030" b="0">
                          <a:solidFill>
                            <a:srgbClr val="182433"/>
                          </a:solidFill>
                          <a:latin typeface="Calibri"/>
                        </a:rPr>
                        <a:t>0.78 (not rejected)</a:t>
                      </a:r>
                    </a:p>
                  </a:txBody>
                  <a:tcPr marL="50800" marR="50800" marT="25400" marB="25400" anchor="ctr">
                    <a:solidFill>
                      <a:srgbClr val="FFFFFF"/>
                    </a:solidFill>
                  </a:tcPr>
                </a:tc>
              </a:tr>
            </a:tbl>
          </a:graphicData>
        </a:graphic>
      </p:graphicFrame>
      <p:sp>
        <p:nvSpPr>
          <p:cNvPr id="7" name="TextBox 6"/>
          <p:cNvSpPr txBox="1"/>
          <p:nvPr/>
        </p:nvSpPr>
        <p:spPr>
          <a:xfrm>
            <a:off x="457200" y="3749039"/>
            <a:ext cx="11247120" cy="2194560"/>
          </a:xfrm>
          <a:prstGeom prst="rect">
            <a:avLst/>
          </a:prstGeom>
          <a:noFill/>
        </p:spPr>
        <p:txBody>
          <a:bodyPr wrap="square" lIns="0" rIns="0" tIns="0" bIns="0">
            <a:spAutoFit/>
          </a:bodyPr>
          <a:lstStyle/>
          <a:p>
            <a:pPr>
              <a:lnSpc>
                <a:spcPct val="105000"/>
              </a:lnSpc>
              <a:spcAft>
                <a:spcPts val="900"/>
              </a:spcAft>
            </a:pPr>
            <a:r>
              <a:rPr sz="1250" b="0">
                <a:solidFill>
                  <a:srgbClr val="182433"/>
                </a:solidFill>
                <a:latin typeface="Calibri"/>
              </a:rPr>
              <a:t>•  At the 95% level the model is conservative for CPTY_A and CPTY_C (mean exception rates 3.0%/3.2% against a 5% nominal) -- a Kupiec test is two-sided, so over-conservatism also registers</a:t>
            </a:r>
          </a:p>
          <a:p>
            <a:pPr>
              <a:lnSpc>
                <a:spcPct val="105000"/>
              </a:lnSpc>
              <a:spcAft>
                <a:spcPts val="900"/>
              </a:spcAft>
            </a:pPr>
            <a:r>
              <a:rPr sz="1250" b="0">
                <a:solidFill>
                  <a:srgbClr val="182433"/>
                </a:solidFill>
                <a:latin typeface="Calibri"/>
              </a:rPr>
              <a:t>•  Rates leg (10-day yield-change quantiles at 5/10/20y): both sigma calibrations pass on average over 2020-2026, but the long-end fit is more stable (5.7%/1.5% exception rates at 95%/99% vs nominal 5%/1%) than the overnight-SOFR calibration, which was too wide on average</a:t>
            </a:r>
          </a:p>
          <a:p>
            <a:pPr>
              <a:lnSpc>
                <a:spcPct val="105000"/>
              </a:lnSpc>
              <a:spcAft>
                <a:spcPts val="900"/>
              </a:spcAft>
            </a:pPr>
            <a:r>
              <a:rPr sz="1250" b="0">
                <a:solidFill>
                  <a:srgbClr val="182433"/>
                </a:solidFill>
                <a:latin typeface="Calibri"/>
              </a:rPr>
              <a:t>•  Calibrated using only data up to each as-of date (trailing 3-year window); non-overlapping windows; starting phase shifted over 10 offsets to check robustness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868680"/>
          </a:xfrm>
          <a:prstGeom prst="rect">
            <a:avLst/>
          </a:prstGeom>
          <a:noFill/>
        </p:spPr>
        <p:txBody>
          <a:bodyPr wrap="square" anchor="t" lIns="0" rIns="0" tIns="0" bIns="0">
            <a:spAutoFit/>
          </a:bodyPr>
          <a:lstStyle/>
          <a:p>
            <a:pPr algn="l">
              <a:lnSpc>
                <a:spcPct val="105000"/>
              </a:lnSpc>
            </a:pPr>
            <a:r>
              <a:rPr sz="2200" b="1" i="0">
                <a:solidFill>
                  <a:srgbClr val="182433"/>
                </a:solidFill>
                <a:latin typeface="Cambria"/>
              </a:rPr>
              <a:t>CVA $11.7k / DVA $11.2k / FVA $0.5k / KVA $22.4k on the Close-Out Convention</a:t>
            </a:r>
          </a:p>
        </p:txBody>
      </p:sp>
      <p:sp>
        <p:nvSpPr>
          <p:cNvPr id="3" name="Rectangle 2"/>
          <p:cNvSpPr/>
          <p:nvPr/>
        </p:nvSpPr>
        <p:spPr>
          <a:xfrm>
            <a:off x="502920" y="1188720"/>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66960" y="1316736"/>
            <a:ext cx="1737360" cy="274320"/>
          </a:xfrm>
          <a:prstGeom prst="roundRect">
            <a:avLst/>
          </a:prstGeom>
          <a:solidFill>
            <a:srgbClr val="FCE8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8100" tIns="12700" bIns="12700"/>
          <a:lstStyle/>
          <a:p>
            <a:pPr algn="ctr"/>
            <a:r>
              <a:rPr sz="950" b="1">
                <a:solidFill>
                  <a:srgbClr val="9A0052"/>
                </a:solidFill>
                <a:latin typeface="Calibri"/>
              </a:rPr>
              <a:t>Feedback-driven</a:t>
            </a:r>
          </a:p>
        </p:txBody>
      </p:sp>
      <p:sp>
        <p:nvSpPr>
          <p:cNvPr id="5" name="TextBox 4"/>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6" name="TextBox 5"/>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45</a:t>
            </a:r>
          </a:p>
        </p:txBody>
      </p:sp>
      <p:graphicFrame>
        <p:nvGraphicFramePr>
          <p:cNvPr id="7" name="Table 6"/>
          <p:cNvGraphicFramePr>
            <a:graphicFrameLocks noGrp="1"/>
          </p:cNvGraphicFramePr>
          <p:nvPr/>
        </p:nvGraphicFramePr>
        <p:xfrm>
          <a:off x="457200" y="1645920"/>
          <a:ext cx="5486398" cy="1920240"/>
        </p:xfrm>
        <a:graphic>
          <a:graphicData uri="http://schemas.openxmlformats.org/drawingml/2006/table">
            <a:tbl>
              <a:tblPr firstRow="1" bandRow="1">
                <a:tableStyleId>{5C22544A-7EE6-4342-B048-85BDC9FD1C3A}</a:tableStyleId>
              </a:tblPr>
              <a:tblGrid>
                <a:gridCol w="1702675"/>
                <a:gridCol w="1702675"/>
                <a:gridCol w="2081048"/>
              </a:tblGrid>
              <a:tr h="384048">
                <a:tc>
                  <a:txBody>
                    <a:bodyPr wrap="square"/>
                    <a:lstStyle/>
                    <a:p>
                      <a:pPr algn="l"/>
                      <a:r>
                        <a:rPr sz="1130" b="1">
                          <a:solidFill>
                            <a:srgbClr val="FFFFFF"/>
                          </a:solidFill>
                          <a:latin typeface="Calibri"/>
                        </a:rPr>
                        <a:t>Metric</a:t>
                      </a:r>
                    </a:p>
                  </a:txBody>
                  <a:tcPr marL="50800" marR="50800" marT="25400" marB="25400" anchor="ctr">
                    <a:solidFill>
                      <a:srgbClr val="182433"/>
                    </a:solidFill>
                  </a:tcPr>
                </a:tc>
                <a:tc>
                  <a:txBody>
                    <a:bodyPr wrap="square"/>
                    <a:lstStyle/>
                    <a:p>
                      <a:pPr algn="ctr"/>
                      <a:r>
                        <a:rPr sz="1130" b="1">
                          <a:solidFill>
                            <a:srgbClr val="FFFFFF"/>
                          </a:solidFill>
                          <a:latin typeface="Calibri"/>
                        </a:rPr>
                        <a:t>Close-out</a:t>
                      </a:r>
                    </a:p>
                  </a:txBody>
                  <a:tcPr marL="50800" marR="50800" marT="25400" marB="25400" anchor="ctr">
                    <a:solidFill>
                      <a:srgbClr val="182433"/>
                    </a:solidFill>
                  </a:tcPr>
                </a:tc>
                <a:tc>
                  <a:txBody>
                    <a:bodyPr wrap="square"/>
                    <a:lstStyle/>
                    <a:p>
                      <a:pPr algn="ctr"/>
                      <a:r>
                        <a:rPr sz="1130" b="1">
                          <a:solidFill>
                            <a:srgbClr val="FFFFFF"/>
                          </a:solidFill>
                          <a:latin typeface="Calibri"/>
                        </a:rPr>
                        <a:t>Uncollateralized level</a:t>
                      </a:r>
                    </a:p>
                  </a:txBody>
                  <a:tcPr marL="50800" marR="50800" marT="25400" marB="25400" anchor="ctr">
                    <a:solidFill>
                      <a:srgbClr val="182433"/>
                    </a:solidFill>
                  </a:tcPr>
                </a:tc>
              </a:tr>
              <a:tr h="384048">
                <a:tc>
                  <a:txBody>
                    <a:bodyPr wrap="square"/>
                    <a:lstStyle/>
                    <a:p>
                      <a:pPr algn="l"/>
                      <a:r>
                        <a:rPr sz="1080" b="0">
                          <a:solidFill>
                            <a:srgbClr val="182433"/>
                          </a:solidFill>
                          <a:latin typeface="Calibri"/>
                        </a:rPr>
                        <a:t>CVA</a:t>
                      </a:r>
                    </a:p>
                  </a:txBody>
                  <a:tcPr marL="50800" marR="50800" marT="25400" marB="25400" anchor="ctr">
                    <a:solidFill>
                      <a:srgbClr val="FFFFFF"/>
                    </a:solidFill>
                  </a:tcPr>
                </a:tc>
                <a:tc>
                  <a:txBody>
                    <a:bodyPr wrap="square"/>
                    <a:lstStyle/>
                    <a:p>
                      <a:pPr algn="ctr"/>
                      <a:r>
                        <a:rPr sz="1080" b="0">
                          <a:solidFill>
                            <a:srgbClr val="182433"/>
                          </a:solidFill>
                          <a:latin typeface="Calibri"/>
                        </a:rPr>
                        <a:t>$11,747</a:t>
                      </a:r>
                    </a:p>
                  </a:txBody>
                  <a:tcPr marL="50800" marR="50800" marT="25400" marB="25400" anchor="ctr">
                    <a:solidFill>
                      <a:srgbClr val="FFFFFF"/>
                    </a:solidFill>
                  </a:tcPr>
                </a:tc>
                <a:tc>
                  <a:txBody>
                    <a:bodyPr wrap="square"/>
                    <a:lstStyle/>
                    <a:p>
                      <a:pPr algn="ctr"/>
                      <a:r>
                        <a:rPr sz="1080" b="0">
                          <a:solidFill>
                            <a:srgbClr val="182433"/>
                          </a:solidFill>
                          <a:latin typeface="Calibri"/>
                        </a:rPr>
                        <a:t>$247,133</a:t>
                      </a:r>
                    </a:p>
                  </a:txBody>
                  <a:tcPr marL="50800" marR="50800" marT="25400" marB="25400" anchor="ctr">
                    <a:solidFill>
                      <a:srgbClr val="FFFFFF"/>
                    </a:solidFill>
                  </a:tcPr>
                </a:tc>
              </a:tr>
              <a:tr h="384048">
                <a:tc>
                  <a:txBody>
                    <a:bodyPr wrap="square"/>
                    <a:lstStyle/>
                    <a:p>
                      <a:pPr algn="l"/>
                      <a:r>
                        <a:rPr sz="1080" b="0">
                          <a:solidFill>
                            <a:srgbClr val="182433"/>
                          </a:solidFill>
                          <a:latin typeface="Calibri"/>
                        </a:rPr>
                        <a:t>DVA</a:t>
                      </a:r>
                    </a:p>
                  </a:txBody>
                  <a:tcPr marL="50800" marR="50800" marT="25400" marB="25400" anchor="ctr">
                    <a:solidFill>
                      <a:srgbClr val="F7F8FA"/>
                    </a:solidFill>
                  </a:tcPr>
                </a:tc>
                <a:tc>
                  <a:txBody>
                    <a:bodyPr wrap="square"/>
                    <a:lstStyle/>
                    <a:p>
                      <a:pPr algn="ctr"/>
                      <a:r>
                        <a:rPr sz="1080" b="0">
                          <a:solidFill>
                            <a:srgbClr val="182433"/>
                          </a:solidFill>
                          <a:latin typeface="Calibri"/>
                        </a:rPr>
                        <a:t>$11,244</a:t>
                      </a:r>
                    </a:p>
                  </a:txBody>
                  <a:tcPr marL="50800" marR="50800" marT="25400" marB="25400" anchor="ctr">
                    <a:solidFill>
                      <a:srgbClr val="F7F8FA"/>
                    </a:solidFill>
                  </a:tcPr>
                </a:tc>
                <a:tc>
                  <a:txBody>
                    <a:bodyPr wrap="square"/>
                    <a:lstStyle/>
                    <a:p>
                      <a:pPr algn="ctr"/>
                      <a:r>
                        <a:rPr sz="1080" b="0">
                          <a:solidFill>
                            <a:srgbClr val="182433"/>
                          </a:solidFill>
                          <a:latin typeface="Calibri"/>
                        </a:rPr>
                        <a:t>$7,500</a:t>
                      </a:r>
                    </a:p>
                  </a:txBody>
                  <a:tcPr marL="50800" marR="50800" marT="25400" marB="25400" anchor="ctr">
                    <a:solidFill>
                      <a:srgbClr val="F7F8FA"/>
                    </a:solidFill>
                  </a:tcPr>
                </a:tc>
              </a:tr>
              <a:tr h="384048">
                <a:tc>
                  <a:txBody>
                    <a:bodyPr wrap="square"/>
                    <a:lstStyle/>
                    <a:p>
                      <a:pPr algn="l"/>
                      <a:r>
                        <a:rPr sz="1080" b="0">
                          <a:solidFill>
                            <a:srgbClr val="182433"/>
                          </a:solidFill>
                          <a:latin typeface="Calibri"/>
                        </a:rPr>
                        <a:t>FVA (FCA-FBA)</a:t>
                      </a:r>
                    </a:p>
                  </a:txBody>
                  <a:tcPr marL="50800" marR="50800" marT="25400" marB="25400" anchor="ctr">
                    <a:solidFill>
                      <a:srgbClr val="FFFFFF"/>
                    </a:solidFill>
                  </a:tcPr>
                </a:tc>
                <a:tc>
                  <a:txBody>
                    <a:bodyPr wrap="square"/>
                    <a:lstStyle/>
                    <a:p>
                      <a:pPr algn="ctr"/>
                      <a:r>
                        <a:rPr sz="1080" b="0">
                          <a:solidFill>
                            <a:srgbClr val="182433"/>
                          </a:solidFill>
                          <a:latin typeface="Calibri"/>
                        </a:rPr>
                        <a:t>$503</a:t>
                      </a:r>
                    </a:p>
                  </a:txBody>
                  <a:tcPr marL="50800" marR="50800" marT="25400" marB="25400" anchor="ctr">
                    <a:solidFill>
                      <a:srgbClr val="FFFFFF"/>
                    </a:solidFill>
                  </a:tcPr>
                </a:tc>
                <a:tc>
                  <a:txBody>
                    <a:bodyPr wrap="square"/>
                    <a:lstStyle/>
                    <a:p>
                      <a:pPr algn="ctr"/>
                      <a:r>
                        <a:rPr sz="1080" b="0">
                          <a:solidFill>
                            <a:srgbClr val="182433"/>
                          </a:solidFill>
                          <a:latin typeface="Calibri"/>
                        </a:rPr>
                        <a:t>$240,000</a:t>
                      </a:r>
                    </a:p>
                  </a:txBody>
                  <a:tcPr marL="50800" marR="50800" marT="25400" marB="25400" anchor="ctr">
                    <a:solidFill>
                      <a:srgbClr val="FFFFFF"/>
                    </a:solidFill>
                  </a:tcPr>
                </a:tc>
              </a:tr>
              <a:tr h="384048">
                <a:tc>
                  <a:txBody>
                    <a:bodyPr wrap="square"/>
                    <a:lstStyle/>
                    <a:p>
                      <a:pPr algn="l"/>
                      <a:r>
                        <a:rPr sz="1080" b="0">
                          <a:solidFill>
                            <a:srgbClr val="182433"/>
                          </a:solidFill>
                          <a:latin typeface="Calibri"/>
                        </a:rPr>
                        <a:t>KVA (10% CoC)</a:t>
                      </a:r>
                    </a:p>
                  </a:txBody>
                  <a:tcPr marL="50800" marR="50800" marT="25400" marB="25400" anchor="ctr">
                    <a:solidFill>
                      <a:srgbClr val="F7F8FA"/>
                    </a:solidFill>
                  </a:tcPr>
                </a:tc>
                <a:tc>
                  <a:txBody>
                    <a:bodyPr wrap="square"/>
                    <a:lstStyle/>
                    <a:p>
                      <a:pPr algn="ctr"/>
                      <a:r>
                        <a:rPr sz="1080" b="0">
                          <a:solidFill>
                            <a:srgbClr val="182433"/>
                          </a:solidFill>
                          <a:latin typeface="Calibri"/>
                        </a:rPr>
                        <a:t>$22,400</a:t>
                      </a:r>
                    </a:p>
                  </a:txBody>
                  <a:tcPr marL="50800" marR="50800" marT="25400" marB="25400" anchor="ctr">
                    <a:solidFill>
                      <a:srgbClr val="F7F8FA"/>
                    </a:solidFill>
                  </a:tcPr>
                </a:tc>
                <a:tc>
                  <a:txBody>
                    <a:bodyPr wrap="square"/>
                    <a:lstStyle/>
                    <a:p>
                      <a:pPr algn="ctr"/>
                      <a:r>
                        <a:rPr sz="1080" b="0">
                          <a:solidFill>
                            <a:srgbClr val="182433"/>
                          </a:solidFill>
                          <a:latin typeface="Calibri"/>
                        </a:rPr>
                        <a:t>$470,000</a:t>
                      </a:r>
                    </a:p>
                  </a:txBody>
                  <a:tcPr marL="50800" marR="50800" marT="25400" marB="25400" anchor="ctr">
                    <a:solidFill>
                      <a:srgbClr val="F7F8FA"/>
                    </a:solidFill>
                  </a:tcPr>
                </a:tc>
              </a:tr>
            </a:tbl>
          </a:graphicData>
        </a:graphic>
      </p:graphicFrame>
      <p:graphicFrame>
        <p:nvGraphicFramePr>
          <p:cNvPr id="8" name="Table 7"/>
          <p:cNvGraphicFramePr>
            <a:graphicFrameLocks noGrp="1"/>
          </p:cNvGraphicFramePr>
          <p:nvPr/>
        </p:nvGraphicFramePr>
        <p:xfrm>
          <a:off x="6309360" y="1645920"/>
          <a:ext cx="5394959" cy="2011674"/>
        </p:xfrm>
        <a:graphic>
          <a:graphicData uri="http://schemas.openxmlformats.org/drawingml/2006/table">
            <a:tbl>
              <a:tblPr firstRow="1" bandRow="1">
                <a:tableStyleId>{5C22544A-7EE6-4342-B048-85BDC9FD1C3A}</a:tableStyleId>
              </a:tblPr>
              <a:tblGrid>
                <a:gridCol w="1419726"/>
                <a:gridCol w="2082265"/>
                <a:gridCol w="1892968"/>
              </a:tblGrid>
              <a:tr h="287382">
                <a:tc>
                  <a:txBody>
                    <a:bodyPr wrap="square"/>
                    <a:lstStyle/>
                    <a:p>
                      <a:pPr algn="l"/>
                      <a:r>
                        <a:rPr sz="1030" b="1">
                          <a:solidFill>
                            <a:srgbClr val="FFFFFF"/>
                          </a:solidFill>
                          <a:latin typeface="Calibri"/>
                        </a:rPr>
                        <a:t>Rating</a:t>
                      </a:r>
                    </a:p>
                  </a:txBody>
                  <a:tcPr marL="50800" marR="50800" marT="25400" marB="25400" anchor="ctr">
                    <a:solidFill>
                      <a:srgbClr val="182433"/>
                    </a:solidFill>
                  </a:tcPr>
                </a:tc>
                <a:tc>
                  <a:txBody>
                    <a:bodyPr wrap="square"/>
                    <a:lstStyle/>
                    <a:p>
                      <a:pPr algn="ctr"/>
                      <a:r>
                        <a:rPr sz="1030" b="1">
                          <a:solidFill>
                            <a:srgbClr val="FFFFFF"/>
                          </a:solidFill>
                          <a:latin typeface="Calibri"/>
                        </a:rPr>
                        <a:t>Portfolio CVA</a:t>
                      </a:r>
                    </a:p>
                  </a:txBody>
                  <a:tcPr marL="50800" marR="50800" marT="25400" marB="25400" anchor="ctr">
                    <a:solidFill>
                      <a:srgbClr val="182433"/>
                    </a:solidFill>
                  </a:tcPr>
                </a:tc>
                <a:tc>
                  <a:txBody>
                    <a:bodyPr wrap="square"/>
                    <a:lstStyle/>
                    <a:p>
                      <a:pPr algn="ctr"/>
                      <a:r>
                        <a:rPr sz="1030" b="1">
                          <a:solidFill>
                            <a:srgbClr val="FFFFFF"/>
                          </a:solidFill>
                          <a:latin typeface="Calibri"/>
                        </a:rPr>
                        <a:t>Multiple of BBB</a:t>
                      </a:r>
                    </a:p>
                  </a:txBody>
                  <a:tcPr marL="50800" marR="50800" marT="25400" marB="25400" anchor="ctr">
                    <a:solidFill>
                      <a:srgbClr val="182433"/>
                    </a:solidFill>
                  </a:tcPr>
                </a:tc>
              </a:tr>
              <a:tr h="287382">
                <a:tc>
                  <a:txBody>
                    <a:bodyPr wrap="square"/>
                    <a:lstStyle/>
                    <a:p>
                      <a:pPr algn="l"/>
                      <a:r>
                        <a:rPr sz="980" b="0">
                          <a:solidFill>
                            <a:srgbClr val="182433"/>
                          </a:solidFill>
                          <a:latin typeface="Calibri"/>
                        </a:rPr>
                        <a:t>AAA</a:t>
                      </a:r>
                    </a:p>
                  </a:txBody>
                  <a:tcPr marL="50800" marR="50800" marT="25400" marB="25400" anchor="ctr">
                    <a:solidFill>
                      <a:srgbClr val="FFFFFF"/>
                    </a:solidFill>
                  </a:tcPr>
                </a:tc>
                <a:tc>
                  <a:txBody>
                    <a:bodyPr wrap="square"/>
                    <a:lstStyle/>
                    <a:p>
                      <a:pPr algn="ctr"/>
                      <a:r>
                        <a:rPr sz="980" b="0">
                          <a:solidFill>
                            <a:srgbClr val="182433"/>
                          </a:solidFill>
                          <a:latin typeface="Calibri"/>
                        </a:rPr>
                        <a:t>$4,970</a:t>
                      </a:r>
                    </a:p>
                  </a:txBody>
                  <a:tcPr marL="50800" marR="50800" marT="25400" marB="25400" anchor="ctr">
                    <a:solidFill>
                      <a:srgbClr val="FFFFFF"/>
                    </a:solidFill>
                  </a:tcPr>
                </a:tc>
                <a:tc>
                  <a:txBody>
                    <a:bodyPr wrap="square"/>
                    <a:lstStyle/>
                    <a:p>
                      <a:pPr algn="ctr"/>
                      <a:r>
                        <a:rPr sz="980" b="0">
                          <a:solidFill>
                            <a:srgbClr val="182433"/>
                          </a:solidFill>
                          <a:latin typeface="Calibri"/>
                        </a:rPr>
                        <a:t>0.42x</a:t>
                      </a:r>
                    </a:p>
                  </a:txBody>
                  <a:tcPr marL="50800" marR="50800" marT="25400" marB="25400" anchor="ctr">
                    <a:solidFill>
                      <a:srgbClr val="FFFFFF"/>
                    </a:solidFill>
                  </a:tcPr>
                </a:tc>
              </a:tr>
              <a:tr h="287382">
                <a:tc>
                  <a:txBody>
                    <a:bodyPr wrap="square"/>
                    <a:lstStyle/>
                    <a:p>
                      <a:pPr algn="l"/>
                      <a:r>
                        <a:rPr sz="980" b="0">
                          <a:solidFill>
                            <a:srgbClr val="182433"/>
                          </a:solidFill>
                          <a:latin typeface="Calibri"/>
                        </a:rPr>
                        <a:t>AA</a:t>
                      </a:r>
                    </a:p>
                  </a:txBody>
                  <a:tcPr marL="50800" marR="50800" marT="25400" marB="25400" anchor="ctr">
                    <a:solidFill>
                      <a:srgbClr val="F7F8FA"/>
                    </a:solidFill>
                  </a:tcPr>
                </a:tc>
                <a:tc>
                  <a:txBody>
                    <a:bodyPr wrap="square"/>
                    <a:lstStyle/>
                    <a:p>
                      <a:pPr algn="ctr"/>
                      <a:r>
                        <a:rPr sz="980" b="0">
                          <a:solidFill>
                            <a:srgbClr val="182433"/>
                          </a:solidFill>
                          <a:latin typeface="Calibri"/>
                        </a:rPr>
                        <a:t>$7,028</a:t>
                      </a:r>
                    </a:p>
                  </a:txBody>
                  <a:tcPr marL="50800" marR="50800" marT="25400" marB="25400" anchor="ctr">
                    <a:solidFill>
                      <a:srgbClr val="F7F8FA"/>
                    </a:solidFill>
                  </a:tcPr>
                </a:tc>
                <a:tc>
                  <a:txBody>
                    <a:bodyPr wrap="square"/>
                    <a:lstStyle/>
                    <a:p>
                      <a:pPr algn="ctr"/>
                      <a:r>
                        <a:rPr sz="980" b="0">
                          <a:solidFill>
                            <a:srgbClr val="182433"/>
                          </a:solidFill>
                          <a:latin typeface="Calibri"/>
                        </a:rPr>
                        <a:t>0.60x</a:t>
                      </a:r>
                    </a:p>
                  </a:txBody>
                  <a:tcPr marL="50800" marR="50800" marT="25400" marB="25400" anchor="ctr">
                    <a:solidFill>
                      <a:srgbClr val="F7F8FA"/>
                    </a:solidFill>
                  </a:tcPr>
                </a:tc>
              </a:tr>
              <a:tr h="287382">
                <a:tc>
                  <a:txBody>
                    <a:bodyPr wrap="square"/>
                    <a:lstStyle/>
                    <a:p>
                      <a:pPr algn="l"/>
                      <a:r>
                        <a:rPr sz="980" b="0">
                          <a:solidFill>
                            <a:srgbClr val="182433"/>
                          </a:solidFill>
                          <a:latin typeface="Calibri"/>
                        </a:rPr>
                        <a:t>A</a:t>
                      </a:r>
                    </a:p>
                  </a:txBody>
                  <a:tcPr marL="50800" marR="50800" marT="25400" marB="25400" anchor="ctr">
                    <a:solidFill>
                      <a:srgbClr val="FFFFFF"/>
                    </a:solidFill>
                  </a:tcPr>
                </a:tc>
                <a:tc>
                  <a:txBody>
                    <a:bodyPr wrap="square"/>
                    <a:lstStyle/>
                    <a:p>
                      <a:pPr algn="ctr"/>
                      <a:r>
                        <a:rPr sz="980" b="0">
                          <a:solidFill>
                            <a:srgbClr val="182433"/>
                          </a:solidFill>
                          <a:latin typeface="Calibri"/>
                        </a:rPr>
                        <a:t>$7,997</a:t>
                      </a:r>
                    </a:p>
                  </a:txBody>
                  <a:tcPr marL="50800" marR="50800" marT="25400" marB="25400" anchor="ctr">
                    <a:solidFill>
                      <a:srgbClr val="FFFFFF"/>
                    </a:solidFill>
                  </a:tcPr>
                </a:tc>
                <a:tc>
                  <a:txBody>
                    <a:bodyPr wrap="square"/>
                    <a:lstStyle/>
                    <a:p>
                      <a:pPr algn="ctr"/>
                      <a:r>
                        <a:rPr sz="980" b="0">
                          <a:solidFill>
                            <a:srgbClr val="182433"/>
                          </a:solidFill>
                          <a:latin typeface="Calibri"/>
                        </a:rPr>
                        <a:t>0.68x</a:t>
                      </a:r>
                    </a:p>
                  </a:txBody>
                  <a:tcPr marL="50800" marR="50800" marT="25400" marB="25400" anchor="ctr">
                    <a:solidFill>
                      <a:srgbClr val="FFFFFF"/>
                    </a:solidFill>
                  </a:tcPr>
                </a:tc>
              </a:tr>
              <a:tr h="287382">
                <a:tc>
                  <a:txBody>
                    <a:bodyPr wrap="square"/>
                    <a:lstStyle/>
                    <a:p>
                      <a:pPr algn="l"/>
                      <a:r>
                        <a:rPr sz="980" b="0">
                          <a:solidFill>
                            <a:srgbClr val="182433"/>
                          </a:solidFill>
                          <a:latin typeface="Calibri"/>
                        </a:rPr>
                        <a:t>BBB</a:t>
                      </a:r>
                    </a:p>
                  </a:txBody>
                  <a:tcPr marL="50800" marR="50800" marT="25400" marB="25400" anchor="ctr">
                    <a:solidFill>
                      <a:srgbClr val="F7F8FA"/>
                    </a:solidFill>
                  </a:tcPr>
                </a:tc>
                <a:tc>
                  <a:txBody>
                    <a:bodyPr wrap="square"/>
                    <a:lstStyle/>
                    <a:p>
                      <a:pPr algn="ctr"/>
                      <a:r>
                        <a:rPr sz="980" b="0">
                          <a:solidFill>
                            <a:srgbClr val="182433"/>
                          </a:solidFill>
                          <a:latin typeface="Calibri"/>
                        </a:rPr>
                        <a:t>$11,747</a:t>
                      </a:r>
                    </a:p>
                  </a:txBody>
                  <a:tcPr marL="50800" marR="50800" marT="25400" marB="25400" anchor="ctr">
                    <a:solidFill>
                      <a:srgbClr val="F7F8FA"/>
                    </a:solidFill>
                  </a:tcPr>
                </a:tc>
                <a:tc>
                  <a:txBody>
                    <a:bodyPr wrap="square"/>
                    <a:lstStyle/>
                    <a:p>
                      <a:pPr algn="ctr"/>
                      <a:r>
                        <a:rPr sz="980" b="0">
                          <a:solidFill>
                            <a:srgbClr val="182433"/>
                          </a:solidFill>
                          <a:latin typeface="Calibri"/>
                        </a:rPr>
                        <a:t>1.00x</a:t>
                      </a:r>
                    </a:p>
                  </a:txBody>
                  <a:tcPr marL="50800" marR="50800" marT="25400" marB="25400" anchor="ctr">
                    <a:solidFill>
                      <a:srgbClr val="F7F8FA"/>
                    </a:solidFill>
                  </a:tcPr>
                </a:tc>
              </a:tr>
              <a:tr h="287382">
                <a:tc>
                  <a:txBody>
                    <a:bodyPr wrap="square"/>
                    <a:lstStyle/>
                    <a:p>
                      <a:pPr algn="l"/>
                      <a:r>
                        <a:rPr sz="980" b="0">
                          <a:solidFill>
                            <a:srgbClr val="182433"/>
                          </a:solidFill>
                          <a:latin typeface="Calibri"/>
                        </a:rPr>
                        <a:t>BB</a:t>
                      </a:r>
                    </a:p>
                  </a:txBody>
                  <a:tcPr marL="50800" marR="50800" marT="25400" marB="25400" anchor="ctr">
                    <a:solidFill>
                      <a:srgbClr val="FFFFFF"/>
                    </a:solidFill>
                  </a:tcPr>
                </a:tc>
                <a:tc>
                  <a:txBody>
                    <a:bodyPr wrap="square"/>
                    <a:lstStyle/>
                    <a:p>
                      <a:pPr algn="ctr"/>
                      <a:r>
                        <a:rPr sz="980" b="0">
                          <a:solidFill>
                            <a:srgbClr val="182433"/>
                          </a:solidFill>
                          <a:latin typeface="Calibri"/>
                        </a:rPr>
                        <a:t>$18,150</a:t>
                      </a:r>
                    </a:p>
                  </a:txBody>
                  <a:tcPr marL="50800" marR="50800" marT="25400" marB="25400" anchor="ctr">
                    <a:solidFill>
                      <a:srgbClr val="FFFFFF"/>
                    </a:solidFill>
                  </a:tcPr>
                </a:tc>
                <a:tc>
                  <a:txBody>
                    <a:bodyPr wrap="square"/>
                    <a:lstStyle/>
                    <a:p>
                      <a:pPr algn="ctr"/>
                      <a:r>
                        <a:rPr sz="980" b="0">
                          <a:solidFill>
                            <a:srgbClr val="182433"/>
                          </a:solidFill>
                          <a:latin typeface="Calibri"/>
                        </a:rPr>
                        <a:t>1.55x</a:t>
                      </a:r>
                    </a:p>
                  </a:txBody>
                  <a:tcPr marL="50800" marR="50800" marT="25400" marB="25400" anchor="ctr">
                    <a:solidFill>
                      <a:srgbClr val="FFFFFF"/>
                    </a:solidFill>
                  </a:tcPr>
                </a:tc>
              </a:tr>
              <a:tr h="287382">
                <a:tc>
                  <a:txBody>
                    <a:bodyPr wrap="square"/>
                    <a:lstStyle/>
                    <a:p>
                      <a:pPr algn="l"/>
                      <a:r>
                        <a:rPr sz="980" b="0">
                          <a:solidFill>
                            <a:srgbClr val="182433"/>
                          </a:solidFill>
                          <a:latin typeface="Calibri"/>
                        </a:rPr>
                        <a:t>B</a:t>
                      </a:r>
                    </a:p>
                  </a:txBody>
                  <a:tcPr marL="50800" marR="50800" marT="25400" marB="25400" anchor="ctr">
                    <a:solidFill>
                      <a:srgbClr val="F7F8FA"/>
                    </a:solidFill>
                  </a:tcPr>
                </a:tc>
                <a:tc>
                  <a:txBody>
                    <a:bodyPr wrap="square"/>
                    <a:lstStyle/>
                    <a:p>
                      <a:pPr algn="ctr"/>
                      <a:r>
                        <a:rPr sz="980" b="0">
                          <a:solidFill>
                            <a:srgbClr val="182433"/>
                          </a:solidFill>
                          <a:latin typeface="Calibri"/>
                        </a:rPr>
                        <a:t>$32,847</a:t>
                      </a:r>
                    </a:p>
                  </a:txBody>
                  <a:tcPr marL="50800" marR="50800" marT="25400" marB="25400" anchor="ctr">
                    <a:solidFill>
                      <a:srgbClr val="F7F8FA"/>
                    </a:solidFill>
                  </a:tcPr>
                </a:tc>
                <a:tc>
                  <a:txBody>
                    <a:bodyPr wrap="square"/>
                    <a:lstStyle/>
                    <a:p>
                      <a:pPr algn="ctr"/>
                      <a:r>
                        <a:rPr sz="980" b="0">
                          <a:solidFill>
                            <a:srgbClr val="182433"/>
                          </a:solidFill>
                          <a:latin typeface="Calibri"/>
                        </a:rPr>
                        <a:t>2.80x</a:t>
                      </a:r>
                    </a:p>
                  </a:txBody>
                  <a:tcPr marL="50800" marR="50800" marT="25400" marB="25400" anchor="ctr">
                    <a:solidFill>
                      <a:srgbClr val="F7F8FA"/>
                    </a:solidFill>
                  </a:tcPr>
                </a:tc>
              </a:tr>
            </a:tbl>
          </a:graphicData>
        </a:graphic>
      </p:graphicFrame>
      <p:sp>
        <p:nvSpPr>
          <p:cNvPr id="9" name="TextBox 8"/>
          <p:cNvSpPr txBox="1"/>
          <p:nvPr/>
        </p:nvSpPr>
        <p:spPr>
          <a:xfrm>
            <a:off x="457200" y="3840480"/>
            <a:ext cx="5486400" cy="2286000"/>
          </a:xfrm>
          <a:prstGeom prst="rect">
            <a:avLst/>
          </a:prstGeom>
          <a:noFill/>
        </p:spPr>
        <p:txBody>
          <a:bodyPr wrap="square" lIns="0" rIns="0" tIns="0" bIns="0">
            <a:spAutoFit/>
          </a:bodyPr>
          <a:lstStyle/>
          <a:p>
            <a:pPr>
              <a:lnSpc>
                <a:spcPct val="105000"/>
              </a:lnSpc>
              <a:spcAft>
                <a:spcPts val="700"/>
              </a:spcAft>
            </a:pPr>
            <a:r>
              <a:rPr sz="1150" b="0">
                <a:solidFill>
                  <a:srgbClr val="182433"/>
                </a:solidFill>
                <a:latin typeface="Calibri"/>
              </a:rPr>
              <a:t>•  CVA concentrated where exposure is: CPTY_C carries 68% of the $11,747 close-out total</a:t>
            </a:r>
          </a:p>
          <a:p>
            <a:pPr>
              <a:lnSpc>
                <a:spcPct val="105000"/>
              </a:lnSpc>
              <a:spcAft>
                <a:spcPts val="700"/>
              </a:spcAft>
            </a:pPr>
            <a:r>
              <a:rPr sz="1150" b="0">
                <a:solidFill>
                  <a:srgbClr val="182433"/>
                </a:solidFill>
                <a:latin typeface="Calibri"/>
              </a:rPr>
              <a:t>•  Own credit and funding spread are assumed (BBB proxy, funding = own spread) -- disclosed, with sensitivity shown</a:t>
            </a:r>
          </a:p>
        </p:txBody>
      </p:sp>
      <p:pic>
        <p:nvPicPr>
          <p:cNvPr id="10" name="Picture 9" descr="fig36.png"/>
          <p:cNvPicPr>
            <a:picLocks noChangeAspect="1"/>
          </p:cNvPicPr>
          <p:nvPr/>
        </p:nvPicPr>
        <p:blipFill>
          <a:blip r:embed="rId3"/>
          <a:stretch>
            <a:fillRect/>
          </a:stretch>
        </p:blipFill>
        <p:spPr>
          <a:xfrm>
            <a:off x="6309360" y="3886200"/>
            <a:ext cx="5394960" cy="2370984"/>
          </a:xfrm>
          <a:prstGeom prst="rect">
            <a:avLst/>
          </a:prstGeom>
        </p:spPr>
      </p:pic>
      <p:sp>
        <p:nvSpPr>
          <p:cNvPr id="11" name="TextBox 10"/>
          <p:cNvSpPr txBox="1"/>
          <p:nvPr/>
        </p:nvSpPr>
        <p:spPr>
          <a:xfrm>
            <a:off x="6309360" y="6309360"/>
            <a:ext cx="5394960" cy="365760"/>
          </a:xfrm>
          <a:prstGeom prst="rect">
            <a:avLst/>
          </a:prstGeom>
          <a:noFill/>
        </p:spPr>
        <p:txBody>
          <a:bodyPr wrap="square" anchor="t" lIns="0" rIns="0" tIns="0" bIns="0">
            <a:spAutoFit/>
          </a:bodyPr>
          <a:lstStyle/>
          <a:p>
            <a:pPr algn="l"/>
            <a:r>
              <a:rPr sz="950" b="0" i="1">
                <a:solidFill>
                  <a:srgbClr val="6B7280"/>
                </a:solidFill>
                <a:latin typeface="Calibri"/>
              </a:rPr>
              <a:t>Discounted EE, CVA by counterparty, and portfolio CVA by assumed rating.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Extra Credit: Pricing a Risky Bond With an Issuer-Credit Proxy</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46</a:t>
            </a:r>
          </a:p>
        </p:txBody>
      </p:sp>
      <p:sp>
        <p:nvSpPr>
          <p:cNvPr id="6" name="TextBox 5"/>
          <p:cNvSpPr txBox="1"/>
          <p:nvPr/>
        </p:nvSpPr>
        <p:spPr>
          <a:xfrm>
            <a:off x="457200" y="1371600"/>
            <a:ext cx="5486400" cy="2011680"/>
          </a:xfrm>
          <a:prstGeom prst="rect">
            <a:avLst/>
          </a:prstGeom>
          <a:noFill/>
        </p:spPr>
        <p:txBody>
          <a:bodyPr wrap="square" lIns="0" rIns="0" tIns="0" bIns="0">
            <a:spAutoFit/>
          </a:bodyPr>
          <a:lstStyle/>
          <a:p>
            <a:pPr>
              <a:lnSpc>
                <a:spcPct val="105000"/>
              </a:lnSpc>
              <a:spcAft>
                <a:spcPts val="800"/>
              </a:spcAft>
            </a:pPr>
            <a:r>
              <a:rPr sz="1200" b="0">
                <a:solidFill>
                  <a:srgbClr val="182433"/>
                </a:solidFill>
                <a:latin typeface="Calibri"/>
              </a:rPr>
              <a:t>•  Sample trade: a long forward on a 5% BBB corporate bond, $25M notional, forward date 2027-02-26 -- not part of the ESF book</a:t>
            </a:r>
          </a:p>
          <a:p>
            <a:pPr>
              <a:lnSpc>
                <a:spcPct val="105000"/>
              </a:lnSpc>
              <a:spcAft>
                <a:spcPts val="800"/>
              </a:spcAft>
            </a:pPr>
            <a:r>
              <a:rPr sz="1200" b="0">
                <a:solidFill>
                  <a:srgbClr val="182433"/>
                </a:solidFill>
                <a:latin typeface="Calibri"/>
              </a:rPr>
              <a:t>•  Issuer curve: same BBB proxy method as counterparty spreads (0.5y 59bp -&gt; 10y 118bp), re-anchored at every simulated node with a deterministic term structure</a:t>
            </a:r>
          </a:p>
          <a:p>
            <a:pPr>
              <a:lnSpc>
                <a:spcPct val="105000"/>
              </a:lnSpc>
              <a:spcAft>
                <a:spcPts val="800"/>
              </a:spcAft>
            </a:pPr>
            <a:r>
              <a:rPr sz="1200" b="0">
                <a:solidFill>
                  <a:srgbClr val="182433"/>
                </a:solidFill>
                <a:latin typeface="Calibri"/>
              </a:rPr>
              <a:t>•  Priced two ways: risk-free (ignore issuer credit) vs. risky (issuer credit priced in) -- same forward, same simulation, only the discount/survival treatment differs</a:t>
            </a:r>
          </a:p>
        </p:txBody>
      </p:sp>
      <p:graphicFrame>
        <p:nvGraphicFramePr>
          <p:cNvPr id="7" name="Table 6"/>
          <p:cNvGraphicFramePr>
            <a:graphicFrameLocks noGrp="1"/>
          </p:cNvGraphicFramePr>
          <p:nvPr/>
        </p:nvGraphicFramePr>
        <p:xfrm>
          <a:off x="457200" y="3657600"/>
          <a:ext cx="6492240" cy="2743195"/>
        </p:xfrm>
        <a:graphic>
          <a:graphicData uri="http://schemas.openxmlformats.org/drawingml/2006/table">
            <a:tbl>
              <a:tblPr firstRow="1" bandRow="1">
                <a:tableStyleId>{5C22544A-7EE6-4342-B048-85BDC9FD1C3A}</a:tableStyleId>
              </a:tblPr>
              <a:tblGrid>
                <a:gridCol w="2834640"/>
                <a:gridCol w="1828800"/>
                <a:gridCol w="1828800"/>
              </a:tblGrid>
              <a:tr h="391885">
                <a:tc>
                  <a:txBody>
                    <a:bodyPr wrap="square"/>
                    <a:lstStyle/>
                    <a:p>
                      <a:pPr algn="l"/>
                      <a:r>
                        <a:rPr sz="1080" b="1">
                          <a:solidFill>
                            <a:srgbClr val="FFFFFF"/>
                          </a:solidFill>
                          <a:latin typeface="Calibri"/>
                        </a:rPr>
                        <a:t>Quantity</a:t>
                      </a:r>
                    </a:p>
                  </a:txBody>
                  <a:tcPr marL="50800" marR="50800" marT="25400" marB="25400" anchor="ctr">
                    <a:solidFill>
                      <a:srgbClr val="182433"/>
                    </a:solidFill>
                  </a:tcPr>
                </a:tc>
                <a:tc>
                  <a:txBody>
                    <a:bodyPr wrap="square"/>
                    <a:lstStyle/>
                    <a:p>
                      <a:pPr algn="ctr"/>
                      <a:r>
                        <a:rPr sz="1080" b="1">
                          <a:solidFill>
                            <a:srgbClr val="FFFFFF"/>
                          </a:solidFill>
                          <a:latin typeface="Calibri"/>
                        </a:rPr>
                        <a:t>Risk-free bond</a:t>
                      </a:r>
                    </a:p>
                  </a:txBody>
                  <a:tcPr marL="50800" marR="50800" marT="25400" marB="25400" anchor="ctr">
                    <a:solidFill>
                      <a:srgbClr val="182433"/>
                    </a:solidFill>
                  </a:tcPr>
                </a:tc>
                <a:tc>
                  <a:txBody>
                    <a:bodyPr wrap="square"/>
                    <a:lstStyle/>
                    <a:p>
                      <a:pPr algn="ctr"/>
                      <a:r>
                        <a:rPr sz="1080" b="1">
                          <a:solidFill>
                            <a:srgbClr val="FFFFFF"/>
                          </a:solidFill>
                          <a:latin typeface="Calibri"/>
                        </a:rPr>
                        <a:t>Risky bond (issuer credit)</a:t>
                      </a:r>
                    </a:p>
                  </a:txBody>
                  <a:tcPr marL="50800" marR="50800" marT="25400" marB="25400" anchor="ctr">
                    <a:solidFill>
                      <a:srgbClr val="182433"/>
                    </a:solidFill>
                  </a:tcPr>
                </a:tc>
              </a:tr>
              <a:tr h="391885">
                <a:tc>
                  <a:txBody>
                    <a:bodyPr wrap="square"/>
                    <a:lstStyle/>
                    <a:p>
                      <a:pPr algn="l"/>
                      <a:r>
                        <a:rPr sz="1030" b="0">
                          <a:solidFill>
                            <a:srgbClr val="182433"/>
                          </a:solidFill>
                          <a:latin typeface="Calibri"/>
                        </a:rPr>
                        <a:t>t=0 NPV of the forward</a:t>
                      </a:r>
                    </a:p>
                  </a:txBody>
                  <a:tcPr marL="50800" marR="50800" marT="25400" marB="25400" anchor="ctr">
                    <a:solidFill>
                      <a:srgbClr val="FFFFFF"/>
                    </a:solidFill>
                  </a:tcPr>
                </a:tc>
                <a:tc>
                  <a:txBody>
                    <a:bodyPr wrap="square"/>
                    <a:lstStyle/>
                    <a:p>
                      <a:pPr algn="ctr"/>
                      <a:r>
                        <a:rPr sz="1030" b="0">
                          <a:solidFill>
                            <a:srgbClr val="182433"/>
                          </a:solidFill>
                          <a:latin typeface="Calibri"/>
                        </a:rPr>
                        <a:t>$653,843</a:t>
                      </a:r>
                    </a:p>
                  </a:txBody>
                  <a:tcPr marL="50800" marR="50800" marT="25400" marB="25400" anchor="ctr">
                    <a:solidFill>
                      <a:srgbClr val="FFFFFF"/>
                    </a:solidFill>
                  </a:tcPr>
                </a:tc>
                <a:tc>
                  <a:txBody>
                    <a:bodyPr wrap="square"/>
                    <a:lstStyle/>
                    <a:p>
                      <a:pPr algn="ctr"/>
                      <a:r>
                        <a:rPr sz="1030" b="0">
                          <a:solidFill>
                            <a:srgbClr val="182433"/>
                          </a:solidFill>
                          <a:latin typeface="Calibri"/>
                        </a:rPr>
                        <a:t>-$280,309</a:t>
                      </a:r>
                    </a:p>
                  </a:txBody>
                  <a:tcPr marL="50800" marR="50800" marT="25400" marB="25400" anchor="ctr">
                    <a:solidFill>
                      <a:srgbClr val="FFFFFF"/>
                    </a:solidFill>
                  </a:tcPr>
                </a:tc>
              </a:tr>
              <a:tr h="391885">
                <a:tc>
                  <a:txBody>
                    <a:bodyPr wrap="square"/>
                    <a:lstStyle/>
                    <a:p>
                      <a:pPr algn="l"/>
                      <a:r>
                        <a:rPr sz="1030" b="0">
                          <a:solidFill>
                            <a:srgbClr val="182433"/>
                          </a:solidFill>
                          <a:latin typeface="Calibri"/>
                        </a:rPr>
                        <a:t>Forward clean price</a:t>
                      </a:r>
                    </a:p>
                  </a:txBody>
                  <a:tcPr marL="50800" marR="50800" marT="25400" marB="25400" anchor="ctr">
                    <a:solidFill>
                      <a:srgbClr val="F7F8FA"/>
                    </a:solidFill>
                  </a:tcPr>
                </a:tc>
                <a:tc>
                  <a:txBody>
                    <a:bodyPr wrap="square"/>
                    <a:lstStyle/>
                    <a:p>
                      <a:pPr algn="ctr"/>
                      <a:r>
                        <a:rPr sz="1030" b="0">
                          <a:solidFill>
                            <a:srgbClr val="182433"/>
                          </a:solidFill>
                          <a:latin typeface="Calibri"/>
                        </a:rPr>
                        <a:t>102.6666</a:t>
                      </a:r>
                    </a:p>
                  </a:txBody>
                  <a:tcPr marL="50800" marR="50800" marT="25400" marB="25400" anchor="ctr">
                    <a:solidFill>
                      <a:srgbClr val="F7F8FA"/>
                    </a:solidFill>
                  </a:tcPr>
                </a:tc>
                <a:tc>
                  <a:txBody>
                    <a:bodyPr wrap="square"/>
                    <a:lstStyle/>
                    <a:p>
                      <a:pPr algn="ctr"/>
                      <a:r>
                        <a:rPr sz="1030" b="0">
                          <a:solidFill>
                            <a:srgbClr val="182433"/>
                          </a:solidFill>
                          <a:latin typeface="Calibri"/>
                        </a:rPr>
                        <a:t>98.8568</a:t>
                      </a:r>
                    </a:p>
                  </a:txBody>
                  <a:tcPr marL="50800" marR="50800" marT="25400" marB="25400" anchor="ctr">
                    <a:solidFill>
                      <a:srgbClr val="F7F8FA"/>
                    </a:solidFill>
                  </a:tcPr>
                </a:tc>
              </a:tr>
              <a:tr h="391885">
                <a:tc>
                  <a:txBody>
                    <a:bodyPr wrap="square"/>
                    <a:lstStyle/>
                    <a:p>
                      <a:pPr algn="l"/>
                      <a:r>
                        <a:rPr sz="1030" b="0">
                          <a:solidFill>
                            <a:srgbClr val="182433"/>
                          </a:solidFill>
                          <a:latin typeface="Calibri"/>
                        </a:rPr>
                        <a:t>Issuer credit charge at t=0</a:t>
                      </a:r>
                    </a:p>
                  </a:txBody>
                  <a:tcPr marL="50800" marR="50800" marT="25400" marB="25400" anchor="ctr">
                    <a:solidFill>
                      <a:srgbClr val="FFFFFF"/>
                    </a:solidFill>
                  </a:tcPr>
                </a:tc>
                <a:tc>
                  <a:txBody>
                    <a:bodyPr wrap="square"/>
                    <a:lstStyle/>
                    <a:p>
                      <a:pPr algn="ctr"/>
                      <a:r>
                        <a:rPr sz="1030" b="0">
                          <a:solidFill>
                            <a:srgbClr val="182433"/>
                          </a:solidFill>
                          <a:latin typeface="Calibri"/>
                        </a:rPr>
                        <a:t>--</a:t>
                      </a:r>
                    </a:p>
                  </a:txBody>
                  <a:tcPr marL="50800" marR="50800" marT="25400" marB="25400" anchor="ctr">
                    <a:solidFill>
                      <a:srgbClr val="FFFFFF"/>
                    </a:solidFill>
                  </a:tcPr>
                </a:tc>
                <a:tc>
                  <a:txBody>
                    <a:bodyPr wrap="square"/>
                    <a:lstStyle/>
                    <a:p>
                      <a:pPr algn="ctr"/>
                      <a:r>
                        <a:rPr sz="1030" b="0">
                          <a:solidFill>
                            <a:srgbClr val="182433"/>
                          </a:solidFill>
                          <a:latin typeface="Calibri"/>
                        </a:rPr>
                        <a:t>$934,152</a:t>
                      </a:r>
                    </a:p>
                  </a:txBody>
                  <a:tcPr marL="50800" marR="50800" marT="25400" marB="25400" anchor="ctr">
                    <a:solidFill>
                      <a:srgbClr val="FFFFFF"/>
                    </a:solidFill>
                  </a:tcPr>
                </a:tc>
              </a:tr>
              <a:tr h="391885">
                <a:tc>
                  <a:txBody>
                    <a:bodyPr wrap="square"/>
                    <a:lstStyle/>
                    <a:p>
                      <a:pPr algn="l"/>
                      <a:r>
                        <a:rPr sz="1030" b="0">
                          <a:solidFill>
                            <a:srgbClr val="182433"/>
                          </a:solidFill>
                          <a:latin typeface="Calibri"/>
                        </a:rPr>
                        <a:t>CS01 (NPV per +1bp issuer spread)</a:t>
                      </a:r>
                    </a:p>
                  </a:txBody>
                  <a:tcPr marL="50800" marR="50800" marT="25400" marB="25400" anchor="ctr">
                    <a:solidFill>
                      <a:srgbClr val="F7F8FA"/>
                    </a:solidFill>
                  </a:tcPr>
                </a:tc>
                <a:tc>
                  <a:txBody>
                    <a:bodyPr wrap="square"/>
                    <a:lstStyle/>
                    <a:p>
                      <a:pPr algn="ctr"/>
                      <a:r>
                        <a:rPr sz="1030" b="0">
                          <a:solidFill>
                            <a:srgbClr val="182433"/>
                          </a:solidFill>
                          <a:latin typeface="Calibri"/>
                        </a:rPr>
                        <a:t>--</a:t>
                      </a:r>
                    </a:p>
                  </a:txBody>
                  <a:tcPr marL="50800" marR="50800" marT="25400" marB="25400" anchor="ctr">
                    <a:solidFill>
                      <a:srgbClr val="F7F8FA"/>
                    </a:solidFill>
                  </a:tcPr>
                </a:tc>
                <a:tc>
                  <a:txBody>
                    <a:bodyPr wrap="square"/>
                    <a:lstStyle/>
                    <a:p>
                      <a:pPr algn="ctr"/>
                      <a:r>
                        <a:rPr sz="1030" b="0">
                          <a:solidFill>
                            <a:srgbClr val="182433"/>
                          </a:solidFill>
                          <a:latin typeface="Calibri"/>
                        </a:rPr>
                        <a:t>-$10,998</a:t>
                      </a:r>
                    </a:p>
                  </a:txBody>
                  <a:tcPr marL="50800" marR="50800" marT="25400" marB="25400" anchor="ctr">
                    <a:solidFill>
                      <a:srgbClr val="F7F8FA"/>
                    </a:solidFill>
                  </a:tcPr>
                </a:tc>
              </a:tr>
              <a:tr h="391885">
                <a:tc>
                  <a:txBody>
                    <a:bodyPr wrap="square"/>
                    <a:lstStyle/>
                    <a:p>
                      <a:pPr algn="l"/>
                      <a:r>
                        <a:rPr sz="1030" b="0">
                          <a:solidFill>
                            <a:srgbClr val="182433"/>
                          </a:solidFill>
                          <a:latin typeface="Calibri"/>
                        </a:rPr>
                        <a:t>Close-out MPE99 (counterparty exposure)</a:t>
                      </a:r>
                    </a:p>
                  </a:txBody>
                  <a:tcPr marL="50800" marR="50800" marT="25400" marB="25400" anchor="ctr">
                    <a:solidFill>
                      <a:srgbClr val="FFFFFF"/>
                    </a:solidFill>
                  </a:tcPr>
                </a:tc>
                <a:tc>
                  <a:txBody>
                    <a:bodyPr wrap="square"/>
                    <a:lstStyle/>
                    <a:p>
                      <a:pPr algn="ctr"/>
                      <a:r>
                        <a:rPr sz="1030" b="0">
                          <a:solidFill>
                            <a:srgbClr val="182433"/>
                          </a:solidFill>
                          <a:latin typeface="Calibri"/>
                        </a:rPr>
                        <a:t>$0.5M</a:t>
                      </a:r>
                    </a:p>
                  </a:txBody>
                  <a:tcPr marL="50800" marR="50800" marT="25400" marB="25400" anchor="ctr">
                    <a:solidFill>
                      <a:srgbClr val="FFFFFF"/>
                    </a:solidFill>
                  </a:tcPr>
                </a:tc>
                <a:tc>
                  <a:txBody>
                    <a:bodyPr wrap="square"/>
                    <a:lstStyle/>
                    <a:p>
                      <a:pPr algn="ctr"/>
                      <a:r>
                        <a:rPr sz="1030" b="0">
                          <a:solidFill>
                            <a:srgbClr val="182433"/>
                          </a:solidFill>
                          <a:latin typeface="Calibri"/>
                        </a:rPr>
                        <a:t>$0.5M</a:t>
                      </a:r>
                    </a:p>
                  </a:txBody>
                  <a:tcPr marL="50800" marR="50800" marT="25400" marB="25400" anchor="ctr">
                    <a:solidFill>
                      <a:srgbClr val="FFFFFF"/>
                    </a:solidFill>
                  </a:tcPr>
                </a:tc>
              </a:tr>
              <a:tr h="391885">
                <a:tc>
                  <a:txBody>
                    <a:bodyPr wrap="square"/>
                    <a:lstStyle/>
                    <a:p>
                      <a:pPr algn="l"/>
                      <a:r>
                        <a:rPr sz="1030" b="0">
                          <a:solidFill>
                            <a:srgbClr val="182433"/>
                          </a:solidFill>
                          <a:latin typeface="Calibri"/>
                        </a:rPr>
                        <a:t>Peak level PFE99 (uncollateralized)</a:t>
                      </a:r>
                    </a:p>
                  </a:txBody>
                  <a:tcPr marL="50800" marR="50800" marT="25400" marB="25400" anchor="ctr">
                    <a:solidFill>
                      <a:srgbClr val="F7F8FA"/>
                    </a:solidFill>
                  </a:tcPr>
                </a:tc>
                <a:tc>
                  <a:txBody>
                    <a:bodyPr wrap="square"/>
                    <a:lstStyle/>
                    <a:p>
                      <a:pPr algn="ctr"/>
                      <a:r>
                        <a:rPr sz="1030" b="0">
                          <a:solidFill>
                            <a:srgbClr val="182433"/>
                          </a:solidFill>
                          <a:latin typeface="Calibri"/>
                        </a:rPr>
                        <a:t>$2.1M</a:t>
                      </a:r>
                    </a:p>
                  </a:txBody>
                  <a:tcPr marL="50800" marR="50800" marT="25400" marB="25400" anchor="ctr">
                    <a:solidFill>
                      <a:srgbClr val="F7F8FA"/>
                    </a:solidFill>
                  </a:tcPr>
                </a:tc>
                <a:tc>
                  <a:txBody>
                    <a:bodyPr wrap="square"/>
                    <a:lstStyle/>
                    <a:p>
                      <a:pPr algn="ctr"/>
                      <a:r>
                        <a:rPr sz="1030" b="0">
                          <a:solidFill>
                            <a:srgbClr val="182433"/>
                          </a:solidFill>
                          <a:latin typeface="Calibri"/>
                        </a:rPr>
                        <a:t>$1.3M</a:t>
                      </a:r>
                    </a:p>
                  </a:txBody>
                  <a:tcPr marL="50800" marR="50800" marT="25400" marB="25400" anchor="ctr">
                    <a:solidFill>
                      <a:srgbClr val="F7F8FA"/>
                    </a:solidFill>
                  </a:tcPr>
                </a:tc>
              </a:tr>
            </a:tbl>
          </a:graphicData>
        </a:graphic>
      </p:graphicFrame>
      <p:sp>
        <p:nvSpPr>
          <p:cNvPr id="8" name="Rectangle 7"/>
          <p:cNvSpPr/>
          <p:nvPr/>
        </p:nvSpPr>
        <p:spPr>
          <a:xfrm>
            <a:off x="6309360" y="1371600"/>
            <a:ext cx="5394960" cy="21031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09360" y="1371600"/>
            <a:ext cx="44450" cy="210312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481328"/>
            <a:ext cx="5074920" cy="292608"/>
          </a:xfrm>
          <a:prstGeom prst="rect">
            <a:avLst/>
          </a:prstGeom>
          <a:noFill/>
        </p:spPr>
        <p:txBody>
          <a:bodyPr wrap="square" anchor="t" lIns="0" rIns="0" tIns="0" bIns="0">
            <a:spAutoFit/>
          </a:bodyPr>
          <a:lstStyle/>
          <a:p>
            <a:pPr algn="l"/>
            <a:r>
              <a:rPr sz="1200" b="1" i="0">
                <a:solidFill>
                  <a:srgbClr val="9A0052"/>
                </a:solidFill>
                <a:latin typeface="Cambria"/>
              </a:rPr>
              <a:t>WHY WHAT'S MISSING VS. A FULL CDS BUILD-OUT</a:t>
            </a:r>
          </a:p>
        </p:txBody>
      </p:sp>
      <p:sp>
        <p:nvSpPr>
          <p:cNvPr id="11" name="TextBox 10"/>
          <p:cNvSpPr txBox="1"/>
          <p:nvPr/>
        </p:nvSpPr>
        <p:spPr>
          <a:xfrm>
            <a:off x="6492240" y="1847088"/>
            <a:ext cx="5074920" cy="1554480"/>
          </a:xfrm>
          <a:prstGeom prst="rect">
            <a:avLst/>
          </a:prstGeom>
          <a:noFill/>
        </p:spPr>
        <p:txBody>
          <a:bodyPr wrap="square" lIns="0" rIns="0" tIns="0" bIns="0">
            <a:spAutoFit/>
          </a:bodyPr>
          <a:lstStyle/>
          <a:p>
            <a:pPr>
              <a:lnSpc>
                <a:spcPct val="105000"/>
              </a:lnSpc>
              <a:spcAft>
                <a:spcPts val="500"/>
              </a:spcAft>
            </a:pPr>
            <a:r>
              <a:rPr sz="1100" b="0">
                <a:solidFill>
                  <a:srgbClr val="182433"/>
                </a:solidFill>
                <a:latin typeface="Calibri"/>
              </a:rPr>
              <a:t>•  Issuer credit is deterministic here (the spread curve doesn't move in the simulation) -- a stochastic issuer-spread factor is listed as future work</a:t>
            </a:r>
          </a:p>
          <a:p>
            <a:pPr>
              <a:lnSpc>
                <a:spcPct val="105000"/>
              </a:lnSpc>
              <a:spcAft>
                <a:spcPts val="500"/>
              </a:spcAft>
            </a:pPr>
            <a:r>
              <a:rPr sz="1100" b="0">
                <a:solidFill>
                  <a:srgbClr val="182433"/>
                </a:solidFill>
                <a:latin typeface="Calibri"/>
              </a:rPr>
              <a:t>•  No CDS instrument pricer exists in the supplied library, so CDS themselves (as opposed to a risky bond) could not be added</a:t>
            </a:r>
          </a:p>
        </p:txBody>
      </p:sp>
      <p:sp>
        <p:nvSpPr>
          <p:cNvPr id="12" name="TextBox 11"/>
          <p:cNvSpPr txBox="1"/>
          <p:nvPr/>
        </p:nvSpPr>
        <p:spPr>
          <a:xfrm>
            <a:off x="6309360" y="3657600"/>
            <a:ext cx="5394960" cy="2743200"/>
          </a:xfrm>
          <a:prstGeom prst="rect">
            <a:avLst/>
          </a:prstGeom>
          <a:noFill/>
        </p:spPr>
        <p:txBody>
          <a:bodyPr wrap="square" lIns="0" rIns="0" tIns="0" bIns="0">
            <a:spAutoFit/>
          </a:bodyPr>
          <a:lstStyle/>
          <a:p>
            <a:pPr>
              <a:lnSpc>
                <a:spcPct val="105000"/>
              </a:lnSpc>
              <a:spcAft>
                <a:spcPts val="800"/>
              </a:spcAft>
            </a:pPr>
            <a:r>
              <a:rPr sz="1200" b="0">
                <a:solidFill>
                  <a:srgbClr val="182433"/>
                </a:solidFill>
                <a:latin typeface="Calibri"/>
              </a:rPr>
              <a:t>•  Counterparty exposure (close-out MPE99 $0.5M) is almost unchanged between the two versions -- it's driven by the forward's market-risk move, not by issuer credit</a:t>
            </a:r>
          </a:p>
          <a:p>
            <a:pPr>
              <a:lnSpc>
                <a:spcPct val="105000"/>
              </a:lnSpc>
              <a:spcAft>
                <a:spcPts val="800"/>
              </a:spcAft>
            </a:pPr>
            <a:r>
              <a:rPr sz="1200" b="0">
                <a:solidFill>
                  <a:srgbClr val="182433"/>
                </a:solidFill>
                <a:latin typeface="Calibri"/>
              </a:rPr>
              <a:t>•  Peak level PFE99 falls from $2.1M to $1.3M on the risky bond: issuer credit lowers the bond's value, which lowers the level of exposure at risk, even though CS01 adds a new risk dimension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SA-CVA Capital $0.10M (Close-Out) / $2.23M (Level); SA-CCR EAD $260.3M</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47</a:t>
            </a:r>
          </a:p>
        </p:txBody>
      </p:sp>
      <p:graphicFrame>
        <p:nvGraphicFramePr>
          <p:cNvPr id="6" name="Table 5"/>
          <p:cNvGraphicFramePr>
            <a:graphicFrameLocks noGrp="1"/>
          </p:cNvGraphicFramePr>
          <p:nvPr/>
        </p:nvGraphicFramePr>
        <p:xfrm>
          <a:off x="457200" y="1371600"/>
          <a:ext cx="5669280" cy="2651760"/>
        </p:xfrm>
        <a:graphic>
          <a:graphicData uri="http://schemas.openxmlformats.org/drawingml/2006/table">
            <a:tbl>
              <a:tblPr firstRow="1" bandRow="1">
                <a:tableStyleId>{5C22544A-7EE6-4342-B048-85BDC9FD1C3A}</a:tableStyleId>
              </a:tblPr>
              <a:tblGrid>
                <a:gridCol w="1828800"/>
                <a:gridCol w="1920240"/>
                <a:gridCol w="1920240"/>
              </a:tblGrid>
              <a:tr h="331470">
                <a:tc>
                  <a:txBody>
                    <a:bodyPr wrap="square"/>
                    <a:lstStyle/>
                    <a:p>
                      <a:pPr algn="l"/>
                      <a:r>
                        <a:rPr sz="1000" b="1">
                          <a:solidFill>
                            <a:srgbClr val="FFFFFF"/>
                          </a:solidFill>
                          <a:latin typeface="Calibri"/>
                        </a:rPr>
                        <a:t>Risk class</a:t>
                      </a:r>
                    </a:p>
                  </a:txBody>
                  <a:tcPr marL="50800" marR="50800" marT="25400" marB="25400" anchor="ctr">
                    <a:solidFill>
                      <a:srgbClr val="182433"/>
                    </a:solidFill>
                  </a:tcPr>
                </a:tc>
                <a:tc>
                  <a:txBody>
                    <a:bodyPr wrap="square"/>
                    <a:lstStyle/>
                    <a:p>
                      <a:pPr algn="ctr"/>
                      <a:r>
                        <a:rPr sz="1000" b="1">
                          <a:solidFill>
                            <a:srgbClr val="FFFFFF"/>
                          </a:solidFill>
                          <a:latin typeface="Calibri"/>
                        </a:rPr>
                        <a:t>Close-out capital</a:t>
                      </a:r>
                    </a:p>
                  </a:txBody>
                  <a:tcPr marL="50800" marR="50800" marT="25400" marB="25400" anchor="ctr">
                    <a:solidFill>
                      <a:srgbClr val="182433"/>
                    </a:solidFill>
                  </a:tcPr>
                </a:tc>
                <a:tc>
                  <a:txBody>
                    <a:bodyPr wrap="square"/>
                    <a:lstStyle/>
                    <a:p>
                      <a:pPr algn="ctr"/>
                      <a:r>
                        <a:rPr sz="1000" b="1">
                          <a:solidFill>
                            <a:srgbClr val="FFFFFF"/>
                          </a:solidFill>
                          <a:latin typeface="Calibri"/>
                        </a:rPr>
                        <a:t>Uncollateralized capital</a:t>
                      </a:r>
                    </a:p>
                  </a:txBody>
                  <a:tcPr marL="50800" marR="50800" marT="25400" marB="25400" anchor="ctr">
                    <a:solidFill>
                      <a:srgbClr val="182433"/>
                    </a:solidFill>
                  </a:tcPr>
                </a:tc>
              </a:tr>
              <a:tr h="331470">
                <a:tc>
                  <a:txBody>
                    <a:bodyPr wrap="square"/>
                    <a:lstStyle/>
                    <a:p>
                      <a:pPr algn="l"/>
                      <a:r>
                        <a:rPr sz="950" b="0">
                          <a:solidFill>
                            <a:srgbClr val="182433"/>
                          </a:solidFill>
                          <a:latin typeface="Calibri"/>
                        </a:rPr>
                        <a:t>ir delta</a:t>
                      </a:r>
                    </a:p>
                  </a:txBody>
                  <a:tcPr marL="50800" marR="50800" marT="25400" marB="25400" anchor="ctr">
                    <a:solidFill>
                      <a:srgbClr val="FFFFFF"/>
                    </a:solidFill>
                  </a:tcPr>
                </a:tc>
                <a:tc>
                  <a:txBody>
                    <a:bodyPr wrap="square"/>
                    <a:lstStyle/>
                    <a:p>
                      <a:pPr algn="ctr"/>
                      <a:r>
                        <a:rPr sz="950" b="0">
                          <a:solidFill>
                            <a:srgbClr val="182433"/>
                          </a:solidFill>
                          <a:latin typeface="Calibri"/>
                        </a:rPr>
                        <a:t>$775</a:t>
                      </a:r>
                    </a:p>
                  </a:txBody>
                  <a:tcPr marL="50800" marR="50800" marT="25400" marB="25400" anchor="ctr">
                    <a:solidFill>
                      <a:srgbClr val="FFFFFF"/>
                    </a:solidFill>
                  </a:tcPr>
                </a:tc>
                <a:tc>
                  <a:txBody>
                    <a:bodyPr wrap="square"/>
                    <a:lstStyle/>
                    <a:p>
                      <a:pPr algn="ctr"/>
                      <a:r>
                        <a:rPr sz="950" b="0">
                          <a:solidFill>
                            <a:srgbClr val="182433"/>
                          </a:solidFill>
                          <a:latin typeface="Calibri"/>
                        </a:rPr>
                        <a:t>$74,837</a:t>
                      </a:r>
                    </a:p>
                  </a:txBody>
                  <a:tcPr marL="50800" marR="50800" marT="25400" marB="25400" anchor="ctr">
                    <a:solidFill>
                      <a:srgbClr val="FFFFFF"/>
                    </a:solidFill>
                  </a:tcPr>
                </a:tc>
              </a:tr>
              <a:tr h="331470">
                <a:tc>
                  <a:txBody>
                    <a:bodyPr wrap="square"/>
                    <a:lstStyle/>
                    <a:p>
                      <a:pPr algn="l"/>
                      <a:r>
                        <a:rPr sz="950" b="0">
                          <a:solidFill>
                            <a:srgbClr val="182433"/>
                          </a:solidFill>
                          <a:latin typeface="Calibri"/>
                        </a:rPr>
                        <a:t>ir vega</a:t>
                      </a:r>
                    </a:p>
                  </a:txBody>
                  <a:tcPr marL="50800" marR="50800" marT="25400" marB="25400" anchor="ctr">
                    <a:solidFill>
                      <a:srgbClr val="F7F8FA"/>
                    </a:solidFill>
                  </a:tcPr>
                </a:tc>
                <a:tc>
                  <a:txBody>
                    <a:bodyPr wrap="square"/>
                    <a:lstStyle/>
                    <a:p>
                      <a:pPr algn="ctr"/>
                      <a:r>
                        <a:rPr sz="950" b="0">
                          <a:solidFill>
                            <a:srgbClr val="182433"/>
                          </a:solidFill>
                          <a:latin typeface="Calibri"/>
                        </a:rPr>
                        <a:t>$5,284</a:t>
                      </a:r>
                    </a:p>
                  </a:txBody>
                  <a:tcPr marL="50800" marR="50800" marT="25400" marB="25400" anchor="ctr">
                    <a:solidFill>
                      <a:srgbClr val="F7F8FA"/>
                    </a:solidFill>
                  </a:tcPr>
                </a:tc>
                <a:tc>
                  <a:txBody>
                    <a:bodyPr wrap="square"/>
                    <a:lstStyle/>
                    <a:p>
                      <a:pPr algn="ctr"/>
                      <a:r>
                        <a:rPr sz="950" b="0">
                          <a:solidFill>
                            <a:srgbClr val="182433"/>
                          </a:solidFill>
                          <a:latin typeface="Calibri"/>
                        </a:rPr>
                        <a:t>$253</a:t>
                      </a:r>
                    </a:p>
                  </a:txBody>
                  <a:tcPr marL="50800" marR="50800" marT="25400" marB="25400" anchor="ctr">
                    <a:solidFill>
                      <a:srgbClr val="F7F8FA"/>
                    </a:solidFill>
                  </a:tcPr>
                </a:tc>
              </a:tr>
              <a:tr h="331470">
                <a:tc>
                  <a:txBody>
                    <a:bodyPr wrap="square"/>
                    <a:lstStyle/>
                    <a:p>
                      <a:pPr algn="l"/>
                      <a:r>
                        <a:rPr sz="950" b="0">
                          <a:solidFill>
                            <a:srgbClr val="182433"/>
                          </a:solidFill>
                          <a:latin typeface="Calibri"/>
                        </a:rPr>
                        <a:t>fx delta</a:t>
                      </a:r>
                    </a:p>
                  </a:txBody>
                  <a:tcPr marL="50800" marR="50800" marT="25400" marB="25400" anchor="ctr">
                    <a:solidFill>
                      <a:srgbClr val="FFFFFF"/>
                    </a:solidFill>
                  </a:tcPr>
                </a:tc>
                <a:tc>
                  <a:txBody>
                    <a:bodyPr wrap="square"/>
                    <a:lstStyle/>
                    <a:p>
                      <a:pPr algn="ctr"/>
                      <a:r>
                        <a:rPr sz="950" b="0">
                          <a:solidFill>
                            <a:srgbClr val="182433"/>
                          </a:solidFill>
                          <a:latin typeface="Calibri"/>
                        </a:rPr>
                        <a:t>$95</a:t>
                      </a:r>
                    </a:p>
                  </a:txBody>
                  <a:tcPr marL="50800" marR="50800" marT="25400" marB="25400" anchor="ctr">
                    <a:solidFill>
                      <a:srgbClr val="FFFFFF"/>
                    </a:solidFill>
                  </a:tcPr>
                </a:tc>
                <a:tc>
                  <a:txBody>
                    <a:bodyPr wrap="square"/>
                    <a:lstStyle/>
                    <a:p>
                      <a:pPr algn="ctr"/>
                      <a:r>
                        <a:rPr sz="950" b="0">
                          <a:solidFill>
                            <a:srgbClr val="182433"/>
                          </a:solidFill>
                          <a:latin typeface="Calibri"/>
                        </a:rPr>
                        <a:t>$2,351</a:t>
                      </a:r>
                    </a:p>
                  </a:txBody>
                  <a:tcPr marL="50800" marR="50800" marT="25400" marB="25400" anchor="ctr">
                    <a:solidFill>
                      <a:srgbClr val="FFFFFF"/>
                    </a:solidFill>
                  </a:tcPr>
                </a:tc>
              </a:tr>
              <a:tr h="331470">
                <a:tc>
                  <a:txBody>
                    <a:bodyPr wrap="square"/>
                    <a:lstStyle/>
                    <a:p>
                      <a:pPr algn="l"/>
                      <a:r>
                        <a:rPr sz="950" b="0">
                          <a:solidFill>
                            <a:srgbClr val="182433"/>
                          </a:solidFill>
                          <a:latin typeface="Calibri"/>
                        </a:rPr>
                        <a:t>ccs delta</a:t>
                      </a:r>
                    </a:p>
                  </a:txBody>
                  <a:tcPr marL="50800" marR="50800" marT="25400" marB="25400" anchor="ctr">
                    <a:solidFill>
                      <a:srgbClr val="F7F8FA"/>
                    </a:solidFill>
                  </a:tcPr>
                </a:tc>
                <a:tc>
                  <a:txBody>
                    <a:bodyPr wrap="square"/>
                    <a:lstStyle/>
                    <a:p>
                      <a:pPr algn="ctr"/>
                      <a:r>
                        <a:rPr sz="950" b="0">
                          <a:solidFill>
                            <a:srgbClr val="182433"/>
                          </a:solidFill>
                          <a:latin typeface="Calibri"/>
                        </a:rPr>
                        <a:t>$85,198</a:t>
                      </a:r>
                    </a:p>
                  </a:txBody>
                  <a:tcPr marL="50800" marR="50800" marT="25400" marB="25400" anchor="ctr">
                    <a:solidFill>
                      <a:srgbClr val="F7F8FA"/>
                    </a:solidFill>
                  </a:tcPr>
                </a:tc>
                <a:tc>
                  <a:txBody>
                    <a:bodyPr wrap="square"/>
                    <a:lstStyle/>
                    <a:p>
                      <a:pPr algn="ctr"/>
                      <a:r>
                        <a:rPr sz="950" b="0">
                          <a:solidFill>
                            <a:srgbClr val="182433"/>
                          </a:solidFill>
                          <a:latin typeface="Calibri"/>
                        </a:rPr>
                        <a:t>$2,032,731</a:t>
                      </a:r>
                    </a:p>
                  </a:txBody>
                  <a:tcPr marL="50800" marR="50800" marT="25400" marB="25400" anchor="ctr">
                    <a:solidFill>
                      <a:srgbClr val="F7F8FA"/>
                    </a:solidFill>
                  </a:tcPr>
                </a:tc>
              </a:tr>
              <a:tr h="331470">
                <a:tc>
                  <a:txBody>
                    <a:bodyPr wrap="square"/>
                    <a:lstStyle/>
                    <a:p>
                      <a:pPr algn="l"/>
                      <a:r>
                        <a:rPr sz="950" b="0">
                          <a:solidFill>
                            <a:srgbClr val="182433"/>
                          </a:solidFill>
                          <a:latin typeface="Calibri"/>
                        </a:rPr>
                        <a:t>eq delta</a:t>
                      </a:r>
                    </a:p>
                  </a:txBody>
                  <a:tcPr marL="50800" marR="50800" marT="25400" marB="25400" anchor="ctr">
                    <a:solidFill>
                      <a:srgbClr val="FFFFFF"/>
                    </a:solidFill>
                  </a:tcPr>
                </a:tc>
                <a:tc>
                  <a:txBody>
                    <a:bodyPr wrap="square"/>
                    <a:lstStyle/>
                    <a:p>
                      <a:pPr algn="ctr"/>
                      <a:r>
                        <a:rPr sz="950" b="0">
                          <a:solidFill>
                            <a:srgbClr val="182433"/>
                          </a:solidFill>
                          <a:latin typeface="Calibri"/>
                        </a:rPr>
                        <a:t>$2,068</a:t>
                      </a:r>
                    </a:p>
                  </a:txBody>
                  <a:tcPr marL="50800" marR="50800" marT="25400" marB="25400" anchor="ctr">
                    <a:solidFill>
                      <a:srgbClr val="FFFFFF"/>
                    </a:solidFill>
                  </a:tcPr>
                </a:tc>
                <a:tc>
                  <a:txBody>
                    <a:bodyPr wrap="square"/>
                    <a:lstStyle/>
                    <a:p>
                      <a:pPr algn="ctr"/>
                      <a:r>
                        <a:rPr sz="950" b="0">
                          <a:solidFill>
                            <a:srgbClr val="182433"/>
                          </a:solidFill>
                          <a:latin typeface="Calibri"/>
                        </a:rPr>
                        <a:t>$110,371</a:t>
                      </a:r>
                    </a:p>
                  </a:txBody>
                  <a:tcPr marL="50800" marR="50800" marT="25400" marB="25400" anchor="ctr">
                    <a:solidFill>
                      <a:srgbClr val="FFFFFF"/>
                    </a:solidFill>
                  </a:tcPr>
                </a:tc>
              </a:tr>
              <a:tr h="331470">
                <a:tc>
                  <a:txBody>
                    <a:bodyPr wrap="square"/>
                    <a:lstStyle/>
                    <a:p>
                      <a:pPr algn="l"/>
                      <a:r>
                        <a:rPr sz="950" b="0">
                          <a:solidFill>
                            <a:srgbClr val="182433"/>
                          </a:solidFill>
                          <a:latin typeface="Calibri"/>
                        </a:rPr>
                        <a:t>eq vega</a:t>
                      </a:r>
                    </a:p>
                  </a:txBody>
                  <a:tcPr marL="50800" marR="50800" marT="25400" marB="25400" anchor="ctr">
                    <a:solidFill>
                      <a:srgbClr val="F7F8FA"/>
                    </a:solidFill>
                  </a:tcPr>
                </a:tc>
                <a:tc>
                  <a:txBody>
                    <a:bodyPr wrap="square"/>
                    <a:lstStyle/>
                    <a:p>
                      <a:pPr algn="ctr"/>
                      <a:r>
                        <a:rPr sz="950" b="0">
                          <a:solidFill>
                            <a:srgbClr val="182433"/>
                          </a:solidFill>
                          <a:latin typeface="Calibri"/>
                        </a:rPr>
                        <a:t>$3,256</a:t>
                      </a:r>
                    </a:p>
                  </a:txBody>
                  <a:tcPr marL="50800" marR="50800" marT="25400" marB="25400" anchor="ctr">
                    <a:solidFill>
                      <a:srgbClr val="F7F8FA"/>
                    </a:solidFill>
                  </a:tcPr>
                </a:tc>
                <a:tc>
                  <a:txBody>
                    <a:bodyPr wrap="square"/>
                    <a:lstStyle/>
                    <a:p>
                      <a:pPr algn="ctr"/>
                      <a:r>
                        <a:rPr sz="950" b="0">
                          <a:solidFill>
                            <a:srgbClr val="182433"/>
                          </a:solidFill>
                          <a:latin typeface="Calibri"/>
                        </a:rPr>
                        <a:t>$6,278</a:t>
                      </a:r>
                    </a:p>
                  </a:txBody>
                  <a:tcPr marL="50800" marR="50800" marT="25400" marB="25400" anchor="ctr">
                    <a:solidFill>
                      <a:srgbClr val="F7F8FA"/>
                    </a:solidFill>
                  </a:tcPr>
                </a:tc>
              </a:tr>
              <a:tr h="331470">
                <a:tc>
                  <a:txBody>
                    <a:bodyPr wrap="square"/>
                    <a:lstStyle/>
                    <a:p>
                      <a:pPr algn="l"/>
                      <a:r>
                        <a:rPr sz="950" b="0">
                          <a:solidFill>
                            <a:srgbClr val="182433"/>
                          </a:solidFill>
                          <a:latin typeface="Calibri"/>
                        </a:rPr>
                        <a:t>Total SA-CVA capital</a:t>
                      </a:r>
                    </a:p>
                  </a:txBody>
                  <a:tcPr marL="50800" marR="50800" marT="25400" marB="25400" anchor="ctr">
                    <a:solidFill>
                      <a:srgbClr val="FFFFFF"/>
                    </a:solidFill>
                  </a:tcPr>
                </a:tc>
                <a:tc>
                  <a:txBody>
                    <a:bodyPr wrap="square"/>
                    <a:lstStyle/>
                    <a:p>
                      <a:pPr algn="ctr"/>
                      <a:r>
                        <a:rPr sz="950" b="0">
                          <a:solidFill>
                            <a:srgbClr val="182433"/>
                          </a:solidFill>
                          <a:latin typeface="Calibri"/>
                        </a:rPr>
                        <a:t>$96,675</a:t>
                      </a:r>
                    </a:p>
                  </a:txBody>
                  <a:tcPr marL="50800" marR="50800" marT="25400" marB="25400" anchor="ctr">
                    <a:solidFill>
                      <a:srgbClr val="FFFFFF"/>
                    </a:solidFill>
                  </a:tcPr>
                </a:tc>
                <a:tc>
                  <a:txBody>
                    <a:bodyPr wrap="square"/>
                    <a:lstStyle/>
                    <a:p>
                      <a:pPr algn="ctr"/>
                      <a:r>
                        <a:rPr sz="950" b="0">
                          <a:solidFill>
                            <a:srgbClr val="182433"/>
                          </a:solidFill>
                          <a:latin typeface="Calibri"/>
                        </a:rPr>
                        <a:t>$2,226,821</a:t>
                      </a:r>
                    </a:p>
                  </a:txBody>
                  <a:tcPr marL="50800" marR="50800" marT="25400" marB="25400" anchor="ctr">
                    <a:solidFill>
                      <a:srgbClr val="FFFFFF"/>
                    </a:solidFill>
                  </a:tcPr>
                </a:tc>
              </a:tr>
            </a:tbl>
          </a:graphicData>
        </a:graphic>
      </p:graphicFrame>
      <p:pic>
        <p:nvPicPr>
          <p:cNvPr id="7" name="Picture 6" descr="fig37.png"/>
          <p:cNvPicPr>
            <a:picLocks noChangeAspect="1"/>
          </p:cNvPicPr>
          <p:nvPr/>
        </p:nvPicPr>
        <p:blipFill>
          <a:blip r:embed="rId3"/>
          <a:stretch>
            <a:fillRect/>
          </a:stretch>
        </p:blipFill>
        <p:spPr>
          <a:xfrm>
            <a:off x="457200" y="4114800"/>
            <a:ext cx="5669280" cy="2306284"/>
          </a:xfrm>
          <a:prstGeom prst="rect">
            <a:avLst/>
          </a:prstGeom>
        </p:spPr>
      </p:pic>
      <p:sp>
        <p:nvSpPr>
          <p:cNvPr id="8" name="TextBox 7"/>
          <p:cNvSpPr txBox="1"/>
          <p:nvPr/>
        </p:nvSpPr>
        <p:spPr>
          <a:xfrm>
            <a:off x="457200" y="6428232"/>
            <a:ext cx="5669280" cy="320040"/>
          </a:xfrm>
          <a:prstGeom prst="rect">
            <a:avLst/>
          </a:prstGeom>
          <a:noFill/>
        </p:spPr>
        <p:txBody>
          <a:bodyPr wrap="square" anchor="t" lIns="0" rIns="0" tIns="0" bIns="0">
            <a:spAutoFit/>
          </a:bodyPr>
          <a:lstStyle/>
          <a:p>
            <a:pPr algn="l"/>
            <a:r>
              <a:rPr sz="950" b="0" i="1">
                <a:solidFill>
                  <a:srgbClr val="6B7280"/>
                </a:solidFill>
                <a:latin typeface="Calibri"/>
              </a:rPr>
              <a:t>CVA sensitivity to USD yields and counterparty spreads; SA-CVA capital by risk class.</a:t>
            </a:r>
          </a:p>
        </p:txBody>
      </p:sp>
      <p:graphicFrame>
        <p:nvGraphicFramePr>
          <p:cNvPr id="9" name="Table 8"/>
          <p:cNvGraphicFramePr>
            <a:graphicFrameLocks noGrp="1"/>
          </p:cNvGraphicFramePr>
          <p:nvPr/>
        </p:nvGraphicFramePr>
        <p:xfrm>
          <a:off x="6492240" y="1371600"/>
          <a:ext cx="5212079" cy="1828800"/>
        </p:xfrm>
        <a:graphic>
          <a:graphicData uri="http://schemas.openxmlformats.org/drawingml/2006/table">
            <a:tbl>
              <a:tblPr firstRow="1" bandRow="1">
                <a:tableStyleId>{5C22544A-7EE6-4342-B048-85BDC9FD1C3A}</a:tableStyleId>
              </a:tblPr>
              <a:tblGrid>
                <a:gridCol w="1231946"/>
                <a:gridCol w="1516241"/>
                <a:gridCol w="1231946"/>
                <a:gridCol w="1231946"/>
              </a:tblGrid>
              <a:tr h="365760">
                <a:tc>
                  <a:txBody>
                    <a:bodyPr wrap="square"/>
                    <a:lstStyle/>
                    <a:p>
                      <a:pPr algn="l"/>
                      <a:r>
                        <a:rPr sz="1050" b="1">
                          <a:solidFill>
                            <a:srgbClr val="FFFFFF"/>
                          </a:solidFill>
                          <a:latin typeface="Calibri"/>
                        </a:rPr>
                        <a:t>Netting set</a:t>
                      </a:r>
                    </a:p>
                  </a:txBody>
                  <a:tcPr marL="50800" marR="50800" marT="25400" marB="25400" anchor="ctr">
                    <a:solidFill>
                      <a:srgbClr val="182433"/>
                    </a:solidFill>
                  </a:tcPr>
                </a:tc>
                <a:tc>
                  <a:txBody>
                    <a:bodyPr wrap="square"/>
                    <a:lstStyle/>
                    <a:p>
                      <a:pPr algn="ctr"/>
                      <a:r>
                        <a:rPr sz="1050" b="1">
                          <a:solidFill>
                            <a:srgbClr val="FFFFFF"/>
                          </a:solidFill>
                          <a:latin typeface="Calibri"/>
                        </a:rPr>
                        <a:t>Replacement cost</a:t>
                      </a:r>
                    </a:p>
                  </a:txBody>
                  <a:tcPr marL="50800" marR="50800" marT="25400" marB="25400" anchor="ctr">
                    <a:solidFill>
                      <a:srgbClr val="182433"/>
                    </a:solidFill>
                  </a:tcPr>
                </a:tc>
                <a:tc>
                  <a:txBody>
                    <a:bodyPr wrap="square"/>
                    <a:lstStyle/>
                    <a:p>
                      <a:pPr algn="ctr"/>
                      <a:r>
                        <a:rPr sz="1050" b="1">
                          <a:solidFill>
                            <a:srgbClr val="FFFFFF"/>
                          </a:solidFill>
                          <a:latin typeface="Calibri"/>
                        </a:rPr>
                        <a:t>Add-on</a:t>
                      </a:r>
                    </a:p>
                  </a:txBody>
                  <a:tcPr marL="50800" marR="50800" marT="25400" marB="25400" anchor="ctr">
                    <a:solidFill>
                      <a:srgbClr val="182433"/>
                    </a:solidFill>
                  </a:tcPr>
                </a:tc>
                <a:tc>
                  <a:txBody>
                    <a:bodyPr wrap="square"/>
                    <a:lstStyle/>
                    <a:p>
                      <a:pPr algn="ctr"/>
                      <a:r>
                        <a:rPr sz="1050" b="1">
                          <a:solidFill>
                            <a:srgbClr val="FFFFFF"/>
                          </a:solidFill>
                          <a:latin typeface="Calibri"/>
                        </a:rPr>
                        <a:t>EAD</a:t>
                      </a:r>
                    </a:p>
                  </a:txBody>
                  <a:tcPr marL="50800" marR="50800" marT="25400" marB="25400" anchor="ctr">
                    <a:solidFill>
                      <a:srgbClr val="182433"/>
                    </a:solidFill>
                  </a:tcPr>
                </a:tc>
              </a:tr>
              <a:tr h="365760">
                <a:tc>
                  <a:txBody>
                    <a:bodyPr wrap="square"/>
                    <a:lstStyle/>
                    <a:p>
                      <a:pPr algn="l"/>
                      <a:r>
                        <a:rPr sz="1000" b="0">
                          <a:solidFill>
                            <a:srgbClr val="182433"/>
                          </a:solidFill>
                          <a:latin typeface="Calibri"/>
                        </a:rPr>
                        <a:t>CPTY_A</a:t>
                      </a:r>
                    </a:p>
                  </a:txBody>
                  <a:tcPr marL="50800" marR="50800" marT="25400" marB="25400" anchor="ctr">
                    <a:solidFill>
                      <a:srgbClr val="FFFFFF"/>
                    </a:solidFill>
                  </a:tcPr>
                </a:tc>
                <a:tc>
                  <a:txBody>
                    <a:bodyPr wrap="square"/>
                    <a:lstStyle/>
                    <a:p>
                      <a:pPr algn="ctr"/>
                      <a:r>
                        <a:rPr sz="1000" b="0">
                          <a:solidFill>
                            <a:srgbClr val="182433"/>
                          </a:solidFill>
                          <a:latin typeface="Calibri"/>
                        </a:rPr>
                        <a:t>$3.6M</a:t>
                      </a:r>
                    </a:p>
                  </a:txBody>
                  <a:tcPr marL="50800" marR="50800" marT="25400" marB="25400" anchor="ctr">
                    <a:solidFill>
                      <a:srgbClr val="FFFFFF"/>
                    </a:solidFill>
                  </a:tcPr>
                </a:tc>
                <a:tc>
                  <a:txBody>
                    <a:bodyPr wrap="square"/>
                    <a:lstStyle/>
                    <a:p>
                      <a:pPr algn="ctr"/>
                      <a:r>
                        <a:rPr sz="1000" b="0">
                          <a:solidFill>
                            <a:srgbClr val="182433"/>
                          </a:solidFill>
                          <a:latin typeface="Calibri"/>
                        </a:rPr>
                        <a:t>$16.8M</a:t>
                      </a:r>
                    </a:p>
                  </a:txBody>
                  <a:tcPr marL="50800" marR="50800" marT="25400" marB="25400" anchor="ctr">
                    <a:solidFill>
                      <a:srgbClr val="FFFFFF"/>
                    </a:solidFill>
                  </a:tcPr>
                </a:tc>
                <a:tc>
                  <a:txBody>
                    <a:bodyPr wrap="square"/>
                    <a:lstStyle/>
                    <a:p>
                      <a:pPr algn="ctr"/>
                      <a:r>
                        <a:rPr sz="1000" b="0">
                          <a:solidFill>
                            <a:srgbClr val="182433"/>
                          </a:solidFill>
                          <a:latin typeface="Calibri"/>
                        </a:rPr>
                        <a:t>$28.4M</a:t>
                      </a:r>
                    </a:p>
                  </a:txBody>
                  <a:tcPr marL="50800" marR="50800" marT="25400" marB="25400" anchor="ctr">
                    <a:solidFill>
                      <a:srgbClr val="FFFFFF"/>
                    </a:solidFill>
                  </a:tcPr>
                </a:tc>
              </a:tr>
              <a:tr h="365760">
                <a:tc>
                  <a:txBody>
                    <a:bodyPr wrap="square"/>
                    <a:lstStyle/>
                    <a:p>
                      <a:pPr algn="l"/>
                      <a:r>
                        <a:rPr sz="1000" b="0">
                          <a:solidFill>
                            <a:srgbClr val="182433"/>
                          </a:solidFill>
                          <a:latin typeface="Calibri"/>
                        </a:rPr>
                        <a:t>CPTY_B</a:t>
                      </a:r>
                    </a:p>
                  </a:txBody>
                  <a:tcPr marL="50800" marR="50800" marT="25400" marB="25400" anchor="ctr">
                    <a:solidFill>
                      <a:srgbClr val="F7F8FA"/>
                    </a:solidFill>
                  </a:tcPr>
                </a:tc>
                <a:tc>
                  <a:txBody>
                    <a:bodyPr wrap="square"/>
                    <a:lstStyle/>
                    <a:p>
                      <a:pPr algn="ctr"/>
                      <a:r>
                        <a:rPr sz="1000" b="0">
                          <a:solidFill>
                            <a:srgbClr val="182433"/>
                          </a:solidFill>
                          <a:latin typeface="Calibri"/>
                        </a:rPr>
                        <a:t>$1.0M</a:t>
                      </a:r>
                    </a:p>
                  </a:txBody>
                  <a:tcPr marL="50800" marR="50800" marT="25400" marB="25400" anchor="ctr">
                    <a:solidFill>
                      <a:srgbClr val="F7F8FA"/>
                    </a:solidFill>
                  </a:tcPr>
                </a:tc>
                <a:tc>
                  <a:txBody>
                    <a:bodyPr wrap="square"/>
                    <a:lstStyle/>
                    <a:p>
                      <a:pPr algn="ctr"/>
                      <a:r>
                        <a:rPr sz="1000" b="0">
                          <a:solidFill>
                            <a:srgbClr val="182433"/>
                          </a:solidFill>
                          <a:latin typeface="Calibri"/>
                        </a:rPr>
                        <a:t>$9.1M</a:t>
                      </a:r>
                    </a:p>
                  </a:txBody>
                  <a:tcPr marL="50800" marR="50800" marT="25400" marB="25400" anchor="ctr">
                    <a:solidFill>
                      <a:srgbClr val="F7F8FA"/>
                    </a:solidFill>
                  </a:tcPr>
                </a:tc>
                <a:tc>
                  <a:txBody>
                    <a:bodyPr wrap="square"/>
                    <a:lstStyle/>
                    <a:p>
                      <a:pPr algn="ctr"/>
                      <a:r>
                        <a:rPr sz="1000" b="0">
                          <a:solidFill>
                            <a:srgbClr val="182433"/>
                          </a:solidFill>
                          <a:latin typeface="Calibri"/>
                        </a:rPr>
                        <a:t>$14.0M</a:t>
                      </a:r>
                    </a:p>
                  </a:txBody>
                  <a:tcPr marL="50800" marR="50800" marT="25400" marB="25400" anchor="ctr">
                    <a:solidFill>
                      <a:srgbClr val="F7F8FA"/>
                    </a:solidFill>
                  </a:tcPr>
                </a:tc>
              </a:tr>
              <a:tr h="365760">
                <a:tc>
                  <a:txBody>
                    <a:bodyPr wrap="square"/>
                    <a:lstStyle/>
                    <a:p>
                      <a:pPr algn="l"/>
                      <a:r>
                        <a:rPr sz="1000" b="0">
                          <a:solidFill>
                            <a:srgbClr val="182433"/>
                          </a:solidFill>
                          <a:latin typeface="Calibri"/>
                        </a:rPr>
                        <a:t>CPTY_C</a:t>
                      </a:r>
                    </a:p>
                  </a:txBody>
                  <a:tcPr marL="50800" marR="50800" marT="25400" marB="25400" anchor="ctr">
                    <a:solidFill>
                      <a:srgbClr val="FFFFFF"/>
                    </a:solidFill>
                  </a:tcPr>
                </a:tc>
                <a:tc>
                  <a:txBody>
                    <a:bodyPr wrap="square"/>
                    <a:lstStyle/>
                    <a:p>
                      <a:pPr algn="ctr"/>
                      <a:r>
                        <a:rPr sz="1000" b="0">
                          <a:solidFill>
                            <a:srgbClr val="182433"/>
                          </a:solidFill>
                          <a:latin typeface="Calibri"/>
                        </a:rPr>
                        <a:t>$125.1M</a:t>
                      </a:r>
                    </a:p>
                  </a:txBody>
                  <a:tcPr marL="50800" marR="50800" marT="25400" marB="25400" anchor="ctr">
                    <a:solidFill>
                      <a:srgbClr val="FFFFFF"/>
                    </a:solidFill>
                  </a:tcPr>
                </a:tc>
                <a:tc>
                  <a:txBody>
                    <a:bodyPr wrap="square"/>
                    <a:lstStyle/>
                    <a:p>
                      <a:pPr algn="ctr"/>
                      <a:r>
                        <a:rPr sz="1000" b="0">
                          <a:solidFill>
                            <a:srgbClr val="182433"/>
                          </a:solidFill>
                          <a:latin typeface="Calibri"/>
                        </a:rPr>
                        <a:t>$30.5M</a:t>
                      </a:r>
                    </a:p>
                  </a:txBody>
                  <a:tcPr marL="50800" marR="50800" marT="25400" marB="25400" anchor="ctr">
                    <a:solidFill>
                      <a:srgbClr val="FFFFFF"/>
                    </a:solidFill>
                  </a:tcPr>
                </a:tc>
                <a:tc>
                  <a:txBody>
                    <a:bodyPr wrap="square"/>
                    <a:lstStyle/>
                    <a:p>
                      <a:pPr algn="ctr"/>
                      <a:r>
                        <a:rPr sz="1000" b="0">
                          <a:solidFill>
                            <a:srgbClr val="182433"/>
                          </a:solidFill>
                          <a:latin typeface="Calibri"/>
                        </a:rPr>
                        <a:t>$217.8M</a:t>
                      </a:r>
                    </a:p>
                  </a:txBody>
                  <a:tcPr marL="50800" marR="50800" marT="25400" marB="25400" anchor="ctr">
                    <a:solidFill>
                      <a:srgbClr val="FFFFFF"/>
                    </a:solidFill>
                  </a:tcPr>
                </a:tc>
              </a:tr>
              <a:tr h="365760">
                <a:tc>
                  <a:txBody>
                    <a:bodyPr wrap="square"/>
                    <a:lstStyle/>
                    <a:p>
                      <a:pPr algn="l"/>
                      <a:r>
                        <a:rPr sz="1000" b="0">
                          <a:solidFill>
                            <a:srgbClr val="182433"/>
                          </a:solidFill>
                          <a:latin typeface="Calibri"/>
                        </a:rPr>
                        <a:t>Total</a:t>
                      </a:r>
                    </a:p>
                  </a:txBody>
                  <a:tcPr marL="50800" marR="50800" marT="25400" marB="25400" anchor="ctr">
                    <a:solidFill>
                      <a:srgbClr val="F7F8FA"/>
                    </a:solidFill>
                  </a:tcPr>
                </a:tc>
                <a:tc>
                  <a:txBody>
                    <a:bodyPr wrap="square"/>
                    <a:lstStyle/>
                    <a:p>
                      <a:pPr algn="ctr"/>
                      <a:r>
                        <a:rPr sz="1000" b="0">
                          <a:solidFill>
                            <a:srgbClr val="182433"/>
                          </a:solidFill>
                          <a:latin typeface="Calibri"/>
                        </a:rPr>
                        <a:t>$129.6M</a:t>
                      </a:r>
                    </a:p>
                  </a:txBody>
                  <a:tcPr marL="50800" marR="50800" marT="25400" marB="25400" anchor="ctr">
                    <a:solidFill>
                      <a:srgbClr val="F7F8FA"/>
                    </a:solidFill>
                  </a:tcPr>
                </a:tc>
                <a:tc>
                  <a:txBody>
                    <a:bodyPr wrap="square"/>
                    <a:lstStyle/>
                    <a:p>
                      <a:pPr algn="ctr"/>
                      <a:r>
                        <a:rPr sz="1000" b="0">
                          <a:solidFill>
                            <a:srgbClr val="182433"/>
                          </a:solidFill>
                          <a:latin typeface="Calibri"/>
                        </a:rPr>
                        <a:t>$56.3M</a:t>
                      </a:r>
                    </a:p>
                  </a:txBody>
                  <a:tcPr marL="50800" marR="50800" marT="25400" marB="25400" anchor="ctr">
                    <a:solidFill>
                      <a:srgbClr val="F7F8FA"/>
                    </a:solidFill>
                  </a:tcPr>
                </a:tc>
                <a:tc>
                  <a:txBody>
                    <a:bodyPr wrap="square"/>
                    <a:lstStyle/>
                    <a:p>
                      <a:pPr algn="ctr"/>
                      <a:r>
                        <a:rPr sz="1000" b="0">
                          <a:solidFill>
                            <a:srgbClr val="182433"/>
                          </a:solidFill>
                          <a:latin typeface="Calibri"/>
                        </a:rPr>
                        <a:t>$260.3M</a:t>
                      </a:r>
                    </a:p>
                  </a:txBody>
                  <a:tcPr marL="50800" marR="50800" marT="25400" marB="25400" anchor="ctr">
                    <a:solidFill>
                      <a:srgbClr val="F7F8FA"/>
                    </a:solidFill>
                  </a:tcPr>
                </a:tc>
              </a:tr>
            </a:tbl>
          </a:graphicData>
        </a:graphic>
      </p:graphicFrame>
      <p:sp>
        <p:nvSpPr>
          <p:cNvPr id="10" name="TextBox 9"/>
          <p:cNvSpPr txBox="1"/>
          <p:nvPr/>
        </p:nvSpPr>
        <p:spPr>
          <a:xfrm>
            <a:off x="6492240" y="3429000"/>
            <a:ext cx="5212080" cy="3017520"/>
          </a:xfrm>
          <a:prstGeom prst="rect">
            <a:avLst/>
          </a:prstGeom>
          <a:noFill/>
        </p:spPr>
        <p:txBody>
          <a:bodyPr wrap="square" lIns="0" rIns="0" tIns="0" bIns="0">
            <a:spAutoFit/>
          </a:bodyPr>
          <a:lstStyle/>
          <a:p>
            <a:pPr>
              <a:lnSpc>
                <a:spcPct val="105000"/>
              </a:lnSpc>
              <a:spcAft>
                <a:spcPts val="800"/>
              </a:spcAft>
            </a:pPr>
            <a:r>
              <a:rPr sz="1150" b="0">
                <a:solidFill>
                  <a:srgbClr val="182433"/>
                </a:solidFill>
                <a:latin typeface="Calibri"/>
              </a:rPr>
              <a:t>•  For CPTY_C the replacement cost of BF_0003 dominates SA-CCR EAD</a:t>
            </a:r>
          </a:p>
          <a:p>
            <a:pPr>
              <a:lnSpc>
                <a:spcPct val="105000"/>
              </a:lnSpc>
              <a:spcAft>
                <a:spcPts val="800"/>
              </a:spcAft>
            </a:pPr>
            <a:r>
              <a:rPr sz="1150" b="0">
                <a:solidFill>
                  <a:srgbClr val="182433"/>
                </a:solidFill>
                <a:latin typeface="Calibri"/>
              </a:rPr>
              <a:t>•  For the equity netting sets SA-CCR PFE is of the same order as the Monte Carlo level-exposure MPE -- an independent cross-check</a:t>
            </a:r>
          </a:p>
          <a:p>
            <a:pPr>
              <a:lnSpc>
                <a:spcPct val="105000"/>
              </a:lnSpc>
              <a:spcAft>
                <a:spcPts val="800"/>
              </a:spcAft>
            </a:pPr>
            <a:r>
              <a:rPr sz="1150" b="0">
                <a:solidFill>
                  <a:srgbClr val="182433"/>
                </a:solidFill>
                <a:latin typeface="Calibri"/>
              </a:rPr>
              <a:t>•  SA-CVA requirement dominated by ccs delta (88% of the total) -- a 5% risk weight on credit spreads is large relative to a ~100bp spread level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CVA Sensitivity Numbers: Credit Spread Delta Is 18x the Rate Delta</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66960" y="1152144"/>
            <a:ext cx="1737360" cy="274320"/>
          </a:xfrm>
          <a:prstGeom prst="roundRect">
            <a:avLst/>
          </a:prstGeom>
          <a:solidFill>
            <a:srgbClr val="FCE8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8100" tIns="12700" bIns="12700"/>
          <a:lstStyle/>
          <a:p>
            <a:pPr algn="ctr"/>
            <a:r>
              <a:rPr sz="950" b="1">
                <a:solidFill>
                  <a:srgbClr val="9A0052"/>
                </a:solidFill>
                <a:latin typeface="Calibri"/>
              </a:rPr>
              <a:t>Feedback-driven</a:t>
            </a:r>
          </a:p>
        </p:txBody>
      </p:sp>
      <p:sp>
        <p:nvSpPr>
          <p:cNvPr id="5" name="TextBox 4"/>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6" name="TextBox 5"/>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48</a:t>
            </a:r>
          </a:p>
        </p:txBody>
      </p:sp>
      <p:sp>
        <p:nvSpPr>
          <p:cNvPr id="7" name="TextBox 6"/>
          <p:cNvSpPr txBox="1"/>
          <p:nvPr/>
        </p:nvSpPr>
        <p:spPr>
          <a:xfrm>
            <a:off x="457200" y="1280160"/>
            <a:ext cx="11247120" cy="502920"/>
          </a:xfrm>
          <a:prstGeom prst="rect">
            <a:avLst/>
          </a:prstGeom>
          <a:noFill/>
        </p:spPr>
        <p:txBody>
          <a:bodyPr wrap="square" anchor="t" lIns="0" rIns="0" tIns="0" bIns="0">
            <a:spAutoFit/>
          </a:bodyPr>
          <a:lstStyle/>
          <a:p>
            <a:pPr algn="l">
              <a:lnSpc>
                <a:spcPct val="110000"/>
              </a:lnSpc>
            </a:pPr>
            <a:r>
              <a:rPr sz="1200" b="0" i="0">
                <a:solidFill>
                  <a:srgbClr val="182433"/>
                </a:solidFill>
                <a:latin typeface="Calibri"/>
              </a:rPr>
              <a:t>CVA01-style sensitivities: change in close-out CVA per +1bp move, before Basel risk-weighting. These are the exact inputs aggregated into the SA-CVA capital on the previous slide.</a:t>
            </a:r>
          </a:p>
        </p:txBody>
      </p:sp>
      <p:graphicFrame>
        <p:nvGraphicFramePr>
          <p:cNvPr id="8" name="Table 7"/>
          <p:cNvGraphicFramePr>
            <a:graphicFrameLocks noGrp="1"/>
          </p:cNvGraphicFramePr>
          <p:nvPr/>
        </p:nvGraphicFramePr>
        <p:xfrm>
          <a:off x="457200" y="1874519"/>
          <a:ext cx="11247120" cy="777240"/>
        </p:xfrm>
        <a:graphic>
          <a:graphicData uri="http://schemas.openxmlformats.org/drawingml/2006/table">
            <a:tbl>
              <a:tblPr firstRow="1" bandRow="1">
                <a:tableStyleId>{5C22544A-7EE6-4342-B048-85BDC9FD1C3A}</a:tableStyleId>
              </a:tblPr>
              <a:tblGrid>
                <a:gridCol w="2103120"/>
                <a:gridCol w="1463040"/>
                <a:gridCol w="1463040"/>
                <a:gridCol w="1463040"/>
                <a:gridCol w="1463040"/>
                <a:gridCol w="1463040"/>
                <a:gridCol w="1828800"/>
              </a:tblGrid>
              <a:tr h="388620">
                <a:tc>
                  <a:txBody>
                    <a:bodyPr wrap="square"/>
                    <a:lstStyle/>
                    <a:p>
                      <a:pPr algn="l"/>
                      <a:r>
                        <a:rPr sz="1050" b="1">
                          <a:solidFill>
                            <a:srgbClr val="FFFFFF"/>
                          </a:solidFill>
                          <a:latin typeface="Calibri"/>
                        </a:rPr>
                        <a:t>USD rate tenor</a:t>
                      </a:r>
                    </a:p>
                  </a:txBody>
                  <a:tcPr marL="50800" marR="50800" marT="25400" marB="25400" anchor="ctr">
                    <a:solidFill>
                      <a:srgbClr val="182433"/>
                    </a:solidFill>
                  </a:tcPr>
                </a:tc>
                <a:tc>
                  <a:txBody>
                    <a:bodyPr wrap="square"/>
                    <a:lstStyle/>
                    <a:p>
                      <a:pPr algn="ctr"/>
                      <a:r>
                        <a:rPr sz="1050" b="1">
                          <a:solidFill>
                            <a:srgbClr val="FFFFFF"/>
                          </a:solidFill>
                          <a:latin typeface="Calibri"/>
                        </a:rPr>
                        <a:t>0.5y</a:t>
                      </a:r>
                    </a:p>
                  </a:txBody>
                  <a:tcPr marL="50800" marR="50800" marT="25400" marB="25400" anchor="ctr">
                    <a:solidFill>
                      <a:srgbClr val="182433"/>
                    </a:solidFill>
                  </a:tcPr>
                </a:tc>
                <a:tc>
                  <a:txBody>
                    <a:bodyPr wrap="square"/>
                    <a:lstStyle/>
                    <a:p>
                      <a:pPr algn="ctr"/>
                      <a:r>
                        <a:rPr sz="1050" b="1">
                          <a:solidFill>
                            <a:srgbClr val="FFFFFF"/>
                          </a:solidFill>
                          <a:latin typeface="Calibri"/>
                        </a:rPr>
                        <a:t>1y</a:t>
                      </a:r>
                    </a:p>
                  </a:txBody>
                  <a:tcPr marL="50800" marR="50800" marT="25400" marB="25400" anchor="ctr">
                    <a:solidFill>
                      <a:srgbClr val="182433"/>
                    </a:solidFill>
                  </a:tcPr>
                </a:tc>
                <a:tc>
                  <a:txBody>
                    <a:bodyPr wrap="square"/>
                    <a:lstStyle/>
                    <a:p>
                      <a:pPr algn="ctr"/>
                      <a:r>
                        <a:rPr sz="1050" b="1">
                          <a:solidFill>
                            <a:srgbClr val="FFFFFF"/>
                          </a:solidFill>
                          <a:latin typeface="Calibri"/>
                        </a:rPr>
                        <a:t>3y</a:t>
                      </a:r>
                    </a:p>
                  </a:txBody>
                  <a:tcPr marL="50800" marR="50800" marT="25400" marB="25400" anchor="ctr">
                    <a:solidFill>
                      <a:srgbClr val="182433"/>
                    </a:solidFill>
                  </a:tcPr>
                </a:tc>
                <a:tc>
                  <a:txBody>
                    <a:bodyPr wrap="square"/>
                    <a:lstStyle/>
                    <a:p>
                      <a:pPr algn="ctr"/>
                      <a:r>
                        <a:rPr sz="1050" b="1">
                          <a:solidFill>
                            <a:srgbClr val="FFFFFF"/>
                          </a:solidFill>
                          <a:latin typeface="Calibri"/>
                        </a:rPr>
                        <a:t>5y</a:t>
                      </a:r>
                    </a:p>
                  </a:txBody>
                  <a:tcPr marL="50800" marR="50800" marT="25400" marB="25400" anchor="ctr">
                    <a:solidFill>
                      <a:srgbClr val="182433"/>
                    </a:solidFill>
                  </a:tcPr>
                </a:tc>
                <a:tc>
                  <a:txBody>
                    <a:bodyPr wrap="square"/>
                    <a:lstStyle/>
                    <a:p>
                      <a:pPr algn="ctr"/>
                      <a:r>
                        <a:rPr sz="1050" b="1">
                          <a:solidFill>
                            <a:srgbClr val="FFFFFF"/>
                          </a:solidFill>
                          <a:latin typeface="Calibri"/>
                        </a:rPr>
                        <a:t>10y</a:t>
                      </a:r>
                    </a:p>
                  </a:txBody>
                  <a:tcPr marL="50800" marR="50800" marT="25400" marB="25400" anchor="ctr">
                    <a:solidFill>
                      <a:srgbClr val="182433"/>
                    </a:solidFill>
                  </a:tcPr>
                </a:tc>
                <a:tc>
                  <a:txBody>
                    <a:bodyPr wrap="square"/>
                    <a:lstStyle/>
                    <a:p>
                      <a:pPr algn="ctr"/>
                      <a:r>
                        <a:rPr sz="1050" b="1">
                          <a:solidFill>
                            <a:srgbClr val="FFFFFF"/>
                          </a:solidFill>
                          <a:latin typeface="Calibri"/>
                        </a:rPr>
                        <a:t>Total</a:t>
                      </a:r>
                    </a:p>
                  </a:txBody>
                  <a:tcPr marL="50800" marR="50800" marT="25400" marB="25400" anchor="ctr">
                    <a:solidFill>
                      <a:srgbClr val="182433"/>
                    </a:solidFill>
                  </a:tcPr>
                </a:tc>
              </a:tr>
              <a:tr h="388620">
                <a:tc>
                  <a:txBody>
                    <a:bodyPr wrap="square"/>
                    <a:lstStyle/>
                    <a:p>
                      <a:pPr algn="l"/>
                      <a:r>
                        <a:rPr sz="1050" b="0">
                          <a:solidFill>
                            <a:srgbClr val="182433"/>
                          </a:solidFill>
                          <a:latin typeface="Calibri"/>
                        </a:rPr>
                        <a:t>CVA delta per +1bp</a:t>
                      </a:r>
                    </a:p>
                  </a:txBody>
                  <a:tcPr marL="50800" marR="50800" marT="25400" marB="25400" anchor="ctr">
                    <a:solidFill>
                      <a:srgbClr val="FFFFFF"/>
                    </a:solidFill>
                  </a:tcPr>
                </a:tc>
                <a:tc>
                  <a:txBody>
                    <a:bodyPr wrap="square"/>
                    <a:lstStyle/>
                    <a:p>
                      <a:pPr algn="ctr"/>
                      <a:r>
                        <a:rPr sz="1050" b="0">
                          <a:solidFill>
                            <a:srgbClr val="182433"/>
                          </a:solidFill>
                          <a:latin typeface="Calibri"/>
                        </a:rPr>
                        <a:t>-$14,421</a:t>
                      </a:r>
                    </a:p>
                  </a:txBody>
                  <a:tcPr marL="50800" marR="50800" marT="25400" marB="25400" anchor="ctr">
                    <a:solidFill>
                      <a:srgbClr val="FFFFFF"/>
                    </a:solidFill>
                  </a:tcPr>
                </a:tc>
                <a:tc>
                  <a:txBody>
                    <a:bodyPr wrap="square"/>
                    <a:lstStyle/>
                    <a:p>
                      <a:pPr algn="ctr"/>
                      <a:r>
                        <a:rPr sz="1050" b="0">
                          <a:solidFill>
                            <a:srgbClr val="182433"/>
                          </a:solidFill>
                          <a:latin typeface="Calibri"/>
                        </a:rPr>
                        <a:t>-$101</a:t>
                      </a:r>
                    </a:p>
                  </a:txBody>
                  <a:tcPr marL="50800" marR="50800" marT="25400" marB="25400" anchor="ctr">
                    <a:solidFill>
                      <a:srgbClr val="FFFFFF"/>
                    </a:solidFill>
                  </a:tcPr>
                </a:tc>
                <a:tc>
                  <a:txBody>
                    <a:bodyPr wrap="square"/>
                    <a:lstStyle/>
                    <a:p>
                      <a:pPr algn="ctr"/>
                      <a:r>
                        <a:rPr sz="1050" b="0">
                          <a:solidFill>
                            <a:srgbClr val="182433"/>
                          </a:solidFill>
                          <a:latin typeface="Calibri"/>
                        </a:rPr>
                        <a:t>-$1,410</a:t>
                      </a:r>
                    </a:p>
                  </a:txBody>
                  <a:tcPr marL="50800" marR="50800" marT="25400" marB="25400" anchor="ctr">
                    <a:solidFill>
                      <a:srgbClr val="FFFFFF"/>
                    </a:solidFill>
                  </a:tcPr>
                </a:tc>
                <a:tc>
                  <a:txBody>
                    <a:bodyPr wrap="square"/>
                    <a:lstStyle/>
                    <a:p>
                      <a:pPr algn="ctr"/>
                      <a:r>
                        <a:rPr sz="1050" b="0">
                          <a:solidFill>
                            <a:srgbClr val="182433"/>
                          </a:solidFill>
                          <a:latin typeface="Calibri"/>
                        </a:rPr>
                        <a:t>-$40,272</a:t>
                      </a:r>
                    </a:p>
                  </a:txBody>
                  <a:tcPr marL="50800" marR="50800" marT="25400" marB="25400" anchor="ctr">
                    <a:solidFill>
                      <a:srgbClr val="FFFFFF"/>
                    </a:solidFill>
                  </a:tcPr>
                </a:tc>
                <a:tc>
                  <a:txBody>
                    <a:bodyPr wrap="square"/>
                    <a:lstStyle/>
                    <a:p>
                      <a:pPr algn="ctr"/>
                      <a:r>
                        <a:rPr sz="1050" b="0">
                          <a:solidFill>
                            <a:srgbClr val="182433"/>
                          </a:solidFill>
                          <a:latin typeface="Calibri"/>
                        </a:rPr>
                        <a:t>-$56,010</a:t>
                      </a:r>
                    </a:p>
                  </a:txBody>
                  <a:tcPr marL="50800" marR="50800" marT="25400" marB="25400" anchor="ctr">
                    <a:solidFill>
                      <a:srgbClr val="FFFFFF"/>
                    </a:solidFill>
                  </a:tcPr>
                </a:tc>
                <a:tc>
                  <a:txBody>
                    <a:bodyPr wrap="square"/>
                    <a:lstStyle/>
                    <a:p>
                      <a:pPr algn="ctr"/>
                      <a:r>
                        <a:rPr sz="1050" b="0">
                          <a:solidFill>
                            <a:srgbClr val="182433"/>
                          </a:solidFill>
                          <a:latin typeface="Calibri"/>
                        </a:rPr>
                        <a:t>-$112,214</a:t>
                      </a:r>
                    </a:p>
                  </a:txBody>
                  <a:tcPr marL="50800" marR="50800" marT="25400" marB="25400" anchor="ctr">
                    <a:solidFill>
                      <a:srgbClr val="FFFFFF"/>
                    </a:solidFill>
                  </a:tcPr>
                </a:tc>
              </a:tr>
            </a:tbl>
          </a:graphicData>
        </a:graphic>
      </p:graphicFrame>
      <p:sp>
        <p:nvSpPr>
          <p:cNvPr id="9" name="TextBox 8"/>
          <p:cNvSpPr txBox="1"/>
          <p:nvPr/>
        </p:nvSpPr>
        <p:spPr>
          <a:xfrm>
            <a:off x="457200" y="2697480"/>
            <a:ext cx="11247120" cy="274320"/>
          </a:xfrm>
          <a:prstGeom prst="rect">
            <a:avLst/>
          </a:prstGeom>
          <a:noFill/>
        </p:spPr>
        <p:txBody>
          <a:bodyPr wrap="square" anchor="t" lIns="0" rIns="0" tIns="0" bIns="0">
            <a:spAutoFit/>
          </a:bodyPr>
          <a:lstStyle/>
          <a:p>
            <a:pPr algn="l"/>
            <a:r>
              <a:rPr sz="950" b="0" i="1">
                <a:solidFill>
                  <a:srgbClr val="6B7280"/>
                </a:solidFill>
                <a:latin typeface="Calibri"/>
              </a:rPr>
              <a:t>CVA sensitivity to a parallel +1bp move in the USD discount curve, by SA-CVA tenor bucket.</a:t>
            </a:r>
          </a:p>
        </p:txBody>
      </p:sp>
      <p:graphicFrame>
        <p:nvGraphicFramePr>
          <p:cNvPr id="10" name="Table 9"/>
          <p:cNvGraphicFramePr>
            <a:graphicFrameLocks noGrp="1"/>
          </p:cNvGraphicFramePr>
          <p:nvPr/>
        </p:nvGraphicFramePr>
        <p:xfrm>
          <a:off x="457200" y="3063240"/>
          <a:ext cx="11247116" cy="1691640"/>
        </p:xfrm>
        <a:graphic>
          <a:graphicData uri="http://schemas.openxmlformats.org/drawingml/2006/table">
            <a:tbl>
              <a:tblPr firstRow="1" bandRow="1">
                <a:tableStyleId>{5C22544A-7EE6-4342-B048-85BDC9FD1C3A}</a:tableStyleId>
              </a:tblPr>
              <a:tblGrid>
                <a:gridCol w="2103119"/>
                <a:gridCol w="1737359"/>
                <a:gridCol w="1554479"/>
                <a:gridCol w="1371600"/>
                <a:gridCol w="1188720"/>
                <a:gridCol w="1188720"/>
                <a:gridCol w="2103119"/>
              </a:tblGrid>
              <a:tr h="338328">
                <a:tc>
                  <a:txBody>
                    <a:bodyPr wrap="square"/>
                    <a:lstStyle/>
                    <a:p>
                      <a:pPr algn="l"/>
                      <a:r>
                        <a:rPr sz="1050" b="1">
                          <a:solidFill>
                            <a:srgbClr val="FFFFFF"/>
                          </a:solidFill>
                          <a:latin typeface="Calibri"/>
                        </a:rPr>
                        <a:t>Counterparty</a:t>
                      </a:r>
                    </a:p>
                  </a:txBody>
                  <a:tcPr marL="50800" marR="50800" marT="25400" marB="25400" anchor="ctr">
                    <a:solidFill>
                      <a:srgbClr val="182433"/>
                    </a:solidFill>
                  </a:tcPr>
                </a:tc>
                <a:tc>
                  <a:txBody>
                    <a:bodyPr wrap="square"/>
                    <a:lstStyle/>
                    <a:p>
                      <a:pPr algn="ctr"/>
                      <a:r>
                        <a:rPr sz="1050" b="1">
                          <a:solidFill>
                            <a:srgbClr val="FFFFFF"/>
                          </a:solidFill>
                          <a:latin typeface="Calibri"/>
                        </a:rPr>
                        <a:t>0.5y</a:t>
                      </a:r>
                    </a:p>
                  </a:txBody>
                  <a:tcPr marL="50800" marR="50800" marT="25400" marB="25400" anchor="ctr">
                    <a:solidFill>
                      <a:srgbClr val="182433"/>
                    </a:solidFill>
                  </a:tcPr>
                </a:tc>
                <a:tc>
                  <a:txBody>
                    <a:bodyPr wrap="square"/>
                    <a:lstStyle/>
                    <a:p>
                      <a:pPr algn="ctr"/>
                      <a:r>
                        <a:rPr sz="1050" b="1">
                          <a:solidFill>
                            <a:srgbClr val="FFFFFF"/>
                          </a:solidFill>
                          <a:latin typeface="Calibri"/>
                        </a:rPr>
                        <a:t>1y</a:t>
                      </a:r>
                    </a:p>
                  </a:txBody>
                  <a:tcPr marL="50800" marR="50800" marT="25400" marB="25400" anchor="ctr">
                    <a:solidFill>
                      <a:srgbClr val="182433"/>
                    </a:solidFill>
                  </a:tcPr>
                </a:tc>
                <a:tc>
                  <a:txBody>
                    <a:bodyPr wrap="square"/>
                    <a:lstStyle/>
                    <a:p>
                      <a:pPr algn="ctr"/>
                      <a:r>
                        <a:rPr sz="1050" b="1">
                          <a:solidFill>
                            <a:srgbClr val="FFFFFF"/>
                          </a:solidFill>
                          <a:latin typeface="Calibri"/>
                        </a:rPr>
                        <a:t>3y</a:t>
                      </a:r>
                    </a:p>
                  </a:txBody>
                  <a:tcPr marL="50800" marR="50800" marT="25400" marB="25400" anchor="ctr">
                    <a:solidFill>
                      <a:srgbClr val="182433"/>
                    </a:solidFill>
                  </a:tcPr>
                </a:tc>
                <a:tc>
                  <a:txBody>
                    <a:bodyPr wrap="square"/>
                    <a:lstStyle/>
                    <a:p>
                      <a:pPr algn="ctr"/>
                      <a:r>
                        <a:rPr sz="1050" b="1">
                          <a:solidFill>
                            <a:srgbClr val="FFFFFF"/>
                          </a:solidFill>
                          <a:latin typeface="Calibri"/>
                        </a:rPr>
                        <a:t>5y</a:t>
                      </a:r>
                    </a:p>
                  </a:txBody>
                  <a:tcPr marL="50800" marR="50800" marT="25400" marB="25400" anchor="ctr">
                    <a:solidFill>
                      <a:srgbClr val="182433"/>
                    </a:solidFill>
                  </a:tcPr>
                </a:tc>
                <a:tc>
                  <a:txBody>
                    <a:bodyPr wrap="square"/>
                    <a:lstStyle/>
                    <a:p>
                      <a:pPr algn="ctr"/>
                      <a:r>
                        <a:rPr sz="1050" b="1">
                          <a:solidFill>
                            <a:srgbClr val="FFFFFF"/>
                          </a:solidFill>
                          <a:latin typeface="Calibri"/>
                        </a:rPr>
                        <a:t>10y</a:t>
                      </a:r>
                    </a:p>
                  </a:txBody>
                  <a:tcPr marL="50800" marR="50800" marT="25400" marB="25400" anchor="ctr">
                    <a:solidFill>
                      <a:srgbClr val="182433"/>
                    </a:solidFill>
                  </a:tcPr>
                </a:tc>
                <a:tc>
                  <a:txBody>
                    <a:bodyPr wrap="square"/>
                    <a:lstStyle/>
                    <a:p>
                      <a:pPr algn="ctr"/>
                      <a:r>
                        <a:rPr sz="1050" b="1">
                          <a:solidFill>
                            <a:srgbClr val="FFFFFF"/>
                          </a:solidFill>
                          <a:latin typeface="Calibri"/>
                        </a:rPr>
                        <a:t>Total</a:t>
                      </a:r>
                    </a:p>
                  </a:txBody>
                  <a:tcPr marL="50800" marR="50800" marT="25400" marB="25400" anchor="ctr">
                    <a:solidFill>
                      <a:srgbClr val="182433"/>
                    </a:solidFill>
                  </a:tcPr>
                </a:tc>
              </a:tr>
              <a:tr h="338328">
                <a:tc>
                  <a:txBody>
                    <a:bodyPr wrap="square"/>
                    <a:lstStyle/>
                    <a:p>
                      <a:pPr algn="l"/>
                      <a:r>
                        <a:rPr sz="1050" b="0">
                          <a:solidFill>
                            <a:srgbClr val="182433"/>
                          </a:solidFill>
                          <a:latin typeface="Calibri"/>
                        </a:rPr>
                        <a:t>CPTY_A</a:t>
                      </a:r>
                    </a:p>
                  </a:txBody>
                  <a:tcPr marL="50800" marR="50800" marT="25400" marB="25400" anchor="ctr">
                    <a:solidFill>
                      <a:srgbClr val="FFFFFF"/>
                    </a:solidFill>
                  </a:tcPr>
                </a:tc>
                <a:tc>
                  <a:txBody>
                    <a:bodyPr wrap="square"/>
                    <a:lstStyle/>
                    <a:p>
                      <a:pPr algn="ctr"/>
                      <a:r>
                        <a:rPr sz="1050" b="0">
                          <a:solidFill>
                            <a:srgbClr val="182433"/>
                          </a:solidFill>
                          <a:latin typeface="Calibri"/>
                        </a:rPr>
                        <a:t>$408,880</a:t>
                      </a:r>
                    </a:p>
                  </a:txBody>
                  <a:tcPr marL="50800" marR="50800" marT="25400" marB="25400" anchor="ctr">
                    <a:solidFill>
                      <a:srgbClr val="FFFFFF"/>
                    </a:solidFill>
                  </a:tcPr>
                </a:tc>
                <a:tc>
                  <a:txBody>
                    <a:bodyPr wrap="square"/>
                    <a:lstStyle/>
                    <a:p>
                      <a:pPr algn="ctr"/>
                      <a:r>
                        <a:rPr sz="1050" b="0">
                          <a:solidFill>
                            <a:srgbClr val="182433"/>
                          </a:solidFill>
                          <a:latin typeface="Calibri"/>
                        </a:rPr>
                        <a:t>$1,524</a:t>
                      </a:r>
                    </a:p>
                  </a:txBody>
                  <a:tcPr marL="50800" marR="50800" marT="25400" marB="25400" anchor="ctr">
                    <a:solidFill>
                      <a:srgbClr val="FFFFFF"/>
                    </a:solidFill>
                  </a:tcPr>
                </a:tc>
                <a:tc>
                  <a:txBody>
                    <a:bodyPr wrap="square"/>
                    <a:lstStyle/>
                    <a:p>
                      <a:pPr algn="ctr"/>
                      <a:r>
                        <a:rPr sz="1050" b="0">
                          <a:solidFill>
                            <a:srgbClr val="182433"/>
                          </a:solidFill>
                          <a:latin typeface="Calibri"/>
                        </a:rPr>
                        <a:t>$218</a:t>
                      </a:r>
                    </a:p>
                  </a:txBody>
                  <a:tcPr marL="50800" marR="50800" marT="25400" marB="25400" anchor="ctr">
                    <a:solidFill>
                      <a:srgbClr val="FFFFFF"/>
                    </a:solidFill>
                  </a:tcPr>
                </a:tc>
                <a:tc>
                  <a:txBody>
                    <a:bodyPr wrap="square"/>
                    <a:lstStyle/>
                    <a:p>
                      <a:pPr algn="ctr"/>
                      <a:r>
                        <a:rPr sz="1050" b="0">
                          <a:solidFill>
                            <a:srgbClr val="182433"/>
                          </a:solidFill>
                          <a:latin typeface="Calibri"/>
                        </a:rPr>
                        <a:t>$0</a:t>
                      </a:r>
                    </a:p>
                  </a:txBody>
                  <a:tcPr marL="50800" marR="50800" marT="25400" marB="25400" anchor="ctr">
                    <a:solidFill>
                      <a:srgbClr val="FFFFFF"/>
                    </a:solidFill>
                  </a:tcPr>
                </a:tc>
                <a:tc>
                  <a:txBody>
                    <a:bodyPr wrap="square"/>
                    <a:lstStyle/>
                    <a:p>
                      <a:pPr algn="ctr"/>
                      <a:r>
                        <a:rPr sz="1050" b="0">
                          <a:solidFill>
                            <a:srgbClr val="182433"/>
                          </a:solidFill>
                          <a:latin typeface="Calibri"/>
                        </a:rPr>
                        <a:t>$0</a:t>
                      </a:r>
                    </a:p>
                  </a:txBody>
                  <a:tcPr marL="50800" marR="50800" marT="25400" marB="25400" anchor="ctr">
                    <a:solidFill>
                      <a:srgbClr val="FFFFFF"/>
                    </a:solidFill>
                  </a:tcPr>
                </a:tc>
                <a:tc>
                  <a:txBody>
                    <a:bodyPr wrap="square"/>
                    <a:lstStyle/>
                    <a:p>
                      <a:pPr algn="ctr"/>
                      <a:r>
                        <a:rPr sz="1050" b="0">
                          <a:solidFill>
                            <a:srgbClr val="182433"/>
                          </a:solidFill>
                          <a:latin typeface="Calibri"/>
                        </a:rPr>
                        <a:t>$410,622</a:t>
                      </a:r>
                    </a:p>
                  </a:txBody>
                  <a:tcPr marL="50800" marR="50800" marT="25400" marB="25400" anchor="ctr">
                    <a:solidFill>
                      <a:srgbClr val="FFFFFF"/>
                    </a:solidFill>
                  </a:tcPr>
                </a:tc>
              </a:tr>
              <a:tr h="338328">
                <a:tc>
                  <a:txBody>
                    <a:bodyPr wrap="square"/>
                    <a:lstStyle/>
                    <a:p>
                      <a:pPr algn="l"/>
                      <a:r>
                        <a:rPr sz="1050" b="0">
                          <a:solidFill>
                            <a:srgbClr val="182433"/>
                          </a:solidFill>
                          <a:latin typeface="Calibri"/>
                        </a:rPr>
                        <a:t>CPTY_B</a:t>
                      </a:r>
                    </a:p>
                  </a:txBody>
                  <a:tcPr marL="50800" marR="50800" marT="25400" marB="25400" anchor="ctr">
                    <a:solidFill>
                      <a:srgbClr val="F7F8FA"/>
                    </a:solidFill>
                  </a:tcPr>
                </a:tc>
                <a:tc>
                  <a:txBody>
                    <a:bodyPr wrap="square"/>
                    <a:lstStyle/>
                    <a:p>
                      <a:pPr algn="ctr"/>
                      <a:r>
                        <a:rPr sz="1050" b="0">
                          <a:solidFill>
                            <a:srgbClr val="182433"/>
                          </a:solidFill>
                          <a:latin typeface="Calibri"/>
                        </a:rPr>
                        <a:t>$239,174</a:t>
                      </a:r>
                    </a:p>
                  </a:txBody>
                  <a:tcPr marL="50800" marR="50800" marT="25400" marB="25400" anchor="ctr">
                    <a:solidFill>
                      <a:srgbClr val="F7F8FA"/>
                    </a:solidFill>
                  </a:tcPr>
                </a:tc>
                <a:tc>
                  <a:txBody>
                    <a:bodyPr wrap="square"/>
                    <a:lstStyle/>
                    <a:p>
                      <a:pPr algn="ctr"/>
                      <a:r>
                        <a:rPr sz="1050" b="0">
                          <a:solidFill>
                            <a:srgbClr val="182433"/>
                          </a:solidFill>
                          <a:latin typeface="Calibri"/>
                        </a:rPr>
                        <a:t>$535</a:t>
                      </a:r>
                    </a:p>
                  </a:txBody>
                  <a:tcPr marL="50800" marR="50800" marT="25400" marB="25400" anchor="ctr">
                    <a:solidFill>
                      <a:srgbClr val="F7F8FA"/>
                    </a:solidFill>
                  </a:tcPr>
                </a:tc>
                <a:tc>
                  <a:txBody>
                    <a:bodyPr wrap="square"/>
                    <a:lstStyle/>
                    <a:p>
                      <a:pPr algn="ctr"/>
                      <a:r>
                        <a:rPr sz="1050" b="0">
                          <a:solidFill>
                            <a:srgbClr val="182433"/>
                          </a:solidFill>
                          <a:latin typeface="Calibri"/>
                        </a:rPr>
                        <a:t>$0</a:t>
                      </a:r>
                    </a:p>
                  </a:txBody>
                  <a:tcPr marL="50800" marR="50800" marT="25400" marB="25400" anchor="ctr">
                    <a:solidFill>
                      <a:srgbClr val="F7F8FA"/>
                    </a:solidFill>
                  </a:tcPr>
                </a:tc>
                <a:tc>
                  <a:txBody>
                    <a:bodyPr wrap="square"/>
                    <a:lstStyle/>
                    <a:p>
                      <a:pPr algn="ctr"/>
                      <a:r>
                        <a:rPr sz="1050" b="0">
                          <a:solidFill>
                            <a:srgbClr val="182433"/>
                          </a:solidFill>
                          <a:latin typeface="Calibri"/>
                        </a:rPr>
                        <a:t>$0</a:t>
                      </a:r>
                    </a:p>
                  </a:txBody>
                  <a:tcPr marL="50800" marR="50800" marT="25400" marB="25400" anchor="ctr">
                    <a:solidFill>
                      <a:srgbClr val="F7F8FA"/>
                    </a:solidFill>
                  </a:tcPr>
                </a:tc>
                <a:tc>
                  <a:txBody>
                    <a:bodyPr wrap="square"/>
                    <a:lstStyle/>
                    <a:p>
                      <a:pPr algn="ctr"/>
                      <a:r>
                        <a:rPr sz="1050" b="0">
                          <a:solidFill>
                            <a:srgbClr val="182433"/>
                          </a:solidFill>
                          <a:latin typeface="Calibri"/>
                        </a:rPr>
                        <a:t>$0</a:t>
                      </a:r>
                    </a:p>
                  </a:txBody>
                  <a:tcPr marL="50800" marR="50800" marT="25400" marB="25400" anchor="ctr">
                    <a:solidFill>
                      <a:srgbClr val="F7F8FA"/>
                    </a:solidFill>
                  </a:tcPr>
                </a:tc>
                <a:tc>
                  <a:txBody>
                    <a:bodyPr wrap="square"/>
                    <a:lstStyle/>
                    <a:p>
                      <a:pPr algn="ctr"/>
                      <a:r>
                        <a:rPr sz="1050" b="0">
                          <a:solidFill>
                            <a:srgbClr val="182433"/>
                          </a:solidFill>
                          <a:latin typeface="Calibri"/>
                        </a:rPr>
                        <a:t>$239,709</a:t>
                      </a:r>
                    </a:p>
                  </a:txBody>
                  <a:tcPr marL="50800" marR="50800" marT="25400" marB="25400" anchor="ctr">
                    <a:solidFill>
                      <a:srgbClr val="F7F8FA"/>
                    </a:solidFill>
                  </a:tcPr>
                </a:tc>
              </a:tr>
              <a:tr h="338328">
                <a:tc>
                  <a:txBody>
                    <a:bodyPr wrap="square"/>
                    <a:lstStyle/>
                    <a:p>
                      <a:pPr algn="l"/>
                      <a:r>
                        <a:rPr sz="1050" b="0">
                          <a:solidFill>
                            <a:srgbClr val="182433"/>
                          </a:solidFill>
                          <a:latin typeface="Calibri"/>
                        </a:rPr>
                        <a:t>CPTY_C</a:t>
                      </a:r>
                    </a:p>
                  </a:txBody>
                  <a:tcPr marL="50800" marR="50800" marT="25400" marB="25400" anchor="ctr">
                    <a:solidFill>
                      <a:srgbClr val="FFFFFF"/>
                    </a:solidFill>
                  </a:tcPr>
                </a:tc>
                <a:tc>
                  <a:txBody>
                    <a:bodyPr wrap="square"/>
                    <a:lstStyle/>
                    <a:p>
                      <a:pPr algn="ctr"/>
                      <a:r>
                        <a:rPr sz="1050" b="0">
                          <a:solidFill>
                            <a:srgbClr val="182433"/>
                          </a:solidFill>
                          <a:latin typeface="Calibri"/>
                        </a:rPr>
                        <a:t>$1,056,184</a:t>
                      </a:r>
                    </a:p>
                  </a:txBody>
                  <a:tcPr marL="50800" marR="50800" marT="25400" marB="25400" anchor="ctr">
                    <a:solidFill>
                      <a:srgbClr val="FFFFFF"/>
                    </a:solidFill>
                  </a:tcPr>
                </a:tc>
                <a:tc>
                  <a:txBody>
                    <a:bodyPr wrap="square"/>
                    <a:lstStyle/>
                    <a:p>
                      <a:pPr algn="ctr"/>
                      <a:r>
                        <a:rPr sz="1050" b="0">
                          <a:solidFill>
                            <a:srgbClr val="182433"/>
                          </a:solidFill>
                          <a:latin typeface="Calibri"/>
                        </a:rPr>
                        <a:t>$280,791</a:t>
                      </a:r>
                    </a:p>
                  </a:txBody>
                  <a:tcPr marL="50800" marR="50800" marT="25400" marB="25400" anchor="ctr">
                    <a:solidFill>
                      <a:srgbClr val="FFFFFF"/>
                    </a:solidFill>
                  </a:tcPr>
                </a:tc>
                <a:tc>
                  <a:txBody>
                    <a:bodyPr wrap="square"/>
                    <a:lstStyle/>
                    <a:p>
                      <a:pPr algn="ctr"/>
                      <a:r>
                        <a:rPr sz="1050" b="0">
                          <a:solidFill>
                            <a:srgbClr val="182433"/>
                          </a:solidFill>
                          <a:latin typeface="Calibri"/>
                        </a:rPr>
                        <a:t>$0</a:t>
                      </a:r>
                    </a:p>
                  </a:txBody>
                  <a:tcPr marL="50800" marR="50800" marT="25400" marB="25400" anchor="ctr">
                    <a:solidFill>
                      <a:srgbClr val="FFFFFF"/>
                    </a:solidFill>
                  </a:tcPr>
                </a:tc>
                <a:tc>
                  <a:txBody>
                    <a:bodyPr wrap="square"/>
                    <a:lstStyle/>
                    <a:p>
                      <a:pPr algn="ctr"/>
                      <a:r>
                        <a:rPr sz="1050" b="0">
                          <a:solidFill>
                            <a:srgbClr val="182433"/>
                          </a:solidFill>
                          <a:latin typeface="Calibri"/>
                        </a:rPr>
                        <a:t>$0</a:t>
                      </a:r>
                    </a:p>
                  </a:txBody>
                  <a:tcPr marL="50800" marR="50800" marT="25400" marB="25400" anchor="ctr">
                    <a:solidFill>
                      <a:srgbClr val="FFFFFF"/>
                    </a:solidFill>
                  </a:tcPr>
                </a:tc>
                <a:tc>
                  <a:txBody>
                    <a:bodyPr wrap="square"/>
                    <a:lstStyle/>
                    <a:p>
                      <a:pPr algn="ctr"/>
                      <a:r>
                        <a:rPr sz="1050" b="0">
                          <a:solidFill>
                            <a:srgbClr val="182433"/>
                          </a:solidFill>
                          <a:latin typeface="Calibri"/>
                        </a:rPr>
                        <a:t>$0</a:t>
                      </a:r>
                    </a:p>
                  </a:txBody>
                  <a:tcPr marL="50800" marR="50800" marT="25400" marB="25400" anchor="ctr">
                    <a:solidFill>
                      <a:srgbClr val="FFFFFF"/>
                    </a:solidFill>
                  </a:tcPr>
                </a:tc>
                <a:tc>
                  <a:txBody>
                    <a:bodyPr wrap="square"/>
                    <a:lstStyle/>
                    <a:p>
                      <a:pPr algn="ctr"/>
                      <a:r>
                        <a:rPr sz="1050" b="0">
                          <a:solidFill>
                            <a:srgbClr val="182433"/>
                          </a:solidFill>
                          <a:latin typeface="Calibri"/>
                        </a:rPr>
                        <a:t>$1,336,975</a:t>
                      </a:r>
                    </a:p>
                  </a:txBody>
                  <a:tcPr marL="50800" marR="50800" marT="25400" marB="25400" anchor="ctr">
                    <a:solidFill>
                      <a:srgbClr val="FFFFFF"/>
                    </a:solidFill>
                  </a:tcPr>
                </a:tc>
              </a:tr>
              <a:tr h="338328">
                <a:tc>
                  <a:txBody>
                    <a:bodyPr wrap="square"/>
                    <a:lstStyle/>
                    <a:p>
                      <a:pPr algn="l"/>
                      <a:r>
                        <a:rPr sz="1050" b="0">
                          <a:solidFill>
                            <a:srgbClr val="182433"/>
                          </a:solidFill>
                          <a:latin typeface="Calibri"/>
                        </a:rPr>
                        <a:t>Total</a:t>
                      </a:r>
                    </a:p>
                  </a:txBody>
                  <a:tcPr marL="50800" marR="50800" marT="25400" marB="25400" anchor="ctr">
                    <a:solidFill>
                      <a:srgbClr val="F7F8FA"/>
                    </a:solidFill>
                  </a:tcPr>
                </a:tc>
                <a:tc>
                  <a:txBody>
                    <a:bodyPr wrap="square"/>
                    <a:lstStyle/>
                    <a:p>
                      <a:pPr algn="ctr"/>
                      <a:r>
                        <a:rPr sz="1050" b="0">
                          <a:solidFill>
                            <a:srgbClr val="182433"/>
                          </a:solidFill>
                          <a:latin typeface="Calibri"/>
                        </a:rPr>
                        <a:t>$1,704,238</a:t>
                      </a:r>
                    </a:p>
                  </a:txBody>
                  <a:tcPr marL="50800" marR="50800" marT="25400" marB="25400" anchor="ctr">
                    <a:solidFill>
                      <a:srgbClr val="F7F8FA"/>
                    </a:solidFill>
                  </a:tcPr>
                </a:tc>
                <a:tc>
                  <a:txBody>
                    <a:bodyPr wrap="square"/>
                    <a:lstStyle/>
                    <a:p>
                      <a:pPr algn="ctr"/>
                      <a:r>
                        <a:rPr sz="1050" b="0">
                          <a:solidFill>
                            <a:srgbClr val="182433"/>
                          </a:solidFill>
                          <a:latin typeface="Calibri"/>
                        </a:rPr>
                        <a:t>$282,850</a:t>
                      </a:r>
                    </a:p>
                  </a:txBody>
                  <a:tcPr marL="50800" marR="50800" marT="25400" marB="25400" anchor="ctr">
                    <a:solidFill>
                      <a:srgbClr val="F7F8FA"/>
                    </a:solidFill>
                  </a:tcPr>
                </a:tc>
                <a:tc>
                  <a:txBody>
                    <a:bodyPr wrap="square"/>
                    <a:lstStyle/>
                    <a:p>
                      <a:pPr algn="ctr"/>
                      <a:r>
                        <a:rPr sz="1050" b="0">
                          <a:solidFill>
                            <a:srgbClr val="182433"/>
                          </a:solidFill>
                          <a:latin typeface="Calibri"/>
                        </a:rPr>
                        <a:t>$218</a:t>
                      </a:r>
                    </a:p>
                  </a:txBody>
                  <a:tcPr marL="50800" marR="50800" marT="25400" marB="25400" anchor="ctr">
                    <a:solidFill>
                      <a:srgbClr val="F7F8FA"/>
                    </a:solidFill>
                  </a:tcPr>
                </a:tc>
                <a:tc>
                  <a:txBody>
                    <a:bodyPr wrap="square"/>
                    <a:lstStyle/>
                    <a:p>
                      <a:pPr algn="ctr"/>
                      <a:r>
                        <a:rPr sz="1050" b="0">
                          <a:solidFill>
                            <a:srgbClr val="182433"/>
                          </a:solidFill>
                          <a:latin typeface="Calibri"/>
                        </a:rPr>
                        <a:t>$0</a:t>
                      </a:r>
                    </a:p>
                  </a:txBody>
                  <a:tcPr marL="50800" marR="50800" marT="25400" marB="25400" anchor="ctr">
                    <a:solidFill>
                      <a:srgbClr val="F7F8FA"/>
                    </a:solidFill>
                  </a:tcPr>
                </a:tc>
                <a:tc>
                  <a:txBody>
                    <a:bodyPr wrap="square"/>
                    <a:lstStyle/>
                    <a:p>
                      <a:pPr algn="ctr"/>
                      <a:r>
                        <a:rPr sz="1050" b="0">
                          <a:solidFill>
                            <a:srgbClr val="182433"/>
                          </a:solidFill>
                          <a:latin typeface="Calibri"/>
                        </a:rPr>
                        <a:t>$0</a:t>
                      </a:r>
                    </a:p>
                  </a:txBody>
                  <a:tcPr marL="50800" marR="50800" marT="25400" marB="25400" anchor="ctr">
                    <a:solidFill>
                      <a:srgbClr val="F7F8FA"/>
                    </a:solidFill>
                  </a:tcPr>
                </a:tc>
                <a:tc>
                  <a:txBody>
                    <a:bodyPr wrap="square"/>
                    <a:lstStyle/>
                    <a:p>
                      <a:pPr algn="ctr"/>
                      <a:r>
                        <a:rPr sz="1050" b="0">
                          <a:solidFill>
                            <a:srgbClr val="182433"/>
                          </a:solidFill>
                          <a:latin typeface="Calibri"/>
                        </a:rPr>
                        <a:t>$1,987,307</a:t>
                      </a:r>
                    </a:p>
                  </a:txBody>
                  <a:tcPr marL="50800" marR="50800" marT="25400" marB="25400" anchor="ctr">
                    <a:solidFill>
                      <a:srgbClr val="F7F8FA"/>
                    </a:solidFill>
                  </a:tcPr>
                </a:tc>
              </a:tr>
            </a:tbl>
          </a:graphicData>
        </a:graphic>
      </p:graphicFrame>
      <p:sp>
        <p:nvSpPr>
          <p:cNvPr id="11" name="TextBox 10"/>
          <p:cNvSpPr txBox="1"/>
          <p:nvPr/>
        </p:nvSpPr>
        <p:spPr>
          <a:xfrm>
            <a:off x="457200" y="4800600"/>
            <a:ext cx="11247120" cy="274320"/>
          </a:xfrm>
          <a:prstGeom prst="rect">
            <a:avLst/>
          </a:prstGeom>
          <a:noFill/>
        </p:spPr>
        <p:txBody>
          <a:bodyPr wrap="square" anchor="t" lIns="0" rIns="0" tIns="0" bIns="0">
            <a:spAutoFit/>
          </a:bodyPr>
          <a:lstStyle/>
          <a:p>
            <a:pPr algn="l"/>
            <a:r>
              <a:rPr sz="950" b="0" i="1">
                <a:solidFill>
                  <a:srgbClr val="6B7280"/>
                </a:solidFill>
                <a:latin typeface="Calibri"/>
              </a:rPr>
              <a:t>CVA sensitivity to a +1bp widening of each counterparty's own credit spread, by tenor bucket.</a:t>
            </a:r>
          </a:p>
        </p:txBody>
      </p:sp>
      <p:sp>
        <p:nvSpPr>
          <p:cNvPr id="12" name="Rectangle 11"/>
          <p:cNvSpPr/>
          <p:nvPr/>
        </p:nvSpPr>
        <p:spPr>
          <a:xfrm>
            <a:off x="457200" y="5166360"/>
            <a:ext cx="11247120" cy="11887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5166360"/>
            <a:ext cx="44450" cy="118872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276088"/>
            <a:ext cx="10927080" cy="292608"/>
          </a:xfrm>
          <a:prstGeom prst="rect">
            <a:avLst/>
          </a:prstGeom>
          <a:noFill/>
        </p:spPr>
        <p:txBody>
          <a:bodyPr wrap="square" anchor="t" lIns="0" rIns="0" tIns="0" bIns="0">
            <a:spAutoFit/>
          </a:bodyPr>
          <a:lstStyle/>
          <a:p>
            <a:pPr algn="l"/>
            <a:r>
              <a:rPr sz="1200" b="1" i="0">
                <a:solidFill>
                  <a:srgbClr val="9A0052"/>
                </a:solidFill>
                <a:latin typeface="Cambria"/>
              </a:rPr>
              <a:t>WHY WHY CREDIT SPREAD DOMINATES, CONCRETELY</a:t>
            </a:r>
          </a:p>
        </p:txBody>
      </p:sp>
      <p:sp>
        <p:nvSpPr>
          <p:cNvPr id="15" name="TextBox 14"/>
          <p:cNvSpPr txBox="1"/>
          <p:nvPr/>
        </p:nvSpPr>
        <p:spPr>
          <a:xfrm>
            <a:off x="640080" y="5641848"/>
            <a:ext cx="10927080" cy="640080"/>
          </a:xfrm>
          <a:prstGeom prst="rect">
            <a:avLst/>
          </a:prstGeom>
          <a:noFill/>
        </p:spPr>
        <p:txBody>
          <a:bodyPr wrap="square" lIns="0" rIns="0" tIns="0" bIns="0">
            <a:spAutoFit/>
          </a:bodyPr>
          <a:lstStyle/>
          <a:p>
            <a:pPr>
              <a:lnSpc>
                <a:spcPct val="105000"/>
              </a:lnSpc>
              <a:spcAft>
                <a:spcPts val="500"/>
              </a:spcAft>
            </a:pPr>
            <a:r>
              <a:rPr sz="1050" b="0">
                <a:solidFill>
                  <a:srgbClr val="182433"/>
                </a:solidFill>
                <a:latin typeface="Calibri"/>
              </a:rPr>
              <a:t>•  $1.99M total credit-spread delta vs $112k total rate delta (both pre risk-weight) -- credit spread risk is about 18x larger</a:t>
            </a:r>
          </a:p>
          <a:p>
            <a:pPr>
              <a:lnSpc>
                <a:spcPct val="105000"/>
              </a:lnSpc>
              <a:spcAft>
                <a:spcPts val="500"/>
              </a:spcAft>
            </a:pPr>
            <a:r>
              <a:rPr sz="1050" b="0">
                <a:solidFill>
                  <a:srgbClr val="182433"/>
                </a:solidFill>
                <a:latin typeface="Calibri"/>
              </a:rPr>
              <a:t>•  Almost all of CPTY_C's $1.34M sits at the 0.5y/1y buckets, where BF_0003 (maturing 2026-12-06) lives -- short-tenor credit risk, not long-tenor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97180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108960"/>
            <a:ext cx="10515600" cy="914400"/>
          </a:xfrm>
          <a:prstGeom prst="rect">
            <a:avLst/>
          </a:prstGeom>
          <a:noFill/>
        </p:spPr>
        <p:txBody>
          <a:bodyPr wrap="square" anchor="t" lIns="0" rIns="0" tIns="0" bIns="0">
            <a:spAutoFit/>
          </a:bodyPr>
          <a:lstStyle/>
          <a:p>
            <a:pPr algn="l"/>
            <a:r>
              <a:rPr sz="3400" b="1" i="0">
                <a:solidFill>
                  <a:srgbClr val="FFFFFF"/>
                </a:solidFill>
                <a:latin typeface="Cambria"/>
              </a:rPr>
              <a:t>Conclusions and Next Steps</a:t>
            </a:r>
          </a:p>
        </p:txBody>
      </p:sp>
      <p:sp>
        <p:nvSpPr>
          <p:cNvPr id="4" name="TextBox 3"/>
          <p:cNvSpPr txBox="1"/>
          <p:nvPr/>
        </p:nvSpPr>
        <p:spPr>
          <a:xfrm>
            <a:off x="822960" y="3886200"/>
            <a:ext cx="10058400" cy="548640"/>
          </a:xfrm>
          <a:prstGeom prst="rect">
            <a:avLst/>
          </a:prstGeom>
          <a:noFill/>
        </p:spPr>
        <p:txBody>
          <a:bodyPr wrap="square" anchor="t" lIns="0" rIns="0" tIns="0" bIns="0">
            <a:spAutoFit/>
          </a:bodyPr>
          <a:lstStyle/>
          <a:p>
            <a:pPr algn="l"/>
            <a:r>
              <a:rPr sz="1500" b="0" i="0">
                <a:solidFill>
                  <a:srgbClr val="C9CED6"/>
                </a:solidFill>
                <a:latin typeface="Calibri"/>
              </a:rPr>
              <a:t>What we know, what we assumed, and what Capitolis needs to decide next</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8A909C"/>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Validated and Reproducible; Limitations Disclosed, Not Hidden</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1">
                <a:solidFill>
                  <a:srgbClr val="D2006F"/>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50</a:t>
            </a:r>
          </a:p>
        </p:txBody>
      </p:sp>
      <p:sp>
        <p:nvSpPr>
          <p:cNvPr id="6" name="TextBox 5"/>
          <p:cNvSpPr txBox="1"/>
          <p:nvPr/>
        </p:nvSpPr>
        <p:spPr>
          <a:xfrm>
            <a:off x="457200" y="1371600"/>
            <a:ext cx="5394960" cy="365760"/>
          </a:xfrm>
          <a:prstGeom prst="rect">
            <a:avLst/>
          </a:prstGeom>
          <a:noFill/>
        </p:spPr>
        <p:txBody>
          <a:bodyPr wrap="square" anchor="t" lIns="0" rIns="0" tIns="0" bIns="0">
            <a:spAutoFit/>
          </a:bodyPr>
          <a:lstStyle/>
          <a:p>
            <a:pPr algn="l"/>
            <a:r>
              <a:rPr sz="1400" b="1" i="0">
                <a:solidFill>
                  <a:srgbClr val="1E7A4C"/>
                </a:solidFill>
                <a:latin typeface="Cambria"/>
              </a:rPr>
              <a:t>What we are confident in</a:t>
            </a:r>
          </a:p>
        </p:txBody>
      </p:sp>
      <p:sp>
        <p:nvSpPr>
          <p:cNvPr id="7" name="TextBox 6"/>
          <p:cNvSpPr txBox="1"/>
          <p:nvPr/>
        </p:nvSpPr>
        <p:spPr>
          <a:xfrm>
            <a:off x="457200" y="1828800"/>
            <a:ext cx="5394960" cy="4114800"/>
          </a:xfrm>
          <a:prstGeom prst="rect">
            <a:avLst/>
          </a:prstGeom>
          <a:noFill/>
        </p:spPr>
        <p:txBody>
          <a:bodyPr wrap="square" lIns="0" rIns="0" tIns="0" bIns="0">
            <a:spAutoFit/>
          </a:bodyPr>
          <a:lstStyle/>
          <a:p>
            <a:pPr>
              <a:lnSpc>
                <a:spcPct val="105000"/>
              </a:lnSpc>
              <a:spcAft>
                <a:spcPts val="900"/>
              </a:spcAft>
            </a:pPr>
            <a:r>
              <a:rPr sz="1250" b="0">
                <a:solidFill>
                  <a:srgbClr val="182433"/>
                </a:solidFill>
                <a:latin typeface="Calibri"/>
              </a:rPr>
              <a:t>•  Engine validated: t=0 self-check 0.0000%, martingale tests, 1.04x VaR benchmark, Kupiec backtest, 142 automated tests</a:t>
            </a:r>
          </a:p>
          <a:p>
            <a:pPr>
              <a:lnSpc>
                <a:spcPct val="105000"/>
              </a:lnSpc>
              <a:spcAft>
                <a:spcPts val="900"/>
              </a:spcAft>
            </a:pPr>
            <a:r>
              <a:rPr sz="1250" b="0">
                <a:solidFill>
                  <a:srgbClr val="182433"/>
                </a:solidFill>
                <a:latin typeface="Calibri"/>
              </a:rPr>
              <a:t>•  Portfolio MPE99 $51.0M on the brief's exact definition, reproducible with a single command per stage</a:t>
            </a:r>
          </a:p>
          <a:p>
            <a:pPr>
              <a:lnSpc>
                <a:spcPct val="105000"/>
              </a:lnSpc>
              <a:spcAft>
                <a:spcPts val="900"/>
              </a:spcAft>
            </a:pPr>
            <a:r>
              <a:rPr sz="1250" b="0">
                <a:solidFill>
                  <a:srgbClr val="182433"/>
                </a:solidFill>
                <a:latin typeface="Calibri"/>
              </a:rPr>
              <a:t>•  Every modelling choice is backed by a quantified alternative comparison, not asserted (Section 6)</a:t>
            </a:r>
          </a:p>
          <a:p>
            <a:pPr>
              <a:lnSpc>
                <a:spcPct val="105000"/>
              </a:lnSpc>
              <a:spcAft>
                <a:spcPts val="900"/>
              </a:spcAft>
            </a:pPr>
            <a:r>
              <a:rPr sz="1250" b="0">
                <a:solidFill>
                  <a:srgbClr val="182433"/>
                </a:solidFill>
                <a:latin typeface="Calibri"/>
              </a:rPr>
              <a:t>•  All 11 feedback items closed with evidence; both extra-credit items (xVA, risky bonds) delivered</a:t>
            </a:r>
          </a:p>
        </p:txBody>
      </p:sp>
      <p:sp>
        <p:nvSpPr>
          <p:cNvPr id="8" name="TextBox 7"/>
          <p:cNvSpPr txBox="1"/>
          <p:nvPr/>
        </p:nvSpPr>
        <p:spPr>
          <a:xfrm>
            <a:off x="6309360" y="1371600"/>
            <a:ext cx="5394960" cy="365760"/>
          </a:xfrm>
          <a:prstGeom prst="rect">
            <a:avLst/>
          </a:prstGeom>
          <a:noFill/>
        </p:spPr>
        <p:txBody>
          <a:bodyPr wrap="square" anchor="t" lIns="0" rIns="0" tIns="0" bIns="0">
            <a:spAutoFit/>
          </a:bodyPr>
          <a:lstStyle/>
          <a:p>
            <a:pPr algn="l"/>
            <a:r>
              <a:rPr sz="1400" b="1" i="0">
                <a:solidFill>
                  <a:srgbClr val="B02A2A"/>
                </a:solidFill>
                <a:latin typeface="Cambria"/>
              </a:rPr>
              <a:t>What depends on data we don't have</a:t>
            </a:r>
          </a:p>
        </p:txBody>
      </p:sp>
      <p:sp>
        <p:nvSpPr>
          <p:cNvPr id="9" name="TextBox 8"/>
          <p:cNvSpPr txBox="1"/>
          <p:nvPr/>
        </p:nvSpPr>
        <p:spPr>
          <a:xfrm>
            <a:off x="6309360" y="1828800"/>
            <a:ext cx="5394960" cy="4114800"/>
          </a:xfrm>
          <a:prstGeom prst="rect">
            <a:avLst/>
          </a:prstGeom>
          <a:noFill/>
        </p:spPr>
        <p:txBody>
          <a:bodyPr wrap="square" lIns="0" rIns="0" tIns="0" bIns="0">
            <a:spAutoFit/>
          </a:bodyPr>
          <a:lstStyle/>
          <a:p>
            <a:pPr>
              <a:lnSpc>
                <a:spcPct val="105000"/>
              </a:lnSpc>
              <a:spcAft>
                <a:spcPts val="900"/>
              </a:spcAft>
            </a:pPr>
            <a:r>
              <a:rPr sz="1250" b="0">
                <a:solidFill>
                  <a:srgbClr val="182433"/>
                </a:solidFill>
                <a:latin typeface="Calibri"/>
              </a:rPr>
              <a:t>•  No CSA data: threshold, minimum transfer amount, initial margin all unknown -- the two exposure definitions bracket the answer</a:t>
            </a:r>
          </a:p>
          <a:p>
            <a:pPr>
              <a:lnSpc>
                <a:spcPct val="105000"/>
              </a:lnSpc>
              <a:spcAft>
                <a:spcPts val="900"/>
              </a:spcAft>
            </a:pPr>
            <a:r>
              <a:rPr sz="1250" b="0">
                <a:solidFill>
                  <a:srgbClr val="182433"/>
                </a:solidFill>
                <a:latin typeface="Calibri"/>
              </a:rPr>
              <a:t>•  Counterparty ratings are a BBB proxy (bond-index spreads, not CDS) -- every credit number scales with this assumption</a:t>
            </a:r>
          </a:p>
          <a:p>
            <a:pPr>
              <a:lnSpc>
                <a:spcPct val="105000"/>
              </a:lnSpc>
              <a:spcAft>
                <a:spcPts val="900"/>
              </a:spcAft>
            </a:pPr>
            <a:r>
              <a:rPr sz="1250" b="0">
                <a:solidFill>
                  <a:srgbClr val="182433"/>
                </a:solidFill>
                <a:latin typeface="Calibri"/>
              </a:rPr>
              <a:t>•  Volatility is 3-year realised, not implied (no single-name options data); correlation is one static matrix</a:t>
            </a:r>
          </a:p>
          <a:p>
            <a:pPr>
              <a:lnSpc>
                <a:spcPct val="105000"/>
              </a:lnSpc>
              <a:spcAft>
                <a:spcPts val="900"/>
              </a:spcAft>
            </a:pPr>
            <a:r>
              <a:rPr sz="1250" b="0">
                <a:solidFill>
                  <a:srgbClr val="182433"/>
                </a:solidFill>
                <a:latin typeface="Calibri"/>
              </a:rPr>
              <a:t>•  GBM understates fat tails (seen in the CPTY_B backtest); no wrong-way risk modelled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Recommended Next Steps: Confirm Margin Terms First</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0">
                <a:solidFill>
                  <a:srgbClr val="E8EAED"/>
                </a:solidFill>
                <a:latin typeface="Calibri"/>
              </a:rPr>
              <a:t>Results   </a:t>
            </a:r>
            <a:r>
              <a:rPr sz="850" b="1">
                <a:solidFill>
                  <a:srgbClr val="D2006F"/>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51</a:t>
            </a:r>
          </a:p>
        </p:txBody>
      </p:sp>
      <p:graphicFrame>
        <p:nvGraphicFramePr>
          <p:cNvPr id="6" name="Table 5"/>
          <p:cNvGraphicFramePr>
            <a:graphicFrameLocks noGrp="1"/>
          </p:cNvGraphicFramePr>
          <p:nvPr/>
        </p:nvGraphicFramePr>
        <p:xfrm>
          <a:off x="457200" y="1371600"/>
          <a:ext cx="11247118" cy="4754880"/>
        </p:xfrm>
        <a:graphic>
          <a:graphicData uri="http://schemas.openxmlformats.org/drawingml/2006/table">
            <a:tbl>
              <a:tblPr firstRow="1" bandRow="1">
                <a:tableStyleId>{5C22544A-7EE6-4342-B048-85BDC9FD1C3A}</a:tableStyleId>
              </a:tblPr>
              <a:tblGrid>
                <a:gridCol w="548639"/>
                <a:gridCol w="2743200"/>
                <a:gridCol w="4114800"/>
                <a:gridCol w="3840479"/>
              </a:tblGrid>
              <a:tr h="792480">
                <a:tc>
                  <a:txBody>
                    <a:bodyPr wrap="square"/>
                    <a:lstStyle/>
                    <a:p>
                      <a:pPr algn="l"/>
                      <a:r>
                        <a:rPr sz="1070" b="1">
                          <a:solidFill>
                            <a:srgbClr val="FFFFFF"/>
                          </a:solidFill>
                          <a:latin typeface="Calibri"/>
                        </a:rPr>
                        <a:t>Priority</a:t>
                      </a:r>
                    </a:p>
                  </a:txBody>
                  <a:tcPr marL="50800" marR="50800" marT="25400" marB="25400" anchor="ctr">
                    <a:solidFill>
                      <a:srgbClr val="182433"/>
                    </a:solidFill>
                  </a:tcPr>
                </a:tc>
                <a:tc>
                  <a:txBody>
                    <a:bodyPr wrap="square"/>
                    <a:lstStyle/>
                    <a:p>
                      <a:pPr algn="ctr"/>
                      <a:r>
                        <a:rPr sz="1070" b="1">
                          <a:solidFill>
                            <a:srgbClr val="FFFFFF"/>
                          </a:solidFill>
                          <a:latin typeface="Calibri"/>
                        </a:rPr>
                        <a:t>Item</a:t>
                      </a:r>
                    </a:p>
                  </a:txBody>
                  <a:tcPr marL="50800" marR="50800" marT="25400" marB="25400" anchor="ctr">
                    <a:solidFill>
                      <a:srgbClr val="182433"/>
                    </a:solidFill>
                  </a:tcPr>
                </a:tc>
                <a:tc>
                  <a:txBody>
                    <a:bodyPr wrap="square"/>
                    <a:lstStyle/>
                    <a:p>
                      <a:pPr algn="ctr"/>
                      <a:r>
                        <a:rPr sz="1070" b="1">
                          <a:solidFill>
                            <a:srgbClr val="FFFFFF"/>
                          </a:solidFill>
                          <a:latin typeface="Calibri"/>
                        </a:rPr>
                        <a:t>Why it matters</a:t>
                      </a:r>
                    </a:p>
                  </a:txBody>
                  <a:tcPr marL="50800" marR="50800" marT="25400" marB="25400" anchor="ctr">
                    <a:solidFill>
                      <a:srgbClr val="182433"/>
                    </a:solidFill>
                  </a:tcPr>
                </a:tc>
                <a:tc>
                  <a:txBody>
                    <a:bodyPr wrap="square"/>
                    <a:lstStyle/>
                    <a:p>
                      <a:pPr algn="ctr"/>
                      <a:r>
                        <a:rPr sz="1070" b="1">
                          <a:solidFill>
                            <a:srgbClr val="FFFFFF"/>
                          </a:solidFill>
                          <a:latin typeface="Calibri"/>
                        </a:rPr>
                        <a:t>What's needed</a:t>
                      </a:r>
                    </a:p>
                  </a:txBody>
                  <a:tcPr marL="50800" marR="50800" marT="25400" marB="25400" anchor="ctr">
                    <a:solidFill>
                      <a:srgbClr val="182433"/>
                    </a:solidFill>
                  </a:tcPr>
                </a:tc>
              </a:tr>
              <a:tr h="792480">
                <a:tc>
                  <a:txBody>
                    <a:bodyPr wrap="square"/>
                    <a:lstStyle/>
                    <a:p>
                      <a:pPr algn="l"/>
                      <a:r>
                        <a:rPr sz="1019" b="0">
                          <a:solidFill>
                            <a:srgbClr val="182433"/>
                          </a:solidFill>
                          <a:latin typeface="Calibri"/>
                        </a:rPr>
                        <a:t>1</a:t>
                      </a:r>
                    </a:p>
                  </a:txBody>
                  <a:tcPr marL="50800" marR="50800" marT="25400" marB="25400" anchor="ctr">
                    <a:solidFill>
                      <a:srgbClr val="FFFFFF"/>
                    </a:solidFill>
                  </a:tcPr>
                </a:tc>
                <a:tc>
                  <a:txBody>
                    <a:bodyPr wrap="square"/>
                    <a:lstStyle/>
                    <a:p>
                      <a:pPr algn="ctr"/>
                      <a:r>
                        <a:rPr sz="1019" b="0">
                          <a:solidFill>
                            <a:srgbClr val="182433"/>
                          </a:solidFill>
                          <a:latin typeface="Calibri"/>
                        </a:rPr>
                        <a:t>Confirm whether any trade is margined, and on what terms</a:t>
                      </a:r>
                    </a:p>
                  </a:txBody>
                  <a:tcPr marL="50800" marR="50800" marT="25400" marB="25400" anchor="ctr">
                    <a:solidFill>
                      <a:srgbClr val="FFFFFF"/>
                    </a:solidFill>
                  </a:tcPr>
                </a:tc>
                <a:tc>
                  <a:txBody>
                    <a:bodyPr wrap="square"/>
                    <a:lstStyle/>
                    <a:p>
                      <a:pPr algn="ctr"/>
                      <a:r>
                        <a:rPr sz="1019" b="0">
                          <a:solidFill>
                            <a:srgbClr val="182433"/>
                          </a:solidFill>
                          <a:latin typeface="Calibri"/>
                        </a:rPr>
                        <a:t>Changes CPTY_C's MPE99 by up to 82% (Section 7.7 MPOR illustration)</a:t>
                      </a:r>
                    </a:p>
                  </a:txBody>
                  <a:tcPr marL="50800" marR="50800" marT="25400" marB="25400" anchor="ctr">
                    <a:solidFill>
                      <a:srgbClr val="FFFFFF"/>
                    </a:solidFill>
                  </a:tcPr>
                </a:tc>
                <a:tc>
                  <a:txBody>
                    <a:bodyPr wrap="square"/>
                    <a:lstStyle/>
                    <a:p>
                      <a:pPr algn="ctr"/>
                      <a:r>
                        <a:rPr sz="1019" b="0">
                          <a:solidFill>
                            <a:srgbClr val="182433"/>
                          </a:solidFill>
                          <a:latin typeface="Calibri"/>
                        </a:rPr>
                        <a:t>CSA terms per netting set</a:t>
                      </a:r>
                    </a:p>
                  </a:txBody>
                  <a:tcPr marL="50800" marR="50800" marT="25400" marB="25400" anchor="ctr">
                    <a:solidFill>
                      <a:srgbClr val="FFFFFF"/>
                    </a:solidFill>
                  </a:tcPr>
                </a:tc>
              </a:tr>
              <a:tr h="792480">
                <a:tc>
                  <a:txBody>
                    <a:bodyPr wrap="square"/>
                    <a:lstStyle/>
                    <a:p>
                      <a:pPr algn="l"/>
                      <a:r>
                        <a:rPr sz="1019" b="0">
                          <a:solidFill>
                            <a:srgbClr val="182433"/>
                          </a:solidFill>
                          <a:latin typeface="Calibri"/>
                        </a:rPr>
                        <a:t>2</a:t>
                      </a:r>
                    </a:p>
                  </a:txBody>
                  <a:tcPr marL="50800" marR="50800" marT="25400" marB="25400" anchor="ctr">
                    <a:solidFill>
                      <a:srgbClr val="F7F8FA"/>
                    </a:solidFill>
                  </a:tcPr>
                </a:tc>
                <a:tc>
                  <a:txBody>
                    <a:bodyPr wrap="square"/>
                    <a:lstStyle/>
                    <a:p>
                      <a:pPr algn="ctr"/>
                      <a:r>
                        <a:rPr sz="1019" b="0">
                          <a:solidFill>
                            <a:srgbClr val="182433"/>
                          </a:solidFill>
                          <a:latin typeface="Calibri"/>
                        </a:rPr>
                        <a:t>Real counterparty ratings or CDS</a:t>
                      </a:r>
                    </a:p>
                  </a:txBody>
                  <a:tcPr marL="50800" marR="50800" marT="25400" marB="25400" anchor="ctr">
                    <a:solidFill>
                      <a:srgbClr val="F7F8FA"/>
                    </a:solidFill>
                  </a:tcPr>
                </a:tc>
                <a:tc>
                  <a:txBody>
                    <a:bodyPr wrap="square"/>
                    <a:lstStyle/>
                    <a:p>
                      <a:pPr algn="ctr"/>
                      <a:r>
                        <a:rPr sz="1019" b="0">
                          <a:solidFill>
                            <a:srgbClr val="182433"/>
                          </a:solidFill>
                          <a:latin typeface="Calibri"/>
                        </a:rPr>
                        <a:t>BBB proxy drives every CVA/SA-CVA number; AA-BB spans a 2.6x range</a:t>
                      </a:r>
                    </a:p>
                  </a:txBody>
                  <a:tcPr marL="50800" marR="50800" marT="25400" marB="25400" anchor="ctr">
                    <a:solidFill>
                      <a:srgbClr val="F7F8FA"/>
                    </a:solidFill>
                  </a:tcPr>
                </a:tc>
                <a:tc>
                  <a:txBody>
                    <a:bodyPr wrap="square"/>
                    <a:lstStyle/>
                    <a:p>
                      <a:pPr algn="ctr"/>
                      <a:r>
                        <a:rPr sz="1019" b="0">
                          <a:solidFill>
                            <a:srgbClr val="182433"/>
                          </a:solidFill>
                          <a:latin typeface="Calibri"/>
                        </a:rPr>
                        <a:t>Names, ratings, or CDS quotes</a:t>
                      </a:r>
                    </a:p>
                  </a:txBody>
                  <a:tcPr marL="50800" marR="50800" marT="25400" marB="25400" anchor="ctr">
                    <a:solidFill>
                      <a:srgbClr val="F7F8FA"/>
                    </a:solidFill>
                  </a:tcPr>
                </a:tc>
              </a:tr>
              <a:tr h="792480">
                <a:tc>
                  <a:txBody>
                    <a:bodyPr wrap="square"/>
                    <a:lstStyle/>
                    <a:p>
                      <a:pPr algn="l"/>
                      <a:r>
                        <a:rPr sz="1019" b="0">
                          <a:solidFill>
                            <a:srgbClr val="182433"/>
                          </a:solidFill>
                          <a:latin typeface="Calibri"/>
                        </a:rPr>
                        <a:t>3</a:t>
                      </a:r>
                    </a:p>
                  </a:txBody>
                  <a:tcPr marL="50800" marR="50800" marT="25400" marB="25400" anchor="ctr">
                    <a:solidFill>
                      <a:srgbClr val="FFFFFF"/>
                    </a:solidFill>
                  </a:tcPr>
                </a:tc>
                <a:tc>
                  <a:txBody>
                    <a:bodyPr wrap="square"/>
                    <a:lstStyle/>
                    <a:p>
                      <a:pPr algn="ctr"/>
                      <a:r>
                        <a:rPr sz="1019" b="0">
                          <a:solidFill>
                            <a:srgbClr val="182433"/>
                          </a:solidFill>
                          <a:latin typeface="Calibri"/>
                        </a:rPr>
                        <a:t>Wrong-way risk decision</a:t>
                      </a:r>
                    </a:p>
                  </a:txBody>
                  <a:tcPr marL="50800" marR="50800" marT="25400" marB="25400" anchor="ctr">
                    <a:solidFill>
                      <a:srgbClr val="FFFFFF"/>
                    </a:solidFill>
                  </a:tcPr>
                </a:tc>
                <a:tc>
                  <a:txBody>
                    <a:bodyPr wrap="square"/>
                    <a:lstStyle/>
                    <a:p>
                      <a:pPr algn="ctr"/>
                      <a:r>
                        <a:rPr sz="1019" b="0">
                          <a:solidFill>
                            <a:srgbClr val="182433"/>
                          </a:solidFill>
                          <a:latin typeface="Calibri"/>
                        </a:rPr>
                        <a:t>Independence of exposure and default is currently assumed</a:t>
                      </a:r>
                    </a:p>
                  </a:txBody>
                  <a:tcPr marL="50800" marR="50800" marT="25400" marB="25400" anchor="ctr">
                    <a:solidFill>
                      <a:srgbClr val="FFFFFF"/>
                    </a:solidFill>
                  </a:tcPr>
                </a:tc>
                <a:tc>
                  <a:txBody>
                    <a:bodyPr wrap="square"/>
                    <a:lstStyle/>
                    <a:p>
                      <a:pPr algn="ctr"/>
                      <a:r>
                        <a:rPr sz="1019" b="0">
                          <a:solidFill>
                            <a:srgbClr val="182433"/>
                          </a:solidFill>
                          <a:latin typeface="Calibri"/>
                        </a:rPr>
                        <a:t>A dependence model and the counterparties it applies to</a:t>
                      </a:r>
                    </a:p>
                  </a:txBody>
                  <a:tcPr marL="50800" marR="50800" marT="25400" marB="25400" anchor="ctr">
                    <a:solidFill>
                      <a:srgbClr val="FFFFFF"/>
                    </a:solidFill>
                  </a:tcPr>
                </a:tc>
              </a:tr>
              <a:tr h="792480">
                <a:tc>
                  <a:txBody>
                    <a:bodyPr wrap="square"/>
                    <a:lstStyle/>
                    <a:p>
                      <a:pPr algn="l"/>
                      <a:r>
                        <a:rPr sz="1019" b="0">
                          <a:solidFill>
                            <a:srgbClr val="182433"/>
                          </a:solidFill>
                          <a:latin typeface="Calibri"/>
                        </a:rPr>
                        <a:t>4</a:t>
                      </a:r>
                    </a:p>
                  </a:txBody>
                  <a:tcPr marL="50800" marR="50800" marT="25400" marB="25400" anchor="ctr">
                    <a:solidFill>
                      <a:srgbClr val="F7F8FA"/>
                    </a:solidFill>
                  </a:tcPr>
                </a:tc>
                <a:tc>
                  <a:txBody>
                    <a:bodyPr wrap="square"/>
                    <a:lstStyle/>
                    <a:p>
                      <a:pPr algn="ctr"/>
                      <a:r>
                        <a:rPr sz="1019" b="0">
                          <a:solidFill>
                            <a:srgbClr val="182433"/>
                          </a:solidFill>
                          <a:latin typeface="Calibri"/>
                        </a:rPr>
                        <a:t>Capitolis own credit and funding curve</a:t>
                      </a:r>
                    </a:p>
                  </a:txBody>
                  <a:tcPr marL="50800" marR="50800" marT="25400" marB="25400" anchor="ctr">
                    <a:solidFill>
                      <a:srgbClr val="F7F8FA"/>
                    </a:solidFill>
                  </a:tcPr>
                </a:tc>
                <a:tc>
                  <a:txBody>
                    <a:bodyPr wrap="square"/>
                    <a:lstStyle/>
                    <a:p>
                      <a:pPr algn="ctr"/>
                      <a:r>
                        <a:rPr sz="1019" b="0">
                          <a:solidFill>
                            <a:srgbClr val="182433"/>
                          </a:solidFill>
                          <a:latin typeface="Calibri"/>
                        </a:rPr>
                        <a:t>DVA/FVA rest on a BBB proxy assumption (own credit = counterparty proxy)</a:t>
                      </a:r>
                    </a:p>
                  </a:txBody>
                  <a:tcPr marL="50800" marR="50800" marT="25400" marB="25400" anchor="ctr">
                    <a:solidFill>
                      <a:srgbClr val="F7F8FA"/>
                    </a:solidFill>
                  </a:tcPr>
                </a:tc>
                <a:tc>
                  <a:txBody>
                    <a:bodyPr wrap="square"/>
                    <a:lstStyle/>
                    <a:p>
                      <a:pPr algn="ctr"/>
                      <a:r>
                        <a:rPr sz="1019" b="0">
                          <a:solidFill>
                            <a:srgbClr val="182433"/>
                          </a:solidFill>
                          <a:latin typeface="Calibri"/>
                        </a:rPr>
                        <a:t>Capitolis' own credit and funding spread</a:t>
                      </a:r>
                    </a:p>
                  </a:txBody>
                  <a:tcPr marL="50800" marR="50800" marT="25400" marB="25400" anchor="ctr">
                    <a:solidFill>
                      <a:srgbClr val="F7F8FA"/>
                    </a:solidFill>
                  </a:tcPr>
                </a:tc>
              </a:tr>
              <a:tr h="792480">
                <a:tc>
                  <a:txBody>
                    <a:bodyPr wrap="square"/>
                    <a:lstStyle/>
                    <a:p>
                      <a:pPr algn="l"/>
                      <a:r>
                        <a:rPr sz="1019" b="0">
                          <a:solidFill>
                            <a:srgbClr val="182433"/>
                          </a:solidFill>
                          <a:latin typeface="Calibri"/>
                        </a:rPr>
                        <a:t>5</a:t>
                      </a:r>
                    </a:p>
                  </a:txBody>
                  <a:tcPr marL="50800" marR="50800" marT="25400" marB="25400" anchor="ctr">
                    <a:solidFill>
                      <a:srgbClr val="FFFFFF"/>
                    </a:solidFill>
                  </a:tcPr>
                </a:tc>
                <a:tc>
                  <a:txBody>
                    <a:bodyPr wrap="square"/>
                    <a:lstStyle/>
                    <a:p>
                      <a:pPr algn="ctr"/>
                      <a:r>
                        <a:rPr sz="1019" b="0">
                          <a:solidFill>
                            <a:srgbClr val="182433"/>
                          </a:solidFill>
                          <a:latin typeface="Calibri"/>
                        </a:rPr>
                        <a:t>Adjoint Greeks / two-factor rates as default</a:t>
                      </a:r>
                    </a:p>
                  </a:txBody>
                  <a:tcPr marL="50800" marR="50800" marT="25400" marB="25400" anchor="ctr">
                    <a:solidFill>
                      <a:srgbClr val="FFFFFF"/>
                    </a:solidFill>
                  </a:tcPr>
                </a:tc>
                <a:tc>
                  <a:txBody>
                    <a:bodyPr wrap="square"/>
                    <a:lstStyle/>
                    <a:p>
                      <a:pPr algn="ctr"/>
                      <a:r>
                        <a:rPr sz="1019" b="0">
                          <a:solidFill>
                            <a:srgbClr val="182433"/>
                          </a:solidFill>
                          <a:latin typeface="Calibri"/>
                        </a:rPr>
                        <a:t>Cheapest route for all-factor Greeks; G2++ already implemented and compared</a:t>
                      </a:r>
                    </a:p>
                  </a:txBody>
                  <a:tcPr marL="50800" marR="50800" marT="25400" marB="25400" anchor="ctr">
                    <a:solidFill>
                      <a:srgbClr val="FFFFFF"/>
                    </a:solidFill>
                  </a:tcPr>
                </a:tc>
                <a:tc>
                  <a:txBody>
                    <a:bodyPr wrap="square"/>
                    <a:lstStyle/>
                    <a:p>
                      <a:pPr algn="ctr"/>
                      <a:r>
                        <a:rPr sz="1019" b="0">
                          <a:solidFill>
                            <a:srgbClr val="182433"/>
                          </a:solidFill>
                          <a:latin typeface="Calibri"/>
                        </a:rPr>
                        <a:t>A differentiable pricer port; decision on G2++ adoption</a:t>
                      </a:r>
                    </a:p>
                  </a:txBody>
                  <a:tcPr marL="50800" marR="50800" marT="25400" marB="25400" anchor="ctr">
                    <a:solidFill>
                      <a:srgbClr val="FFFF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82433"/>
        </a:solidFill>
        <a:effectLst/>
      </p:bgPr>
    </p:bg>
    <p:spTree>
      <p:nvGrpSpPr>
        <p:cNvPr id="1" name=""/>
        <p:cNvGrpSpPr/>
        <p:nvPr/>
      </p:nvGrpSpPr>
      <p:grpSpPr/>
      <p:sp>
        <p:nvSpPr>
          <p:cNvPr id="2" name="Rectangle 1"/>
          <p:cNvSpPr/>
          <p:nvPr/>
        </p:nvSpPr>
        <p:spPr>
          <a:xfrm>
            <a:off x="0" y="283464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058400" cy="822960"/>
          </a:xfrm>
          <a:prstGeom prst="rect">
            <a:avLst/>
          </a:prstGeom>
          <a:noFill/>
        </p:spPr>
        <p:txBody>
          <a:bodyPr wrap="square" anchor="t" lIns="0" rIns="0" tIns="0" bIns="0">
            <a:spAutoFit/>
          </a:bodyPr>
          <a:lstStyle/>
          <a:p>
            <a:pPr algn="l"/>
            <a:r>
              <a:rPr sz="3600" b="1" i="0">
                <a:solidFill>
                  <a:srgbClr val="FFFFFF"/>
                </a:solidFill>
                <a:latin typeface="Cambria"/>
              </a:rPr>
              <a:t>Thank You</a:t>
            </a:r>
          </a:p>
        </p:txBody>
      </p:sp>
      <p:sp>
        <p:nvSpPr>
          <p:cNvPr id="4" name="TextBox 3"/>
          <p:cNvSpPr txBox="1"/>
          <p:nvPr/>
        </p:nvSpPr>
        <p:spPr>
          <a:xfrm>
            <a:off x="822960" y="3794760"/>
            <a:ext cx="10058400" cy="457200"/>
          </a:xfrm>
          <a:prstGeom prst="rect">
            <a:avLst/>
          </a:prstGeom>
          <a:noFill/>
        </p:spPr>
        <p:txBody>
          <a:bodyPr wrap="square" anchor="t" lIns="0" rIns="0" tIns="0" bIns="0">
            <a:spAutoFit/>
          </a:bodyPr>
          <a:lstStyle/>
          <a:p>
            <a:pPr algn="l"/>
            <a:r>
              <a:rPr sz="1700" b="0" i="0">
                <a:solidFill>
                  <a:srgbClr val="E3B6CF"/>
                </a:solidFill>
                <a:latin typeface="Calibri"/>
              </a:rPr>
              <a:t>Questions and Discussion</a:t>
            </a:r>
          </a:p>
        </p:txBody>
      </p:sp>
      <p:sp>
        <p:nvSpPr>
          <p:cNvPr id="5" name="TextBox 4"/>
          <p:cNvSpPr txBox="1"/>
          <p:nvPr/>
        </p:nvSpPr>
        <p:spPr>
          <a:xfrm>
            <a:off x="822960" y="6035040"/>
            <a:ext cx="10058400" cy="320040"/>
          </a:xfrm>
          <a:prstGeom prst="rect">
            <a:avLst/>
          </a:prstGeom>
          <a:noFill/>
        </p:spPr>
        <p:txBody>
          <a:bodyPr wrap="square" anchor="t" lIns="0" rIns="0" tIns="0" bIns="0">
            <a:spAutoFit/>
          </a:bodyPr>
          <a:lstStyle/>
          <a:p>
            <a:pPr algn="l"/>
            <a:r>
              <a:rPr sz="1100" b="0" i="0">
                <a:solidFill>
                  <a:srgbClr val="9AA2B0"/>
                </a:solidFill>
                <a:latin typeface="Calibri"/>
              </a:rPr>
              <a:t>Berkeley MFE Industry Project  |  Monte Carlo Counterparty Credit Risk Engine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2834640"/>
            <a:ext cx="822960" cy="508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058400" cy="822960"/>
          </a:xfrm>
          <a:prstGeom prst="rect">
            <a:avLst/>
          </a:prstGeom>
          <a:noFill/>
        </p:spPr>
        <p:txBody>
          <a:bodyPr wrap="square" anchor="t" lIns="0" rIns="0" tIns="0" bIns="0">
            <a:spAutoFit/>
          </a:bodyPr>
          <a:lstStyle/>
          <a:p>
            <a:pPr algn="l"/>
            <a:r>
              <a:rPr sz="3400" b="1" i="0">
                <a:solidFill>
                  <a:srgbClr val="182433"/>
                </a:solidFill>
                <a:latin typeface="Cambria"/>
              </a:rPr>
              <a:t>Appendix</a:t>
            </a:r>
          </a:p>
        </p:txBody>
      </p:sp>
      <p:sp>
        <p:nvSpPr>
          <p:cNvPr id="4" name="TextBox 3"/>
          <p:cNvSpPr txBox="1"/>
          <p:nvPr/>
        </p:nvSpPr>
        <p:spPr>
          <a:xfrm>
            <a:off x="822960" y="3749039"/>
            <a:ext cx="10058400" cy="457200"/>
          </a:xfrm>
          <a:prstGeom prst="rect">
            <a:avLst/>
          </a:prstGeom>
          <a:noFill/>
        </p:spPr>
        <p:txBody>
          <a:bodyPr wrap="square" anchor="t" lIns="0" rIns="0" tIns="0" bIns="0">
            <a:spAutoFit/>
          </a:bodyPr>
          <a:lstStyle/>
          <a:p>
            <a:pPr algn="l"/>
            <a:r>
              <a:rPr sz="1500" b="0" i="0">
                <a:solidFill>
                  <a:srgbClr val="6B7280"/>
                </a:solidFill>
                <a:latin typeface="Calibri"/>
              </a:rPr>
              <a:t>Backup material for Q&amp;A -- not presented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A1. The Full Decision Register (Report Section 10)</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54</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graphicFrame>
        <p:nvGraphicFramePr>
          <p:cNvPr id="7" name="Table 6"/>
          <p:cNvGraphicFramePr>
            <a:graphicFrameLocks noGrp="1"/>
          </p:cNvGraphicFramePr>
          <p:nvPr/>
        </p:nvGraphicFramePr>
        <p:xfrm>
          <a:off x="457200" y="1463040"/>
          <a:ext cx="11247119" cy="4754880"/>
        </p:xfrm>
        <a:graphic>
          <a:graphicData uri="http://schemas.openxmlformats.org/drawingml/2006/table">
            <a:tbl>
              <a:tblPr firstRow="1" bandRow="1">
                <a:tableStyleId>{5C22544A-7EE6-4342-B048-85BDC9FD1C3A}</a:tableStyleId>
              </a:tblPr>
              <a:tblGrid>
                <a:gridCol w="1645920"/>
                <a:gridCol w="3840479"/>
                <a:gridCol w="5760720"/>
              </a:tblGrid>
              <a:tr h="475488">
                <a:tc>
                  <a:txBody>
                    <a:bodyPr wrap="square"/>
                    <a:lstStyle/>
                    <a:p>
                      <a:pPr algn="l"/>
                      <a:r>
                        <a:rPr sz="1050" b="1">
                          <a:solidFill>
                            <a:srgbClr val="FFFFFF"/>
                          </a:solidFill>
                          <a:latin typeface="Calibri"/>
                        </a:rPr>
                        <a:t>Topic</a:t>
                      </a:r>
                    </a:p>
                  </a:txBody>
                  <a:tcPr marL="50800" marR="50800" marT="25400" marB="25400" anchor="ctr">
                    <a:solidFill>
                      <a:srgbClr val="182433"/>
                    </a:solidFill>
                  </a:tcPr>
                </a:tc>
                <a:tc>
                  <a:txBody>
                    <a:bodyPr wrap="square"/>
                    <a:lstStyle/>
                    <a:p>
                      <a:pPr algn="ctr"/>
                      <a:r>
                        <a:rPr sz="1050" b="1">
                          <a:solidFill>
                            <a:srgbClr val="FFFFFF"/>
                          </a:solidFill>
                          <a:latin typeface="Calibri"/>
                        </a:rPr>
                        <a:t>Choice</a:t>
                      </a:r>
                    </a:p>
                  </a:txBody>
                  <a:tcPr marL="50800" marR="50800" marT="25400" marB="25400" anchor="ctr">
                    <a:solidFill>
                      <a:srgbClr val="182433"/>
                    </a:solidFill>
                  </a:tcPr>
                </a:tc>
                <a:tc>
                  <a:txBody>
                    <a:bodyPr wrap="square"/>
                    <a:lstStyle/>
                    <a:p>
                      <a:pPr algn="ctr"/>
                      <a:r>
                        <a:rPr sz="1050" b="1">
                          <a:solidFill>
                            <a:srgbClr val="FFFFFF"/>
                          </a:solidFill>
                          <a:latin typeface="Calibri"/>
                        </a:rPr>
                        <a:t>Alternatives considered</a:t>
                      </a:r>
                    </a:p>
                  </a:txBody>
                  <a:tcPr marL="50800" marR="50800" marT="25400" marB="25400" anchor="ctr">
                    <a:solidFill>
                      <a:srgbClr val="182433"/>
                    </a:solidFill>
                  </a:tcPr>
                </a:tc>
              </a:tr>
              <a:tr h="475488">
                <a:tc>
                  <a:txBody>
                    <a:bodyPr wrap="square"/>
                    <a:lstStyle/>
                    <a:p>
                      <a:pPr algn="l"/>
                      <a:r>
                        <a:rPr sz="1000" b="0">
                          <a:solidFill>
                            <a:srgbClr val="182433"/>
                          </a:solidFill>
                          <a:latin typeface="Calibri"/>
                        </a:rPr>
                        <a:t>Measure</a:t>
                      </a:r>
                    </a:p>
                  </a:txBody>
                  <a:tcPr marL="50800" marR="50800" marT="25400" marB="25400" anchor="ctr">
                    <a:solidFill>
                      <a:srgbClr val="FFFFFF"/>
                    </a:solidFill>
                  </a:tcPr>
                </a:tc>
                <a:tc>
                  <a:txBody>
                    <a:bodyPr wrap="square"/>
                    <a:lstStyle/>
                    <a:p>
                      <a:pPr algn="ctr"/>
                      <a:r>
                        <a:rPr sz="1000" b="0">
                          <a:solidFill>
                            <a:srgbClr val="182433"/>
                          </a:solidFill>
                          <a:latin typeface="Calibri"/>
                        </a:rPr>
                        <a:t>Risk-neutral</a:t>
                      </a:r>
                    </a:p>
                  </a:txBody>
                  <a:tcPr marL="50800" marR="50800" marT="25400" marB="25400" anchor="ctr">
                    <a:solidFill>
                      <a:srgbClr val="FFFFFF"/>
                    </a:solidFill>
                  </a:tcPr>
                </a:tc>
                <a:tc>
                  <a:txBody>
                    <a:bodyPr wrap="square"/>
                    <a:lstStyle/>
                    <a:p>
                      <a:pPr algn="ctr"/>
                      <a:r>
                        <a:rPr sz="1000" b="0">
                          <a:solidFill>
                            <a:srgbClr val="182433"/>
                          </a:solidFill>
                          <a:latin typeface="Calibri"/>
                        </a:rPr>
                        <a:t>Real-world drifts (needs unobservable risk premia)</a:t>
                      </a:r>
                    </a:p>
                  </a:txBody>
                  <a:tcPr marL="50800" marR="50800" marT="25400" marB="25400" anchor="ctr">
                    <a:solidFill>
                      <a:srgbClr val="FFFFFF"/>
                    </a:solidFill>
                  </a:tcPr>
                </a:tc>
              </a:tr>
              <a:tr h="475488">
                <a:tc>
                  <a:txBody>
                    <a:bodyPr wrap="square"/>
                    <a:lstStyle/>
                    <a:p>
                      <a:pPr algn="l"/>
                      <a:r>
                        <a:rPr sz="1000" b="0">
                          <a:solidFill>
                            <a:srgbClr val="182433"/>
                          </a:solidFill>
                          <a:latin typeface="Calibri"/>
                        </a:rPr>
                        <a:t>Exposure</a:t>
                      </a:r>
                    </a:p>
                  </a:txBody>
                  <a:tcPr marL="50800" marR="50800" marT="25400" marB="25400" anchor="ctr">
                    <a:solidFill>
                      <a:srgbClr val="F7F8FA"/>
                    </a:solidFill>
                  </a:tcPr>
                </a:tc>
                <a:tc>
                  <a:txBody>
                    <a:bodyPr wrap="square"/>
                    <a:lstStyle/>
                    <a:p>
                      <a:pPr algn="ctr"/>
                      <a:r>
                        <a:rPr sz="1000" b="0">
                          <a:solidFill>
                            <a:srgbClr val="182433"/>
                          </a:solidFill>
                          <a:latin typeface="Calibri"/>
                        </a:rPr>
                        <a:t>Brief's close-out definition</a:t>
                      </a:r>
                    </a:p>
                  </a:txBody>
                  <a:tcPr marL="50800" marR="50800" marT="25400" marB="25400" anchor="ctr">
                    <a:solidFill>
                      <a:srgbClr val="F7F8FA"/>
                    </a:solidFill>
                  </a:tcPr>
                </a:tc>
                <a:tc>
                  <a:txBody>
                    <a:bodyPr wrap="square"/>
                    <a:lstStyle/>
                    <a:p>
                      <a:pPr algn="ctr"/>
                      <a:r>
                        <a:rPr sz="1000" b="0">
                          <a:solidFill>
                            <a:srgbClr val="182433"/>
                          </a:solidFill>
                          <a:latin typeface="Calibri"/>
                        </a:rPr>
                        <a:t>Level max(V,0) only; same-day full-VM MPOR shift</a:t>
                      </a:r>
                    </a:p>
                  </a:txBody>
                  <a:tcPr marL="50800" marR="50800" marT="25400" marB="25400" anchor="ctr">
                    <a:solidFill>
                      <a:srgbClr val="F7F8FA"/>
                    </a:solidFill>
                  </a:tcPr>
                </a:tc>
              </a:tr>
              <a:tr h="475488">
                <a:tc>
                  <a:txBody>
                    <a:bodyPr wrap="square"/>
                    <a:lstStyle/>
                    <a:p>
                      <a:pPr algn="l"/>
                      <a:r>
                        <a:rPr sz="1000" b="0">
                          <a:solidFill>
                            <a:srgbClr val="182433"/>
                          </a:solidFill>
                          <a:latin typeface="Calibri"/>
                        </a:rPr>
                        <a:t>USD rates</a:t>
                      </a:r>
                    </a:p>
                  </a:txBody>
                  <a:tcPr marL="50800" marR="50800" marT="25400" marB="25400" anchor="ctr">
                    <a:solidFill>
                      <a:srgbClr val="FFFFFF"/>
                    </a:solidFill>
                  </a:tcPr>
                </a:tc>
                <a:tc>
                  <a:txBody>
                    <a:bodyPr wrap="square"/>
                    <a:lstStyle/>
                    <a:p>
                      <a:pPr algn="ctr"/>
                      <a:r>
                        <a:rPr sz="1000" b="0">
                          <a:solidFill>
                            <a:srgbClr val="182433"/>
                          </a:solidFill>
                          <a:latin typeface="Calibri"/>
                        </a:rPr>
                        <a:t>Hull-White 1F, sigma from realised 2y-30y vol</a:t>
                      </a:r>
                    </a:p>
                  </a:txBody>
                  <a:tcPr marL="50800" marR="50800" marT="25400" marB="25400" anchor="ctr">
                    <a:solidFill>
                      <a:srgbClr val="FFFFFF"/>
                    </a:solidFill>
                  </a:tcPr>
                </a:tc>
                <a:tc>
                  <a:txBody>
                    <a:bodyPr wrap="square"/>
                    <a:lstStyle/>
                    <a:p>
                      <a:pPr algn="ctr"/>
                      <a:r>
                        <a:rPr sz="1000" b="0">
                          <a:solidFill>
                            <a:srgbClr val="182433"/>
                          </a:solidFill>
                          <a:latin typeface="Calibri"/>
                        </a:rPr>
                        <a:t>CIR, Black-Karasinski, LMM/HJM, G2++ (compared)</a:t>
                      </a:r>
                    </a:p>
                  </a:txBody>
                  <a:tcPr marL="50800" marR="50800" marT="25400" marB="25400" anchor="ctr">
                    <a:solidFill>
                      <a:srgbClr val="FFFFFF"/>
                    </a:solidFill>
                  </a:tcPr>
                </a:tc>
              </a:tr>
              <a:tr h="475488">
                <a:tc>
                  <a:txBody>
                    <a:bodyPr wrap="square"/>
                    <a:lstStyle/>
                    <a:p>
                      <a:pPr algn="l"/>
                      <a:r>
                        <a:rPr sz="1000" b="0">
                          <a:solidFill>
                            <a:srgbClr val="182433"/>
                          </a:solidFill>
                          <a:latin typeface="Calibri"/>
                        </a:rPr>
                        <a:t>Equities/FX</a:t>
                      </a:r>
                    </a:p>
                  </a:txBody>
                  <a:tcPr marL="50800" marR="50800" marT="25400" marB="25400" anchor="ctr">
                    <a:solidFill>
                      <a:srgbClr val="F7F8FA"/>
                    </a:solidFill>
                  </a:tcPr>
                </a:tc>
                <a:tc>
                  <a:txBody>
                    <a:bodyPr wrap="square"/>
                    <a:lstStyle/>
                    <a:p>
                      <a:pPr algn="ctr"/>
                      <a:r>
                        <a:rPr sz="1000" b="0">
                          <a:solidFill>
                            <a:srgbClr val="182433"/>
                          </a:solidFill>
                          <a:latin typeface="Calibri"/>
                        </a:rPr>
                        <a:t>Correlated GBM + quanto</a:t>
                      </a:r>
                    </a:p>
                  </a:txBody>
                  <a:tcPr marL="50800" marR="50800" marT="25400" marB="25400" anchor="ctr">
                    <a:solidFill>
                      <a:srgbClr val="F7F8FA"/>
                    </a:solidFill>
                  </a:tcPr>
                </a:tc>
                <a:tc>
                  <a:txBody>
                    <a:bodyPr wrap="square"/>
                    <a:lstStyle/>
                    <a:p>
                      <a:pPr algn="ctr"/>
                      <a:r>
                        <a:rPr sz="1000" b="0">
                          <a:solidFill>
                            <a:srgbClr val="182433"/>
                          </a:solidFill>
                          <a:latin typeface="Calibri"/>
                        </a:rPr>
                        <a:t>Heston, SABR, jump models (no option data)</a:t>
                      </a:r>
                    </a:p>
                  </a:txBody>
                  <a:tcPr marL="50800" marR="50800" marT="25400" marB="25400" anchor="ctr">
                    <a:solidFill>
                      <a:srgbClr val="F7F8FA"/>
                    </a:solidFill>
                  </a:tcPr>
                </a:tc>
              </a:tr>
              <a:tr h="475488">
                <a:tc>
                  <a:txBody>
                    <a:bodyPr wrap="square"/>
                    <a:lstStyle/>
                    <a:p>
                      <a:pPr algn="l"/>
                      <a:r>
                        <a:rPr sz="1000" b="0">
                          <a:solidFill>
                            <a:srgbClr val="182433"/>
                          </a:solidFill>
                          <a:latin typeface="Calibri"/>
                        </a:rPr>
                        <a:t>Correlation</a:t>
                      </a:r>
                    </a:p>
                  </a:txBody>
                  <a:tcPr marL="50800" marR="50800" marT="25400" marB="25400" anchor="ctr">
                    <a:solidFill>
                      <a:srgbClr val="FFFFFF"/>
                    </a:solidFill>
                  </a:tcPr>
                </a:tc>
                <a:tc>
                  <a:txBody>
                    <a:bodyPr wrap="square"/>
                    <a:lstStyle/>
                    <a:p>
                      <a:pPr algn="ctr"/>
                      <a:r>
                        <a:rPr sz="1000" b="0">
                          <a:solidFill>
                            <a:srgbClr val="182433"/>
                          </a:solidFill>
                          <a:latin typeface="Calibri"/>
                        </a:rPr>
                        <a:t>One static 39x39 matrix, Cholesky</a:t>
                      </a:r>
                    </a:p>
                  </a:txBody>
                  <a:tcPr marL="50800" marR="50800" marT="25400" marB="25400" anchor="ctr">
                    <a:solidFill>
                      <a:srgbClr val="FFFFFF"/>
                    </a:solidFill>
                  </a:tcPr>
                </a:tc>
                <a:tc>
                  <a:txBody>
                    <a:bodyPr wrap="square"/>
                    <a:lstStyle/>
                    <a:p>
                      <a:pPr algn="ctr"/>
                      <a:r>
                        <a:rPr sz="1000" b="0">
                          <a:solidFill>
                            <a:srgbClr val="182433"/>
                          </a:solidFill>
                          <a:latin typeface="Calibri"/>
                        </a:rPr>
                        <a:t>Time-varying DCC, stressed, PCA factor (compared)</a:t>
                      </a:r>
                    </a:p>
                  </a:txBody>
                  <a:tcPr marL="50800" marR="50800" marT="25400" marB="25400" anchor="ctr">
                    <a:solidFill>
                      <a:srgbClr val="FFFFFF"/>
                    </a:solidFill>
                  </a:tcPr>
                </a:tc>
              </a:tr>
              <a:tr h="475488">
                <a:tc>
                  <a:txBody>
                    <a:bodyPr wrap="square"/>
                    <a:lstStyle/>
                    <a:p>
                      <a:pPr algn="l"/>
                      <a:r>
                        <a:rPr sz="1000" b="0">
                          <a:solidFill>
                            <a:srgbClr val="182433"/>
                          </a:solidFill>
                          <a:latin typeface="Calibri"/>
                        </a:rPr>
                        <a:t>Sampling</a:t>
                      </a:r>
                    </a:p>
                  </a:txBody>
                  <a:tcPr marL="50800" marR="50800" marT="25400" marB="25400" anchor="ctr">
                    <a:solidFill>
                      <a:srgbClr val="F7F8FA"/>
                    </a:solidFill>
                  </a:tcPr>
                </a:tc>
                <a:tc>
                  <a:txBody>
                    <a:bodyPr wrap="square"/>
                    <a:lstStyle/>
                    <a:p>
                      <a:pPr algn="ctr"/>
                      <a:r>
                        <a:rPr sz="1000" b="0">
                          <a:solidFill>
                            <a:srgbClr val="182433"/>
                          </a:solidFill>
                          <a:latin typeface="Calibri"/>
                        </a:rPr>
                        <a:t>Latin Hypercube</a:t>
                      </a:r>
                    </a:p>
                  </a:txBody>
                  <a:tcPr marL="50800" marR="50800" marT="25400" marB="25400" anchor="ctr">
                    <a:solidFill>
                      <a:srgbClr val="F7F8FA"/>
                    </a:solidFill>
                  </a:tcPr>
                </a:tc>
                <a:tc>
                  <a:txBody>
                    <a:bodyPr wrap="square"/>
                    <a:lstStyle/>
                    <a:p>
                      <a:pPr algn="ctr"/>
                      <a:r>
                        <a:rPr sz="1000" b="0">
                          <a:solidFill>
                            <a:srgbClr val="182433"/>
                          </a:solidFill>
                          <a:latin typeface="Calibri"/>
                        </a:rPr>
                        <a:t>Pseudo-random, antithetic, moment-matched, Sobol</a:t>
                      </a:r>
                    </a:p>
                  </a:txBody>
                  <a:tcPr marL="50800" marR="50800" marT="25400" marB="25400" anchor="ctr">
                    <a:solidFill>
                      <a:srgbClr val="F7F8FA"/>
                    </a:solidFill>
                  </a:tcPr>
                </a:tc>
              </a:tr>
              <a:tr h="475488">
                <a:tc>
                  <a:txBody>
                    <a:bodyPr wrap="square"/>
                    <a:lstStyle/>
                    <a:p>
                      <a:pPr algn="l"/>
                      <a:r>
                        <a:rPr sz="1000" b="0">
                          <a:solidFill>
                            <a:srgbClr val="182433"/>
                          </a:solidFill>
                          <a:latin typeface="Calibri"/>
                        </a:rPr>
                        <a:t>Scenario count</a:t>
                      </a:r>
                    </a:p>
                  </a:txBody>
                  <a:tcPr marL="50800" marR="50800" marT="25400" marB="25400" anchor="ctr">
                    <a:solidFill>
                      <a:srgbClr val="FFFFFF"/>
                    </a:solidFill>
                  </a:tcPr>
                </a:tc>
                <a:tc>
                  <a:txBody>
                    <a:bodyPr wrap="square"/>
                    <a:lstStyle/>
                    <a:p>
                      <a:pPr algn="ctr"/>
                      <a:r>
                        <a:rPr sz="1000" b="0">
                          <a:solidFill>
                            <a:srgbClr val="182433"/>
                          </a:solidFill>
                          <a:latin typeface="Calibri"/>
                        </a:rPr>
                        <a:t>5,000 report / 1,000 iter. / 10,000 sign-off</a:t>
                      </a:r>
                    </a:p>
                  </a:txBody>
                  <a:tcPr marL="50800" marR="50800" marT="25400" marB="25400" anchor="ctr">
                    <a:solidFill>
                      <a:srgbClr val="FFFFFF"/>
                    </a:solidFill>
                  </a:tcPr>
                </a:tc>
                <a:tc>
                  <a:txBody>
                    <a:bodyPr wrap="square"/>
                    <a:lstStyle/>
                    <a:p>
                      <a:pPr algn="ctr"/>
                      <a:r>
                        <a:rPr sz="1000" b="0">
                          <a:solidFill>
                            <a:srgbClr val="182433"/>
                          </a:solidFill>
                          <a:latin typeface="Calibri"/>
                        </a:rPr>
                        <a:t>30,000-scenario pool (diminishing returns)</a:t>
                      </a:r>
                    </a:p>
                  </a:txBody>
                  <a:tcPr marL="50800" marR="50800" marT="25400" marB="25400" anchor="ctr">
                    <a:solidFill>
                      <a:srgbClr val="FFFFFF"/>
                    </a:solidFill>
                  </a:tcPr>
                </a:tc>
              </a:tr>
              <a:tr h="475488">
                <a:tc>
                  <a:txBody>
                    <a:bodyPr wrap="square"/>
                    <a:lstStyle/>
                    <a:p>
                      <a:pPr algn="l"/>
                      <a:r>
                        <a:rPr sz="1000" b="0">
                          <a:solidFill>
                            <a:srgbClr val="182433"/>
                          </a:solidFill>
                          <a:latin typeface="Calibri"/>
                        </a:rPr>
                        <a:t>JPY rates</a:t>
                      </a:r>
                    </a:p>
                  </a:txBody>
                  <a:tcPr marL="50800" marR="50800" marT="25400" marB="25400" anchor="ctr">
                    <a:solidFill>
                      <a:srgbClr val="F7F8FA"/>
                    </a:solidFill>
                  </a:tcPr>
                </a:tc>
                <a:tc>
                  <a:txBody>
                    <a:bodyPr wrap="square"/>
                    <a:lstStyle/>
                    <a:p>
                      <a:pPr algn="ctr"/>
                      <a:r>
                        <a:rPr sz="1000" b="0">
                          <a:solidFill>
                            <a:srgbClr val="182433"/>
                          </a:solidFill>
                          <a:latin typeface="Calibri"/>
                        </a:rPr>
                        <a:t>Real JPY Hull-White factor</a:t>
                      </a:r>
                    </a:p>
                  </a:txBody>
                  <a:tcPr marL="50800" marR="50800" marT="25400" marB="25400" anchor="ctr">
                    <a:solidFill>
                      <a:srgbClr val="F7F8FA"/>
                    </a:solidFill>
                  </a:tcPr>
                </a:tc>
                <a:tc>
                  <a:txBody>
                    <a:bodyPr wrap="square"/>
                    <a:lstStyle/>
                    <a:p>
                      <a:pPr algn="ctr"/>
                      <a:r>
                        <a:rPr sz="1000" b="0">
                          <a:solidFill>
                            <a:srgbClr val="182433"/>
                          </a:solidFill>
                          <a:latin typeface="Calibri"/>
                        </a:rPr>
                        <a:t>Constant differential only</a:t>
                      </a:r>
                    </a:p>
                  </a:txBody>
                  <a:tcPr marL="50800" marR="50800" marT="25400" marB="25400" anchor="ctr">
                    <a:solidFill>
                      <a:srgbClr val="F7F8FA"/>
                    </a:solidFill>
                  </a:tcPr>
                </a:tc>
              </a:tr>
              <a:tr h="475488">
                <a:tc>
                  <a:txBody>
                    <a:bodyPr wrap="square"/>
                    <a:lstStyle/>
                    <a:p>
                      <a:pPr algn="l"/>
                      <a:r>
                        <a:rPr sz="1000" b="0">
                          <a:solidFill>
                            <a:srgbClr val="182433"/>
                          </a:solidFill>
                          <a:latin typeface="Calibri"/>
                        </a:rPr>
                        <a:t>Greeks</a:t>
                      </a:r>
                    </a:p>
                  </a:txBody>
                  <a:tcPr marL="50800" marR="50800" marT="25400" marB="25400" anchor="ctr">
                    <a:solidFill>
                      <a:srgbClr val="FFFFFF"/>
                    </a:solidFill>
                  </a:tcPr>
                </a:tc>
                <a:tc>
                  <a:txBody>
                    <a:bodyPr wrap="square"/>
                    <a:lstStyle/>
                    <a:p>
                      <a:pPr algn="ctr"/>
                      <a:r>
                        <a:rPr sz="1000" b="0">
                          <a:solidFill>
                            <a:srgbClr val="182433"/>
                          </a:solidFill>
                          <a:latin typeface="Calibri"/>
                        </a:rPr>
                        <a:t>CRN bump-and-reprice + pathwise check</a:t>
                      </a:r>
                    </a:p>
                  </a:txBody>
                  <a:tcPr marL="50800" marR="50800" marT="25400" marB="25400" anchor="ctr">
                    <a:solidFill>
                      <a:srgbClr val="FFFFFF"/>
                    </a:solidFill>
                  </a:tcPr>
                </a:tc>
                <a:tc>
                  <a:txBody>
                    <a:bodyPr wrap="square"/>
                    <a:lstStyle/>
                    <a:p>
                      <a:pPr algn="ctr"/>
                      <a:r>
                        <a:rPr sz="1000" b="0">
                          <a:solidFill>
                            <a:srgbClr val="182433"/>
                          </a:solidFill>
                          <a:latin typeface="Calibri"/>
                        </a:rPr>
                        <a:t>Independent draws, likelihood ratio, adjoint</a:t>
                      </a:r>
                    </a:p>
                  </a:txBody>
                  <a:tcPr marL="50800" marR="50800" marT="25400" marB="25400" anchor="ctr">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A2. Full Data Lineage (Report Appendix B)</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55</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graphicFrame>
        <p:nvGraphicFramePr>
          <p:cNvPr id="7" name="Table 6"/>
          <p:cNvGraphicFramePr>
            <a:graphicFrameLocks noGrp="1"/>
          </p:cNvGraphicFramePr>
          <p:nvPr/>
        </p:nvGraphicFramePr>
        <p:xfrm>
          <a:off x="457200" y="1463040"/>
          <a:ext cx="11247119" cy="4846314"/>
        </p:xfrm>
        <a:graphic>
          <a:graphicData uri="http://schemas.openxmlformats.org/drawingml/2006/table">
            <a:tbl>
              <a:tblPr firstRow="1" bandRow="1">
                <a:tableStyleId>{5C22544A-7EE6-4342-B048-85BDC9FD1C3A}</a:tableStyleId>
              </a:tblPr>
              <a:tblGrid>
                <a:gridCol w="3200400"/>
                <a:gridCol w="4114800"/>
                <a:gridCol w="3931919"/>
              </a:tblGrid>
              <a:tr h="440574">
                <a:tc>
                  <a:txBody>
                    <a:bodyPr wrap="square"/>
                    <a:lstStyle/>
                    <a:p>
                      <a:pPr algn="l"/>
                      <a:r>
                        <a:rPr sz="1050" b="1">
                          <a:solidFill>
                            <a:srgbClr val="FFFFFF"/>
                          </a:solidFill>
                          <a:latin typeface="Calibri"/>
                        </a:rPr>
                        <a:t>Input</a:t>
                      </a:r>
                    </a:p>
                  </a:txBody>
                  <a:tcPr marL="50800" marR="50800" marT="25400" marB="25400" anchor="ctr">
                    <a:solidFill>
                      <a:srgbClr val="182433"/>
                    </a:solidFill>
                  </a:tcPr>
                </a:tc>
                <a:tc>
                  <a:txBody>
                    <a:bodyPr wrap="square"/>
                    <a:lstStyle/>
                    <a:p>
                      <a:pPr algn="ctr"/>
                      <a:r>
                        <a:rPr sz="1050" b="1">
                          <a:solidFill>
                            <a:srgbClr val="FFFFFF"/>
                          </a:solidFill>
                          <a:latin typeface="Calibri"/>
                        </a:rPr>
                        <a:t>Source</a:t>
                      </a:r>
                    </a:p>
                  </a:txBody>
                  <a:tcPr marL="50800" marR="50800" marT="25400" marB="25400" anchor="ctr">
                    <a:solidFill>
                      <a:srgbClr val="182433"/>
                    </a:solidFill>
                  </a:tcPr>
                </a:tc>
                <a:tc>
                  <a:txBody>
                    <a:bodyPr wrap="square"/>
                    <a:lstStyle/>
                    <a:p>
                      <a:pPr algn="ctr"/>
                      <a:r>
                        <a:rPr sz="1050" b="1">
                          <a:solidFill>
                            <a:srgbClr val="FFFFFF"/>
                          </a:solidFill>
                          <a:latin typeface="Calibri"/>
                        </a:rPr>
                        <a:t>Status</a:t>
                      </a:r>
                    </a:p>
                  </a:txBody>
                  <a:tcPr marL="50800" marR="50800" marT="25400" marB="25400" anchor="ctr">
                    <a:solidFill>
                      <a:srgbClr val="182433"/>
                    </a:solidFill>
                  </a:tcPr>
                </a:tc>
              </a:tr>
              <a:tr h="440574">
                <a:tc>
                  <a:txBody>
                    <a:bodyPr wrap="square"/>
                    <a:lstStyle/>
                    <a:p>
                      <a:pPr algn="l"/>
                      <a:r>
                        <a:rPr sz="1000" b="0">
                          <a:solidFill>
                            <a:srgbClr val="182433"/>
                          </a:solidFill>
                          <a:latin typeface="Calibri"/>
                        </a:rPr>
                        <a:t>Trades (16) and underlyings</a:t>
                      </a:r>
                    </a:p>
                  </a:txBody>
                  <a:tcPr marL="50800" marR="50800" marT="25400" marB="25400" anchor="ctr">
                    <a:solidFill>
                      <a:srgbClr val="FFFFFF"/>
                    </a:solidFill>
                  </a:tcPr>
                </a:tc>
                <a:tc>
                  <a:txBody>
                    <a:bodyPr wrap="square"/>
                    <a:lstStyle/>
                    <a:p>
                      <a:pPr algn="ctr"/>
                      <a:r>
                        <a:rPr sz="1000" b="0">
                          <a:solidFill>
                            <a:srgbClr val="182433"/>
                          </a:solidFill>
                          <a:latin typeface="Calibri"/>
                        </a:rPr>
                        <a:t>Capitolis trade_data/*.csv</a:t>
                      </a:r>
                    </a:p>
                  </a:txBody>
                  <a:tcPr marL="50800" marR="50800" marT="25400" marB="25400" anchor="ctr">
                    <a:solidFill>
                      <a:srgbClr val="FFFFFF"/>
                    </a:solidFill>
                  </a:tcPr>
                </a:tc>
                <a:tc>
                  <a:txBody>
                    <a:bodyPr wrap="square"/>
                    <a:lstStyle/>
                    <a:p>
                      <a:pPr algn="ctr"/>
                      <a:r>
                        <a:rPr sz="1000" b="0">
                          <a:solidFill>
                            <a:srgbClr val="182433"/>
                          </a:solidFill>
                          <a:latin typeface="Calibri"/>
                        </a:rPr>
                        <a:t>Given</a:t>
                      </a:r>
                    </a:p>
                  </a:txBody>
                  <a:tcPr marL="50800" marR="50800" marT="25400" marB="25400" anchor="ctr">
                    <a:solidFill>
                      <a:srgbClr val="FFFFFF"/>
                    </a:solidFill>
                  </a:tcPr>
                </a:tc>
              </a:tr>
              <a:tr h="440574">
                <a:tc>
                  <a:txBody>
                    <a:bodyPr wrap="square"/>
                    <a:lstStyle/>
                    <a:p>
                      <a:pPr algn="l"/>
                      <a:r>
                        <a:rPr sz="1000" b="0">
                          <a:solidFill>
                            <a:srgbClr val="182433"/>
                          </a:solidFill>
                          <a:latin typeface="Calibri"/>
                        </a:rPr>
                        <a:t>Pricing library</a:t>
                      </a:r>
                    </a:p>
                  </a:txBody>
                  <a:tcPr marL="50800" marR="50800" marT="25400" marB="25400" anchor="ctr">
                    <a:solidFill>
                      <a:srgbClr val="F7F8FA"/>
                    </a:solidFill>
                  </a:tcPr>
                </a:tc>
                <a:tc>
                  <a:txBody>
                    <a:bodyPr wrap="square"/>
                    <a:lstStyle/>
                    <a:p>
                      <a:pPr algn="ctr"/>
                      <a:r>
                        <a:rPr sz="1000" b="0">
                          <a:solidFill>
                            <a:srgbClr val="182433"/>
                          </a:solidFill>
                          <a:latin typeface="Calibri"/>
                        </a:rPr>
                        <a:t>Capitolis capitolis_pricers</a:t>
                      </a:r>
                    </a:p>
                  </a:txBody>
                  <a:tcPr marL="50800" marR="50800" marT="25400" marB="25400" anchor="ctr">
                    <a:solidFill>
                      <a:srgbClr val="F7F8FA"/>
                    </a:solidFill>
                  </a:tcPr>
                </a:tc>
                <a:tc>
                  <a:txBody>
                    <a:bodyPr wrap="square"/>
                    <a:lstStyle/>
                    <a:p>
                      <a:pPr algn="ctr"/>
                      <a:r>
                        <a:rPr sz="1000" b="0">
                          <a:solidFill>
                            <a:srgbClr val="182433"/>
                          </a:solidFill>
                          <a:latin typeface="Calibri"/>
                        </a:rPr>
                        <a:t>Given, independently reviewed</a:t>
                      </a:r>
                    </a:p>
                  </a:txBody>
                  <a:tcPr marL="50800" marR="50800" marT="25400" marB="25400" anchor="ctr">
                    <a:solidFill>
                      <a:srgbClr val="F7F8FA"/>
                    </a:solidFill>
                  </a:tcPr>
                </a:tc>
              </a:tr>
              <a:tr h="440574">
                <a:tc>
                  <a:txBody>
                    <a:bodyPr wrap="square"/>
                    <a:lstStyle/>
                    <a:p>
                      <a:pPr algn="l"/>
                      <a:r>
                        <a:rPr sz="1000" b="0">
                          <a:solidFill>
                            <a:srgbClr val="182433"/>
                          </a:solidFill>
                          <a:latin typeface="Calibri"/>
                        </a:rPr>
                        <a:t>USD SOFR futures</a:t>
                      </a:r>
                    </a:p>
                  </a:txBody>
                  <a:tcPr marL="50800" marR="50800" marT="25400" marB="25400" anchor="ctr">
                    <a:solidFill>
                      <a:srgbClr val="FFFFFF"/>
                    </a:solidFill>
                  </a:tcPr>
                </a:tc>
                <a:tc>
                  <a:txBody>
                    <a:bodyPr wrap="square"/>
                    <a:lstStyle/>
                    <a:p>
                      <a:pPr algn="ctr"/>
                      <a:r>
                        <a:rPr sz="1000" b="0">
                          <a:solidFill>
                            <a:srgbClr val="182433"/>
                          </a:solidFill>
                          <a:latin typeface="Calibri"/>
                        </a:rPr>
                        <a:t>Databento (CME)</a:t>
                      </a:r>
                    </a:p>
                  </a:txBody>
                  <a:tcPr marL="50800" marR="50800" marT="25400" marB="25400" anchor="ctr">
                    <a:solidFill>
                      <a:srgbClr val="FFFFFF"/>
                    </a:solidFill>
                  </a:tcPr>
                </a:tc>
                <a:tc>
                  <a:txBody>
                    <a:bodyPr wrap="square"/>
                    <a:lstStyle/>
                    <a:p>
                      <a:pPr algn="ctr"/>
                      <a:r>
                        <a:rPr sz="1000" b="0">
                          <a:solidFill>
                            <a:srgbClr val="182433"/>
                          </a:solidFill>
                          <a:latin typeface="Calibri"/>
                        </a:rPr>
                        <a:t>Live, validated vs Treasury.gov</a:t>
                      </a:r>
                    </a:p>
                  </a:txBody>
                  <a:tcPr marL="50800" marR="50800" marT="25400" marB="25400" anchor="ctr">
                    <a:solidFill>
                      <a:srgbClr val="FFFFFF"/>
                    </a:solidFill>
                  </a:tcPr>
                </a:tc>
              </a:tr>
              <a:tr h="440574">
                <a:tc>
                  <a:txBody>
                    <a:bodyPr wrap="square"/>
                    <a:lstStyle/>
                    <a:p>
                      <a:pPr algn="l"/>
                      <a:r>
                        <a:rPr sz="1000" b="0">
                          <a:solidFill>
                            <a:srgbClr val="182433"/>
                          </a:solidFill>
                          <a:latin typeface="Calibri"/>
                        </a:rPr>
                        <a:t>Equity/FX spots, 3y history</a:t>
                      </a:r>
                    </a:p>
                  </a:txBody>
                  <a:tcPr marL="50800" marR="50800" marT="25400" marB="25400" anchor="ctr">
                    <a:solidFill>
                      <a:srgbClr val="F7F8FA"/>
                    </a:solidFill>
                  </a:tcPr>
                </a:tc>
                <a:tc>
                  <a:txBody>
                    <a:bodyPr wrap="square"/>
                    <a:lstStyle/>
                    <a:p>
                      <a:pPr algn="ctr"/>
                      <a:r>
                        <a:rPr sz="1000" b="0">
                          <a:solidFill>
                            <a:srgbClr val="182433"/>
                          </a:solidFill>
                          <a:latin typeface="Calibri"/>
                        </a:rPr>
                        <a:t>yfinance</a:t>
                      </a:r>
                    </a:p>
                  </a:txBody>
                  <a:tcPr marL="50800" marR="50800" marT="25400" marB="25400" anchor="ctr">
                    <a:solidFill>
                      <a:srgbClr val="F7F8FA"/>
                    </a:solidFill>
                  </a:tcPr>
                </a:tc>
                <a:tc>
                  <a:txBody>
                    <a:bodyPr wrap="square"/>
                    <a:lstStyle/>
                    <a:p>
                      <a:pPr algn="ctr"/>
                      <a:r>
                        <a:rPr sz="1000" b="0">
                          <a:solidFill>
                            <a:srgbClr val="182433"/>
                          </a:solidFill>
                          <a:latin typeface="Calibri"/>
                        </a:rPr>
                        <a:t>Live, keyed by ISIN</a:t>
                      </a:r>
                    </a:p>
                  </a:txBody>
                  <a:tcPr marL="50800" marR="50800" marT="25400" marB="25400" anchor="ctr">
                    <a:solidFill>
                      <a:srgbClr val="F7F8FA"/>
                    </a:solidFill>
                  </a:tcPr>
                </a:tc>
              </a:tr>
              <a:tr h="440574">
                <a:tc>
                  <a:txBody>
                    <a:bodyPr wrap="square"/>
                    <a:lstStyle/>
                    <a:p>
                      <a:pPr algn="l"/>
                      <a:r>
                        <a:rPr sz="1000" b="0">
                          <a:solidFill>
                            <a:srgbClr val="182433"/>
                          </a:solidFill>
                          <a:latin typeface="Calibri"/>
                        </a:rPr>
                        <a:t>Treasury CMT yields</a:t>
                      </a:r>
                    </a:p>
                  </a:txBody>
                  <a:tcPr marL="50800" marR="50800" marT="25400" marB="25400" anchor="ctr">
                    <a:solidFill>
                      <a:srgbClr val="FFFFFF"/>
                    </a:solidFill>
                  </a:tcPr>
                </a:tc>
                <a:tc>
                  <a:txBody>
                    <a:bodyPr wrap="square"/>
                    <a:lstStyle/>
                    <a:p>
                      <a:pPr algn="ctr"/>
                      <a:r>
                        <a:rPr sz="1000" b="0">
                          <a:solidFill>
                            <a:srgbClr val="182433"/>
                          </a:solidFill>
                          <a:latin typeface="Calibri"/>
                        </a:rPr>
                        <a:t>FRED (DGS series)</a:t>
                      </a:r>
                    </a:p>
                  </a:txBody>
                  <a:tcPr marL="50800" marR="50800" marT="25400" marB="25400" anchor="ctr">
                    <a:solidFill>
                      <a:srgbClr val="FFFFFF"/>
                    </a:solidFill>
                  </a:tcPr>
                </a:tc>
                <a:tc>
                  <a:txBody>
                    <a:bodyPr wrap="square"/>
                    <a:lstStyle/>
                    <a:p>
                      <a:pPr algn="ctr"/>
                      <a:r>
                        <a:rPr sz="1000" b="0">
                          <a:solidFill>
                            <a:srgbClr val="182433"/>
                          </a:solidFill>
                          <a:latin typeface="Calibri"/>
                        </a:rPr>
                        <a:t>Public</a:t>
                      </a:r>
                    </a:p>
                  </a:txBody>
                  <a:tcPr marL="50800" marR="50800" marT="25400" marB="25400" anchor="ctr">
                    <a:solidFill>
                      <a:srgbClr val="FFFFFF"/>
                    </a:solidFill>
                  </a:tcPr>
                </a:tc>
              </a:tr>
              <a:tr h="440574">
                <a:tc>
                  <a:txBody>
                    <a:bodyPr wrap="square"/>
                    <a:lstStyle/>
                    <a:p>
                      <a:pPr algn="l"/>
                      <a:r>
                        <a:rPr sz="1000" b="0">
                          <a:solidFill>
                            <a:srgbClr val="182433"/>
                          </a:solidFill>
                          <a:latin typeface="Calibri"/>
                        </a:rPr>
                        <a:t>JPY OIS history (35 tenors)</a:t>
                      </a:r>
                    </a:p>
                  </a:txBody>
                  <a:tcPr marL="50800" marR="50800" marT="25400" marB="25400" anchor="ctr">
                    <a:solidFill>
                      <a:srgbClr val="F7F8FA"/>
                    </a:solidFill>
                  </a:tcPr>
                </a:tc>
                <a:tc>
                  <a:txBody>
                    <a:bodyPr wrap="square"/>
                    <a:lstStyle/>
                    <a:p>
                      <a:pPr algn="ctr"/>
                      <a:r>
                        <a:rPr sz="1000" b="0">
                          <a:solidFill>
                            <a:srgbClr val="182433"/>
                          </a:solidFill>
                          <a:latin typeface="Calibri"/>
                        </a:rPr>
                        <a:t>Bloomberg, via project team</a:t>
                      </a:r>
                    </a:p>
                  </a:txBody>
                  <a:tcPr marL="50800" marR="50800" marT="25400" marB="25400" anchor="ctr">
                    <a:solidFill>
                      <a:srgbClr val="F7F8FA"/>
                    </a:solidFill>
                  </a:tcPr>
                </a:tc>
                <a:tc>
                  <a:txBody>
                    <a:bodyPr wrap="square"/>
                    <a:lstStyle/>
                    <a:p>
                      <a:pPr algn="ctr"/>
                      <a:r>
                        <a:rPr sz="1000" b="0">
                          <a:solidFill>
                            <a:srgbClr val="182433"/>
                          </a:solidFill>
                          <a:latin typeface="Calibri"/>
                        </a:rPr>
                        <a:t>Licensed: derived numbers only</a:t>
                      </a:r>
                    </a:p>
                  </a:txBody>
                  <a:tcPr marL="50800" marR="50800" marT="25400" marB="25400" anchor="ctr">
                    <a:solidFill>
                      <a:srgbClr val="F7F8FA"/>
                    </a:solidFill>
                  </a:tcPr>
                </a:tc>
              </a:tr>
              <a:tr h="440574">
                <a:tc>
                  <a:txBody>
                    <a:bodyPr wrap="square"/>
                    <a:lstStyle/>
                    <a:p>
                      <a:pPr algn="l"/>
                      <a:r>
                        <a:rPr sz="1000" b="0">
                          <a:solidFill>
                            <a:srgbClr val="182433"/>
                          </a:solidFill>
                          <a:latin typeface="Calibri"/>
                        </a:rPr>
                        <a:t>USD/JPY swaption cubes</a:t>
                      </a:r>
                    </a:p>
                  </a:txBody>
                  <a:tcPr marL="50800" marR="50800" marT="25400" marB="25400" anchor="ctr">
                    <a:solidFill>
                      <a:srgbClr val="FFFFFF"/>
                    </a:solidFill>
                  </a:tcPr>
                </a:tc>
                <a:tc>
                  <a:txBody>
                    <a:bodyPr wrap="square"/>
                    <a:lstStyle/>
                    <a:p>
                      <a:pPr algn="ctr"/>
                      <a:r>
                        <a:rPr sz="1000" b="0">
                          <a:solidFill>
                            <a:srgbClr val="182433"/>
                          </a:solidFill>
                          <a:latin typeface="Calibri"/>
                        </a:rPr>
                        <a:t>Bloomberg one-time export</a:t>
                      </a:r>
                    </a:p>
                  </a:txBody>
                  <a:tcPr marL="50800" marR="50800" marT="25400" marB="25400" anchor="ctr">
                    <a:solidFill>
                      <a:srgbClr val="FFFFFF"/>
                    </a:solidFill>
                  </a:tcPr>
                </a:tc>
                <a:tc>
                  <a:txBody>
                    <a:bodyPr wrap="square"/>
                    <a:lstStyle/>
                    <a:p>
                      <a:pPr algn="ctr"/>
                      <a:r>
                        <a:rPr sz="1000" b="0">
                          <a:solidFill>
                            <a:srgbClr val="182433"/>
                          </a:solidFill>
                          <a:latin typeface="Calibri"/>
                        </a:rPr>
                        <a:t>Licensed: derived numbers only</a:t>
                      </a:r>
                    </a:p>
                  </a:txBody>
                  <a:tcPr marL="50800" marR="50800" marT="25400" marB="25400" anchor="ctr">
                    <a:solidFill>
                      <a:srgbClr val="FFFFFF"/>
                    </a:solidFill>
                  </a:tcPr>
                </a:tc>
              </a:tr>
              <a:tr h="440574">
                <a:tc>
                  <a:txBody>
                    <a:bodyPr wrap="square"/>
                    <a:lstStyle/>
                    <a:p>
                      <a:pPr algn="l"/>
                      <a:r>
                        <a:rPr sz="1000" b="0">
                          <a:solidFill>
                            <a:srgbClr val="182433"/>
                          </a:solidFill>
                          <a:latin typeface="Calibri"/>
                        </a:rPr>
                        <a:t>TONA (JPY overnight)</a:t>
                      </a:r>
                    </a:p>
                  </a:txBody>
                  <a:tcPr marL="50800" marR="50800" marT="25400" marB="25400" anchor="ctr">
                    <a:solidFill>
                      <a:srgbClr val="F7F8FA"/>
                    </a:solidFill>
                  </a:tcPr>
                </a:tc>
                <a:tc>
                  <a:txBody>
                    <a:bodyPr wrap="square"/>
                    <a:lstStyle/>
                    <a:p>
                      <a:pPr algn="ctr"/>
                      <a:r>
                        <a:rPr sz="1000" b="0">
                          <a:solidFill>
                            <a:srgbClr val="182433"/>
                          </a:solidFill>
                          <a:latin typeface="Calibri"/>
                        </a:rPr>
                        <a:t>Bank of Japan API</a:t>
                      </a:r>
                    </a:p>
                  </a:txBody>
                  <a:tcPr marL="50800" marR="50800" marT="25400" marB="25400" anchor="ctr">
                    <a:solidFill>
                      <a:srgbClr val="F7F8FA"/>
                    </a:solidFill>
                  </a:tcPr>
                </a:tc>
                <a:tc>
                  <a:txBody>
                    <a:bodyPr wrap="square"/>
                    <a:lstStyle/>
                    <a:p>
                      <a:pPr algn="ctr"/>
                      <a:r>
                        <a:rPr sz="1000" b="0">
                          <a:solidFill>
                            <a:srgbClr val="182433"/>
                          </a:solidFill>
                          <a:latin typeface="Calibri"/>
                        </a:rPr>
                        <a:t>Public, since 1998</a:t>
                      </a:r>
                    </a:p>
                  </a:txBody>
                  <a:tcPr marL="50800" marR="50800" marT="25400" marB="25400" anchor="ctr">
                    <a:solidFill>
                      <a:srgbClr val="F7F8FA"/>
                    </a:solidFill>
                  </a:tcPr>
                </a:tc>
              </a:tr>
              <a:tr h="440574">
                <a:tc>
                  <a:txBody>
                    <a:bodyPr wrap="square"/>
                    <a:lstStyle/>
                    <a:p>
                      <a:pPr algn="l"/>
                      <a:r>
                        <a:rPr sz="1000" b="0">
                          <a:solidFill>
                            <a:srgbClr val="182433"/>
                          </a:solidFill>
                          <a:latin typeface="Calibri"/>
                        </a:rPr>
                        <a:t>JGB par yields 1Y-40Y</a:t>
                      </a:r>
                    </a:p>
                  </a:txBody>
                  <a:tcPr marL="50800" marR="50800" marT="25400" marB="25400" anchor="ctr">
                    <a:solidFill>
                      <a:srgbClr val="FFFFFF"/>
                    </a:solidFill>
                  </a:tcPr>
                </a:tc>
                <a:tc>
                  <a:txBody>
                    <a:bodyPr wrap="square"/>
                    <a:lstStyle/>
                    <a:p>
                      <a:pPr algn="ctr"/>
                      <a:r>
                        <a:rPr sz="1000" b="0">
                          <a:solidFill>
                            <a:srgbClr val="182433"/>
                          </a:solidFill>
                          <a:latin typeface="Calibri"/>
                        </a:rPr>
                        <a:t>Japan MOF</a:t>
                      </a:r>
                    </a:p>
                  </a:txBody>
                  <a:tcPr marL="50800" marR="50800" marT="25400" marB="25400" anchor="ctr">
                    <a:solidFill>
                      <a:srgbClr val="FFFFFF"/>
                    </a:solidFill>
                  </a:tcPr>
                </a:tc>
                <a:tc>
                  <a:txBody>
                    <a:bodyPr wrap="square"/>
                    <a:lstStyle/>
                    <a:p>
                      <a:pPr algn="ctr"/>
                      <a:r>
                        <a:rPr sz="1000" b="0">
                          <a:solidFill>
                            <a:srgbClr val="182433"/>
                          </a:solidFill>
                          <a:latin typeface="Calibri"/>
                        </a:rPr>
                        <a:t>Public, since 1974</a:t>
                      </a:r>
                    </a:p>
                  </a:txBody>
                  <a:tcPr marL="50800" marR="50800" marT="25400" marB="25400" anchor="ctr">
                    <a:solidFill>
                      <a:srgbClr val="FFFFFF"/>
                    </a:solidFill>
                  </a:tcPr>
                </a:tc>
              </a:tr>
              <a:tr h="440574">
                <a:tc>
                  <a:txBody>
                    <a:bodyPr wrap="square"/>
                    <a:lstStyle/>
                    <a:p>
                      <a:pPr algn="l"/>
                      <a:r>
                        <a:rPr sz="1000" b="0">
                          <a:solidFill>
                            <a:srgbClr val="182433"/>
                          </a:solidFill>
                          <a:latin typeface="Calibri"/>
                        </a:rPr>
                        <a:t>Credit spreads by rating</a:t>
                      </a:r>
                    </a:p>
                  </a:txBody>
                  <a:tcPr marL="50800" marR="50800" marT="25400" marB="25400" anchor="ctr">
                    <a:solidFill>
                      <a:srgbClr val="F7F8FA"/>
                    </a:solidFill>
                  </a:tcPr>
                </a:tc>
                <a:tc>
                  <a:txBody>
                    <a:bodyPr wrap="square"/>
                    <a:lstStyle/>
                    <a:p>
                      <a:pPr algn="ctr"/>
                      <a:r>
                        <a:rPr sz="1000" b="0">
                          <a:solidFill>
                            <a:srgbClr val="182433"/>
                          </a:solidFill>
                          <a:latin typeface="Calibri"/>
                        </a:rPr>
                        <a:t>FRED (ICE BofA OAS)</a:t>
                      </a:r>
                    </a:p>
                  </a:txBody>
                  <a:tcPr marL="50800" marR="50800" marT="25400" marB="25400" anchor="ctr">
                    <a:solidFill>
                      <a:srgbClr val="F7F8FA"/>
                    </a:solidFill>
                  </a:tcPr>
                </a:tc>
                <a:tc>
                  <a:txBody>
                    <a:bodyPr wrap="square"/>
                    <a:lstStyle/>
                    <a:p>
                      <a:pPr algn="ctr"/>
                      <a:r>
                        <a:rPr sz="1000" b="0">
                          <a:solidFill>
                            <a:srgbClr val="182433"/>
                          </a:solidFill>
                          <a:latin typeface="Calibri"/>
                        </a:rPr>
                        <a:t>Public</a:t>
                      </a:r>
                    </a:p>
                  </a:txBody>
                  <a:tcPr marL="50800" marR="50800" marT="25400" marB="25400" anchor="ctr">
                    <a:solidFill>
                      <a:srgbClr val="F7F8FA"/>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A3. 2008 GFC and 2015 China Devaluation: Full Detail</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56</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pic>
        <p:nvPicPr>
          <p:cNvPr id="7" name="Picture 6" descr="fig_hist_scenarios.png"/>
          <p:cNvPicPr>
            <a:picLocks noChangeAspect="1"/>
          </p:cNvPicPr>
          <p:nvPr/>
        </p:nvPicPr>
        <p:blipFill>
          <a:blip r:embed="rId3"/>
          <a:stretch>
            <a:fillRect/>
          </a:stretch>
        </p:blipFill>
        <p:spPr>
          <a:xfrm>
            <a:off x="457200" y="1371600"/>
            <a:ext cx="5486400" cy="2743200"/>
          </a:xfrm>
          <a:prstGeom prst="rect">
            <a:avLst/>
          </a:prstGeom>
        </p:spPr>
      </p:pic>
      <p:sp>
        <p:nvSpPr>
          <p:cNvPr id="8" name="TextBox 7"/>
          <p:cNvSpPr txBox="1"/>
          <p:nvPr/>
        </p:nvSpPr>
        <p:spPr>
          <a:xfrm>
            <a:off x="6217920" y="1463040"/>
            <a:ext cx="5486400" cy="4114800"/>
          </a:xfrm>
          <a:prstGeom prst="rect">
            <a:avLst/>
          </a:prstGeom>
          <a:noFill/>
        </p:spPr>
        <p:txBody>
          <a:bodyPr wrap="square" lIns="0" rIns="0" tIns="0" bIns="0">
            <a:spAutoFit/>
          </a:bodyPr>
          <a:lstStyle/>
          <a:p>
            <a:pPr>
              <a:lnSpc>
                <a:spcPct val="105000"/>
              </a:lnSpc>
              <a:spcAft>
                <a:spcPts val="900"/>
              </a:spcAft>
            </a:pPr>
            <a:r>
              <a:rPr sz="1200" b="0">
                <a:solidFill>
                  <a:srgbClr val="182433"/>
                </a:solidFill>
                <a:latin typeface="Calibri"/>
              </a:rPr>
              <a:t>•  2008 GFC window: Sep 29 - Oct 10, 2008; -23% median / -44% worst single-name equity return</a:t>
            </a:r>
          </a:p>
          <a:p>
            <a:pPr>
              <a:lnSpc>
                <a:spcPct val="105000"/>
              </a:lnSpc>
              <a:spcAft>
                <a:spcPts val="900"/>
              </a:spcAft>
            </a:pPr>
            <a:r>
              <a:rPr sz="1200" b="0">
                <a:solidFill>
                  <a:srgbClr val="182433"/>
                </a:solidFill>
                <a:latin typeface="Calibri"/>
              </a:rPr>
              <a:t>•  2015 China devaluation window: August 2015; -6.8% median equity return</a:t>
            </a:r>
          </a:p>
          <a:p>
            <a:pPr>
              <a:lnSpc>
                <a:spcPct val="105000"/>
              </a:lnSpc>
              <a:spcAft>
                <a:spcPts val="900"/>
              </a:spcAft>
            </a:pPr>
            <a:r>
              <a:rPr sz="1200" b="0">
                <a:solidFill>
                  <a:srgbClr val="182433"/>
                </a:solidFill>
                <a:latin typeface="Calibri"/>
              </a:rPr>
              <a:t>•  Both found by the same objective rule as the existing replays (worst 10-day window by rule, not hand-picked)</a:t>
            </a:r>
          </a:p>
          <a:p>
            <a:pPr>
              <a:lnSpc>
                <a:spcPct val="105000"/>
              </a:lnSpc>
              <a:spcAft>
                <a:spcPts val="900"/>
              </a:spcAft>
            </a:pPr>
            <a:r>
              <a:rPr sz="1200" b="0">
                <a:solidFill>
                  <a:srgbClr val="182433"/>
                </a:solidFill>
                <a:latin typeface="Calibri"/>
              </a:rPr>
              <a:t>•  2008 moves close-out MPE99 by -13%, level exposure by +56% -- both land inside the range the existing 2020/2022/2024 scenarios already covered</a:t>
            </a:r>
          </a:p>
          <a:p>
            <a:pPr>
              <a:lnSpc>
                <a:spcPct val="105000"/>
              </a:lnSpc>
              <a:spcAft>
                <a:spcPts val="900"/>
              </a:spcAft>
            </a:pPr>
            <a:r>
              <a:rPr sz="1200" b="0">
                <a:solidFill>
                  <a:srgbClr val="182433"/>
                </a:solidFill>
                <a:latin typeface="Calibri"/>
              </a:rPr>
              <a:t>•  Conclusion: leaving out 2008 from the original scenario set was not quietly understating the tail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A4. Per-Trade Stress Sensitivity Heat Map (Report Figure 34)</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57</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pic>
        <p:nvPicPr>
          <p:cNvPr id="7" name="Picture 6" descr="fig34.png"/>
          <p:cNvPicPr>
            <a:picLocks noChangeAspect="1"/>
          </p:cNvPicPr>
          <p:nvPr/>
        </p:nvPicPr>
        <p:blipFill>
          <a:blip r:embed="rId3"/>
          <a:stretch>
            <a:fillRect/>
          </a:stretch>
        </p:blipFill>
        <p:spPr>
          <a:xfrm>
            <a:off x="2651760" y="1371600"/>
            <a:ext cx="8331482" cy="493776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A5. DV01 Bucket Detail: Old Zero-Grid vs New Par-Instrument Jacobian</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58</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graphicFrame>
        <p:nvGraphicFramePr>
          <p:cNvPr id="7" name="Table 6"/>
          <p:cNvGraphicFramePr>
            <a:graphicFrameLocks noGrp="1"/>
          </p:cNvGraphicFramePr>
          <p:nvPr/>
        </p:nvGraphicFramePr>
        <p:xfrm>
          <a:off x="457200" y="1463040"/>
          <a:ext cx="6400800" cy="4754871"/>
        </p:xfrm>
        <a:graphic>
          <a:graphicData uri="http://schemas.openxmlformats.org/drawingml/2006/table">
            <a:tbl>
              <a:tblPr firstRow="1" bandRow="1">
                <a:tableStyleId>{5C22544A-7EE6-4342-B048-85BDC9FD1C3A}</a:tableStyleId>
              </a:tblPr>
              <a:tblGrid>
                <a:gridCol w="2057400"/>
                <a:gridCol w="2057400"/>
                <a:gridCol w="2286000"/>
              </a:tblGrid>
              <a:tr h="432261">
                <a:tc>
                  <a:txBody>
                    <a:bodyPr wrap="square"/>
                    <a:lstStyle/>
                    <a:p>
                      <a:pPr algn="l"/>
                      <a:r>
                        <a:rPr sz="1100" b="1">
                          <a:solidFill>
                            <a:srgbClr val="FFFFFF"/>
                          </a:solidFill>
                          <a:latin typeface="Calibri"/>
                        </a:rPr>
                        <a:t>Tenor bucket</a:t>
                      </a:r>
                    </a:p>
                  </a:txBody>
                  <a:tcPr marL="50800" marR="50800" marT="25400" marB="25400" anchor="ctr">
                    <a:solidFill>
                      <a:srgbClr val="182433"/>
                    </a:solidFill>
                  </a:tcPr>
                </a:tc>
                <a:tc>
                  <a:txBody>
                    <a:bodyPr wrap="square"/>
                    <a:lstStyle/>
                    <a:p>
                      <a:pPr algn="ctr"/>
                      <a:r>
                        <a:rPr sz="1100" b="1">
                          <a:solidFill>
                            <a:srgbClr val="FFFFFF"/>
                          </a:solidFill>
                          <a:latin typeface="Calibri"/>
                        </a:rPr>
                        <a:t>Old (zero-grid)</a:t>
                      </a:r>
                    </a:p>
                  </a:txBody>
                  <a:tcPr marL="50800" marR="50800" marT="25400" marB="25400" anchor="ctr">
                    <a:solidFill>
                      <a:srgbClr val="182433"/>
                    </a:solidFill>
                  </a:tcPr>
                </a:tc>
                <a:tc>
                  <a:txBody>
                    <a:bodyPr wrap="square"/>
                    <a:lstStyle/>
                    <a:p>
                      <a:pPr algn="ctr"/>
                      <a:r>
                        <a:rPr sz="1100" b="1">
                          <a:solidFill>
                            <a:srgbClr val="FFFFFF"/>
                          </a:solidFill>
                          <a:latin typeface="Calibri"/>
                        </a:rPr>
                        <a:t>New (par-instrument)</a:t>
                      </a:r>
                    </a:p>
                  </a:txBody>
                  <a:tcPr marL="50800" marR="50800" marT="25400" marB="25400" anchor="ctr">
                    <a:solidFill>
                      <a:srgbClr val="182433"/>
                    </a:solidFill>
                  </a:tcPr>
                </a:tc>
              </a:tr>
              <a:tr h="432261">
                <a:tc>
                  <a:txBody>
                    <a:bodyPr wrap="square"/>
                    <a:lstStyle/>
                    <a:p>
                      <a:pPr algn="l"/>
                      <a:r>
                        <a:rPr sz="1050" b="0">
                          <a:solidFill>
                            <a:srgbClr val="182433"/>
                          </a:solidFill>
                          <a:latin typeface="Calibri"/>
                        </a:rPr>
                        <a:t>0.25y</a:t>
                      </a:r>
                    </a:p>
                  </a:txBody>
                  <a:tcPr marL="50800" marR="50800" marT="25400" marB="25400" anchor="ctr">
                    <a:solidFill>
                      <a:srgbClr val="FFFFFF"/>
                    </a:solidFill>
                  </a:tcPr>
                </a:tc>
                <a:tc>
                  <a:txBody>
                    <a:bodyPr wrap="square"/>
                    <a:lstStyle/>
                    <a:p>
                      <a:pPr algn="ctr"/>
                      <a:r>
                        <a:rPr sz="1050" b="0">
                          <a:solidFill>
                            <a:srgbClr val="182433"/>
                          </a:solidFill>
                          <a:latin typeface="Calibri"/>
                        </a:rPr>
                        <a:t>-2,182</a:t>
                      </a:r>
                    </a:p>
                  </a:txBody>
                  <a:tcPr marL="50800" marR="50800" marT="25400" marB="25400" anchor="ctr">
                    <a:solidFill>
                      <a:srgbClr val="FFFFFF"/>
                    </a:solidFill>
                  </a:tcPr>
                </a:tc>
                <a:tc>
                  <a:txBody>
                    <a:bodyPr wrap="square"/>
                    <a:lstStyle/>
                    <a:p>
                      <a:pPr algn="ctr"/>
                      <a:r>
                        <a:rPr sz="1050" b="0">
                          <a:solidFill>
                            <a:srgbClr val="182433"/>
                          </a:solidFill>
                          <a:latin typeface="Calibri"/>
                        </a:rPr>
                        <a:t>-2,892</a:t>
                      </a:r>
                    </a:p>
                  </a:txBody>
                  <a:tcPr marL="50800" marR="50800" marT="25400" marB="25400" anchor="ctr">
                    <a:solidFill>
                      <a:srgbClr val="FFFFFF"/>
                    </a:solidFill>
                  </a:tcPr>
                </a:tc>
              </a:tr>
              <a:tr h="432261">
                <a:tc>
                  <a:txBody>
                    <a:bodyPr wrap="square"/>
                    <a:lstStyle/>
                    <a:p>
                      <a:pPr algn="l"/>
                      <a:r>
                        <a:rPr sz="1050" b="0">
                          <a:solidFill>
                            <a:srgbClr val="182433"/>
                          </a:solidFill>
                          <a:latin typeface="Calibri"/>
                        </a:rPr>
                        <a:t>0.5y</a:t>
                      </a:r>
                    </a:p>
                  </a:txBody>
                  <a:tcPr marL="50800" marR="50800" marT="25400" marB="25400" anchor="ctr">
                    <a:solidFill>
                      <a:srgbClr val="F7F8FA"/>
                    </a:solidFill>
                  </a:tcPr>
                </a:tc>
                <a:tc>
                  <a:txBody>
                    <a:bodyPr wrap="square"/>
                    <a:lstStyle/>
                    <a:p>
                      <a:pPr algn="ctr"/>
                      <a:r>
                        <a:rPr sz="1050" b="0">
                          <a:solidFill>
                            <a:srgbClr val="182433"/>
                          </a:solidFill>
                          <a:latin typeface="Calibri"/>
                        </a:rPr>
                        <a:t>-46</a:t>
                      </a:r>
                    </a:p>
                  </a:txBody>
                  <a:tcPr marL="50800" marR="50800" marT="25400" marB="25400" anchor="ctr">
                    <a:solidFill>
                      <a:srgbClr val="F7F8FA"/>
                    </a:solidFill>
                  </a:tcPr>
                </a:tc>
                <a:tc>
                  <a:txBody>
                    <a:bodyPr wrap="square"/>
                    <a:lstStyle/>
                    <a:p>
                      <a:pPr algn="ctr"/>
                      <a:r>
                        <a:rPr sz="1050" b="0">
                          <a:solidFill>
                            <a:srgbClr val="182433"/>
                          </a:solidFill>
                          <a:latin typeface="Calibri"/>
                        </a:rPr>
                        <a:t>-1</a:t>
                      </a:r>
                    </a:p>
                  </a:txBody>
                  <a:tcPr marL="50800" marR="50800" marT="25400" marB="25400" anchor="ctr">
                    <a:solidFill>
                      <a:srgbClr val="F7F8FA"/>
                    </a:solidFill>
                  </a:tcPr>
                </a:tc>
              </a:tr>
              <a:tr h="432261">
                <a:tc>
                  <a:txBody>
                    <a:bodyPr wrap="square"/>
                    <a:lstStyle/>
                    <a:p>
                      <a:pPr algn="l"/>
                      <a:r>
                        <a:rPr sz="1050" b="0">
                          <a:solidFill>
                            <a:srgbClr val="182433"/>
                          </a:solidFill>
                          <a:latin typeface="Calibri"/>
                        </a:rPr>
                        <a:t>1y</a:t>
                      </a:r>
                    </a:p>
                  </a:txBody>
                  <a:tcPr marL="50800" marR="50800" marT="25400" marB="25400" anchor="ctr">
                    <a:solidFill>
                      <a:srgbClr val="FFFFFF"/>
                    </a:solidFill>
                  </a:tcPr>
                </a:tc>
                <a:tc>
                  <a:txBody>
                    <a:bodyPr wrap="square"/>
                    <a:lstStyle/>
                    <a:p>
                      <a:pPr algn="ctr"/>
                      <a:r>
                        <a:rPr sz="1050" b="0">
                          <a:solidFill>
                            <a:srgbClr val="182433"/>
                          </a:solidFill>
                          <a:latin typeface="Calibri"/>
                        </a:rPr>
                        <a:t>-44</a:t>
                      </a:r>
                    </a:p>
                  </a:txBody>
                  <a:tcPr marL="50800" marR="50800" marT="25400" marB="25400" anchor="ctr">
                    <a:solidFill>
                      <a:srgbClr val="FFFFFF"/>
                    </a:solidFill>
                  </a:tcPr>
                </a:tc>
                <a:tc>
                  <a:txBody>
                    <a:bodyPr wrap="square"/>
                    <a:lstStyle/>
                    <a:p>
                      <a:pPr algn="ctr"/>
                      <a:r>
                        <a:rPr sz="1050" b="0">
                          <a:solidFill>
                            <a:srgbClr val="182433"/>
                          </a:solidFill>
                          <a:latin typeface="Calibri"/>
                        </a:rPr>
                        <a:t>-14</a:t>
                      </a:r>
                    </a:p>
                  </a:txBody>
                  <a:tcPr marL="50800" marR="50800" marT="25400" marB="25400" anchor="ctr">
                    <a:solidFill>
                      <a:srgbClr val="FFFFFF"/>
                    </a:solidFill>
                  </a:tcPr>
                </a:tc>
              </a:tr>
              <a:tr h="432261">
                <a:tc>
                  <a:txBody>
                    <a:bodyPr wrap="square"/>
                    <a:lstStyle/>
                    <a:p>
                      <a:pPr algn="l"/>
                      <a:r>
                        <a:rPr sz="1050" b="0">
                          <a:solidFill>
                            <a:srgbClr val="182433"/>
                          </a:solidFill>
                          <a:latin typeface="Calibri"/>
                        </a:rPr>
                        <a:t>2y</a:t>
                      </a:r>
                    </a:p>
                  </a:txBody>
                  <a:tcPr marL="50800" marR="50800" marT="25400" marB="25400" anchor="ctr">
                    <a:solidFill>
                      <a:srgbClr val="F7F8FA"/>
                    </a:solidFill>
                  </a:tcPr>
                </a:tc>
                <a:tc>
                  <a:txBody>
                    <a:bodyPr wrap="square"/>
                    <a:lstStyle/>
                    <a:p>
                      <a:pPr algn="ctr"/>
                      <a:r>
                        <a:rPr sz="1050" b="0">
                          <a:solidFill>
                            <a:srgbClr val="182433"/>
                          </a:solidFill>
                          <a:latin typeface="Calibri"/>
                        </a:rPr>
                        <a:t>-131</a:t>
                      </a:r>
                    </a:p>
                  </a:txBody>
                  <a:tcPr marL="50800" marR="50800" marT="25400" marB="25400" anchor="ctr">
                    <a:solidFill>
                      <a:srgbClr val="F7F8FA"/>
                    </a:solidFill>
                  </a:tcPr>
                </a:tc>
                <a:tc>
                  <a:txBody>
                    <a:bodyPr wrap="square"/>
                    <a:lstStyle/>
                    <a:p>
                      <a:pPr algn="ctr"/>
                      <a:r>
                        <a:rPr sz="1050" b="0">
                          <a:solidFill>
                            <a:srgbClr val="182433"/>
                          </a:solidFill>
                          <a:latin typeface="Calibri"/>
                        </a:rPr>
                        <a:t>-205</a:t>
                      </a:r>
                    </a:p>
                  </a:txBody>
                  <a:tcPr marL="50800" marR="50800" marT="25400" marB="25400" anchor="ctr">
                    <a:solidFill>
                      <a:srgbClr val="F7F8FA"/>
                    </a:solidFill>
                  </a:tcPr>
                </a:tc>
              </a:tr>
              <a:tr h="432261">
                <a:tc>
                  <a:txBody>
                    <a:bodyPr wrap="square"/>
                    <a:lstStyle/>
                    <a:p>
                      <a:pPr algn="l"/>
                      <a:r>
                        <a:rPr sz="1050" b="0">
                          <a:solidFill>
                            <a:srgbClr val="182433"/>
                          </a:solidFill>
                          <a:latin typeface="Calibri"/>
                        </a:rPr>
                        <a:t>3y</a:t>
                      </a:r>
                    </a:p>
                  </a:txBody>
                  <a:tcPr marL="50800" marR="50800" marT="25400" marB="25400" anchor="ctr">
                    <a:solidFill>
                      <a:srgbClr val="FFFFFF"/>
                    </a:solidFill>
                  </a:tcPr>
                </a:tc>
                <a:tc>
                  <a:txBody>
                    <a:bodyPr wrap="square"/>
                    <a:lstStyle/>
                    <a:p>
                      <a:pPr algn="ctr"/>
                      <a:r>
                        <a:rPr sz="1050" b="0">
                          <a:solidFill>
                            <a:srgbClr val="182433"/>
                          </a:solidFill>
                          <a:latin typeface="Calibri"/>
                        </a:rPr>
                        <a:t>-96</a:t>
                      </a:r>
                    </a:p>
                  </a:txBody>
                  <a:tcPr marL="50800" marR="50800" marT="25400" marB="25400" anchor="ctr">
                    <a:solidFill>
                      <a:srgbClr val="FFFFFF"/>
                    </a:solidFill>
                  </a:tcPr>
                </a:tc>
                <a:tc>
                  <a:txBody>
                    <a:bodyPr wrap="square"/>
                    <a:lstStyle/>
                    <a:p>
                      <a:pPr algn="ctr"/>
                      <a:r>
                        <a:rPr sz="1050" b="0">
                          <a:solidFill>
                            <a:srgbClr val="182433"/>
                          </a:solidFill>
                          <a:latin typeface="Calibri"/>
                        </a:rPr>
                        <a:t>-105</a:t>
                      </a:r>
                    </a:p>
                  </a:txBody>
                  <a:tcPr marL="50800" marR="50800" marT="25400" marB="25400" anchor="ctr">
                    <a:solidFill>
                      <a:srgbClr val="FFFFFF"/>
                    </a:solidFill>
                  </a:tcPr>
                </a:tc>
              </a:tr>
              <a:tr h="432261">
                <a:tc>
                  <a:txBody>
                    <a:bodyPr wrap="square"/>
                    <a:lstStyle/>
                    <a:p>
                      <a:pPr algn="l"/>
                      <a:r>
                        <a:rPr sz="1050" b="0">
                          <a:solidFill>
                            <a:srgbClr val="182433"/>
                          </a:solidFill>
                          <a:latin typeface="Calibri"/>
                        </a:rPr>
                        <a:t>5y</a:t>
                      </a:r>
                    </a:p>
                  </a:txBody>
                  <a:tcPr marL="50800" marR="50800" marT="25400" marB="25400" anchor="ctr">
                    <a:solidFill>
                      <a:srgbClr val="F7F8FA"/>
                    </a:solidFill>
                  </a:tcPr>
                </a:tc>
                <a:tc>
                  <a:txBody>
                    <a:bodyPr wrap="square"/>
                    <a:lstStyle/>
                    <a:p>
                      <a:pPr algn="ctr"/>
                      <a:r>
                        <a:rPr sz="1050" b="0">
                          <a:solidFill>
                            <a:srgbClr val="182433"/>
                          </a:solidFill>
                          <a:latin typeface="Calibri"/>
                        </a:rPr>
                        <a:t>-770</a:t>
                      </a:r>
                    </a:p>
                  </a:txBody>
                  <a:tcPr marL="50800" marR="50800" marT="25400" marB="25400" anchor="ctr">
                    <a:solidFill>
                      <a:srgbClr val="F7F8FA"/>
                    </a:solidFill>
                  </a:tcPr>
                </a:tc>
                <a:tc>
                  <a:txBody>
                    <a:bodyPr wrap="square"/>
                    <a:lstStyle/>
                    <a:p>
                      <a:pPr algn="ctr"/>
                      <a:r>
                        <a:rPr sz="1050" b="0">
                          <a:solidFill>
                            <a:srgbClr val="182433"/>
                          </a:solidFill>
                          <a:latin typeface="Calibri"/>
                        </a:rPr>
                        <a:t>-713</a:t>
                      </a:r>
                    </a:p>
                  </a:txBody>
                  <a:tcPr marL="50800" marR="50800" marT="25400" marB="25400" anchor="ctr">
                    <a:solidFill>
                      <a:srgbClr val="F7F8FA"/>
                    </a:solidFill>
                  </a:tcPr>
                </a:tc>
              </a:tr>
              <a:tr h="432261">
                <a:tc>
                  <a:txBody>
                    <a:bodyPr wrap="square"/>
                    <a:lstStyle/>
                    <a:p>
                      <a:pPr algn="l"/>
                      <a:r>
                        <a:rPr sz="1050" b="0">
                          <a:solidFill>
                            <a:srgbClr val="182433"/>
                          </a:solidFill>
                          <a:latin typeface="Calibri"/>
                        </a:rPr>
                        <a:t>10y</a:t>
                      </a:r>
                    </a:p>
                  </a:txBody>
                  <a:tcPr marL="50800" marR="50800" marT="25400" marB="25400" anchor="ctr">
                    <a:solidFill>
                      <a:srgbClr val="FFFFFF"/>
                    </a:solidFill>
                  </a:tcPr>
                </a:tc>
                <a:tc>
                  <a:txBody>
                    <a:bodyPr wrap="square"/>
                    <a:lstStyle/>
                    <a:p>
                      <a:pPr algn="ctr"/>
                      <a:r>
                        <a:rPr sz="1050" b="0">
                          <a:solidFill>
                            <a:srgbClr val="182433"/>
                          </a:solidFill>
                          <a:latin typeface="Calibri"/>
                        </a:rPr>
                        <a:t>-18,324 (39%)</a:t>
                      </a:r>
                    </a:p>
                  </a:txBody>
                  <a:tcPr marL="50800" marR="50800" marT="25400" marB="25400" anchor="ctr">
                    <a:solidFill>
                      <a:srgbClr val="FFFFFF"/>
                    </a:solidFill>
                  </a:tcPr>
                </a:tc>
                <a:tc>
                  <a:txBody>
                    <a:bodyPr wrap="square"/>
                    <a:lstStyle/>
                    <a:p>
                      <a:pPr algn="ctr"/>
                      <a:r>
                        <a:rPr sz="1050" b="0">
                          <a:solidFill>
                            <a:srgbClr val="182433"/>
                          </a:solidFill>
                          <a:latin typeface="Calibri"/>
                        </a:rPr>
                        <a:t>-6,592 (11%)</a:t>
                      </a:r>
                    </a:p>
                  </a:txBody>
                  <a:tcPr marL="50800" marR="50800" marT="25400" marB="25400" anchor="ctr">
                    <a:solidFill>
                      <a:srgbClr val="FFFFFF"/>
                    </a:solidFill>
                  </a:tcPr>
                </a:tc>
              </a:tr>
              <a:tr h="432261">
                <a:tc>
                  <a:txBody>
                    <a:bodyPr wrap="square"/>
                    <a:lstStyle/>
                    <a:p>
                      <a:pPr algn="l"/>
                      <a:r>
                        <a:rPr sz="1050" b="0">
                          <a:solidFill>
                            <a:srgbClr val="182433"/>
                          </a:solidFill>
                          <a:latin typeface="Calibri"/>
                        </a:rPr>
                        <a:t>30y</a:t>
                      </a:r>
                    </a:p>
                  </a:txBody>
                  <a:tcPr marL="50800" marR="50800" marT="25400" marB="25400" anchor="ctr">
                    <a:solidFill>
                      <a:srgbClr val="F7F8FA"/>
                    </a:solidFill>
                  </a:tcPr>
                </a:tc>
                <a:tc>
                  <a:txBody>
                    <a:bodyPr wrap="square"/>
                    <a:lstStyle/>
                    <a:p>
                      <a:pPr algn="ctr"/>
                      <a:r>
                        <a:rPr sz="1050" b="0">
                          <a:solidFill>
                            <a:srgbClr val="182433"/>
                          </a:solidFill>
                          <a:latin typeface="Calibri"/>
                        </a:rPr>
                        <a:t>-24,988 (54%)</a:t>
                      </a:r>
                    </a:p>
                  </a:txBody>
                  <a:tcPr marL="50800" marR="50800" marT="25400" marB="25400" anchor="ctr">
                    <a:solidFill>
                      <a:srgbClr val="F7F8FA"/>
                    </a:solidFill>
                  </a:tcPr>
                </a:tc>
                <a:tc>
                  <a:txBody>
                    <a:bodyPr wrap="square"/>
                    <a:lstStyle/>
                    <a:p>
                      <a:pPr algn="ctr"/>
                      <a:r>
                        <a:rPr sz="1050" b="0">
                          <a:solidFill>
                            <a:srgbClr val="182433"/>
                          </a:solidFill>
                          <a:latin typeface="Calibri"/>
                        </a:rPr>
                        <a:t>-47,191 (82%)</a:t>
                      </a:r>
                    </a:p>
                  </a:txBody>
                  <a:tcPr marL="50800" marR="50800" marT="25400" marB="25400" anchor="ctr">
                    <a:solidFill>
                      <a:srgbClr val="F7F8FA"/>
                    </a:solidFill>
                  </a:tcPr>
                </a:tc>
              </a:tr>
              <a:tr h="432261">
                <a:tc>
                  <a:txBody>
                    <a:bodyPr wrap="square"/>
                    <a:lstStyle/>
                    <a:p>
                      <a:pPr algn="l"/>
                      <a:r>
                        <a:rPr sz="1050" b="0">
                          <a:solidFill>
                            <a:srgbClr val="182433"/>
                          </a:solidFill>
                          <a:latin typeface="Calibri"/>
                        </a:rPr>
                        <a:t>Sum</a:t>
                      </a:r>
                    </a:p>
                  </a:txBody>
                  <a:tcPr marL="50800" marR="50800" marT="25400" marB="25400" anchor="ctr">
                    <a:solidFill>
                      <a:srgbClr val="FFFFFF"/>
                    </a:solidFill>
                  </a:tcPr>
                </a:tc>
                <a:tc>
                  <a:txBody>
                    <a:bodyPr wrap="square"/>
                    <a:lstStyle/>
                    <a:p>
                      <a:pPr algn="ctr"/>
                      <a:r>
                        <a:rPr sz="1050" b="0">
                          <a:solidFill>
                            <a:srgbClr val="182433"/>
                          </a:solidFill>
                          <a:latin typeface="Calibri"/>
                        </a:rPr>
                        <a:t>-46,580</a:t>
                      </a:r>
                    </a:p>
                  </a:txBody>
                  <a:tcPr marL="50800" marR="50800" marT="25400" marB="25400" anchor="ctr">
                    <a:solidFill>
                      <a:srgbClr val="FFFFFF"/>
                    </a:solidFill>
                  </a:tcPr>
                </a:tc>
                <a:tc>
                  <a:txBody>
                    <a:bodyPr wrap="square"/>
                    <a:lstStyle/>
                    <a:p>
                      <a:pPr algn="ctr"/>
                      <a:r>
                        <a:rPr sz="1050" b="0">
                          <a:solidFill>
                            <a:srgbClr val="182433"/>
                          </a:solidFill>
                          <a:latin typeface="Calibri"/>
                        </a:rPr>
                        <a:t>-57,713</a:t>
                      </a:r>
                    </a:p>
                  </a:txBody>
                  <a:tcPr marL="50800" marR="50800" marT="25400" marB="25400" anchor="ctr">
                    <a:solidFill>
                      <a:srgbClr val="FFFFFF"/>
                    </a:solidFill>
                  </a:tcPr>
                </a:tc>
              </a:tr>
              <a:tr h="432261">
                <a:tc>
                  <a:txBody>
                    <a:bodyPr wrap="square"/>
                    <a:lstStyle/>
                    <a:p>
                      <a:pPr algn="l"/>
                      <a:r>
                        <a:rPr sz="1050" b="0">
                          <a:solidFill>
                            <a:srgbClr val="182433"/>
                          </a:solidFill>
                          <a:latin typeface="Calibri"/>
                        </a:rPr>
                        <a:t>Parallel bump</a:t>
                      </a:r>
                    </a:p>
                  </a:txBody>
                  <a:tcPr marL="50800" marR="50800" marT="25400" marB="25400" anchor="ctr">
                    <a:solidFill>
                      <a:srgbClr val="F7F8FA"/>
                    </a:solidFill>
                  </a:tcPr>
                </a:tc>
                <a:tc>
                  <a:txBody>
                    <a:bodyPr wrap="square"/>
                    <a:lstStyle/>
                    <a:p>
                      <a:pPr algn="ctr"/>
                      <a:r>
                        <a:rPr sz="1050" b="0">
                          <a:solidFill>
                            <a:srgbClr val="182433"/>
                          </a:solidFill>
                          <a:latin typeface="Calibri"/>
                        </a:rPr>
                        <a:t>-46,605</a:t>
                      </a:r>
                    </a:p>
                  </a:txBody>
                  <a:tcPr marL="50800" marR="50800" marT="25400" marB="25400" anchor="ctr">
                    <a:solidFill>
                      <a:srgbClr val="F7F8FA"/>
                    </a:solidFill>
                  </a:tcPr>
                </a:tc>
                <a:tc>
                  <a:txBody>
                    <a:bodyPr wrap="square"/>
                    <a:lstStyle/>
                    <a:p>
                      <a:pPr algn="ctr"/>
                      <a:r>
                        <a:rPr sz="1050" b="0">
                          <a:solidFill>
                            <a:srgbClr val="182433"/>
                          </a:solidFill>
                          <a:latin typeface="Calibri"/>
                        </a:rPr>
                        <a:t>-57,705</a:t>
                      </a:r>
                    </a:p>
                  </a:txBody>
                  <a:tcPr marL="50800" marR="50800" marT="25400" marB="25400" anchor="ctr">
                    <a:solidFill>
                      <a:srgbClr val="F7F8FA"/>
                    </a:solidFill>
                  </a:tcPr>
                </a:tc>
              </a:tr>
            </a:tbl>
          </a:graphicData>
        </a:graphic>
      </p:graphicFrame>
      <p:sp>
        <p:nvSpPr>
          <p:cNvPr id="8" name="TextBox 7"/>
          <p:cNvSpPr txBox="1"/>
          <p:nvPr/>
        </p:nvSpPr>
        <p:spPr>
          <a:xfrm>
            <a:off x="7132320" y="1463040"/>
            <a:ext cx="4572000" cy="3200400"/>
          </a:xfrm>
          <a:prstGeom prst="rect">
            <a:avLst/>
          </a:prstGeom>
          <a:noFill/>
        </p:spPr>
        <p:txBody>
          <a:bodyPr wrap="square" lIns="0" rIns="0" tIns="0" bIns="0">
            <a:spAutoFit/>
          </a:bodyPr>
          <a:lstStyle/>
          <a:p>
            <a:pPr>
              <a:lnSpc>
                <a:spcPct val="105000"/>
              </a:lnSpc>
              <a:spcAft>
                <a:spcPts val="800"/>
              </a:spcAft>
            </a:pPr>
            <a:r>
              <a:rPr sz="1150" b="0">
                <a:solidFill>
                  <a:srgbClr val="182433"/>
                </a:solidFill>
                <a:latin typeface="Calibri"/>
              </a:rPr>
              <a:t>•  Old method bumped the fitted zero curve at 8 hand-picked tenors with triangular interpolation -- disconnected from how the curve is actually built</a:t>
            </a:r>
          </a:p>
          <a:p>
            <a:pPr>
              <a:lnSpc>
                <a:spcPct val="105000"/>
              </a:lnSpc>
              <a:spcAft>
                <a:spcPts val="800"/>
              </a:spcAft>
            </a:pPr>
            <a:r>
              <a:rPr sz="1150" b="0">
                <a:solidFill>
                  <a:srgbClr val="182433"/>
                </a:solidFill>
                <a:latin typeface="Calibri"/>
              </a:rPr>
              <a:t>•  New method bumps the curve's own ~45 native construction pillars (SOFR futures + Bloomberg long end), grouped into the same 8 buckets</a:t>
            </a:r>
          </a:p>
          <a:p>
            <a:pPr>
              <a:lnSpc>
                <a:spcPct val="105000"/>
              </a:lnSpc>
              <a:spcAft>
                <a:spcPts val="800"/>
              </a:spcAft>
            </a:pPr>
            <a:r>
              <a:rPr sz="1150" b="0">
                <a:solidFill>
                  <a:srgbClr val="182433"/>
                </a:solidFill>
                <a:latin typeface="Calibri"/>
              </a:rPr>
              <a:t>•  Both sum to the same total DV01 within 0.05% -- total risk was always right, attribution across tenor was wrong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A6. G2++ Two-Factor Rate Model: Full Calibration</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59</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sp>
        <p:nvSpPr>
          <p:cNvPr id="7" name="TextBox 6"/>
          <p:cNvSpPr txBox="1"/>
          <p:nvPr/>
        </p:nvSpPr>
        <p:spPr>
          <a:xfrm>
            <a:off x="457200" y="1463040"/>
            <a:ext cx="10972800" cy="548640"/>
          </a:xfrm>
          <a:prstGeom prst="rect">
            <a:avLst/>
          </a:prstGeom>
          <a:noFill/>
        </p:spPr>
        <p:txBody>
          <a:bodyPr wrap="square" anchor="t" lIns="0" rIns="0" tIns="0" bIns="0">
            <a:spAutoFit/>
          </a:bodyPr>
          <a:lstStyle/>
          <a:p>
            <a:pPr algn="l"/>
            <a:r>
              <a:rPr sz="1350" b="0" i="0">
                <a:solidFill>
                  <a:srgbClr val="182433"/>
                </a:solidFill>
                <a:latin typeface="Courier New"/>
              </a:rPr>
              <a:t>r(t) = x(t) + y(t) + phi(t);  dx = -a x dt + sigma dW1;  dy = -b y dt + eta dW2;  corr(dW1,dW2) = rho</a:t>
            </a:r>
          </a:p>
        </p:txBody>
      </p:sp>
      <p:graphicFrame>
        <p:nvGraphicFramePr>
          <p:cNvPr id="8" name="Table 7"/>
          <p:cNvGraphicFramePr>
            <a:graphicFrameLocks noGrp="1"/>
          </p:cNvGraphicFramePr>
          <p:nvPr/>
        </p:nvGraphicFramePr>
        <p:xfrm>
          <a:off x="457200" y="2286000"/>
          <a:ext cx="4572000" cy="2377438"/>
        </p:xfrm>
        <a:graphic>
          <a:graphicData uri="http://schemas.openxmlformats.org/drawingml/2006/table">
            <a:tbl>
              <a:tblPr firstRow="1" bandRow="1">
                <a:tableStyleId>{5C22544A-7EE6-4342-B048-85BDC9FD1C3A}</a:tableStyleId>
              </a:tblPr>
              <a:tblGrid>
                <a:gridCol w="2286000"/>
                <a:gridCol w="2286000"/>
              </a:tblGrid>
              <a:tr h="339634">
                <a:tc>
                  <a:txBody>
                    <a:bodyPr wrap="square"/>
                    <a:lstStyle/>
                    <a:p>
                      <a:pPr algn="l"/>
                      <a:r>
                        <a:rPr sz="1150" b="1">
                          <a:solidFill>
                            <a:srgbClr val="FFFFFF"/>
                          </a:solidFill>
                          <a:latin typeface="Calibri"/>
                        </a:rPr>
                        <a:t>Parameter</a:t>
                      </a:r>
                    </a:p>
                  </a:txBody>
                  <a:tcPr marL="50800" marR="50800" marT="25400" marB="25400" anchor="ctr">
                    <a:solidFill>
                      <a:srgbClr val="182433"/>
                    </a:solidFill>
                  </a:tcPr>
                </a:tc>
                <a:tc>
                  <a:txBody>
                    <a:bodyPr wrap="square"/>
                    <a:lstStyle/>
                    <a:p>
                      <a:pPr algn="ctr"/>
                      <a:r>
                        <a:rPr sz="1150" b="1">
                          <a:solidFill>
                            <a:srgbClr val="FFFFFF"/>
                          </a:solidFill>
                          <a:latin typeface="Calibri"/>
                        </a:rPr>
                        <a:t>Value</a:t>
                      </a:r>
                    </a:p>
                  </a:txBody>
                  <a:tcPr marL="50800" marR="50800" marT="25400" marB="25400" anchor="ctr">
                    <a:solidFill>
                      <a:srgbClr val="182433"/>
                    </a:solidFill>
                  </a:tcPr>
                </a:tc>
              </a:tr>
              <a:tr h="339634">
                <a:tc>
                  <a:txBody>
                    <a:bodyPr wrap="square"/>
                    <a:lstStyle/>
                    <a:p>
                      <a:pPr algn="l"/>
                      <a:r>
                        <a:rPr sz="1100" b="0">
                          <a:solidFill>
                            <a:srgbClr val="182433"/>
                          </a:solidFill>
                          <a:latin typeface="Calibri"/>
                        </a:rPr>
                        <a:t>sigma</a:t>
                      </a:r>
                    </a:p>
                  </a:txBody>
                  <a:tcPr marL="50800" marR="50800" marT="25400" marB="25400" anchor="ctr">
                    <a:solidFill>
                      <a:srgbClr val="FFFFFF"/>
                    </a:solidFill>
                  </a:tcPr>
                </a:tc>
                <a:tc>
                  <a:txBody>
                    <a:bodyPr wrap="square"/>
                    <a:lstStyle/>
                    <a:p>
                      <a:pPr algn="ctr"/>
                      <a:r>
                        <a:rPr sz="1100" b="0">
                          <a:solidFill>
                            <a:srgbClr val="182433"/>
                          </a:solidFill>
                          <a:latin typeface="Calibri"/>
                        </a:rPr>
                        <a:t>1.21%</a:t>
                      </a:r>
                    </a:p>
                  </a:txBody>
                  <a:tcPr marL="50800" marR="50800" marT="25400" marB="25400" anchor="ctr">
                    <a:solidFill>
                      <a:srgbClr val="FFFFFF"/>
                    </a:solidFill>
                  </a:tcPr>
                </a:tc>
              </a:tr>
              <a:tr h="339634">
                <a:tc>
                  <a:txBody>
                    <a:bodyPr wrap="square"/>
                    <a:lstStyle/>
                    <a:p>
                      <a:pPr algn="l"/>
                      <a:r>
                        <a:rPr sz="1100" b="0">
                          <a:solidFill>
                            <a:srgbClr val="182433"/>
                          </a:solidFill>
                          <a:latin typeface="Calibri"/>
                        </a:rPr>
                        <a:t>a</a:t>
                      </a:r>
                    </a:p>
                  </a:txBody>
                  <a:tcPr marL="50800" marR="50800" marT="25400" marB="25400" anchor="ctr">
                    <a:solidFill>
                      <a:srgbClr val="F7F8FA"/>
                    </a:solidFill>
                  </a:tcPr>
                </a:tc>
                <a:tc>
                  <a:txBody>
                    <a:bodyPr wrap="square"/>
                    <a:lstStyle/>
                    <a:p>
                      <a:pPr algn="ctr"/>
                      <a:r>
                        <a:rPr sz="1100" b="0">
                          <a:solidFill>
                            <a:srgbClr val="182433"/>
                          </a:solidFill>
                          <a:latin typeface="Calibri"/>
                        </a:rPr>
                        <a:t>0.039</a:t>
                      </a:r>
                    </a:p>
                  </a:txBody>
                  <a:tcPr marL="50800" marR="50800" marT="25400" marB="25400" anchor="ctr">
                    <a:solidFill>
                      <a:srgbClr val="F7F8FA"/>
                    </a:solidFill>
                  </a:tcPr>
                </a:tc>
              </a:tr>
              <a:tr h="339634">
                <a:tc>
                  <a:txBody>
                    <a:bodyPr wrap="square"/>
                    <a:lstStyle/>
                    <a:p>
                      <a:pPr algn="l"/>
                      <a:r>
                        <a:rPr sz="1100" b="0">
                          <a:solidFill>
                            <a:srgbClr val="182433"/>
                          </a:solidFill>
                          <a:latin typeface="Calibri"/>
                        </a:rPr>
                        <a:t>eta</a:t>
                      </a:r>
                    </a:p>
                  </a:txBody>
                  <a:tcPr marL="50800" marR="50800" marT="25400" marB="25400" anchor="ctr">
                    <a:solidFill>
                      <a:srgbClr val="FFFFFF"/>
                    </a:solidFill>
                  </a:tcPr>
                </a:tc>
                <a:tc>
                  <a:txBody>
                    <a:bodyPr wrap="square"/>
                    <a:lstStyle/>
                    <a:p>
                      <a:pPr algn="ctr"/>
                      <a:r>
                        <a:rPr sz="1100" b="0">
                          <a:solidFill>
                            <a:srgbClr val="182433"/>
                          </a:solidFill>
                          <a:latin typeface="Calibri"/>
                        </a:rPr>
                        <a:t>1.44%</a:t>
                      </a:r>
                    </a:p>
                  </a:txBody>
                  <a:tcPr marL="50800" marR="50800" marT="25400" marB="25400" anchor="ctr">
                    <a:solidFill>
                      <a:srgbClr val="FFFFFF"/>
                    </a:solidFill>
                  </a:tcPr>
                </a:tc>
              </a:tr>
              <a:tr h="339634">
                <a:tc>
                  <a:txBody>
                    <a:bodyPr wrap="square"/>
                    <a:lstStyle/>
                    <a:p>
                      <a:pPr algn="l"/>
                      <a:r>
                        <a:rPr sz="1100" b="0">
                          <a:solidFill>
                            <a:srgbClr val="182433"/>
                          </a:solidFill>
                          <a:latin typeface="Calibri"/>
                        </a:rPr>
                        <a:t>b</a:t>
                      </a:r>
                    </a:p>
                  </a:txBody>
                  <a:tcPr marL="50800" marR="50800" marT="25400" marB="25400" anchor="ctr">
                    <a:solidFill>
                      <a:srgbClr val="F7F8FA"/>
                    </a:solidFill>
                  </a:tcPr>
                </a:tc>
                <a:tc>
                  <a:txBody>
                    <a:bodyPr wrap="square"/>
                    <a:lstStyle/>
                    <a:p>
                      <a:pPr algn="ctr"/>
                      <a:r>
                        <a:rPr sz="1100" b="0">
                          <a:solidFill>
                            <a:srgbClr val="182433"/>
                          </a:solidFill>
                          <a:latin typeface="Calibri"/>
                        </a:rPr>
                        <a:t>1.50</a:t>
                      </a:r>
                    </a:p>
                  </a:txBody>
                  <a:tcPr marL="50800" marR="50800" marT="25400" marB="25400" anchor="ctr">
                    <a:solidFill>
                      <a:srgbClr val="F7F8FA"/>
                    </a:solidFill>
                  </a:tcPr>
                </a:tc>
              </a:tr>
              <a:tr h="339634">
                <a:tc>
                  <a:txBody>
                    <a:bodyPr wrap="square"/>
                    <a:lstStyle/>
                    <a:p>
                      <a:pPr algn="l"/>
                      <a:r>
                        <a:rPr sz="1100" b="0">
                          <a:solidFill>
                            <a:srgbClr val="182433"/>
                          </a:solidFill>
                          <a:latin typeface="Calibri"/>
                        </a:rPr>
                        <a:t>rho</a:t>
                      </a:r>
                    </a:p>
                  </a:txBody>
                  <a:tcPr marL="50800" marR="50800" marT="25400" marB="25400" anchor="ctr">
                    <a:solidFill>
                      <a:srgbClr val="FFFFFF"/>
                    </a:solidFill>
                  </a:tcPr>
                </a:tc>
                <a:tc>
                  <a:txBody>
                    <a:bodyPr wrap="square"/>
                    <a:lstStyle/>
                    <a:p>
                      <a:pPr algn="ctr"/>
                      <a:r>
                        <a:rPr sz="1100" b="0">
                          <a:solidFill>
                            <a:srgbClr val="182433"/>
                          </a:solidFill>
                          <a:latin typeface="Calibri"/>
                        </a:rPr>
                        <a:t>-0.95</a:t>
                      </a:r>
                    </a:p>
                  </a:txBody>
                  <a:tcPr marL="50800" marR="50800" marT="25400" marB="25400" anchor="ctr">
                    <a:solidFill>
                      <a:srgbClr val="FFFFFF"/>
                    </a:solidFill>
                  </a:tcPr>
                </a:tc>
              </a:tr>
              <a:tr h="339634">
                <a:tc>
                  <a:txBody>
                    <a:bodyPr wrap="square"/>
                    <a:lstStyle/>
                    <a:p>
                      <a:pPr algn="l"/>
                      <a:r>
                        <a:rPr sz="1100" b="0">
                          <a:solidFill>
                            <a:srgbClr val="182433"/>
                          </a:solidFill>
                          <a:latin typeface="Calibri"/>
                        </a:rPr>
                        <a:t>Relative Frobenius fit error</a:t>
                      </a:r>
                    </a:p>
                  </a:txBody>
                  <a:tcPr marL="50800" marR="50800" marT="25400" marB="25400" anchor="ctr">
                    <a:solidFill>
                      <a:srgbClr val="F7F8FA"/>
                    </a:solidFill>
                  </a:tcPr>
                </a:tc>
                <a:tc>
                  <a:txBody>
                    <a:bodyPr wrap="square"/>
                    <a:lstStyle/>
                    <a:p>
                      <a:pPr algn="ctr"/>
                      <a:r>
                        <a:rPr sz="1100" b="0">
                          <a:solidFill>
                            <a:srgbClr val="182433"/>
                          </a:solidFill>
                          <a:latin typeface="Calibri"/>
                        </a:rPr>
                        <a:t>16%</a:t>
                      </a:r>
                    </a:p>
                  </a:txBody>
                  <a:tcPr marL="50800" marR="50800" marT="25400" marB="25400" anchor="ctr">
                    <a:solidFill>
                      <a:srgbClr val="F7F8FA"/>
                    </a:solidFill>
                  </a:tcPr>
                </a:tc>
              </a:tr>
            </a:tbl>
          </a:graphicData>
        </a:graphic>
      </p:graphicFrame>
      <p:sp>
        <p:nvSpPr>
          <p:cNvPr id="9" name="TextBox 8"/>
          <p:cNvSpPr txBox="1"/>
          <p:nvPr/>
        </p:nvSpPr>
        <p:spPr>
          <a:xfrm>
            <a:off x="5486400" y="2286000"/>
            <a:ext cx="6217920" cy="3200400"/>
          </a:xfrm>
          <a:prstGeom prst="rect">
            <a:avLst/>
          </a:prstGeom>
          <a:noFill/>
        </p:spPr>
        <p:txBody>
          <a:bodyPr wrap="square" lIns="0" rIns="0" tIns="0" bIns="0">
            <a:spAutoFit/>
          </a:bodyPr>
          <a:lstStyle/>
          <a:p>
            <a:pPr>
              <a:lnSpc>
                <a:spcPct val="105000"/>
              </a:lnSpc>
              <a:spcAft>
                <a:spcPts val="800"/>
              </a:spcAft>
            </a:pPr>
            <a:r>
              <a:rPr sz="1200" b="0">
                <a:solidFill>
                  <a:srgbClr val="182433"/>
                </a:solidFill>
                <a:latin typeface="Calibri"/>
              </a:rPr>
              <a:t>•  Calibrated to the realised covariance of 3-month to 30-year Treasury yield changes (3-year window), least squares on the whole covariance matrix</a:t>
            </a:r>
          </a:p>
          <a:p>
            <a:pPr>
              <a:lnSpc>
                <a:spcPct val="105000"/>
              </a:lnSpc>
              <a:spcAft>
                <a:spcPts val="800"/>
              </a:spcAft>
            </a:pPr>
            <a:r>
              <a:rPr sz="1200" b="0">
                <a:solidFill>
                  <a:srgbClr val="182433"/>
                </a:solidFill>
                <a:latin typeface="Calibri"/>
              </a:rPr>
              <a:t>•  Reproduces the level and slope of the volatility term structure but not the hump around the 5-year point, which no two-factor Gaussian model can produce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A7. PCA Factor Loadings: What the Factors Actually Are</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60</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graphicFrame>
        <p:nvGraphicFramePr>
          <p:cNvPr id="7" name="Table 6"/>
          <p:cNvGraphicFramePr>
            <a:graphicFrameLocks noGrp="1"/>
          </p:cNvGraphicFramePr>
          <p:nvPr/>
        </p:nvGraphicFramePr>
        <p:xfrm>
          <a:off x="457200" y="1463040"/>
          <a:ext cx="11247119" cy="2743200"/>
        </p:xfrm>
        <a:graphic>
          <a:graphicData uri="http://schemas.openxmlformats.org/drawingml/2006/table">
            <a:tbl>
              <a:tblPr firstRow="1" bandRow="1">
                <a:tableStyleId>{5C22544A-7EE6-4342-B048-85BDC9FD1C3A}</a:tableStyleId>
              </a:tblPr>
              <a:tblGrid>
                <a:gridCol w="914400"/>
                <a:gridCol w="1371600"/>
                <a:gridCol w="4114800"/>
                <a:gridCol w="4846319"/>
              </a:tblGrid>
              <a:tr h="457200">
                <a:tc>
                  <a:txBody>
                    <a:bodyPr wrap="square"/>
                    <a:lstStyle/>
                    <a:p>
                      <a:pPr algn="l"/>
                      <a:r>
                        <a:rPr sz="1080" b="1">
                          <a:solidFill>
                            <a:srgbClr val="FFFFFF"/>
                          </a:solidFill>
                          <a:latin typeface="Calibri"/>
                        </a:rPr>
                        <a:t>Factor</a:t>
                      </a:r>
                    </a:p>
                  </a:txBody>
                  <a:tcPr marL="50800" marR="50800" marT="25400" marB="25400" anchor="ctr">
                    <a:solidFill>
                      <a:srgbClr val="182433"/>
                    </a:solidFill>
                  </a:tcPr>
                </a:tc>
                <a:tc>
                  <a:txBody>
                    <a:bodyPr wrap="square"/>
                    <a:lstStyle/>
                    <a:p>
                      <a:pPr algn="ctr"/>
                      <a:r>
                        <a:rPr sz="1080" b="1">
                          <a:solidFill>
                            <a:srgbClr val="FFFFFF"/>
                          </a:solidFill>
                          <a:latin typeface="Calibri"/>
                        </a:rPr>
                        <a:t>Var. share</a:t>
                      </a:r>
                    </a:p>
                  </a:txBody>
                  <a:tcPr marL="50800" marR="50800" marT="25400" marB="25400" anchor="ctr">
                    <a:solidFill>
                      <a:srgbClr val="182433"/>
                    </a:solidFill>
                  </a:tcPr>
                </a:tc>
                <a:tc>
                  <a:txBody>
                    <a:bodyPr wrap="square"/>
                    <a:lstStyle/>
                    <a:p>
                      <a:pPr algn="ctr"/>
                      <a:r>
                        <a:rPr sz="1080" b="1">
                          <a:solidFill>
                            <a:srgbClr val="FFFFFF"/>
                          </a:solidFill>
                          <a:latin typeface="Calibri"/>
                        </a:rPr>
                        <a:t>Highest loadings</a:t>
                      </a:r>
                    </a:p>
                  </a:txBody>
                  <a:tcPr marL="50800" marR="50800" marT="25400" marB="25400" anchor="ctr">
                    <a:solidFill>
                      <a:srgbClr val="182433"/>
                    </a:solidFill>
                  </a:tcPr>
                </a:tc>
                <a:tc>
                  <a:txBody>
                    <a:bodyPr wrap="square"/>
                    <a:lstStyle/>
                    <a:p>
                      <a:pPr algn="ctr"/>
                      <a:r>
                        <a:rPr sz="1080" b="1">
                          <a:solidFill>
                            <a:srgbClr val="FFFFFF"/>
                          </a:solidFill>
                          <a:latin typeface="Calibri"/>
                        </a:rPr>
                        <a:t>Reading</a:t>
                      </a:r>
                    </a:p>
                  </a:txBody>
                  <a:tcPr marL="50800" marR="50800" marT="25400" marB="25400" anchor="ctr">
                    <a:solidFill>
                      <a:srgbClr val="182433"/>
                    </a:solidFill>
                  </a:tcPr>
                </a:tc>
              </a:tr>
              <a:tr h="457200">
                <a:tc>
                  <a:txBody>
                    <a:bodyPr wrap="square"/>
                    <a:lstStyle/>
                    <a:p>
                      <a:pPr algn="l"/>
                      <a:r>
                        <a:rPr sz="1030" b="0">
                          <a:solidFill>
                            <a:srgbClr val="182433"/>
                          </a:solidFill>
                          <a:latin typeface="Calibri"/>
                        </a:rPr>
                        <a:t>1</a:t>
                      </a:r>
                    </a:p>
                  </a:txBody>
                  <a:tcPr marL="50800" marR="50800" marT="25400" marB="25400" anchor="ctr">
                    <a:solidFill>
                      <a:srgbClr val="FFFFFF"/>
                    </a:solidFill>
                  </a:tcPr>
                </a:tc>
                <a:tc>
                  <a:txBody>
                    <a:bodyPr wrap="square"/>
                    <a:lstStyle/>
                    <a:p>
                      <a:pPr algn="ctr"/>
                      <a:r>
                        <a:rPr sz="1030" b="0">
                          <a:solidFill>
                            <a:srgbClr val="182433"/>
                          </a:solidFill>
                          <a:latin typeface="Calibri"/>
                        </a:rPr>
                        <a:t>20.0%</a:t>
                      </a:r>
                    </a:p>
                  </a:txBody>
                  <a:tcPr marL="50800" marR="50800" marT="25400" marB="25400" anchor="ctr">
                    <a:solidFill>
                      <a:srgbClr val="FFFFFF"/>
                    </a:solidFill>
                  </a:tcPr>
                </a:tc>
                <a:tc>
                  <a:txBody>
                    <a:bodyPr wrap="square"/>
                    <a:lstStyle/>
                    <a:p>
                      <a:pPr algn="ctr"/>
                      <a:r>
                        <a:rPr sz="1030" b="0">
                          <a:solidFill>
                            <a:srgbClr val="182433"/>
                          </a:solidFill>
                          <a:latin typeface="Calibri"/>
                        </a:rPr>
                        <a:t>NXPI +0.25, BAC +0.25, JPM +0.24</a:t>
                      </a:r>
                    </a:p>
                  </a:txBody>
                  <a:tcPr marL="50800" marR="50800" marT="25400" marB="25400" anchor="ctr">
                    <a:solidFill>
                      <a:srgbClr val="FFFFFF"/>
                    </a:solidFill>
                  </a:tcPr>
                </a:tc>
                <a:tc>
                  <a:txBody>
                    <a:bodyPr wrap="square"/>
                    <a:lstStyle/>
                    <a:p>
                      <a:pPr algn="ctr"/>
                      <a:r>
                        <a:rPr sz="1030" b="0">
                          <a:solidFill>
                            <a:srgbClr val="182433"/>
                          </a:solidFill>
                          <a:latin typeface="Calibri"/>
                        </a:rPr>
                        <a:t>Market factor: all names, both regions</a:t>
                      </a:r>
                    </a:p>
                  </a:txBody>
                  <a:tcPr marL="50800" marR="50800" marT="25400" marB="25400" anchor="ctr">
                    <a:solidFill>
                      <a:srgbClr val="FFFFFF"/>
                    </a:solidFill>
                  </a:tcPr>
                </a:tc>
              </a:tr>
              <a:tr h="457200">
                <a:tc>
                  <a:txBody>
                    <a:bodyPr wrap="square"/>
                    <a:lstStyle/>
                    <a:p>
                      <a:pPr algn="l"/>
                      <a:r>
                        <a:rPr sz="1030" b="0">
                          <a:solidFill>
                            <a:srgbClr val="182433"/>
                          </a:solidFill>
                          <a:latin typeface="Calibri"/>
                        </a:rPr>
                        <a:t>2</a:t>
                      </a:r>
                    </a:p>
                  </a:txBody>
                  <a:tcPr marL="50800" marR="50800" marT="25400" marB="25400" anchor="ctr">
                    <a:solidFill>
                      <a:srgbClr val="F7F8FA"/>
                    </a:solidFill>
                  </a:tcPr>
                </a:tc>
                <a:tc>
                  <a:txBody>
                    <a:bodyPr wrap="square"/>
                    <a:lstStyle/>
                    <a:p>
                      <a:pPr algn="ctr"/>
                      <a:r>
                        <a:rPr sz="1030" b="0">
                          <a:solidFill>
                            <a:srgbClr val="182433"/>
                          </a:solidFill>
                          <a:latin typeface="Calibri"/>
                        </a:rPr>
                        <a:t>8.9%</a:t>
                      </a:r>
                    </a:p>
                  </a:txBody>
                  <a:tcPr marL="50800" marR="50800" marT="25400" marB="25400" anchor="ctr">
                    <a:solidFill>
                      <a:srgbClr val="F7F8FA"/>
                    </a:solidFill>
                  </a:tcPr>
                </a:tc>
                <a:tc>
                  <a:txBody>
                    <a:bodyPr wrap="square"/>
                    <a:lstStyle/>
                    <a:p>
                      <a:pPr algn="ctr"/>
                      <a:r>
                        <a:rPr sz="1030" b="0">
                          <a:solidFill>
                            <a:srgbClr val="182433"/>
                          </a:solidFill>
                          <a:latin typeface="Calibri"/>
                        </a:rPr>
                        <a:t>6902.T +0.43, 5108.T +0.43, 7751.T +0.42</a:t>
                      </a:r>
                    </a:p>
                  </a:txBody>
                  <a:tcPr marL="50800" marR="50800" marT="25400" marB="25400" anchor="ctr">
                    <a:solidFill>
                      <a:srgbClr val="F7F8FA"/>
                    </a:solidFill>
                  </a:tcPr>
                </a:tc>
                <a:tc>
                  <a:txBody>
                    <a:bodyPr wrap="square"/>
                    <a:lstStyle/>
                    <a:p>
                      <a:pPr algn="ctr"/>
                      <a:r>
                        <a:rPr sz="1030" b="0">
                          <a:solidFill>
                            <a:srgbClr val="182433"/>
                          </a:solidFill>
                          <a:latin typeface="Calibri"/>
                        </a:rPr>
                        <a:t>Japan vs US</a:t>
                      </a:r>
                    </a:p>
                  </a:txBody>
                  <a:tcPr marL="50800" marR="50800" marT="25400" marB="25400" anchor="ctr">
                    <a:solidFill>
                      <a:srgbClr val="F7F8FA"/>
                    </a:solidFill>
                  </a:tcPr>
                </a:tc>
              </a:tr>
              <a:tr h="457200">
                <a:tc>
                  <a:txBody>
                    <a:bodyPr wrap="square"/>
                    <a:lstStyle/>
                    <a:p>
                      <a:pPr algn="l"/>
                      <a:r>
                        <a:rPr sz="1030" b="0">
                          <a:solidFill>
                            <a:srgbClr val="182433"/>
                          </a:solidFill>
                          <a:latin typeface="Calibri"/>
                        </a:rPr>
                        <a:t>3</a:t>
                      </a:r>
                    </a:p>
                  </a:txBody>
                  <a:tcPr marL="50800" marR="50800" marT="25400" marB="25400" anchor="ctr">
                    <a:solidFill>
                      <a:srgbClr val="FFFFFF"/>
                    </a:solidFill>
                  </a:tcPr>
                </a:tc>
                <a:tc>
                  <a:txBody>
                    <a:bodyPr wrap="square"/>
                    <a:lstStyle/>
                    <a:p>
                      <a:pPr algn="ctr"/>
                      <a:r>
                        <a:rPr sz="1030" b="0">
                          <a:solidFill>
                            <a:srgbClr val="182433"/>
                          </a:solidFill>
                          <a:latin typeface="Calibri"/>
                        </a:rPr>
                        <a:t>8.5%</a:t>
                      </a:r>
                    </a:p>
                  </a:txBody>
                  <a:tcPr marL="50800" marR="50800" marT="25400" marB="25400" anchor="ctr">
                    <a:solidFill>
                      <a:srgbClr val="FFFFFF"/>
                    </a:solidFill>
                  </a:tcPr>
                </a:tc>
                <a:tc>
                  <a:txBody>
                    <a:bodyPr wrap="square"/>
                    <a:lstStyle/>
                    <a:p>
                      <a:pPr algn="ctr"/>
                      <a:r>
                        <a:rPr sz="1030" b="0">
                          <a:solidFill>
                            <a:srgbClr val="182433"/>
                          </a:solidFill>
                          <a:latin typeface="Calibri"/>
                        </a:rPr>
                        <a:t>KO +0.40, PG +0.35, BRK.B +0.32</a:t>
                      </a:r>
                    </a:p>
                  </a:txBody>
                  <a:tcPr marL="50800" marR="50800" marT="25400" marB="25400" anchor="ctr">
                    <a:solidFill>
                      <a:srgbClr val="FFFFFF"/>
                    </a:solidFill>
                  </a:tcPr>
                </a:tc>
                <a:tc>
                  <a:txBody>
                    <a:bodyPr wrap="square"/>
                    <a:lstStyle/>
                    <a:p>
                      <a:pPr algn="ctr"/>
                      <a:r>
                        <a:rPr sz="1030" b="0">
                          <a:solidFill>
                            <a:srgbClr val="182433"/>
                          </a:solidFill>
                          <a:latin typeface="Calibri"/>
                        </a:rPr>
                        <a:t>Defensive staples vs high-growth tech</a:t>
                      </a:r>
                    </a:p>
                  </a:txBody>
                  <a:tcPr marL="50800" marR="50800" marT="25400" marB="25400" anchor="ctr">
                    <a:solidFill>
                      <a:srgbClr val="FFFFFF"/>
                    </a:solidFill>
                  </a:tcPr>
                </a:tc>
              </a:tr>
              <a:tr h="457200">
                <a:tc>
                  <a:txBody>
                    <a:bodyPr wrap="square"/>
                    <a:lstStyle/>
                    <a:p>
                      <a:pPr algn="l"/>
                      <a:r>
                        <a:rPr sz="1030" b="0">
                          <a:solidFill>
                            <a:srgbClr val="182433"/>
                          </a:solidFill>
                          <a:latin typeface="Calibri"/>
                        </a:rPr>
                        <a:t>4</a:t>
                      </a:r>
                    </a:p>
                  </a:txBody>
                  <a:tcPr marL="50800" marR="50800" marT="25400" marB="25400" anchor="ctr">
                    <a:solidFill>
                      <a:srgbClr val="F7F8FA"/>
                    </a:solidFill>
                  </a:tcPr>
                </a:tc>
                <a:tc>
                  <a:txBody>
                    <a:bodyPr wrap="square"/>
                    <a:lstStyle/>
                    <a:p>
                      <a:pPr algn="ctr"/>
                      <a:r>
                        <a:rPr sz="1030" b="0">
                          <a:solidFill>
                            <a:srgbClr val="182433"/>
                          </a:solidFill>
                          <a:latin typeface="Calibri"/>
                        </a:rPr>
                        <a:t>5.3%</a:t>
                      </a:r>
                    </a:p>
                  </a:txBody>
                  <a:tcPr marL="50800" marR="50800" marT="25400" marB="25400" anchor="ctr">
                    <a:solidFill>
                      <a:srgbClr val="F7F8FA"/>
                    </a:solidFill>
                  </a:tcPr>
                </a:tc>
                <a:tc>
                  <a:txBody>
                    <a:bodyPr wrap="square"/>
                    <a:lstStyle/>
                    <a:p>
                      <a:pPr algn="ctr"/>
                      <a:r>
                        <a:rPr sz="1030" b="0">
                          <a:solidFill>
                            <a:srgbClr val="182433"/>
                          </a:solidFill>
                          <a:latin typeface="Calibri"/>
                        </a:rPr>
                        <a:t>MPC +0.44, XOM +0.43, RATE_USD +0.34</a:t>
                      </a:r>
                    </a:p>
                  </a:txBody>
                  <a:tcPr marL="50800" marR="50800" marT="25400" marB="25400" anchor="ctr">
                    <a:solidFill>
                      <a:srgbClr val="F7F8FA"/>
                    </a:solidFill>
                  </a:tcPr>
                </a:tc>
                <a:tc>
                  <a:txBody>
                    <a:bodyPr wrap="square"/>
                    <a:lstStyle/>
                    <a:p>
                      <a:pPr algn="ctr"/>
                      <a:r>
                        <a:rPr sz="1030" b="0">
                          <a:solidFill>
                            <a:srgbClr val="182433"/>
                          </a:solidFill>
                          <a:latin typeface="Calibri"/>
                        </a:rPr>
                        <a:t>Energy / rate-sensitive group</a:t>
                      </a:r>
                    </a:p>
                  </a:txBody>
                  <a:tcPr marL="50800" marR="50800" marT="25400" marB="25400" anchor="ctr">
                    <a:solidFill>
                      <a:srgbClr val="F7F8FA"/>
                    </a:solidFill>
                  </a:tcPr>
                </a:tc>
              </a:tr>
              <a:tr h="457200">
                <a:tc>
                  <a:txBody>
                    <a:bodyPr wrap="square"/>
                    <a:lstStyle/>
                    <a:p>
                      <a:pPr algn="l"/>
                      <a:r>
                        <a:rPr sz="1030" b="0">
                          <a:solidFill>
                            <a:srgbClr val="182433"/>
                          </a:solidFill>
                          <a:latin typeface="Calibri"/>
                        </a:rPr>
                        <a:t>5</a:t>
                      </a:r>
                    </a:p>
                  </a:txBody>
                  <a:tcPr marL="50800" marR="50800" marT="25400" marB="25400" anchor="ctr">
                    <a:solidFill>
                      <a:srgbClr val="FFFFFF"/>
                    </a:solidFill>
                  </a:tcPr>
                </a:tc>
                <a:tc>
                  <a:txBody>
                    <a:bodyPr wrap="square"/>
                    <a:lstStyle/>
                    <a:p>
                      <a:pPr algn="ctr"/>
                      <a:r>
                        <a:rPr sz="1030" b="0">
                          <a:solidFill>
                            <a:srgbClr val="182433"/>
                          </a:solidFill>
                          <a:latin typeface="Calibri"/>
                        </a:rPr>
                        <a:t>4.0%</a:t>
                      </a:r>
                    </a:p>
                  </a:txBody>
                  <a:tcPr marL="50800" marR="50800" marT="25400" marB="25400" anchor="ctr">
                    <a:solidFill>
                      <a:srgbClr val="FFFFFF"/>
                    </a:solidFill>
                  </a:tcPr>
                </a:tc>
                <a:tc>
                  <a:txBody>
                    <a:bodyPr wrap="square"/>
                    <a:lstStyle/>
                    <a:p>
                      <a:pPr algn="ctr"/>
                      <a:r>
                        <a:rPr sz="1030" b="0">
                          <a:solidFill>
                            <a:srgbClr val="182433"/>
                          </a:solidFill>
                          <a:latin typeface="Calibri"/>
                        </a:rPr>
                        <a:t>CEG +0.39, NFLX +0.39, VST +0.37</a:t>
                      </a:r>
                    </a:p>
                  </a:txBody>
                  <a:tcPr marL="50800" marR="50800" marT="25400" marB="25400" anchor="ctr">
                    <a:solidFill>
                      <a:srgbClr val="FFFFFF"/>
                    </a:solidFill>
                  </a:tcPr>
                </a:tc>
                <a:tc>
                  <a:txBody>
                    <a:bodyPr wrap="square"/>
                    <a:lstStyle/>
                    <a:p>
                      <a:pPr algn="ctr"/>
                      <a:r>
                        <a:rPr sz="1030" b="0">
                          <a:solidFill>
                            <a:srgbClr val="182433"/>
                          </a:solidFill>
                          <a:latin typeface="Calibri"/>
                        </a:rPr>
                        <a:t>Growth and financial names</a:t>
                      </a:r>
                    </a:p>
                  </a:txBody>
                  <a:tcPr marL="50800" marR="50800" marT="25400" marB="25400" anchor="ctr">
                    <a:solidFill>
                      <a:srgbClr val="FFFFFF"/>
                    </a:solidFill>
                  </a:tcPr>
                </a:tc>
              </a:tr>
            </a:tbl>
          </a:graphicData>
        </a:graphic>
      </p:graphicFrame>
      <p:pic>
        <p:nvPicPr>
          <p:cNvPr id="8" name="Picture 7" descr="fig14.png"/>
          <p:cNvPicPr>
            <a:picLocks noChangeAspect="1"/>
          </p:cNvPicPr>
          <p:nvPr/>
        </p:nvPicPr>
        <p:blipFill>
          <a:blip r:embed="rId3"/>
          <a:stretch>
            <a:fillRect/>
          </a:stretch>
        </p:blipFill>
        <p:spPr>
          <a:xfrm>
            <a:off x="2286000" y="4389120"/>
            <a:ext cx="4654388" cy="210312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A8. Backtest: Rates Leg Detail (10-Day Yield-Change Quantiles)</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61</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graphicFrame>
        <p:nvGraphicFramePr>
          <p:cNvPr id="7" name="Table 6"/>
          <p:cNvGraphicFramePr>
            <a:graphicFrameLocks noGrp="1"/>
          </p:cNvGraphicFramePr>
          <p:nvPr/>
        </p:nvGraphicFramePr>
        <p:xfrm>
          <a:off x="457200" y="1463040"/>
          <a:ext cx="11247118" cy="3108959"/>
        </p:xfrm>
        <a:graphic>
          <a:graphicData uri="http://schemas.openxmlformats.org/drawingml/2006/table">
            <a:tbl>
              <a:tblPr firstRow="1" bandRow="1">
                <a:tableStyleId>{5C22544A-7EE6-4342-B048-85BDC9FD1C3A}</a:tableStyleId>
              </a:tblPr>
              <a:tblGrid>
                <a:gridCol w="1297744"/>
                <a:gridCol w="2811780"/>
                <a:gridCol w="2379198"/>
                <a:gridCol w="2379198"/>
                <a:gridCol w="2379198"/>
              </a:tblGrid>
              <a:tr h="444137">
                <a:tc>
                  <a:txBody>
                    <a:bodyPr wrap="square"/>
                    <a:lstStyle/>
                    <a:p>
                      <a:pPr algn="l"/>
                      <a:r>
                        <a:rPr sz="1050" b="1">
                          <a:solidFill>
                            <a:srgbClr val="FFFFFF"/>
                          </a:solidFill>
                          <a:latin typeface="Calibri"/>
                        </a:rPr>
                        <a:t>Tenor</a:t>
                      </a:r>
                    </a:p>
                  </a:txBody>
                  <a:tcPr marL="50800" marR="50800" marT="25400" marB="25400" anchor="ctr">
                    <a:solidFill>
                      <a:srgbClr val="182433"/>
                    </a:solidFill>
                  </a:tcPr>
                </a:tc>
                <a:tc>
                  <a:txBody>
                    <a:bodyPr wrap="square"/>
                    <a:lstStyle/>
                    <a:p>
                      <a:pPr algn="ctr"/>
                      <a:r>
                        <a:rPr sz="1050" b="1">
                          <a:solidFill>
                            <a:srgbClr val="FFFFFF"/>
                          </a:solidFill>
                          <a:latin typeface="Calibri"/>
                        </a:rPr>
                        <a:t>Sigma calibration</a:t>
                      </a:r>
                    </a:p>
                  </a:txBody>
                  <a:tcPr marL="50800" marR="50800" marT="25400" marB="25400" anchor="ctr">
                    <a:solidFill>
                      <a:srgbClr val="182433"/>
                    </a:solidFill>
                  </a:tcPr>
                </a:tc>
                <a:tc>
                  <a:txBody>
                    <a:bodyPr wrap="square"/>
                    <a:lstStyle/>
                    <a:p>
                      <a:pPr algn="ctr"/>
                      <a:r>
                        <a:rPr sz="1050" b="1">
                          <a:solidFill>
                            <a:srgbClr val="FFFFFF"/>
                          </a:solidFill>
                          <a:latin typeface="Calibri"/>
                        </a:rPr>
                        <a:t>99% up exceptions</a:t>
                      </a:r>
                    </a:p>
                  </a:txBody>
                  <a:tcPr marL="50800" marR="50800" marT="25400" marB="25400" anchor="ctr">
                    <a:solidFill>
                      <a:srgbClr val="182433"/>
                    </a:solidFill>
                  </a:tcPr>
                </a:tc>
                <a:tc>
                  <a:txBody>
                    <a:bodyPr wrap="square"/>
                    <a:lstStyle/>
                    <a:p>
                      <a:pPr algn="ctr"/>
                      <a:r>
                        <a:rPr sz="1050" b="1">
                          <a:solidFill>
                            <a:srgbClr val="FFFFFF"/>
                          </a:solidFill>
                          <a:latin typeface="Calibri"/>
                        </a:rPr>
                        <a:t>99% up mean rate</a:t>
                      </a:r>
                    </a:p>
                  </a:txBody>
                  <a:tcPr marL="50800" marR="50800" marT="25400" marB="25400" anchor="ctr">
                    <a:solidFill>
                      <a:srgbClr val="182433"/>
                    </a:solidFill>
                  </a:tcPr>
                </a:tc>
                <a:tc>
                  <a:txBody>
                    <a:bodyPr wrap="square"/>
                    <a:lstStyle/>
                    <a:p>
                      <a:pPr algn="ctr"/>
                      <a:r>
                        <a:rPr sz="1050" b="1">
                          <a:solidFill>
                            <a:srgbClr val="FFFFFF"/>
                          </a:solidFill>
                          <a:latin typeface="Calibri"/>
                        </a:rPr>
                        <a:t>95% up mean rate</a:t>
                      </a:r>
                    </a:p>
                  </a:txBody>
                  <a:tcPr marL="50800" marR="50800" marT="25400" marB="25400" anchor="ctr">
                    <a:solidFill>
                      <a:srgbClr val="182433"/>
                    </a:solidFill>
                  </a:tcPr>
                </a:tc>
              </a:tr>
              <a:tr h="444137">
                <a:tc>
                  <a:txBody>
                    <a:bodyPr wrap="square"/>
                    <a:lstStyle/>
                    <a:p>
                      <a:pPr algn="l"/>
                      <a:r>
                        <a:rPr sz="1000" b="0">
                          <a:solidFill>
                            <a:srgbClr val="182433"/>
                          </a:solidFill>
                          <a:latin typeface="Calibri"/>
                        </a:rPr>
                        <a:t>5y</a:t>
                      </a:r>
                    </a:p>
                  </a:txBody>
                  <a:tcPr marL="50800" marR="50800" marT="25400" marB="25400" anchor="ctr">
                    <a:solidFill>
                      <a:srgbClr val="FFFFFF"/>
                    </a:solidFill>
                  </a:tcPr>
                </a:tc>
                <a:tc>
                  <a:txBody>
                    <a:bodyPr wrap="square"/>
                    <a:lstStyle/>
                    <a:p>
                      <a:pPr algn="ctr"/>
                      <a:r>
                        <a:rPr sz="1000" b="0">
                          <a:solidFill>
                            <a:srgbClr val="182433"/>
                          </a:solidFill>
                          <a:latin typeface="Calibri"/>
                        </a:rPr>
                        <a:t>Overnight SOFR vol</a:t>
                      </a:r>
                    </a:p>
                  </a:txBody>
                  <a:tcPr marL="50800" marR="50800" marT="25400" marB="25400" anchor="ctr">
                    <a:solidFill>
                      <a:srgbClr val="FFFFFF"/>
                    </a:solidFill>
                  </a:tcPr>
                </a:tc>
                <a:tc>
                  <a:txBody>
                    <a:bodyPr wrap="square"/>
                    <a:lstStyle/>
                    <a:p>
                      <a:pPr algn="ctr"/>
                      <a:r>
                        <a:rPr sz="1000" b="0">
                          <a:solidFill>
                            <a:srgbClr val="182433"/>
                          </a:solidFill>
                          <a:latin typeface="Calibri"/>
                        </a:rPr>
                        <a:t>1 of 161</a:t>
                      </a:r>
                    </a:p>
                  </a:txBody>
                  <a:tcPr marL="50800" marR="50800" marT="25400" marB="25400" anchor="ctr">
                    <a:solidFill>
                      <a:srgbClr val="FFFFFF"/>
                    </a:solidFill>
                  </a:tcPr>
                </a:tc>
                <a:tc>
                  <a:txBody>
                    <a:bodyPr wrap="square"/>
                    <a:lstStyle/>
                    <a:p>
                      <a:pPr algn="ctr"/>
                      <a:r>
                        <a:rPr sz="1000" b="0">
                          <a:solidFill>
                            <a:srgbClr val="182433"/>
                          </a:solidFill>
                          <a:latin typeface="Calibri"/>
                        </a:rPr>
                        <a:t>1.0%</a:t>
                      </a:r>
                    </a:p>
                  </a:txBody>
                  <a:tcPr marL="50800" marR="50800" marT="25400" marB="25400" anchor="ctr">
                    <a:solidFill>
                      <a:srgbClr val="FFFFFF"/>
                    </a:solidFill>
                  </a:tcPr>
                </a:tc>
                <a:tc>
                  <a:txBody>
                    <a:bodyPr wrap="square"/>
                    <a:lstStyle/>
                    <a:p>
                      <a:pPr algn="ctr"/>
                      <a:r>
                        <a:rPr sz="1000" b="0">
                          <a:solidFill>
                            <a:srgbClr val="182433"/>
                          </a:solidFill>
                          <a:latin typeface="Calibri"/>
                        </a:rPr>
                        <a:t>3.7%</a:t>
                      </a:r>
                    </a:p>
                  </a:txBody>
                  <a:tcPr marL="50800" marR="50800" marT="25400" marB="25400" anchor="ctr">
                    <a:solidFill>
                      <a:srgbClr val="FFFFFF"/>
                    </a:solidFill>
                  </a:tcPr>
                </a:tc>
              </a:tr>
              <a:tr h="444137">
                <a:tc>
                  <a:txBody>
                    <a:bodyPr wrap="square"/>
                    <a:lstStyle/>
                    <a:p>
                      <a:pPr algn="l"/>
                      <a:r>
                        <a:rPr sz="1000" b="0">
                          <a:solidFill>
                            <a:srgbClr val="182433"/>
                          </a:solidFill>
                          <a:latin typeface="Calibri"/>
                        </a:rPr>
                        <a:t>5y</a:t>
                      </a:r>
                    </a:p>
                  </a:txBody>
                  <a:tcPr marL="50800" marR="50800" marT="25400" marB="25400" anchor="ctr">
                    <a:solidFill>
                      <a:srgbClr val="F7F8FA"/>
                    </a:solidFill>
                  </a:tcPr>
                </a:tc>
                <a:tc>
                  <a:txBody>
                    <a:bodyPr wrap="square"/>
                    <a:lstStyle/>
                    <a:p>
                      <a:pPr algn="ctr"/>
                      <a:r>
                        <a:rPr sz="1000" b="0">
                          <a:solidFill>
                            <a:srgbClr val="182433"/>
                          </a:solidFill>
                          <a:latin typeface="Calibri"/>
                        </a:rPr>
                        <a:t>Long-end fit</a:t>
                      </a:r>
                    </a:p>
                  </a:txBody>
                  <a:tcPr marL="50800" marR="50800" marT="25400" marB="25400" anchor="ctr">
                    <a:solidFill>
                      <a:srgbClr val="F7F8FA"/>
                    </a:solidFill>
                  </a:tcPr>
                </a:tc>
                <a:tc>
                  <a:txBody>
                    <a:bodyPr wrap="square"/>
                    <a:lstStyle/>
                    <a:p>
                      <a:pPr algn="ctr"/>
                      <a:r>
                        <a:rPr sz="1000" b="0">
                          <a:solidFill>
                            <a:srgbClr val="182433"/>
                          </a:solidFill>
                          <a:latin typeface="Calibri"/>
                        </a:rPr>
                        <a:t>4 of 161</a:t>
                      </a:r>
                    </a:p>
                  </a:txBody>
                  <a:tcPr marL="50800" marR="50800" marT="25400" marB="25400" anchor="ctr">
                    <a:solidFill>
                      <a:srgbClr val="F7F8FA"/>
                    </a:solidFill>
                  </a:tcPr>
                </a:tc>
                <a:tc>
                  <a:txBody>
                    <a:bodyPr wrap="square"/>
                    <a:lstStyle/>
                    <a:p>
                      <a:pPr algn="ctr"/>
                      <a:r>
                        <a:rPr sz="1000" b="0">
                          <a:solidFill>
                            <a:srgbClr val="182433"/>
                          </a:solidFill>
                          <a:latin typeface="Calibri"/>
                        </a:rPr>
                        <a:t>1.9%</a:t>
                      </a:r>
                    </a:p>
                  </a:txBody>
                  <a:tcPr marL="50800" marR="50800" marT="25400" marB="25400" anchor="ctr">
                    <a:solidFill>
                      <a:srgbClr val="F7F8FA"/>
                    </a:solidFill>
                  </a:tcPr>
                </a:tc>
                <a:tc>
                  <a:txBody>
                    <a:bodyPr wrap="square"/>
                    <a:lstStyle/>
                    <a:p>
                      <a:pPr algn="ctr"/>
                      <a:r>
                        <a:rPr sz="1000" b="0">
                          <a:solidFill>
                            <a:srgbClr val="182433"/>
                          </a:solidFill>
                          <a:latin typeface="Calibri"/>
                        </a:rPr>
                        <a:t>5.7%</a:t>
                      </a:r>
                    </a:p>
                  </a:txBody>
                  <a:tcPr marL="50800" marR="50800" marT="25400" marB="25400" anchor="ctr">
                    <a:solidFill>
                      <a:srgbClr val="F7F8FA"/>
                    </a:solidFill>
                  </a:tcPr>
                </a:tc>
              </a:tr>
              <a:tr h="444137">
                <a:tc>
                  <a:txBody>
                    <a:bodyPr wrap="square"/>
                    <a:lstStyle/>
                    <a:p>
                      <a:pPr algn="l"/>
                      <a:r>
                        <a:rPr sz="1000" b="0">
                          <a:solidFill>
                            <a:srgbClr val="182433"/>
                          </a:solidFill>
                          <a:latin typeface="Calibri"/>
                        </a:rPr>
                        <a:t>10y</a:t>
                      </a:r>
                    </a:p>
                  </a:txBody>
                  <a:tcPr marL="50800" marR="50800" marT="25400" marB="25400" anchor="ctr">
                    <a:solidFill>
                      <a:srgbClr val="FFFFFF"/>
                    </a:solidFill>
                  </a:tcPr>
                </a:tc>
                <a:tc>
                  <a:txBody>
                    <a:bodyPr wrap="square"/>
                    <a:lstStyle/>
                    <a:p>
                      <a:pPr algn="ctr"/>
                      <a:r>
                        <a:rPr sz="1000" b="0">
                          <a:solidFill>
                            <a:srgbClr val="182433"/>
                          </a:solidFill>
                          <a:latin typeface="Calibri"/>
                        </a:rPr>
                        <a:t>Overnight SOFR vol</a:t>
                      </a:r>
                    </a:p>
                  </a:txBody>
                  <a:tcPr marL="50800" marR="50800" marT="25400" marB="25400" anchor="ctr">
                    <a:solidFill>
                      <a:srgbClr val="FFFFFF"/>
                    </a:solidFill>
                  </a:tcPr>
                </a:tc>
                <a:tc>
                  <a:txBody>
                    <a:bodyPr wrap="square"/>
                    <a:lstStyle/>
                    <a:p>
                      <a:pPr algn="ctr"/>
                      <a:r>
                        <a:rPr sz="1000" b="0">
                          <a:solidFill>
                            <a:srgbClr val="182433"/>
                          </a:solidFill>
                          <a:latin typeface="Calibri"/>
                        </a:rPr>
                        <a:t>1 of 161</a:t>
                      </a:r>
                    </a:p>
                  </a:txBody>
                  <a:tcPr marL="50800" marR="50800" marT="25400" marB="25400" anchor="ctr">
                    <a:solidFill>
                      <a:srgbClr val="FFFFFF"/>
                    </a:solidFill>
                  </a:tcPr>
                </a:tc>
                <a:tc>
                  <a:txBody>
                    <a:bodyPr wrap="square"/>
                    <a:lstStyle/>
                    <a:p>
                      <a:pPr algn="ctr"/>
                      <a:r>
                        <a:rPr sz="1000" b="0">
                          <a:solidFill>
                            <a:srgbClr val="182433"/>
                          </a:solidFill>
                          <a:latin typeface="Calibri"/>
                        </a:rPr>
                        <a:t>0.4%</a:t>
                      </a:r>
                    </a:p>
                  </a:txBody>
                  <a:tcPr marL="50800" marR="50800" marT="25400" marB="25400" anchor="ctr">
                    <a:solidFill>
                      <a:srgbClr val="FFFFFF"/>
                    </a:solidFill>
                  </a:tcPr>
                </a:tc>
                <a:tc>
                  <a:txBody>
                    <a:bodyPr wrap="square"/>
                    <a:lstStyle/>
                    <a:p>
                      <a:pPr algn="ctr"/>
                      <a:r>
                        <a:rPr sz="1000" b="0">
                          <a:solidFill>
                            <a:srgbClr val="182433"/>
                          </a:solidFill>
                          <a:latin typeface="Calibri"/>
                        </a:rPr>
                        <a:t>3.1%</a:t>
                      </a:r>
                    </a:p>
                  </a:txBody>
                  <a:tcPr marL="50800" marR="50800" marT="25400" marB="25400" anchor="ctr">
                    <a:solidFill>
                      <a:srgbClr val="FFFFFF"/>
                    </a:solidFill>
                  </a:tcPr>
                </a:tc>
              </a:tr>
              <a:tr h="444137">
                <a:tc>
                  <a:txBody>
                    <a:bodyPr wrap="square"/>
                    <a:lstStyle/>
                    <a:p>
                      <a:pPr algn="l"/>
                      <a:r>
                        <a:rPr sz="1000" b="0">
                          <a:solidFill>
                            <a:srgbClr val="182433"/>
                          </a:solidFill>
                          <a:latin typeface="Calibri"/>
                        </a:rPr>
                        <a:t>10y</a:t>
                      </a:r>
                    </a:p>
                  </a:txBody>
                  <a:tcPr marL="50800" marR="50800" marT="25400" marB="25400" anchor="ctr">
                    <a:solidFill>
                      <a:srgbClr val="F7F8FA"/>
                    </a:solidFill>
                  </a:tcPr>
                </a:tc>
                <a:tc>
                  <a:txBody>
                    <a:bodyPr wrap="square"/>
                    <a:lstStyle/>
                    <a:p>
                      <a:pPr algn="ctr"/>
                      <a:r>
                        <a:rPr sz="1000" b="0">
                          <a:solidFill>
                            <a:srgbClr val="182433"/>
                          </a:solidFill>
                          <a:latin typeface="Calibri"/>
                        </a:rPr>
                        <a:t>Long-end fit</a:t>
                      </a:r>
                    </a:p>
                  </a:txBody>
                  <a:tcPr marL="50800" marR="50800" marT="25400" marB="25400" anchor="ctr">
                    <a:solidFill>
                      <a:srgbClr val="F7F8FA"/>
                    </a:solidFill>
                  </a:tcPr>
                </a:tc>
                <a:tc>
                  <a:txBody>
                    <a:bodyPr wrap="square"/>
                    <a:lstStyle/>
                    <a:p>
                      <a:pPr algn="ctr"/>
                      <a:r>
                        <a:rPr sz="1000" b="0">
                          <a:solidFill>
                            <a:srgbClr val="182433"/>
                          </a:solidFill>
                          <a:latin typeface="Calibri"/>
                        </a:rPr>
                        <a:t>3 of 161</a:t>
                      </a:r>
                    </a:p>
                  </a:txBody>
                  <a:tcPr marL="50800" marR="50800" marT="25400" marB="25400" anchor="ctr">
                    <a:solidFill>
                      <a:srgbClr val="F7F8FA"/>
                    </a:solidFill>
                  </a:tcPr>
                </a:tc>
                <a:tc>
                  <a:txBody>
                    <a:bodyPr wrap="square"/>
                    <a:lstStyle/>
                    <a:p>
                      <a:pPr algn="ctr"/>
                      <a:r>
                        <a:rPr sz="1000" b="0">
                          <a:solidFill>
                            <a:srgbClr val="182433"/>
                          </a:solidFill>
                          <a:latin typeface="Calibri"/>
                        </a:rPr>
                        <a:t>1.4%</a:t>
                      </a:r>
                    </a:p>
                  </a:txBody>
                  <a:tcPr marL="50800" marR="50800" marT="25400" marB="25400" anchor="ctr">
                    <a:solidFill>
                      <a:srgbClr val="F7F8FA"/>
                    </a:solidFill>
                  </a:tcPr>
                </a:tc>
                <a:tc>
                  <a:txBody>
                    <a:bodyPr wrap="square"/>
                    <a:lstStyle/>
                    <a:p>
                      <a:pPr algn="ctr"/>
                      <a:r>
                        <a:rPr sz="1000" b="0">
                          <a:solidFill>
                            <a:srgbClr val="182433"/>
                          </a:solidFill>
                          <a:latin typeface="Calibri"/>
                        </a:rPr>
                        <a:t>5.6%</a:t>
                      </a:r>
                    </a:p>
                  </a:txBody>
                  <a:tcPr marL="50800" marR="50800" marT="25400" marB="25400" anchor="ctr">
                    <a:solidFill>
                      <a:srgbClr val="F7F8FA"/>
                    </a:solidFill>
                  </a:tcPr>
                </a:tc>
              </a:tr>
              <a:tr h="444137">
                <a:tc>
                  <a:txBody>
                    <a:bodyPr wrap="square"/>
                    <a:lstStyle/>
                    <a:p>
                      <a:pPr algn="l"/>
                      <a:r>
                        <a:rPr sz="1000" b="0">
                          <a:solidFill>
                            <a:srgbClr val="182433"/>
                          </a:solidFill>
                          <a:latin typeface="Calibri"/>
                        </a:rPr>
                        <a:t>20y</a:t>
                      </a:r>
                    </a:p>
                  </a:txBody>
                  <a:tcPr marL="50800" marR="50800" marT="25400" marB="25400" anchor="ctr">
                    <a:solidFill>
                      <a:srgbClr val="FFFFFF"/>
                    </a:solidFill>
                  </a:tcPr>
                </a:tc>
                <a:tc>
                  <a:txBody>
                    <a:bodyPr wrap="square"/>
                    <a:lstStyle/>
                    <a:p>
                      <a:pPr algn="ctr"/>
                      <a:r>
                        <a:rPr sz="1000" b="0">
                          <a:solidFill>
                            <a:srgbClr val="182433"/>
                          </a:solidFill>
                          <a:latin typeface="Calibri"/>
                        </a:rPr>
                        <a:t>Overnight SOFR vol</a:t>
                      </a:r>
                    </a:p>
                  </a:txBody>
                  <a:tcPr marL="50800" marR="50800" marT="25400" marB="25400" anchor="ctr">
                    <a:solidFill>
                      <a:srgbClr val="FFFFFF"/>
                    </a:solidFill>
                  </a:tcPr>
                </a:tc>
                <a:tc>
                  <a:txBody>
                    <a:bodyPr wrap="square"/>
                    <a:lstStyle/>
                    <a:p>
                      <a:pPr algn="ctr"/>
                      <a:r>
                        <a:rPr sz="1000" b="0">
                          <a:solidFill>
                            <a:srgbClr val="182433"/>
                          </a:solidFill>
                          <a:latin typeface="Calibri"/>
                        </a:rPr>
                        <a:t>1 of 161</a:t>
                      </a:r>
                    </a:p>
                  </a:txBody>
                  <a:tcPr marL="50800" marR="50800" marT="25400" marB="25400" anchor="ctr">
                    <a:solidFill>
                      <a:srgbClr val="FFFFFF"/>
                    </a:solidFill>
                  </a:tcPr>
                </a:tc>
                <a:tc>
                  <a:txBody>
                    <a:bodyPr wrap="square"/>
                    <a:lstStyle/>
                    <a:p>
                      <a:pPr algn="ctr"/>
                      <a:r>
                        <a:rPr sz="1000" b="0">
                          <a:solidFill>
                            <a:srgbClr val="182433"/>
                          </a:solidFill>
                          <a:latin typeface="Calibri"/>
                        </a:rPr>
                        <a:t>0.6%</a:t>
                      </a:r>
                    </a:p>
                  </a:txBody>
                  <a:tcPr marL="50800" marR="50800" marT="25400" marB="25400" anchor="ctr">
                    <a:solidFill>
                      <a:srgbClr val="FFFFFF"/>
                    </a:solidFill>
                  </a:tcPr>
                </a:tc>
                <a:tc>
                  <a:txBody>
                    <a:bodyPr wrap="square"/>
                    <a:lstStyle/>
                    <a:p>
                      <a:pPr algn="ctr"/>
                      <a:r>
                        <a:rPr sz="1000" b="0">
                          <a:solidFill>
                            <a:srgbClr val="182433"/>
                          </a:solidFill>
                          <a:latin typeface="Calibri"/>
                        </a:rPr>
                        <a:t>3.3%</a:t>
                      </a:r>
                    </a:p>
                  </a:txBody>
                  <a:tcPr marL="50800" marR="50800" marT="25400" marB="25400" anchor="ctr">
                    <a:solidFill>
                      <a:srgbClr val="FFFFFF"/>
                    </a:solidFill>
                  </a:tcPr>
                </a:tc>
              </a:tr>
              <a:tr h="444137">
                <a:tc>
                  <a:txBody>
                    <a:bodyPr wrap="square"/>
                    <a:lstStyle/>
                    <a:p>
                      <a:pPr algn="l"/>
                      <a:r>
                        <a:rPr sz="1000" b="0">
                          <a:solidFill>
                            <a:srgbClr val="182433"/>
                          </a:solidFill>
                          <a:latin typeface="Calibri"/>
                        </a:rPr>
                        <a:t>20y</a:t>
                      </a:r>
                    </a:p>
                  </a:txBody>
                  <a:tcPr marL="50800" marR="50800" marT="25400" marB="25400" anchor="ctr">
                    <a:solidFill>
                      <a:srgbClr val="F7F8FA"/>
                    </a:solidFill>
                  </a:tcPr>
                </a:tc>
                <a:tc>
                  <a:txBody>
                    <a:bodyPr wrap="square"/>
                    <a:lstStyle/>
                    <a:p>
                      <a:pPr algn="ctr"/>
                      <a:r>
                        <a:rPr sz="1000" b="0">
                          <a:solidFill>
                            <a:srgbClr val="182433"/>
                          </a:solidFill>
                          <a:latin typeface="Calibri"/>
                        </a:rPr>
                        <a:t>Long-end fit</a:t>
                      </a:r>
                    </a:p>
                  </a:txBody>
                  <a:tcPr marL="50800" marR="50800" marT="25400" marB="25400" anchor="ctr">
                    <a:solidFill>
                      <a:srgbClr val="F7F8FA"/>
                    </a:solidFill>
                  </a:tcPr>
                </a:tc>
                <a:tc>
                  <a:txBody>
                    <a:bodyPr wrap="square"/>
                    <a:lstStyle/>
                    <a:p>
                      <a:pPr algn="ctr"/>
                      <a:r>
                        <a:rPr sz="1000" b="0">
                          <a:solidFill>
                            <a:srgbClr val="182433"/>
                          </a:solidFill>
                          <a:latin typeface="Calibri"/>
                        </a:rPr>
                        <a:t>3 of 161</a:t>
                      </a:r>
                    </a:p>
                  </a:txBody>
                  <a:tcPr marL="50800" marR="50800" marT="25400" marB="25400" anchor="ctr">
                    <a:solidFill>
                      <a:srgbClr val="F7F8FA"/>
                    </a:solidFill>
                  </a:tcPr>
                </a:tc>
                <a:tc>
                  <a:txBody>
                    <a:bodyPr wrap="square"/>
                    <a:lstStyle/>
                    <a:p>
                      <a:pPr algn="ctr"/>
                      <a:r>
                        <a:rPr sz="1000" b="0">
                          <a:solidFill>
                            <a:srgbClr val="182433"/>
                          </a:solidFill>
                          <a:latin typeface="Calibri"/>
                        </a:rPr>
                        <a:t>1.4%</a:t>
                      </a:r>
                    </a:p>
                  </a:txBody>
                  <a:tcPr marL="50800" marR="50800" marT="25400" marB="25400" anchor="ctr">
                    <a:solidFill>
                      <a:srgbClr val="F7F8FA"/>
                    </a:solidFill>
                  </a:tcPr>
                </a:tc>
                <a:tc>
                  <a:txBody>
                    <a:bodyPr wrap="square"/>
                    <a:lstStyle/>
                    <a:p>
                      <a:pPr algn="ctr"/>
                      <a:r>
                        <a:rPr sz="1000" b="0">
                          <a:solidFill>
                            <a:srgbClr val="182433"/>
                          </a:solidFill>
                          <a:latin typeface="Calibri"/>
                        </a:rPr>
                        <a:t>5.8%</a:t>
                      </a:r>
                    </a:p>
                  </a:txBody>
                  <a:tcPr marL="50800" marR="50800" marT="25400" marB="25400" anchor="ctr">
                    <a:solidFill>
                      <a:srgbClr val="F7F8FA"/>
                    </a:solidFill>
                  </a:tcPr>
                </a:tc>
              </a:tr>
            </a:tbl>
          </a:graphicData>
        </a:graphic>
      </p:graphicFrame>
      <p:sp>
        <p:nvSpPr>
          <p:cNvPr id="8" name="TextBox 7"/>
          <p:cNvSpPr txBox="1"/>
          <p:nvPr/>
        </p:nvSpPr>
        <p:spPr>
          <a:xfrm>
            <a:off x="457200" y="4846320"/>
            <a:ext cx="11247120" cy="731520"/>
          </a:xfrm>
          <a:prstGeom prst="rect">
            <a:avLst/>
          </a:prstGeom>
          <a:noFill/>
        </p:spPr>
        <p:txBody>
          <a:bodyPr wrap="square" anchor="t" lIns="0" rIns="0" tIns="0" bIns="0">
            <a:spAutoFit/>
          </a:bodyPr>
          <a:lstStyle/>
          <a:p>
            <a:pPr algn="l"/>
            <a:r>
              <a:rPr sz="1200" b="0" i="1">
                <a:solidFill>
                  <a:srgbClr val="6B7280"/>
                </a:solidFill>
                <a:latin typeface="Calibri"/>
              </a:rPr>
              <a:t>Nominal exception rates are 1% at the 99% level and 5% at the 95% level. The long-end fit is the more stable calibration across the full 2020-2026 window.</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A9. Code Map (Report Appendix D)</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62</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graphicFrame>
        <p:nvGraphicFramePr>
          <p:cNvPr id="7" name="Table 6"/>
          <p:cNvGraphicFramePr>
            <a:graphicFrameLocks noGrp="1"/>
          </p:cNvGraphicFramePr>
          <p:nvPr/>
        </p:nvGraphicFramePr>
        <p:xfrm>
          <a:off x="457200" y="1463040"/>
          <a:ext cx="11247119" cy="4389120"/>
        </p:xfrm>
        <a:graphic>
          <a:graphicData uri="http://schemas.openxmlformats.org/drawingml/2006/table">
            <a:tbl>
              <a:tblPr firstRow="1" bandRow="1">
                <a:tableStyleId>{5C22544A-7EE6-4342-B048-85BDC9FD1C3A}</a:tableStyleId>
              </a:tblPr>
              <a:tblGrid>
                <a:gridCol w="2011680"/>
                <a:gridCol w="9235439"/>
              </a:tblGrid>
              <a:tr h="548640">
                <a:tc>
                  <a:txBody>
                    <a:bodyPr wrap="square"/>
                    <a:lstStyle/>
                    <a:p>
                      <a:pPr algn="l"/>
                      <a:r>
                        <a:rPr sz="1080" b="1">
                          <a:solidFill>
                            <a:srgbClr val="FFFFFF"/>
                          </a:solidFill>
                          <a:latin typeface="Calibri"/>
                        </a:rPr>
                        <a:t>Package</a:t>
                      </a:r>
                    </a:p>
                  </a:txBody>
                  <a:tcPr marL="50800" marR="50800" marT="25400" marB="25400" anchor="ctr">
                    <a:solidFill>
                      <a:srgbClr val="182433"/>
                    </a:solidFill>
                  </a:tcPr>
                </a:tc>
                <a:tc>
                  <a:txBody>
                    <a:bodyPr wrap="square"/>
                    <a:lstStyle/>
                    <a:p>
                      <a:pPr algn="ctr"/>
                      <a:r>
                        <a:rPr sz="1080" b="1">
                          <a:solidFill>
                            <a:srgbClr val="FFFFFF"/>
                          </a:solidFill>
                          <a:latin typeface="Calibri"/>
                        </a:rPr>
                        <a:t>Contents</a:t>
                      </a:r>
                    </a:p>
                  </a:txBody>
                  <a:tcPr marL="50800" marR="50800" marT="25400" marB="25400" anchor="ctr">
                    <a:solidFill>
                      <a:srgbClr val="182433"/>
                    </a:solidFill>
                  </a:tcPr>
                </a:tc>
              </a:tr>
              <a:tr h="548640">
                <a:tc>
                  <a:txBody>
                    <a:bodyPr wrap="square"/>
                    <a:lstStyle/>
                    <a:p>
                      <a:pPr algn="l"/>
                      <a:r>
                        <a:rPr sz="1030" b="0">
                          <a:solidFill>
                            <a:srgbClr val="182433"/>
                          </a:solidFill>
                          <a:latin typeface="Calibri"/>
                        </a:rPr>
                        <a:t>market/</a:t>
                      </a:r>
                    </a:p>
                  </a:txBody>
                  <a:tcPr marL="50800" marR="50800" marT="25400" marB="25400" anchor="ctr">
                    <a:solidFill>
                      <a:srgbClr val="FFFFFF"/>
                    </a:solidFill>
                  </a:tcPr>
                </a:tc>
                <a:tc>
                  <a:txBody>
                    <a:bodyPr wrap="square"/>
                    <a:lstStyle/>
                    <a:p>
                      <a:pPr algn="ctr"/>
                      <a:r>
                        <a:rPr sz="1030" b="0">
                          <a:solidFill>
                            <a:srgbClr val="182433"/>
                          </a:solidFill>
                          <a:latin typeface="Calibri"/>
                        </a:rPr>
                        <a:t>sofr, equities, fx, vols, correlations; boj, mof_jgb, bloomberg (JPY); credit_spreads, equity_buckets</a:t>
                      </a:r>
                    </a:p>
                  </a:txBody>
                  <a:tcPr marL="50800" marR="50800" marT="25400" marB="25400" anchor="ctr">
                    <a:solidFill>
                      <a:srgbClr val="FFFFFF"/>
                    </a:solidFill>
                  </a:tcPr>
                </a:tc>
              </a:tr>
              <a:tr h="548640">
                <a:tc>
                  <a:txBody>
                    <a:bodyPr wrap="square"/>
                    <a:lstStyle/>
                    <a:p>
                      <a:pPr algn="l"/>
                      <a:r>
                        <a:rPr sz="1030" b="0">
                          <a:solidFill>
                            <a:srgbClr val="182433"/>
                          </a:solidFill>
                          <a:latin typeface="Calibri"/>
                        </a:rPr>
                        <a:t>models/</a:t>
                      </a:r>
                    </a:p>
                  </a:txBody>
                  <a:tcPr marL="50800" marR="50800" marT="25400" marB="25400" anchor="ctr">
                    <a:solidFill>
                      <a:srgbClr val="F7F8FA"/>
                    </a:solidFill>
                  </a:tcPr>
                </a:tc>
                <a:tc>
                  <a:txBody>
                    <a:bodyPr wrap="square"/>
                    <a:lstStyle/>
                    <a:p>
                      <a:pPr algn="ctr"/>
                      <a:r>
                        <a:rPr sz="1030" b="0">
                          <a:solidFill>
                            <a:srgbClr val="182433"/>
                          </a:solidFill>
                          <a:latin typeface="Calibri"/>
                        </a:rPr>
                        <a:t>rates (Hull-White), g2pp, equity_fx (GBM+JPY drift), calibration, equity_factor_model (PCA), credit</a:t>
                      </a:r>
                    </a:p>
                  </a:txBody>
                  <a:tcPr marL="50800" marR="50800" marT="25400" marB="25400" anchor="ctr">
                    <a:solidFill>
                      <a:srgbClr val="F7F8FA"/>
                    </a:solidFill>
                  </a:tcPr>
                </a:tc>
              </a:tr>
              <a:tr h="548640">
                <a:tc>
                  <a:txBody>
                    <a:bodyPr wrap="square"/>
                    <a:lstStyle/>
                    <a:p>
                      <a:pPr algn="l"/>
                      <a:r>
                        <a:rPr sz="1030" b="0">
                          <a:solidFill>
                            <a:srgbClr val="182433"/>
                          </a:solidFill>
                          <a:latin typeface="Calibri"/>
                        </a:rPr>
                        <a:t>simulation/</a:t>
                      </a:r>
                    </a:p>
                  </a:txBody>
                  <a:tcPr marL="50800" marR="50800" marT="25400" marB="25400" anchor="ctr">
                    <a:solidFill>
                      <a:srgbClr val="FFFFFF"/>
                    </a:solidFill>
                  </a:tcPr>
                </a:tc>
                <a:tc>
                  <a:txBody>
                    <a:bodyPr wrap="square"/>
                    <a:lstStyle/>
                    <a:p>
                      <a:pPr algn="ctr"/>
                      <a:r>
                        <a:rPr sz="1030" b="0">
                          <a:solidFill>
                            <a:srgbClr val="182433"/>
                          </a:solidFill>
                          <a:latin typeface="Calibri"/>
                        </a:rPr>
                        <a:t>engine (grid, paths, MPOR), random_numbers (5 sampling schemes), parallel (multiprocessing)</a:t>
                      </a:r>
                    </a:p>
                  </a:txBody>
                  <a:tcPr marL="50800" marR="50800" marT="25400" marB="25400" anchor="ctr">
                    <a:solidFill>
                      <a:srgbClr val="FFFFFF"/>
                    </a:solidFill>
                  </a:tcPr>
                </a:tc>
              </a:tr>
              <a:tr h="548640">
                <a:tc>
                  <a:txBody>
                    <a:bodyPr wrap="square"/>
                    <a:lstStyle/>
                    <a:p>
                      <a:pPr algn="l"/>
                      <a:r>
                        <a:rPr sz="1030" b="0">
                          <a:solidFill>
                            <a:srgbClr val="182433"/>
                          </a:solidFill>
                          <a:latin typeface="Calibri"/>
                        </a:rPr>
                        <a:t>greeks/</a:t>
                      </a:r>
                    </a:p>
                  </a:txBody>
                  <a:tcPr marL="50800" marR="50800" marT="25400" marB="25400" anchor="ctr">
                    <a:solidFill>
                      <a:srgbClr val="F7F8FA"/>
                    </a:solidFill>
                  </a:tcPr>
                </a:tc>
                <a:tc>
                  <a:txBody>
                    <a:bodyPr wrap="square"/>
                    <a:lstStyle/>
                    <a:p>
                      <a:pPr algn="ctr"/>
                      <a:r>
                        <a:rPr sz="1030" b="0">
                          <a:solidFill>
                            <a:srgbClr val="182433"/>
                          </a:solidFill>
                          <a:latin typeface="Calibri"/>
                        </a:rPr>
                        <a:t>book, exposure, pathwise, bumps</a:t>
                      </a:r>
                    </a:p>
                  </a:txBody>
                  <a:tcPr marL="50800" marR="50800" marT="25400" marB="25400" anchor="ctr">
                    <a:solidFill>
                      <a:srgbClr val="F7F8FA"/>
                    </a:solidFill>
                  </a:tcPr>
                </a:tc>
              </a:tr>
              <a:tr h="548640">
                <a:tc>
                  <a:txBody>
                    <a:bodyPr wrap="square"/>
                    <a:lstStyle/>
                    <a:p>
                      <a:pPr algn="l"/>
                      <a:r>
                        <a:rPr sz="1030" b="0">
                          <a:solidFill>
                            <a:srgbClr val="182433"/>
                          </a:solidFill>
                          <a:latin typeface="Calibri"/>
                        </a:rPr>
                        <a:t>stress/, validation/</a:t>
                      </a:r>
                    </a:p>
                  </a:txBody>
                  <a:tcPr marL="50800" marR="50800" marT="25400" marB="25400" anchor="ctr">
                    <a:solidFill>
                      <a:srgbClr val="FFFFFF"/>
                    </a:solidFill>
                  </a:tcPr>
                </a:tc>
                <a:tc>
                  <a:txBody>
                    <a:bodyPr wrap="square"/>
                    <a:lstStyle/>
                    <a:p>
                      <a:pPr algn="ctr"/>
                      <a:r>
                        <a:rPr sz="1030" b="0">
                          <a:solidFill>
                            <a:srgbClr val="182433"/>
                          </a:solidFill>
                          <a:latin typeface="Calibri"/>
                        </a:rPr>
                        <a:t>scenarios; backtest (Kupiec, Christoffersen)</a:t>
                      </a:r>
                    </a:p>
                  </a:txBody>
                  <a:tcPr marL="50800" marR="50800" marT="25400" marB="25400" anchor="ctr">
                    <a:solidFill>
                      <a:srgbClr val="FFFFFF"/>
                    </a:solidFill>
                  </a:tcPr>
                </a:tc>
              </a:tr>
              <a:tr h="548640">
                <a:tc>
                  <a:txBody>
                    <a:bodyPr wrap="square"/>
                    <a:lstStyle/>
                    <a:p>
                      <a:pPr algn="l"/>
                      <a:r>
                        <a:rPr sz="1030" b="0">
                          <a:solidFill>
                            <a:srgbClr val="182433"/>
                          </a:solidFill>
                          <a:latin typeface="Calibri"/>
                        </a:rPr>
                        <a:t>exposure/</a:t>
                      </a:r>
                    </a:p>
                  </a:txBody>
                  <a:tcPr marL="50800" marR="50800" marT="25400" marB="25400" anchor="ctr">
                    <a:solidFill>
                      <a:srgbClr val="F7F8FA"/>
                    </a:solidFill>
                  </a:tcPr>
                </a:tc>
                <a:tc>
                  <a:txBody>
                    <a:bodyPr wrap="square"/>
                    <a:lstStyle/>
                    <a:p>
                      <a:pPr algn="ctr"/>
                      <a:r>
                        <a:rPr sz="1030" b="0">
                          <a:solidFill>
                            <a:srgbClr val="182433"/>
                          </a:solidFill>
                          <a:latin typeface="Calibri"/>
                        </a:rPr>
                        <a:t>spec_exposure, aggregate, collateral, cva, xva, sa_cva, sa_ccr</a:t>
                      </a:r>
                    </a:p>
                  </a:txBody>
                  <a:tcPr marL="50800" marR="50800" marT="25400" marB="25400" anchor="ctr">
                    <a:solidFill>
                      <a:srgbClr val="F7F8FA"/>
                    </a:solidFill>
                  </a:tcPr>
                </a:tc>
              </a:tr>
              <a:tr h="548640">
                <a:tc>
                  <a:txBody>
                    <a:bodyPr wrap="square"/>
                    <a:lstStyle/>
                    <a:p>
                      <a:pPr algn="l"/>
                      <a:r>
                        <a:rPr sz="1030" b="0">
                          <a:solidFill>
                            <a:srgbClr val="182433"/>
                          </a:solidFill>
                          <a:latin typeface="Calibri"/>
                        </a:rPr>
                        <a:t>tests/</a:t>
                      </a:r>
                    </a:p>
                  </a:txBody>
                  <a:tcPr marL="50800" marR="50800" marT="25400" marB="25400" anchor="ctr">
                    <a:solidFill>
                      <a:srgbClr val="FFFFFF"/>
                    </a:solidFill>
                  </a:tcPr>
                </a:tc>
                <a:tc>
                  <a:txBody>
                    <a:bodyPr wrap="square"/>
                    <a:lstStyle/>
                    <a:p>
                      <a:pPr algn="ctr"/>
                      <a:r>
                        <a:rPr sz="1030" b="0">
                          <a:solidFill>
                            <a:srgbClr val="182433"/>
                          </a:solidFill>
                          <a:latin typeface="Calibri"/>
                        </a:rPr>
                        <a:t>142 tests across engine, calibration, exposure, Greeks, xVA, backtests</a:t>
                      </a:r>
                    </a:p>
                  </a:txBody>
                  <a:tcPr marL="50800" marR="50800" marT="25400" marB="25400" anchor="ctr">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685800"/>
          </a:xfrm>
          <a:prstGeom prst="rect">
            <a:avLst/>
          </a:prstGeom>
          <a:noFill/>
        </p:spPr>
        <p:txBody>
          <a:bodyPr wrap="square" anchor="t" lIns="0" rIns="0" tIns="0" bIns="0">
            <a:spAutoFit/>
          </a:bodyPr>
          <a:lstStyle/>
          <a:p>
            <a:pPr algn="l">
              <a:lnSpc>
                <a:spcPct val="105000"/>
              </a:lnSpc>
            </a:pPr>
            <a:r>
              <a:rPr sz="2400" b="1" i="0">
                <a:solidFill>
                  <a:srgbClr val="182433"/>
                </a:solidFill>
                <a:latin typeface="Cambria"/>
              </a:rPr>
              <a:t>A10. Reproducing Every Result (Report Appendix E)</a:t>
            </a:r>
          </a:p>
        </p:txBody>
      </p:sp>
      <p:sp>
        <p:nvSpPr>
          <p:cNvPr id="3" name="Rectangle 2"/>
          <p:cNvSpPr/>
          <p:nvPr/>
        </p:nvSpPr>
        <p:spPr>
          <a:xfrm>
            <a:off x="502920" y="1024128"/>
            <a:ext cx="502920" cy="38100"/>
          </a:xfrm>
          <a:prstGeom prst="rect">
            <a:avLst/>
          </a:prstGeom>
          <a:solidFill>
            <a:srgbClr val="D200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73952"/>
            <a:ext cx="8686800" cy="274320"/>
          </a:xfrm>
          <a:prstGeom prst="rect">
            <a:avLst/>
          </a:prstGeom>
          <a:noFill/>
        </p:spPr>
        <p:txBody>
          <a:bodyPr wrap="none" lIns="0" tIns="0">
            <a:spAutoFit/>
          </a:bodyPr>
          <a:lstStyle/>
          <a:p>
            <a:r>
              <a:rPr sz="850" b="0">
                <a:solidFill>
                  <a:srgbClr val="E8EAED"/>
                </a:solidFill>
                <a:latin typeface="Calibri"/>
              </a:rPr>
              <a:t>Intro   </a:t>
            </a:r>
            <a:r>
              <a:rPr sz="850" b="0">
                <a:solidFill>
                  <a:srgbClr val="E8EAED"/>
                </a:solidFill>
                <a:latin typeface="Calibri"/>
              </a:rPr>
              <a:t>Brief   </a:t>
            </a:r>
            <a:r>
              <a:rPr sz="850" b="0">
                <a:solidFill>
                  <a:srgbClr val="E8EAED"/>
                </a:solidFill>
                <a:latin typeface="Calibri"/>
              </a:rPr>
              <a:t>Data   </a:t>
            </a:r>
            <a:r>
              <a:rPr sz="850" b="0">
                <a:solidFill>
                  <a:srgbClr val="E8EAED"/>
                </a:solidFill>
                <a:latin typeface="Calibri"/>
              </a:rPr>
              <a:t>Pipeline   </a:t>
            </a:r>
            <a:r>
              <a:rPr sz="850" b="0">
                <a:solidFill>
                  <a:srgbClr val="E8EAED"/>
                </a:solidFill>
                <a:latin typeface="Calibri"/>
              </a:rPr>
              <a:t>Models   </a:t>
            </a:r>
            <a:r>
              <a:rPr sz="850" b="0">
                <a:solidFill>
                  <a:srgbClr val="E8EAED"/>
                </a:solidFill>
                <a:latin typeface="Calibri"/>
              </a:rPr>
              <a:t>Trade-offs   </a:t>
            </a:r>
            <a:r>
              <a:rPr sz="850" b="0">
                <a:solidFill>
                  <a:srgbClr val="E8EAED"/>
                </a:solidFill>
                <a:latin typeface="Calibri"/>
              </a:rPr>
              <a:t>Feedback   </a:t>
            </a:r>
            <a:r>
              <a:rPr sz="850" b="1">
                <a:solidFill>
                  <a:srgbClr val="D2006F"/>
                </a:solidFill>
                <a:latin typeface="Calibri"/>
              </a:rPr>
              <a:t>Results   </a:t>
            </a:r>
            <a:r>
              <a:rPr sz="850" b="0">
                <a:solidFill>
                  <a:srgbClr val="E8EAED"/>
                </a:solidFill>
                <a:latin typeface="Calibri"/>
              </a:rPr>
              <a:t>Conclusions</a:t>
            </a:r>
          </a:p>
        </p:txBody>
      </p:sp>
      <p:sp>
        <p:nvSpPr>
          <p:cNvPr id="5" name="TextBox 4"/>
          <p:cNvSpPr txBox="1"/>
          <p:nvPr/>
        </p:nvSpPr>
        <p:spPr>
          <a:xfrm>
            <a:off x="11521440" y="6473952"/>
            <a:ext cx="548640" cy="274320"/>
          </a:xfrm>
          <a:prstGeom prst="rect">
            <a:avLst/>
          </a:prstGeom>
          <a:noFill/>
        </p:spPr>
        <p:txBody>
          <a:bodyPr wrap="none" lIns="0" tIns="0">
            <a:spAutoFit/>
          </a:bodyPr>
          <a:lstStyle/>
          <a:p>
            <a:pPr algn="r"/>
            <a:r>
              <a:rPr sz="900">
                <a:solidFill>
                  <a:srgbClr val="6B7280"/>
                </a:solidFill>
                <a:latin typeface="Calibri"/>
              </a:rPr>
              <a:t>63</a:t>
            </a:r>
          </a:p>
        </p:txBody>
      </p:sp>
      <p:sp>
        <p:nvSpPr>
          <p:cNvPr id="6" name="Rounded Rectangle 5"/>
          <p:cNvSpPr/>
          <p:nvPr/>
        </p:nvSpPr>
        <p:spPr>
          <a:xfrm>
            <a:off x="502920" y="1051560"/>
            <a:ext cx="822960" cy="256032"/>
          </a:xfrm>
          <a:prstGeom prst="roundRect">
            <a:avLst/>
          </a:prstGeom>
          <a:solidFill>
            <a:srgbClr val="E8E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5400" tIns="12700"/>
          <a:lstStyle/>
          <a:p>
            <a:pPr algn="ctr"/>
            <a:r>
              <a:rPr sz="900" b="1">
                <a:solidFill>
                  <a:srgbClr val="6B7280"/>
                </a:solidFill>
                <a:latin typeface="Calibri"/>
              </a:rPr>
              <a:t>APPENDIX</a:t>
            </a:r>
          </a:p>
        </p:txBody>
      </p:sp>
      <p:sp>
        <p:nvSpPr>
          <p:cNvPr id="7" name="TextBox 6"/>
          <p:cNvSpPr txBox="1"/>
          <p:nvPr/>
        </p:nvSpPr>
        <p:spPr>
          <a:xfrm>
            <a:off x="457200" y="1463040"/>
            <a:ext cx="11247120" cy="4114800"/>
          </a:xfrm>
          <a:prstGeom prst="rect">
            <a:avLst/>
          </a:prstGeom>
          <a:noFill/>
        </p:spPr>
        <p:txBody>
          <a:bodyPr wrap="square" anchor="t" lIns="0" rIns="0" tIns="0" bIns="0">
            <a:spAutoFit/>
          </a:bodyPr>
          <a:lstStyle/>
          <a:p>
            <a:pPr algn="l">
              <a:lnSpc>
                <a:spcPct val="130000"/>
              </a:lnSpc>
            </a:pPr>
            <a:r>
              <a:rPr sz="1300" b="0" i="0">
                <a:solidFill>
                  <a:srgbClr val="182433"/>
                </a:solidFill>
                <a:latin typeface="Courier New"/>
              </a:rPr>
              <a:t>python scripts/generate_report_data.py --scenarios 3000   # simulation + figure arrays
python scripts/run_simulation.py --scenarios 3000          # EE/PFE99/MPE profiles
python scripts/run_spec_simulation.py --scenarios 5000     # close-out exposure (headline)
python scripts/run_greeks.py --scenarios 1000              # book and exposure Greeks
python scripts/run_sa_cva.py --scenarios 1000               # CVA and SA-CVA capital
python scripts/run_xva.py &amp;&amp; python scripts/run_sa_ccr.py   # CVA/DVA/FVA and SA-CCR
python scripts/run_stress.py --scenarios 1000               # stress test
python scripts/run_backtest.py                              # Kupiec backtest
python -m pytest tests                                       # all 142 automated tests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