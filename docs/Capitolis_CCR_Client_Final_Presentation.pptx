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1 -- a structured stress programme, not a paragraph. Key finding: margin, not the shock, is what dampens the close-out measure.</a:t>
            </a:r>
          </a:p>
          <a:p/>
          <a:p>
            <a:r>
              <a:t>- Close-out exposure is structurally far less sensitive to instantaneous shocks than the level exposure, because 10-day moves from a margined start are what's being measured</a:t>
            </a:r>
          </a:p>
          <a:p>
            <a:r>
              <a:t>- Product-specific: equity TRS respond only to equity/FX shocks; bond forwards/TRS respond only to rate shocks, exactly as trade structure implies</a:t>
            </a:r>
          </a:p>
          <a:p>
            <a:r>
              <a:t>- Largest close-out move: Stagflation -24%; largest level move: Stagflation +86% for the opposite reason (level exposure keeps the whole MTM at risk)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how we know the engine is right, independent of the headline results themselves.</a:t>
            </a:r>
          </a:p>
          <a:p/>
          <a:p>
            <a:r>
              <a:t>- t=0 self-check: simulated EE(0) equals the directly computed current exposure to 0.0000%</a:t>
            </a:r>
          </a:p>
          <a:p>
            <a:r>
              <a:t>- Delta-normal VaR benchmark: $12.6M (independent method) vs $12.1M from the Monte Carlo P&amp;L distribution, ratio 1.04 -- within the accepted 0.3-1.3x range</a:t>
            </a:r>
          </a:p>
          <a:p>
            <a:r>
              <a:t>- 142 automated tests pass, covering curve fit, GBM martingale property, 1/sqrt(N) error law, negative-rate behaviour, close-out exposure convention, and more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19202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19202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Matches the lognormal vol convention we measure;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Drifts derived from the martingale condition, not assumed -- verified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43400"/>
            <a:ext cx="5486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0175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0175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A single Gaussian factor cannot produce that shape; a=0.001 (the Ho-Lee limit, flat vol across tenors) is the closest fit available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Call RMSE vs PR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PFE99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PFE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48840"/>
            <a:ext cx="4023360" cy="1508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2148840"/>
            <a:ext cx="44450" cy="1508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25856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24328"/>
            <a:ext cx="37033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that consistency is the deciding factor</a:t>
            </a:r>
          </a:p>
        </p:txBody>
      </p:sp>
      <p:pic>
        <p:nvPicPr>
          <p:cNvPr id="12" name="Picture 11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6400800" cy="23118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2636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931920"/>
            <a:ext cx="4023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200150"/>
                <a:gridCol w="1200150"/>
                <a:gridCol w="1200150"/>
                <a:gridCol w="120015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6002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6459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0" y="3063240"/>
          <a:ext cx="57607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1371600"/>
                <a:gridCol w="1371600"/>
                <a:gridCol w="128015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943600" y="5166360"/>
            <a:ext cx="5760720" cy="13258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5166360"/>
            <a:ext cx="44450" cy="13258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5276088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641848"/>
            <a:ext cx="5440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-3% on the headline is not worth 3 extra parameters here; the bigger uncertainty is equity vol and rate-equity dependence (Section 7.9)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3375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33832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pic>
        <p:nvPicPr>
          <p:cNvPr id="9" name="Picture 8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029200" cy="22724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10819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5 factors explain 47% of variance, 10 explain 62% -- PCA approximates, not replicates, the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79476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Sampling error is not consistently lower for PCA either: across 3/5/10 factors its std of PFE99 ranges 2.6%-6.2% of reference vs 4.5-4.9% for full rank -- no stable advantage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Explainable: factor 1 (20% of variance) is a broad market mode; factor 2 (8.9%) separates Japan from US listings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Would become useful only if systematic factors were drawn quasi-randomly and idiosyncratic noise pseudo-randomly -- listed as future work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621536"/>
                <a:gridCol w="1621536"/>
                <a:gridCol w="162153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Works as black box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Covers quantiles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independent draws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but 282x noisier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CRN (used)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cost measured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Pathwise (eq/FX check)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~1000x faster, eq/FX only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Adjoint (not adopted)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6B728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3-5x one valuation -- needs differentiable pricers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69164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103120"/>
            <a:ext cx="411480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103120"/>
            <a:ext cx="44450" cy="12801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128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78608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</p:txBody>
      </p:sp>
      <p:pic>
        <p:nvPicPr>
          <p:cNvPr id="13" name="Picture 12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931920" cy="23931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Cost per Greeks method, measured at N=300, 8 cores.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566160"/>
            <a:ext cx="6583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82 of 91 total factor bumps (equity+FX) cost 88s total via exact GBM path rescaling -- vs ~8,166s naive resimulation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Rate/vol bumps still need resimulation (~109s each, 13 needed) -- the exact analytic rate Greek (feedback item 7, next section) removes even that cost for curve-only bumps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Stress Testing: Close-Out MPE99 Moves at Most -24% / +23%, Level Moves Up to +86%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120638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79"/>
                <a:gridCol w="1554479"/>
              </a:tblGrid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120640" cy="24263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63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Close-out PFE99 ratio to base, by scenario, through the first year -- margin dampens the shock.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5943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13 scenarios total: 8 round-number hypothetical + 5 historical replays (2020 crash, 2022 rate spike, 2024 yen surge, and newly added 2008 GFC, 2015 China deval. -- see Appendix A3)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Each scenario is a full Monte Carlo re-run from the shocked state, with the same random numbers as the base case -- so the difference is the shock, not sampling noise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Flight-to-quality and stagflation apply the same equity shock with opposite rate shocks -- CPTY_A/B move similarly in both; CPTY_C moves oppositely because a 22-year bond gains duration value as yields fall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Validation: Self-Check to 0.0000%, Martingale Tests, and a 1.04x VaR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Each check isolates one layer of the engine (paths, pricing, calibration, aggregation) so a failure points directly at where to look. Validation rests on independent methods -- parametric VaR, hand-calculated analytic bond prices, and martingale conditions derived from first principles -- not circular checks of the engine against itself.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