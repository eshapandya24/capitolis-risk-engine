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141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BERKELEY MFE  ·  CAPITOLIS INDUSTRY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Monte Carlo CCR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CADCFC"/>
                </a:solidFill>
                <a:latin typeface="Calibri"/>
              </a:rPr>
              <a:t>Full technical build: methods, formulas, variance reduction, calibration, and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85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reporting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70916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285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risk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70916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285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real bugs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70916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5285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RNG methods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F9ED6"/>
                </a:solidFill>
                <a:latin typeface="Calibri"/>
              </a:rPr>
              <a:t>Technical Deep-Dive — Simulation Engine, Speed, Variance Reduction, Greeks, MPOR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What This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79222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922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739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739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Data collection recap, pricer contract, trade inventory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6946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94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5117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Simulation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5117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Hull-White rates, correlated GBM equities/FX,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34670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467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28415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Speed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28415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Two real bottlenecks found + fixed, with measured before/after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12394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239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056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Variance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0565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5 RNG techniques compared: option study + real 39-factor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490118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01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8289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Convergence &amp;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8289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How many paths are enough; Hull-White 'a' calibrated from real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67842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784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6601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Greeks &amp; MPOR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6601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Pathwise vs bump-reprice; margin period of risk exposure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Foundations (Recap)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16 trades, 5 real market data series, all independently validated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75104"/>
            <a:ext cx="365760" cy="365760"/>
          </a:xfrm>
          <a:prstGeom prst="ellipse">
            <a:avLst/>
          </a:prstGeom>
          <a:solidFill>
            <a:srgbClr val="1E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1109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11095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8 Equity TRS (incl. 2 JPY compo), 4 Bond Forward, 4 Bond TRS — 3 counterparties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752344"/>
            <a:ext cx="365760" cy="365760"/>
          </a:xfrm>
          <a:prstGeom prst="ellipse">
            <a:avLst/>
          </a:prstGeom>
          <a:solidFill>
            <a:srgbClr val="1E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883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USD rate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8833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Bootstrapped from 33 live Databento SOFR futures; validated vs. Treasury.gov (13–46.5bp spread, smooth)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529584"/>
            <a:ext cx="365760" cy="365760"/>
          </a:xfrm>
          <a:prstGeom prst="ellipse">
            <a:avLst/>
          </a:prstGeom>
          <a:solidFill>
            <a:srgbClr val="1E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295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655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Equity spots + FX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6557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37 unique names (yfinance), live; USD/JPY spot,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306824"/>
            <a:ext cx="365760" cy="365760"/>
          </a:xfrm>
          <a:prstGeom prst="ellipse">
            <a:avLst/>
          </a:prstGeom>
          <a:solidFill>
            <a:srgbClr val="1E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4281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Volatilities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4281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Historical realized vol, 39 factors, 3yr daily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0881360" cy="658368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084064"/>
            <a:ext cx="365760" cy="365760"/>
          </a:xfrm>
          <a:prstGeom prst="ellipse">
            <a:avLst/>
          </a:prstGeom>
          <a:solidFill>
            <a:srgbClr val="1E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840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200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Correlations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2005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39×39 matrix, PSD-confirmed, economically sanity-checked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Rate Model: Hull-White One-Factor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Gaussian, mean-reverting, exact closed-form bond prices at every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434340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SDE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dr(t) = [θ(t) − a·r(t)] dt + σ dW(t)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Shifted-OU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onsolas"/>
              </a:rPr>
              <a:t>r(t) = x(t) + α(t)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onsolas"/>
              </a:rPr>
              <a:t>x(0)=0, α(t) fits today's REAL curve exactly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Analytic bond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P(t,T) = A(t,T)·exp(−B(t,T)·r(t))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1E7D4A"/>
                </a:solidFill>
                <a:latin typeface="Calibri"/>
              </a:rPr>
              <a:t>Verified: P(0,T) matches the real curve to 1e-9 at every tenor — an exact identity, not an approximation.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5440680" cy="4343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Calibration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σ (vol)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62072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5D2F0"/>
                </a:solidFill>
                <a:latin typeface="Calibri"/>
              </a:rPr>
              <a:t>Realized SOFR spot vol — real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a (mean reversion)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566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0.0458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13632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5D2F0"/>
                </a:solidFill>
                <a:latin typeface="Calibri"/>
              </a:rPr>
              <a:t>Calibrated from SOFR futures vol term structure, R²=0.82 — real data (was a 0.03 textbook guess)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CADCFC"/>
                </a:solidFill>
                <a:latin typeface="Calibri"/>
              </a:rPr>
              <a:t>No remaining disclosed-guess parameters in the rate model — both inputs come from real market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Equity + FX Model: Correlated 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37 equities + USDJPY, hybrid with the simulated short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96596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USD-quoted equities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dS/S = (r(t) − q) dt + σ dW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JPY-quoted equities (drift uses an approximated JPY 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dS/S = (r(t) − diff_JPY−USD − q) dt + σ dW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2194560"/>
          </a:xfrm>
          <a:prstGeom prst="roundRect">
            <a:avLst>
              <a:gd name="adj" fmla="val 6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USD/JPY FX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dFX/FX = diff_JPY−USD dt + σ_FX dW      (JPY per USD)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diff_JPY−USD is a CONSTANT differential, backed out from REAL CME JPY futures (6J, Databento) vs. our own real USD curve via covered interest parity (≈0.7–1.1% depending on run) — real data, not assumed. Simplification: a constant, not a full second stochastic JPY curve — reasonable given only 2 of 16 trades are JPY compo.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Speed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Two real bottlenecks found and fixed — measured, not estimated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Exact analytic curve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replaces fixed-pillar interpolation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0175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onsolas"/>
              </a:rPr>
              <a:t>0.206 ms → 0.019 ms per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47472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E7D4A"/>
                </a:solidFill>
                <a:latin typeface="Cambria"/>
              </a:rPr>
              <a:t>10.6x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11480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4A5568"/>
                </a:solidFill>
                <a:latin typeface="Calibri"/>
              </a:rPr>
              <a:t>+ removes ~2e-5 DF interpolation error — more accurate too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574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Fixed a Windows multiprocessing bug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(heavy imports re-run per worker)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0175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onsolas"/>
              </a:rPr>
              <a:t>113 ms → 51 ms per 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47472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E7D4A"/>
                </a:solidFill>
                <a:latin typeface="Cambria"/>
              </a:rPr>
              <a:t>2.2x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11480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4A5568"/>
                </a:solidFill>
                <a:latin typeface="Calibri"/>
              </a:rPr>
              <a:t>spawn re-executes driver-script top-level imports in every worker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Combined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13248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Full 16-trade, 2000-scenario, 18-node simulation: ~12 min (projected) → 93 seconds  (~7.7x total)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Five Random-Number Techniques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713232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Pseudo-random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92024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Baseline Mersenne Twister Gaussian draws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10881360" cy="713232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Antithetic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6148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Pair each z with −z; cancels odd noise moments for near-linear payoffs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11296"/>
            <a:ext cx="10881360" cy="713232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Moment-matched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02736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Rescale draws so sample mean=0, std=1 exactly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52544"/>
            <a:ext cx="10881360" cy="713232"/>
          </a:xfrm>
          <a:prstGeom prst="roundRect">
            <a:avLst>
              <a:gd name="adj" fmla="val 15000"/>
            </a:avLst>
          </a:prstGeom>
          <a:solidFill>
            <a:srgbClr val="F1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43983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Sobol (QMC)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43983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Low-discrepancy quasi-random sequence → Normal via inverse CDF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93792"/>
            <a:ext cx="10881360" cy="713232"/>
          </a:xfrm>
          <a:prstGeom prst="roundRect">
            <a:avLst>
              <a:gd name="adj" fmla="val 15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Latin Hypercube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285231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Stratifies each dimension's own marginal into equal bins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Variance Reduction: Controlled Option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European call, real AAPL spot/vol, known Black-Scholes truth</a:t>
            </a:r>
          </a:p>
        </p:txBody>
      </p:sp>
      <p:pic>
        <p:nvPicPr>
          <p:cNvPr id="5" name="Picture 4" descr="01_variance_reduction_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01200" cy="5271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1">
                <a:solidFill>
                  <a:srgbClr val="1E2761"/>
                </a:solidFill>
                <a:latin typeface="Calibri"/>
              </a:rPr>
              <a:t>Latin Hypercube: ~50x lower RMSE than pseudo-random, at &lt;4x the per-trial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Variance Reduction: Does It Hold on the Real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39 factors × 17 time steps = 663 effective dimensions</a:t>
            </a:r>
          </a:p>
        </p:txBody>
      </p:sp>
      <p:pic>
        <p:nvPicPr>
          <p:cNvPr id="5" name="Picture 4" descr="02_variance_reduction_real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01200" cy="5271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1E2761"/>
                </a:solidFill>
                <a:latin typeface="Calibri"/>
              </a:rPr>
              <a:t>Ranking compresses hard: antithetic/moment-matching show NO benefit at this dimensionality — Latin Hypercube still wins (3.25x).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How Many Paths Are Enough?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Empirical convergence study — bootstrap resampling from a 6,000-scenario pool</a:t>
            </a:r>
          </a:p>
        </p:txBody>
      </p:sp>
      <p:pic>
        <p:nvPicPr>
          <p:cNvPr id="5" name="Picture 4" descr="03_convergenc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8077419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</a:rPr>
              <a:t>Recommendation: N=1,000 for iteration (0.39% error, 73s); N=2,000–3,000 for reporting (0.1–0.3%, 2–3 min). Beyond ~4,000, sampling error is smaller than unquantified model assumptions — diminishing real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Hull-White Mean Reversion: Calibrated,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Historical volatility term-structure fit, 8 real SOFR futures contracts</a:t>
            </a:r>
          </a:p>
        </p:txBody>
      </p:sp>
      <p:pic>
        <p:nvPicPr>
          <p:cNvPr id="5" name="Picture 4" descr="04_hull_whit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554480"/>
            <a:ext cx="8085721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1">
                <a:solidFill>
                  <a:srgbClr val="1E2761"/>
                </a:solidFill>
                <a:latin typeface="Calibri"/>
              </a:rPr>
              <a:t>σ_f(t,T) = σ·e^(−a(T−t))  —  fit slope gives a=0.0458 (R²=0.82), replacing the earlier a=0.03 textbook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Extension to Greeks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Pathwise vs. bump-and-reprice, with and without common random numbers</a:t>
            </a:r>
          </a:p>
        </p:txBody>
      </p:sp>
      <p:pic>
        <p:nvPicPr>
          <p:cNvPr id="5" name="Picture 4" descr="08_greek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54480"/>
            <a:ext cx="766105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4A5568"/>
                </a:solidFill>
                <a:latin typeface="Calibri"/>
              </a:rPr>
              <a:t>Common random numbers make bump-and-reprice statistically indistinguishable from pathwise. Independent draws for the two legs make it ~26x worse — and biased. Bump-and-reprice + CRN is what generalizes to our real (non-differentiable-by-hand) 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A Real Greek, on the Real 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103120"/>
            <a:ext cx="8686800" cy="3108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4231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EQTRS_0003 — delta to its largest position (NL0009538784, 212,269 shares)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NPV(0) @ spot 227.84: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$10,803,019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Delta (exact, no MC needed):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5661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−$212,269 / $1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34340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CADCFC"/>
                </a:solidFill>
                <a:latin typeface="Calibri"/>
              </a:rPr>
              <a:t>Magnitude exactly matches the share count — a strong internal-consistency check for this linear payoff.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MPOR (Margin Period of Risk)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Was a 10-day MPOR used? No — the book is uncollateralized. Built and validated for when it applies.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2103120"/>
          </a:xfrm>
          <a:prstGeom prst="roundRect">
            <a:avLst>
              <a:gd name="adj" fmla="val 6000"/>
            </a:avLst>
          </a:prstGeom>
          <a:solidFill>
            <a:srgbClr val="F1F4FB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Collateral held at reporting date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C(t) = max(V(t) − threshold,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Exposure at the (delayed) close-out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onsolas"/>
              </a:rPr>
              <a:t>Exposure(t) = max(V(t + MPOR) − C(t), 0)      [same simulated path]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MPOR = 10 business days (ISDA SIMM / Basel standard). Implemented by inserting a look-ahead node exactly MPOR days after every reporting node, on the SAME simulated path — no separate simulation needed, since the engine already handles arbitrary non-uniform node spacing. threshold=$0 isolates the pure MPOR effect (full variation margin).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MPOR Results (Hypothetical CSA)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Real book has no CSA data — illustrative: threshold=$0, MPOR=10 days</a:t>
            </a:r>
          </a:p>
        </p:txBody>
      </p:sp>
      <p:pic>
        <p:nvPicPr>
          <p:cNvPr id="5" name="Picture 4" descr="07_mp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91640"/>
            <a:ext cx="9326880" cy="5107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1">
                <a:solidFill>
                  <a:srgbClr val="1E2761"/>
                </a:solidFill>
                <a:latin typeface="Calibri"/>
              </a:rPr>
              <a:t>CPTY_C's exposure is dominated by one $500M bond forward — collateralizing it removes 91.9% of the MPE.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Current Exposure (Today, No Simulation Needed)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Exposure is asymmetric — only positive MTM is at risk</a:t>
            </a:r>
          </a:p>
        </p:txBody>
      </p:sp>
      <p:pic>
        <p:nvPicPr>
          <p:cNvPr id="5" name="Picture 4" descr="06_current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91640"/>
            <a:ext cx="9144000" cy="5007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1E2761"/>
                </a:solidFill>
                <a:latin typeface="Calibri"/>
              </a:rPr>
              <a:t>CPTY_B: $0 exposure — we currently owe more than we're owed. CPTY_C dominated by a single trade (concentration risk).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Portfolio Exposure Profile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A5568"/>
                </a:solidFill>
                <a:latin typeface="Calibri"/>
              </a:rPr>
              <a:t>N=2,000, Latin Hypercube, self-validated to 0.0000% vs. direct t=0 reprice</a:t>
            </a:r>
          </a:p>
        </p:txBody>
      </p:sp>
      <p:pic>
        <p:nvPicPr>
          <p:cNvPr id="5" name="Picture 4" descr="05_exposur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8173683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722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</a:rPr>
              <a:t>Collapses &gt;94% by end of Dec 2026 as most trades mature; small residual tail to Jan 2028 (BTRS_0001). Risk management attention should concentrate on the next 4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6 Real Bugs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Every one caught by checking against something — a second source, a full run, a hand calc — not assumed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Ticker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BRK.B vs Yahoo's BRK-B silently failed lookups (2 places)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15184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SOFR curve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4203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Recently-expired contracts wrongly wrapped a decade forward — caught via Treasury cross-check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74136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741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009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SOFR curve truncation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0098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The FIX above then over-corrected, dropping genuinely far-dated live contracts — caught while calibrating Hull-White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99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US/Japan timestamp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59936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Different market hours broke the historical data join (~70% blank → fixed)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92040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188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Stale self-validation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1888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A ~12.5hr-old cached comparison file showed false 7-15% 'discrepancies' from real overnight price moves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650992"/>
            <a:ext cx="365760" cy="36576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509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Curve-object mismatch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778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Internal consistency check used a different (less exact) curve object than the engine — now 0.0000% exact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332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4A5568"/>
                </a:solidFill>
                <a:latin typeface="Calibri"/>
              </a:rPr>
              <a:t>•  PFE-sensitivity Greeks: d(PFE)/dS at a future node — same bump-reprice + CRN mechanism, applied to simulated paths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4A5568"/>
                </a:solidFill>
                <a:latin typeface="Calibri"/>
              </a:rPr>
              <a:t>•  Confirm actual CSA/margin terms with Capitolis — the current book is treated as uncollateralized by default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4A5568"/>
                </a:solidFill>
                <a:latin typeface="Calibri"/>
              </a:rPr>
              <a:t>•  Vectorized pricer reimplementation if scenario counts need to scale past ~10,000 (current bottleneck: ~1.2ms/npv() call)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4A5568"/>
                </a:solidFill>
                <a:latin typeface="Calibri"/>
              </a:rPr>
              <a:t>•  Quantify remaining model uncertainty (Hull-White mean reversion, vol proxy) — likely larger than residual MC noise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4A5568"/>
                </a:solidFill>
                <a:latin typeface="Calibri"/>
              </a:rPr>
              <a:t>•  FX forward points beyond spot, once a source is confirmed — minor simplification today, not a blocker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