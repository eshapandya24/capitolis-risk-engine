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175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Counterparty Credit Risk Engine for the Capitolis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E9C46A"/>
                </a:solidFill>
                <a:latin typeface="Calibri"/>
              </a:rPr>
              <a:t>Data, Models, Trade-offs, and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C9D6E6"/>
                </a:solidFill>
                <a:latin typeface="Calibri"/>
              </a:rPr>
              <a:t>Berkeley MFE Industry Project  |  Valuation date 2026-08-28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I -- What Capitolis Gave Us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II -- Risks, Variables, and Data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III -- Models Considered, and Why the Final Model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IV -- Efficient Simulation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V -- What the Engine Does, and What It Finds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VI -- Sensitivities, Stress, and Validation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VII -- Credit and Capital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800">
                <a:solidFill>
                  <a:srgbClr val="444444"/>
                </a:solidFill>
                <a:latin typeface="Calibri"/>
              </a:rPr>
              <a:t>Part VIII -- Decisions, Limitations,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What Capitolis Gave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book: 16 trades, three netting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1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597"/>
                <a:gridCol w="1084059"/>
                <a:gridCol w="677537"/>
                <a:gridCol w="2574641"/>
                <a:gridCol w="1355074"/>
                <a:gridCol w="1219567"/>
                <a:gridCol w="2574641"/>
              </a:tblGrid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Cpty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NPV t=0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EQTRS_0001-3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3 USD names each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50-99M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-5.55 / -1.08 / +9.92M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EQTRS_0004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16 USD names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Nov'26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49.2M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-0.87M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EQTRS_0005/6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3 JPY names each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12-31M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+0.15 / +1.63M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EQTRS_0007/8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Eq. TRS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7 / 3 USD names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Oct'26/Jul'27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95M / 30M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-0.37 / +2.22M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BF_0001/2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UST 3.88%'28 / 4.63%'35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Oct/Nov'26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100M / 20M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+0.51 / -0.36M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BF_0003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UST 2.88% 5/15/2049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Dec'26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500M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+121.26M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BF_0004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Bond fwd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UST 1.13%'28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Oct'26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50M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+1.97M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BTRS_0001-4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Bond TRS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A/B/B/C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UST 4.12/2.88/4.63/4.12%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'27-'28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5-40M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44444"/>
                          </a:solidFill>
                          <a:latin typeface="Calibri"/>
                        </a:rPr>
                        <a:t>+0.12/+0.21/+0.03/+0.04M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Net MtM by netting set:  CPTY_A +$3.57M    CPTY_B +$1.15M    CPTY_C +$125.12M    Book +$129.84M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exposure we must measure (Capitolis kickoff definition)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F3A5F"/>
                </a:solidFill>
                <a:latin typeface="Calibri"/>
              </a:rPr>
              <a:t>Exposure = max( V(t+10bd) - V(t-1bd), 0 )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949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Variation margin: netted value one business day before t, two-way, no threshold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Margin period of risk (MPoR): close-out 10 business days after t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Netting: within a counterparty only -- book = sum over netting sets; never netted across counterparties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Trades settling inside the window are excluded from both legs</a:t>
            </a:r>
          </a:p>
        </p:txBody>
      </p:sp>
      <p:pic>
        <p:nvPicPr>
          <p:cNvPr id="7" name="Picture 6" descr="fig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749039" cy="1772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Risks, Variables, and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Risk factors: what can move the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1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063"/>
                <a:gridCol w="2921329"/>
                <a:gridCol w="2921329"/>
                <a:gridCol w="3067396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 factor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Trades affected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Calibrated from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37 equity prices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All 8 equity TRS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Correlated geometric
Brownian motion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3y realised vol,
Yahoo Finance dividend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USDJPY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Equity TRS on JPY
names (2)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GBM, quanto-adjusted
drift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3y realised FX vol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USD short rate
(whole curve)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Bond forwards, bond
TRS, funding, discounting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Hull-White one-factor
(= 1-factor LGM)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Real swaption cube (a)
+ realised Treasury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JPY short rate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Drift of JPY-listed
names and USDJPY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2nd, independent
Hull-White one-factor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Real JPY OIS curve,
JPY rate history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Counterparty credit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CVA/DVA/FVA/KVA
only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Deterministic hazard-
rate survival curve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ICE BofA rating-index
OAS proxy; no CDS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39 correlated stochastic factors, one joint simulation: 37 equities, USDJPY, USD short rate, JPY short rate -- correlated by a single Cholesky factor of the real historical matrix at every time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Data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sz="1600">
                <a:solidFill>
                  <a:srgbClr val="444444"/>
                </a:solidFill>
                <a:latin typeface="Calibri"/>
              </a:rPr>
              <a:t>Every number in this project traces to a disclosed, real source -- no synthetic placeholders for calibration inputs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sz="1600">
                <a:solidFill>
                  <a:srgbClr val="444444"/>
                </a:solidFill>
                <a:latin typeface="Calibri"/>
              </a:rPr>
              <a:t>Benefit: results are reproducible, auditable, and defensible in front of a risk committee; every assumption is a named simplification, not a silent one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sz="1600">
                <a:solidFill>
                  <a:srgbClr val="444444"/>
                </a:solidFill>
                <a:latin typeface="Calibri"/>
              </a:rPr>
              <a:t>Two tiers: public (Yahoo Finance, FRED, Databento) and licensed (Bloomberg, used and cross-checked but never redistributed as raw series)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Data source 1: USD discount curve (Databento SOFR futures)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Benefit of using real data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Real Databento CME SOFR futures (SR3) settlement prices, bootstrapped ourselves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 genuine market-implied curve, not an assumed flat extrapolation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Every USD discount factor; the base for the Hull-White short-rate model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Splicing the real Bloomberg long end moved portfolio MPE99 from $52.7M to $52.1M (-1.1%)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Extension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Bloomberg long-end quotes spliced in beyond futures coverage (out to 50y)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 modest, disclosed, measured effect -- not a silent assumption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Data source 2: Treasury yields (FRED) and swaption vols (Bloomberg)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16154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Benefit of using it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1615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FRED Treasury CMT yields (3mo-30y, public, since 1981)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Realised long-end yield vol -&gt; Hull-White sigma (0.96%); Kupiec backtest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Directly measures the volatility of the yields this book's bonds depend 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1615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Bloomberg ATM normal swaption vol cube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Mean-reversion a (0.0167, R2=0.84), via vol decay with tenor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Textbook calibration route; genuinely implied, forward-looking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Data source 3 &amp; 4: equities, FX, JPY curve, and credit spreads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Benefit of using it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Yahoo Finance: 37 equities + USDJPY, 3y history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Spots, dividends, realised vol, the 39x39 correlation matrix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Public, free, long enough history (2007-today) for reliable statistics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Real JPY OIS curve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JPY Hull-White factor's base curve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Lets JPY rates move independently and go negative, matching real BOJ history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ICE BofA bond-index OAS by rating (FRED)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Counterparty/issuer credit spread proxy (CVA, DVA, risky bond)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Basel MAR50.32(3)-sanctioned fallback; real market spreads by credit quality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Bloomberg (licensed): long-end curve, swaption cubes, FX vol surface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Curve splice, mean-reversion fit, model-risk cross-checks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Only source for genuine long-dated data beyond public; derived numbers only, per license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Models Considered, and Why the Final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Rate models considered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1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642"/>
                <a:gridCol w="3788503"/>
                <a:gridCol w="3788503"/>
                <a:gridCol w="1657470"/>
              </a:tblGrid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Final use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Hull-White 1F
(= 1-factor LGM)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Exact step, closed-form P(t,T);
2 parameters; stable calibration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One factor -- curve moves close
to parallel; can't twist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SELECTED
Production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G2++ (2-factor
Gaussian, = LGM2F)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Level and slope move
separately; fits covariance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5 parameters; b hits its bound;
16.1% relative fit error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Challenger,
tested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2-factor +
stochastic vol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Vol clustering, fatter tails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Not implemented; more
parameters, no closed form here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Not built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444444"/>
                </a:solidFill>
                <a:latin typeface="Calibri"/>
              </a:rPr>
              <a:t>The question is empirical, not a matter of preference: does the second factor materially change this book's exposure? Tested head to head on the following slides.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Equity, FX and credit models considered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1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727"/>
                <a:gridCol w="3395356"/>
                <a:gridCol w="3607566"/>
                <a:gridCol w="1485468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Final use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Equities: GBM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Exact log-Euler step, fast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vol smile or clustering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Equities: stochastic vol (Heston)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Vol clustering, skew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Not implemented; needs option surfaces per name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Not built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FX: GBM, quanto/rate-diff. drift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Consistent with both simulated curves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smile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Credit: deterministic hazard-rate proxy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Transparent, Basel MAR50.32-compliant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wrong-way risk, no spread vol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Credit: stochastic intensity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Spread risk, wrong-way risk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counterparty CDS data available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Simple models where the book is linear and short-dated: exposure windows are 10 business days on largely linear TRS/forward payoffs; the stress-testing programme tests a volatility regime shift directly.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Correlation: full Cholesky matrix vs. PCA factor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589520" cy="342938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0" y="1188720"/>
          <a:ext cx="36575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/>
                <a:gridCol w="783771"/>
                <a:gridCol w="783771"/>
                <a:gridCol w="783771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PCA k=5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PCA k=10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Step time (5,000 scen.)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1.91s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2.08s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2.29s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Variance explained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Netting-set vol vs. full (B)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30175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44444"/>
                </a:solidFill>
                <a:latin typeface="Calibri"/>
              </a:rPr>
              <a:t>SELECTED full matrix: PCA is slower, not faster, at n=39. Loss of using PCA instead: no speed gain, and up to 1.7% extra sampling error. Kept only as an explainability tool: factor 1 (20%) is a broad market mode, factor 2 (8.9%) is Japan vs.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USD rates: calibrating mean reversion and 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789"/>
                <a:gridCol w="4089861"/>
                <a:gridCol w="1249680"/>
                <a:gridCol w="1136072"/>
                <a:gridCol w="181771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Swaption cube (preferred)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Bloomberg ATM normal vol, 1M expiry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0.0167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SOFR-futures vol decay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~2y Databento history, 8 contracts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0.0458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cross-check only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346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Original volatility source (overnight SOFR fixing, 0.63%) understates how far the long-dated yields this book depends on actually move (realised 10-day 20y-yield move ~15bp vs. ~11bp implied)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SELECTED: realised volatility of 2y-30y Treasury yield changes directly, 0.96% -- validated by Kupiec backtest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51960"/>
          <a:ext cx="1124711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465"/>
                <a:gridCol w="3285675"/>
                <a:gridCol w="2780186"/>
                <a:gridCol w="1642837"/>
                <a:gridCol w="2021954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Tenor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Overnight-SOFR sigma exc.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Long-end sigma exc.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Both pass?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 / 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yes (p&gt;0.05)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 / 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 / 2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 / 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But this book's rate risk sits in one place: 20-30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dv0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035040" cy="27424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37160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Par-instrument DV01 (real curve-building pillars): 82% of portfolio DV01 sits in the 30y bucket, vs. 11% at 10y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BF_0003, the $500M forward on the 2049 Treasury, dominates -- one position, one tenor region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This is why a 2-factor model's main selling point (independent curve twist across many maturities) buys little here: there is effectively one maturity that matters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HW1F vs. G2++ on the book: same data, draws, grid and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035040" cy="306680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188720"/>
          <a:ext cx="52120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542"/>
                <a:gridCol w="1281659"/>
                <a:gridCol w="170887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HW1F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G2++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Fit to realised yield covariance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16.1% rel. error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Mean reversion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a=0.0167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a=0.039, b=1.5 (at bound)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Portfolio MPE99 (N=2,000, CRN)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baseline $51.5M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$50.0M (-3.0%)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By counterparty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A -1%, B -3%, C -0%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3657600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Benefit of 2-factor: lets the curve twist, not just shift. Cost: a parameter pinned at its bound, 16% fit error, and a 3% move that doesn't justify the complexity here. Same random draws used in both runs (common random numbers), so the -3.0% gap is a real model difference, not sampling noise.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JPY rates: a dedicated Hull-White factor vs. a constant differential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303520" cy="2279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188720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Alternative REJECTED: JPY names/USDJPY drift off one constant USD-JPY rate differential -- cheap, but cannot represent JPY rates moving independently, or negative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SELECTED: a second, real, simulated Hull-White one-factor model from the JPY OIS curve. TONA has been negative or near-zero for most of 25 years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0" y="3383280"/>
          <a:ext cx="2926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97536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Fitted a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JPY OIS history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-0.0261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Swaption cube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-0.0374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JGB yield history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-0.0203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2160" y="512064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>All 3 real routes invalid (negative a): JPY vol genuinely rises with tenor. Used a=0.001 (Ho-Lee limit). Result: moved portfolio MPE99 attribution $52.1M -&gt; $51.5M -- real, disclosed, not noise.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Decision register: rate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245"/>
                <a:gridCol w="2268326"/>
                <a:gridCol w="4536653"/>
                <a:gridCol w="2740894"/>
              </a:tblGrid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Final choice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USD rate model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Hull-White 1F (1-factor LGM)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G2++ CRN gap only -3.0% at 16.1% fit error, parameter at bound; book DV01 82% at 30y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independent curve twist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JPY rate model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Hull-White 1F, dedicated factor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All 3 real a-routes invalid; attribution $52.1M-&gt;$51.5M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One extra simulated factor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Rate volatility source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Realised 2y-30y Treasury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Matches actual 10bd long-yield move (15bp vs. 11bp implied); both pass Kupiec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More model-risk sensitivity to window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Efficient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Sampling scheme: five methods, exact benchmark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Controlled test (European call, known Black-Scholes truth = 41.077):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6675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1213658"/>
                <a:gridCol w="2022763"/>
                <a:gridCol w="121365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vs. pseudo-random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ms/trial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Pseudo-random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1.456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1.0x (baseline)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Antithetic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1.079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1.3x better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Moment-matched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6.3x better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Sobol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28.8x better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50.6x better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46304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444"/>
                </a:solidFill>
                <a:latin typeface="Calibri"/>
              </a:rPr>
              <a:t>Real 663-dim engine check: no method wins both -- Sobol has the lowest PFE std (2.72M vs. 4.29M pseudo-random), moment-matched has the lowest median std (0.40M vs. 0.76M). Latin Hypercube is competitive on both (3.73M / 0.48M) without being worst on either.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SELECTED Latin Hypercube: best on the controlled test, competitive (never worst) on both real-engine statistics, negligible extra cost.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Latin Hypercube: what it does and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Does stratify every one-dimensional marginal: each risk factor's random draws are forced to cover equal-probability bins, so tails are always visited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Does not stratify the joint distribution across all 39 factors and ~17 time steps (~663 effective dimensions) -- interaction noise between factors remains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Unbiased: each draw is still marginally uniform, mapped through the inverse normal CDF</a:t>
            </a:r>
          </a:p>
          <a:p>
            <a:pPr marL="201168" indent="-201168">
              <a:lnSpc>
                <a:spcPct val="108000"/>
              </a:lnSpc>
              <a:spcAft>
                <a:spcPts val="16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Cost: draw generation grows with N x dimension -- negligible next to repricing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This is exactly why Latin Hypercube helps a smooth average (EE) more reliably than a 99th-percentile tail (PFE99): the tail is set by interactions between a handful of extreme scenarios.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Scenario count: exact convergence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3A5F"/>
                </a:solidFill>
                <a:latin typeface="Calibri"/>
              </a:rPr>
              <a:t>Close-out MPE99, relative standard error by bootstrap (peak date 2026-09-20):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3151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/>
                <a:gridCol w="1125415"/>
                <a:gridCol w="1125415"/>
                <a:gridCol w="1125415"/>
                <a:gridCol w="1125415"/>
                <a:gridCol w="112541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Netting set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N=250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N=500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N=1,000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N=2,000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N=3,000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4.8%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F3A5F"/>
                </a:solidFill>
                <a:latin typeface="Calibri"/>
              </a:rPr>
              <a:t>Independent 30,000-scenario pool study (1y-node PFE99, level exposure):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40480"/>
          <a:ext cx="9601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1333500"/>
                <a:gridCol w="1333500"/>
                <a:gridCol w="1333500"/>
                <a:gridCol w="1333500"/>
                <a:gridCol w="2133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30,000 (pool)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Rel. 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0.66%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0.29%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0.21%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0.09%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0 (reference)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Est. time (8 cores)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119s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479s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929s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1,829s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2,729s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A9D8F"/>
                </a:solidFill>
                <a:latin typeface="Calibri"/>
              </a:rPr>
              <a:t>SELECTED: N=5,000 for standard reporting (~8 min); N=10,000 for sign-off (~15 min); beyond ~20,000, marginal SE improvement per extra 5,000-scenario batch falls below 30% while cost scales linearly.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Decision register: sampling and path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4572000"/>
                <a:gridCol w="2651760"/>
              </a:tblGrid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Final choice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Sampling scheme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50.6x lower RMSE vs. pseudo-random on controlled test; competitive on real-engine stats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No consistent Greeks-noise edge on PFE99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Scenario count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N=5,000 standard / 10,000 sign-off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Rel. SE 2.2% at N=2,000, extrapolates to ~1.4% at 5,000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~1.4% residual sampling noise remains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What the Engine Does, and What It Finds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simulation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1. Calibrate </a:t>
            </a:r>
            <a:r>
              <a:rPr sz="1600">
                <a:solidFill>
                  <a:srgbClr val="444444"/>
                </a:solidFill>
                <a:latin typeface="Calibri"/>
              </a:rPr>
              <a:t>Pull real data -&gt; fit every model parameter (Part II)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2. Draw </a:t>
            </a:r>
            <a:r>
              <a:rPr sz="1600">
                <a:solidFill>
                  <a:srgbClr val="444444"/>
                </a:solidFill>
                <a:latin typeface="Calibri"/>
              </a:rPr>
              <a:t>Latin Hypercube random numbers -&gt; correlated shocks (Cholesky of the real 39x39 matrix)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3. Simulate </a:t>
            </a:r>
            <a:r>
              <a:rPr sz="1600">
                <a:solidFill>
                  <a:srgbClr val="444444"/>
                </a:solidFill>
                <a:latin typeface="Calibri"/>
              </a:rPr>
              <a:t>Step every risk factor jointly across the full time grid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4. Reprice </a:t>
            </a:r>
            <a:r>
              <a:rPr sz="1600">
                <a:solidFill>
                  <a:srgbClr val="444444"/>
                </a:solidFill>
                <a:latin typeface="Calibri"/>
              </a:rPr>
              <a:t>Feed simulated market states into the provided pricers -- every trade, date, scenario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5. Aggregate </a:t>
            </a:r>
            <a:r>
              <a:rPr sz="1600">
                <a:solidFill>
                  <a:srgbClr val="444444"/>
                </a:solidFill>
                <a:latin typeface="Calibri"/>
              </a:rPr>
              <a:t>Net by counterparty -&gt; EE / median PFE / PFE99 / MPE, both exposure conventions</a:t>
            </a:r>
          </a:p>
          <a:p>
            <a:pPr marL="201168" indent="-201168">
              <a:lnSpc>
                <a:spcPct val="108000"/>
              </a:lnSpc>
              <a:spcAft>
                <a:spcPts val="1800"/>
              </a:spcAft>
              <a:buClr>
                <a:srgbClr val="2A9D8F"/>
              </a:buClr>
              <a:buFont typeface="Arial"/>
              <a:buChar char="•"/>
            </a:pPr>
            <a:r>
              <a:rPr b="1" sz="1600">
                <a:solidFill>
                  <a:srgbClr val="1F3A5F"/>
                </a:solidFill>
                <a:latin typeface="Calibri"/>
              </a:rPr>
              <a:t>6. Downstream </a:t>
            </a:r>
            <a:r>
              <a:rPr sz="1600">
                <a:solidFill>
                  <a:srgbClr val="444444"/>
                </a:solidFill>
                <a:latin typeface="Calibri"/>
              </a:rPr>
              <a:t>Greeks, stress, CVA/DVA/FVA/KVA, SA-CVA, SA-CCR -- all reusing the same paths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Key equations, exactly as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Rates (models/rates.py) -- Hull-White one-factor, shifted Ornstein-Uhlenbeck: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ourier New"/>
              </a:rPr>
              <a:t>dr(t) = [theta(t) - a r(t)] dt + sigma dW(t),     r(t) = x(t) + alpha(t)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Equities and FX (models/equity_fx.py) -- log-Euler GBM: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ourier New"/>
              </a:rPr>
              <a:t>d ln S = (r_USD - q - 0.5 sigma^2) dt + sigma dW   (USD name)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Correlated shocks (simulation/engine.py):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ourier New"/>
              </a:rPr>
              <a:t>Z = L * Z_indep   (Cholesky factor of the real 39x39 historical matrix)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Exposure (exposure/spec_exposure.py):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42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ourier New"/>
              </a:rPr>
              <a:t>Exposure_c(t) = max( V_c(t+10bd) - V_c(t-1bd), 0 ),   book = sum_c Exposure_c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CVA (exposure/cva.py), Basel MAR50.32 discretisation: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109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ourier New"/>
              </a:rPr>
              <a:t>CVA = LGD * sum_i DEE(t_i) * PD(t_i-1, t_i)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the simulated paths actually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577840" cy="2951093"/>
          </a:xfrm>
          <a:prstGeom prst="rect">
            <a:avLst/>
          </a:prstGeom>
        </p:spPr>
      </p:pic>
      <p:pic>
        <p:nvPicPr>
          <p:cNvPr id="6" name="Picture 5" descr="fi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852160" cy="25043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444444"/>
                </a:solidFill>
                <a:latin typeface="Calibri"/>
              </a:rPr>
              <a:t>Left: simulated USD short rate (median tracks today's forward curve). Right: simulated USDJPY and two equities with 1-99% and 25-75% percentile bands.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Headline results (5,000 scenarios, close-out exposure)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329183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683"/>
                <a:gridCol w="1034578"/>
                <a:gridCol w="103457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MPE99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Peak EE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$25.9M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$4.7M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$9.6M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$29.6M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$5.2M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$51.0M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$11.6M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6616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CVA $11.7k close-out / $247k level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SA-CVA capital $0.10M / $2.23M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SA-CCR EAD $260M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KVA (10% CoC) $22.4k / $470k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Level exposure MPE99: $201.9M</a:t>
            </a:r>
          </a:p>
        </p:txBody>
      </p:sp>
      <p:pic>
        <p:nvPicPr>
          <p:cNvPr id="7" name="Picture 6" descr="fig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88720"/>
            <a:ext cx="7680960" cy="53210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drives each counterparty, and book-level Greeks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1737360"/>
                <a:gridCol w="17373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Equity delta/+1%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FX delta/+1%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DV01/+1bp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CPTY_A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-$2.25M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CPTY_B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-$0.96M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+$0.42M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-$4k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CPTY_C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-$1.24M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$594k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Book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-$4.46M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+$0.42M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$622k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Rank correlation of exposures: A-B 0.34, A-C 0.33, B-C 0.12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1887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A is most equity-driven; C is the rate netting set (one $500M short forward on a 2049 Treasury)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B is the only netting set with material FX delta (holds the 2 JPY-compo swaps)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Yield-equity correlation is approx. 0.00 in our data -- no reliable offset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Why the portfolio is close to additive across counterparties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695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2801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Nothing nets across counterparties by construction -- portfolio MPE99 is a sum of three separate netting sets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All three counterparties reach their own peak exposure in the same few weeks -- no timing diversification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Positive rank correlation (0.12-0.34), since every book holds pay-equity swaps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Result: Portfolio MPE99 ($51.0M) is approx. A+C ($54.4M), 78% of the sum of all three ($65.1M)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Additional exposure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614190"/>
          </a:xfrm>
          <a:prstGeom prst="rect">
            <a:avLst/>
          </a:prstGeom>
        </p:spPr>
      </p:pic>
      <p:pic>
        <p:nvPicPr>
          <p:cNvPr id="6" name="Picture 5" descr="fig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669280" cy="2566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444444"/>
                </a:solidFill>
                <a:latin typeface="Calibri"/>
              </a:rPr>
              <a:t>Left: expected NPV by trade -- BF_0003 dominates, disappears at its Dec 2026 settlement. Right: peak PFE99 under a hypothetical full-VM CSA, for comparison against the brief's own definition.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Sensitivities, Stress,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Method: common random numbers, and what they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50">
                <a:solidFill>
                  <a:srgbClr val="444444"/>
                </a:solidFill>
                <a:latin typeface="Calibri"/>
              </a:rPr>
              <a:t>Bumping a risk factor and repricing with independent random draws: estimator std. dev. $245k -- too noisy to use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50">
                <a:solidFill>
                  <a:srgbClr val="444444"/>
                </a:solidFill>
                <a:latin typeface="Calibri"/>
              </a:rPr>
              <a:t>Reusing the identical draws in the base and bumped run (common random numbers, CRN): std. dev. $1k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50">
                <a:solidFill>
                  <a:srgbClr val="444444"/>
                </a:solidFill>
                <a:latin typeface="Calibri"/>
              </a:rPr>
              <a:t>282x noise reduction -- this, not the sampling scheme, is what actually controls Greeks precision</a:t>
            </a:r>
          </a:p>
        </p:txBody>
      </p:sp>
      <p:pic>
        <p:nvPicPr>
          <p:cNvPr id="6" name="Picture 5" descr="fig_greeks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017520"/>
            <a:ext cx="4572000" cy="2782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Equity/FX spot bumps rescale simulated GBM paths exactly (no resimulation): 78 bumps at N=300 cost 88s actual vs. ~8,166s naive -- 93x cheaper.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Method comparison: bump-and-reprice vs. pathwise vs. adjoint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361"/>
                <a:gridCol w="2811780"/>
                <a:gridCol w="5190978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Bump, independent draws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baseline, $245k noise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REJECTED: noise swamps the signal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Bump, CRN (used for all reported Greeks)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~260s (equity EE, N=300)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SELECTED: works on black-box pricers, works for quantiles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Pathwise (closed form, equity/FX only)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0.2-0.4s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SELECTED as fast cross-check: ~1000x faster, agrees to 0.02-0.4%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Adjoint differentiation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would price all Greeks for ~3-5 valuations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REJECTED: needs pricers rewritten -- future work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Rate/vol Greeks (13 needed: parallel up/down, 8 buckets, 3 vega) still require a genuine resimulation at ~109s each (N=300) -- unless the exact analytic method below applies.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Rate DV01: zero-grid bump vs. par-instrument Jacobian -- full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143000"/>
          <a:ext cx="8503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Tenor bucket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Old (zero-grid), USD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New (par-instrument), USD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0.25y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-2,182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-2,892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0.5y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-46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-44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-14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-131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-205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-96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-105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5y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-770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-713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-18,324 (39%)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-6,592 (11%)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30y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-24,988 (54%)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-47,191 (82%)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Sum of buckets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-46,580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-57,713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Independent parallel bump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-46,605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-57,705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Rate DV01: why the new method, and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dv0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2576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Old: bump the fitted zero curve at 8 hand-picked tenors, triangular interpolation -- disconnected from how the curve was actually built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SELECTED New: bump the curve's own ~45 native construction pillars (real SOFR-futures + Bloomberg long-end points), grouped into the same 8 buckets -- the genuine par-instrument (Jacobian) sensitivity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Result: 82% of portfolio DV01 correctly in the 30y bucket, not 54%. Both methods sum to the same total (within 0.05%) -- total risk was always right, attribution across tenor was wrong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An exact rate Greek, reusing the same simulated draws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444"/>
                </a:solidFill>
                <a:latin typeface="Calibri"/>
              </a:rPr>
              <a:t>In Hull-White 1F, r(t) = x(t) + alpha(t): x(t) is the simulated random factor (depends only on random draws, a, sigma); alpha(t) is deterministic (depends only on the curve). A curve bump that leaves a, sigma fixed -- every DV01 bump here -- leaves x(t) IDENTICAL to the base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The whole bump effect is one closed-form number per date, added to the base run's own paths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No resimulation. No new random draws.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400">
                <a:solidFill>
                  <a:srgbClr val="444444"/>
                </a:solidFill>
                <a:latin typeface="Calibri"/>
              </a:rPr>
              <a:t>Validated against a true independent resimulation: agreement to 1e-15 relative precision -- not an approximation, the same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Separately: does Latin Hypercube itself reduce Greeks noise? Tested directly -- mixed result:</a:t>
            </a:r>
          </a:p>
        </p:txBody>
      </p:sp>
      <p:pic>
        <p:nvPicPr>
          <p:cNvPr id="8" name="Picture 7" descr="fig_sampling_gre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343400"/>
            <a:ext cx="6309360" cy="227883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Stress design: 13 fixed scenarios, same random draws as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760720"/>
                <a:gridCol w="4114799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Hypothetical (8)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EQ_DOWN/UP_30, JPY_STRONG/WEAK_15,
RATES_UP/DOWN_200, FLIGHT_TO_QUALITY, STAGFLATION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Round-number shocks to
equities, USDJPY, USD curve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Historical (5)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HIST_EQUITY_CRASH, HIST_RATES_SPIKE, HIST_YEN_SURGE,
HIST_GFC_2008, HIST_CHINA_DEVAL_2015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Actual moves over a real 10-day
window, worst-window rule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200400"/>
            <a:ext cx="7040880" cy="33362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Stress results: how far each scenario moves the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0" y="1188720"/>
          <a:ext cx="81381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7782"/>
                <a:gridCol w="2325188"/>
                <a:gridCol w="232518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Close-out MPE99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Level MPE99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EQ_DOWN_30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-15.3%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+62.3%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RATES_DOWN_200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+22.0%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-69.0%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STAGFLATION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-24.1%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+89.1% (largest)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FLIGHT_TO_QUALITY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+19.6%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HIST_EQUITY_CRASH (2020)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-15.4%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+54.8%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HIST_GFC_2008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-12.7%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+55.6%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HIST_CHINA_DEVAL_2015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+15.6%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Close-out exposure is far less sensitive to instantaneous level shocks than level exposure (margin is why). Equity-driven trades react only to equity/FX shocks; bond trades react only to rate shocks.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Extending the history: 2008 and 2015,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_hist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8521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8016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Extended public price history back to 2007 (28 of 37 names covered)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2008 GFC: Sep 29 - Oct 10, 2008; -23% median / -44% worst single-name return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2015 China deval.: Aug 2015, -6.8% median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Result: both land inside the range the existing scenarios already covered -- a validation finding, not just more coverage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Per-trade sensitivity: does every product react as 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58188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Validation summary: every check has a pass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480560"/>
              </a:tblGrid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 / metric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Martingale test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Discounted paths average to today's price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Parametric VaR benchmark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Delta-normal vs. full MC P&amp;L, 99%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$11.4M vs. $11.7M -- ratio 0.98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Kupiec backtest, equity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99%, 242 ten-day windows, 5,000-scen. prediction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A:4/2.4 B:6/2.4 C:2/2.4 -- all pass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Kupiec backtest, rates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99%, 161 windows, 3 tenors, both vol sources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0-4 exc. vs. 1.6 expected -- all pass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Excel parametric checks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Independent spreadsheet formulas, public data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0.1-7% agreement across 4 checks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DV01 additivity (old / new)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Bucket sum / independent parallel bump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0.9995 / 1.0001 -- pass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Exact rate-shift Greek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Analytic shift vs. true resimulation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1e-15 relative precision -- pass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 cross-cpty netting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Enforced by construction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168 automated regression tests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Model risk: every input perturbed, one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143000"/>
          <a:ext cx="92354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5656"/>
                <a:gridCol w="1629783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Perturbation (base portfolio MPE99 = $51.5M, N=2,000)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Equity/FX vol x2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+71.3%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Equity correlations, 30% toward 1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+21.8%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Equity/FX vol x1.25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+19.3%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Rate-equity dependence, both fall together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+18.2%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Rate volatility x1.25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+9.4%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Rate-equity dependence, offsetting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-15.3%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Mean reversion a x3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-4.8%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Two-factor rate model (G2++) instead of one-factor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2A9D8F"/>
                </a:solidFill>
                <a:latin typeface="Calibri"/>
              </a:rPr>
              <a:t>Conclusion: equity volatility, correlation, and the data-unresolvable rate-equity dependence dominate model risk. The rate-model choice explored at length is one of the smallest levers here.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Attribution: every correction, one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3301"/>
                <a:gridCol w="194517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Portfolio MPE99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Earlier version (flat curve beyond 6.5y, SOFR-overnight sigma, no JPY factor, USDJPY sign error)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$45.7M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 Corrected USDJPY drift sign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$47.8M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 Long-end volatility fit and 10y-yield correlations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$52.7M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 Bloomberg long end spliced onto the USD curve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$52.1M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+ JPY Hull-White factor (final model)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$51.5M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No single correction dominates; each is individually disclosed and traceable -- the model-risk study, not any one fix, is the right lens for how much the headline number could still move.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VII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Credit and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CVA: methodology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852160" cy="2571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8016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No CDS available -&gt; ICE BofA bond-index OAS proxy by rating (Basel MAR50.32(3)-compliant); all 3 counterparties proxied at BBB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Credit-triangle hazard-rate survival model: hazard ~ spread / (1 - recovery), LGD 60%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CPTY_C close-out CVA $7.9k; A $2.4k; B $1.4k; total $11.7k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Rating sensitivity: AAA $5.0k, AA $7.0k, A $8.0k, BBB $11.7k, BB $18.1k, B $32.8k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54880"/>
            <a:ext cx="5303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Value delivered: the sensitivity chain (CVA01, rating table, SA-CVA weighted sensitivities) matters more than the point-in-time number, which is small by construction here.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DVA, FVA, and KVA (extra credit)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316736"/>
                <a:gridCol w="131673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Close-out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CVA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$11.7k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$247k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DVA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$11.2k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$7.5k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FVA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$0.5k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$240.0k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KVA (10% CoC)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$22.4k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$470k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kv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6309360" cy="3840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4389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>On close-out, positive/negative exposure are nearly symmetric so CVA/DVA nearly cancel; on level, the book is net in Capitolis' favour, so CVA/FCA dominate.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>KVA: K(t) = 8% x RW x alpha x EPE(t), CoC swept 8/10/12% (none given). Exceeds CVA because it scales the whole EPE profile, not a small IG default probability.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Regulatory capital: SA-CVA and SA-CCR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fig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766560" cy="2752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463040"/>
            <a:ext cx="4389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SA-CVA capital: $0.10M close-out / $2.23M level (RWA $1.2M / $27.8M)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Dominated by counterparty credit-spread risk on both conventions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SA-CCR exposure at default: $260M, dominated by the replacement cost of BF_0003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Extra credit: a risky-bond sample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F3A5F"/>
                </a:solidFill>
                <a:latin typeface="Calibri"/>
              </a:rPr>
              <a:t>The kickoff brief flagged "Risk bonds + CDS data for new sample trades." Delivered: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875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A sample risky-bond forward (25M notional, 5% BBB corporate; not part of the ESF book)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Priced and simulated with a real issuer credit curve, re-anchored at every simulated node</a:t>
            </a:r>
          </a:p>
          <a:p>
            <a:pPr marL="201168" indent="-201168">
              <a:lnSpc>
                <a:spcPct val="108000"/>
              </a:lnSpc>
              <a:spcAft>
                <a:spcPts val="1400"/>
              </a:spcAft>
              <a:buClr>
                <a:srgbClr val="2A9D8F"/>
              </a:buClr>
              <a:buFont typeface="Arial"/>
              <a:buChar char="•"/>
            </a:pPr>
            <a:r>
              <a:rPr sz="1500">
                <a:solidFill>
                  <a:srgbClr val="444444"/>
                </a:solidFill>
                <a:latin typeface="Calibri"/>
              </a:rPr>
              <a:t>Same hazard-rate survival model and bond-index proxy construction as the counterparty CVA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444444"/>
                </a:solidFill>
                <a:latin typeface="Calibri"/>
              </a:rPr>
              <a:t>Limitation, disclosed: no real CDS quotes were obtainable for a hypothetical issuer, so the issuer curve is a bond-index proxy, not actual CDS -- delivered in spirit, not the full ask.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9C46A"/>
                </a:solidFill>
                <a:latin typeface="Calibri"/>
              </a:rPr>
              <a:t>PART VIII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Decisions, Limitations, and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822960" cy="381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Full decision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7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686"/>
                <a:gridCol w="2322575"/>
                <a:gridCol w="4746133"/>
                <a:gridCol w="282748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Final choice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USD rate model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Hull-White 1F (1-factor LGM)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G2++ CRN gap only -3.0% at 16.1% fit error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independent curve twist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JPY rate model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Hull-White 1F, dedicated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All 3 real a-routes invalid; $52.1M-&gt;$51.5M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One extra simulated factor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 vol source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Realised 2y-30y Treasury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Matches actual move; both pass Kupiec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More window sensitivity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Full 39x39 Cholesky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PCA slower, up to 1.7% extra error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Estimation noise, 741 pairs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Sampling scheme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Latin Hypercube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50.6x lower RMSE vs. pseudo-random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edge on PFE99 Greeks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Path count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N=5,000 / 10,000 sign-off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Rel. SE ~1.4% at 5,000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~1.4% residual noise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Exposure convention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Close-out primary, level secondary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Brief's own definition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Real CSA terms unknown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Greeks method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Bump-reprice + CRN, pathwise check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282x noise reduction; pathwise 1000x faster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 Greeks need resim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Rate DV01 attribution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Par-instrument Jacobian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82% vs. 54% correctly placed at 30y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More bookkeeping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Credit spread source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ICE BofA rating-index OAS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Basel-sanctioned fallback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 sector/region, no WWR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KVA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Parametric, CoC grid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Completes xVA extra-credit ask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  <a:latin typeface="Calibri"/>
                        </a:rPr>
                        <a:t>Not a real capital methodology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Why this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Accurate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Parametric VaR vs. MC: ratio 0.98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Kupiec backtest: all pass (equity and rates)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DV01 additivity: 0.9995 / 1.0001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Equity/FX bumps: 93x cheaper than naive resimulation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Pathwise delta: ~1000x faster than bump-and-reprice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Exact rate-shift Greek: no resimulation at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Explainable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Every parameter traced to a named, dated data source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Every model choice backed by a quantified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CRN cuts Greeks noise 282x ($245k -&gt; $1k)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Exact rate-shift Greek agrees to 1e-15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G2++ challenger within 3% of production on MPE99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Same seed -&gt; identical paths and NPVs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168 automated regression tests</a:t>
            </a:r>
          </a:p>
          <a:p>
            <a:pPr marL="201168" indent="-201168">
              <a:lnSpc>
                <a:spcPct val="108000"/>
              </a:lnSpc>
              <a:spcAft>
                <a:spcPts val="600"/>
              </a:spcAft>
              <a:buClr>
                <a:srgbClr val="2A9D8F"/>
              </a:buClr>
              <a:buFont typeface="Arial"/>
              <a:buChar char="•"/>
            </a:pPr>
            <a:r>
              <a:rPr sz="1250">
                <a:solidFill>
                  <a:srgbClr val="444444"/>
                </a:solidFill>
                <a:latin typeface="Calibri"/>
              </a:rPr>
              <a:t>Every number in this deck traces to a committed result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Accurate + fast + explainable + stable + reproducible -- each claim backed by a number in this deck.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Limitations and model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7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973"/>
                <a:gridCol w="3581542"/>
                <a:gridCol w="3255947"/>
                <a:gridCol w="3147416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 / next step</a:t>
                      </a:r>
                    </a:p>
                  </a:txBody>
                  <a:tcPr marL="50800" marR="50800" marT="25400" marB="25400" anchor="ctr"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Realised (3y), constant; no smile/clustering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Vol x2 moves MPE99 +71%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Implied vols; stress overlay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BBB proxy, flat term, independence assumed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No wrong-way risk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Real ratings/CDS; sector proxy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One factor in production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Curve-twist risk not captured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G2++ kept, re-tested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Capital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KVA uses an assumed CoC grid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KVA is illustrative only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Real methodology from Capitolis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One valuation date, no rolling backtest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Model error over time unmeasured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Rolling backtest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Monte Carlo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MPE99 converges slowly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~1.4-2.2% spread at N=5,000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  <a:latin typeface="Calibri"/>
                        </a:rPr>
                        <a:t>Sign-off at N=10,000</a:t>
                      </a:r>
                    </a:p>
                  </a:txBody>
                  <a:tcPr marL="50800" marR="50800" marT="25400" marB="254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Decision made: production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Production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350">
                <a:solidFill>
                  <a:srgbClr val="1F3A5F"/>
                </a:solidFill>
                <a:latin typeface="Calibri"/>
              </a:rPr>
              <a:t>Rates: </a:t>
            </a:r>
            <a:r>
              <a:rPr sz="1350">
                <a:solidFill>
                  <a:srgbClr val="444444"/>
                </a:solidFill>
                <a:latin typeface="Calibri"/>
              </a:rPr>
              <a:t>Hull-White 1F, a=0.0167, sigma=0.96%; JPY Hull-White 1F, a=0.001; G2++ kept as challenger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350">
                <a:solidFill>
                  <a:srgbClr val="1F3A5F"/>
                </a:solidFill>
                <a:latin typeface="Calibri"/>
              </a:rPr>
              <a:t>Equities / FX: </a:t>
            </a:r>
            <a:r>
              <a:rPr sz="1350">
                <a:solidFill>
                  <a:srgbClr val="444444"/>
                </a:solidFill>
                <a:latin typeface="Calibri"/>
              </a:rPr>
              <a:t>correlated GBM, full 39-factor Cholesky, quanto drift for JPY names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350">
                <a:solidFill>
                  <a:srgbClr val="1F3A5F"/>
                </a:solidFill>
                <a:latin typeface="Calibri"/>
              </a:rPr>
              <a:t>Simulation: </a:t>
            </a:r>
            <a:r>
              <a:rPr sz="1350">
                <a:solidFill>
                  <a:srgbClr val="444444"/>
                </a:solidFill>
                <a:latin typeface="Calibri"/>
              </a:rPr>
              <a:t>Latin Hypercube, N=5,000 (sign-off 10,000), common random numbers for every Greek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b="1" sz="1350">
                <a:solidFill>
                  <a:srgbClr val="1F3A5F"/>
                </a:solidFill>
                <a:latin typeface="Calibri"/>
              </a:rPr>
              <a:t>Exposure: </a:t>
            </a:r>
            <a:r>
              <a:rPr sz="1350">
                <a:solidFill>
                  <a:srgbClr val="444444"/>
                </a:solidFill>
                <a:latin typeface="Calibri"/>
              </a:rPr>
              <a:t>close-out 10bd with t-1bd VM, per netting set: MPE99 $51.0M, peak EE $11.6M, CVA $11.7k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Book slope exposure (would trigger a G2++ re-test)</a:t>
            </a:r>
          </a:p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Volatility regime (implied vs. realised)</a:t>
            </a:r>
          </a:p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Credit proxy vs. any real counterparty CDS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0233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Real ratings/CDS, own credit and funding spread</a:t>
            </a:r>
          </a:p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Real capital methodology and CoC for KVA</a:t>
            </a:r>
          </a:p>
          <a:p>
            <a:pPr marL="201168" indent="-201168">
              <a:lnSpc>
                <a:spcPct val="108000"/>
              </a:lnSpc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>
                <a:solidFill>
                  <a:srgbClr val="444444"/>
                </a:solidFill>
                <a:latin typeface="Calibri"/>
              </a:rPr>
              <a:t>Sector-specific credit-spread proxy; rolling exposure backtest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Feedback tracker: both rounds, all 11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Earlier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This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1. Robust stress testing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2. Sensitivities: method, cost, faster alt.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3. PCA explainability and speed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4. Final results explanation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5. CVA walkthrough and set-up  --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6. 2008 and more testing periods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7. LHS to calculate sensitivities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8. KVA addition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9. CVA is for sensitivities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10. DV01 via a Jacobian  -- SELECTED</a:t>
            </a:r>
          </a:p>
          <a:p>
            <a:pPr marL="201168" indent="-201168">
              <a:lnSpc>
                <a:spcPct val="108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350">
                <a:solidFill>
                  <a:srgbClr val="444444"/>
                </a:solidFill>
                <a:latin typeface="Calibri"/>
              </a:rPr>
              <a:t>11. Excel parametric vol-bump test  --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1">
                <a:solidFill>
                  <a:srgbClr val="444444"/>
                </a:solidFill>
                <a:latin typeface="Calibri"/>
              </a:rPr>
              <a:t>Detail and results for every item are in the sections above.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E9C46A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