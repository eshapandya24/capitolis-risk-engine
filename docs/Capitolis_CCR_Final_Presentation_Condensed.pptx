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3175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Counterparty Credit Risk Engine for the Capitolis 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E9C46A"/>
                </a:solidFill>
                <a:latin typeface="Calibri"/>
              </a:rPr>
              <a:t>Data, Models, Trade-offs, and Results -- Condensed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C9D6E6"/>
                </a:solidFill>
                <a:latin typeface="Calibri"/>
              </a:rPr>
              <a:t>Berkeley MFE Industry Project  |  Valuation date 2026-08-28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E9C46A"/>
                </a:solidFill>
                <a:latin typeface="Calibri"/>
              </a:rPr>
              <a:t>PART 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96012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4000"/>
              </a:lnSpc>
              <a:spcAft>
                <a:spcPts val="1600"/>
              </a:spcAft>
              <a:buClr>
                <a:srgbClr val="2A9D8F"/>
              </a:buClr>
              <a:buFont typeface="Arial"/>
              <a:buChar char="•"/>
            </a:pPr>
            <a:r>
              <a:rPr sz="1700">
                <a:solidFill>
                  <a:srgbClr val="444444"/>
                </a:solidFill>
                <a:latin typeface="Calibri"/>
              </a:rPr>
              <a:t>I. What Capitolis Gave Us</a:t>
            </a:r>
          </a:p>
          <a:p>
            <a:pPr marL="182880" indent="-182880">
              <a:lnSpc>
                <a:spcPct val="104000"/>
              </a:lnSpc>
              <a:spcAft>
                <a:spcPts val="1600"/>
              </a:spcAft>
              <a:buClr>
                <a:srgbClr val="2A9D8F"/>
              </a:buClr>
              <a:buFont typeface="Arial"/>
              <a:buChar char="•"/>
            </a:pPr>
            <a:r>
              <a:rPr sz="1700">
                <a:solidFill>
                  <a:srgbClr val="444444"/>
                </a:solidFill>
                <a:latin typeface="Calibri"/>
              </a:rPr>
              <a:t>II. Risks, Variables, and Data</a:t>
            </a:r>
          </a:p>
          <a:p>
            <a:pPr marL="182880" indent="-182880">
              <a:lnSpc>
                <a:spcPct val="104000"/>
              </a:lnSpc>
              <a:spcAft>
                <a:spcPts val="1600"/>
              </a:spcAft>
              <a:buClr>
                <a:srgbClr val="2A9D8F"/>
              </a:buClr>
              <a:buFont typeface="Arial"/>
              <a:buChar char="•"/>
            </a:pPr>
            <a:r>
              <a:rPr sz="1700">
                <a:solidFill>
                  <a:srgbClr val="444444"/>
                </a:solidFill>
                <a:latin typeface="Calibri"/>
              </a:rPr>
              <a:t>III. Models Considered, and Why the Final Model</a:t>
            </a:r>
          </a:p>
          <a:p>
            <a:pPr marL="182880" indent="-182880">
              <a:lnSpc>
                <a:spcPct val="104000"/>
              </a:lnSpc>
              <a:spcAft>
                <a:spcPts val="1600"/>
              </a:spcAft>
              <a:buClr>
                <a:srgbClr val="2A9D8F"/>
              </a:buClr>
              <a:buFont typeface="Arial"/>
              <a:buChar char="•"/>
            </a:pPr>
            <a:r>
              <a:rPr sz="1700">
                <a:solidFill>
                  <a:srgbClr val="444444"/>
                </a:solidFill>
                <a:latin typeface="Calibri"/>
              </a:rPr>
              <a:t>IV. Efficient Simulation</a:t>
            </a:r>
          </a:p>
          <a:p>
            <a:pPr marL="182880" indent="-182880">
              <a:lnSpc>
                <a:spcPct val="104000"/>
              </a:lnSpc>
              <a:spcAft>
                <a:spcPts val="1600"/>
              </a:spcAft>
              <a:buClr>
                <a:srgbClr val="2A9D8F"/>
              </a:buClr>
              <a:buFont typeface="Arial"/>
              <a:buChar char="•"/>
            </a:pPr>
            <a:r>
              <a:rPr sz="1700">
                <a:solidFill>
                  <a:srgbClr val="444444"/>
                </a:solidFill>
                <a:latin typeface="Calibri"/>
              </a:rPr>
              <a:t>V. What the Engine Does, and What It Finds</a:t>
            </a:r>
          </a:p>
          <a:p>
            <a:pPr marL="182880" indent="-182880">
              <a:lnSpc>
                <a:spcPct val="104000"/>
              </a:lnSpc>
              <a:spcAft>
                <a:spcPts val="1600"/>
              </a:spcAft>
              <a:buClr>
                <a:srgbClr val="2A9D8F"/>
              </a:buClr>
              <a:buFont typeface="Arial"/>
              <a:buChar char="•"/>
            </a:pPr>
            <a:r>
              <a:rPr sz="1700">
                <a:solidFill>
                  <a:srgbClr val="444444"/>
                </a:solidFill>
                <a:latin typeface="Calibri"/>
              </a:rPr>
              <a:t>VI. Sensitivities, Stress, and Validation</a:t>
            </a:r>
          </a:p>
          <a:p>
            <a:pPr marL="182880" indent="-182880">
              <a:lnSpc>
                <a:spcPct val="104000"/>
              </a:lnSpc>
              <a:spcAft>
                <a:spcPts val="1600"/>
              </a:spcAft>
              <a:buClr>
                <a:srgbClr val="2A9D8F"/>
              </a:buClr>
              <a:buFont typeface="Arial"/>
              <a:buChar char="•"/>
            </a:pPr>
            <a:r>
              <a:rPr sz="1700">
                <a:solidFill>
                  <a:srgbClr val="444444"/>
                </a:solidFill>
                <a:latin typeface="Calibri"/>
              </a:rPr>
              <a:t>VII. Credit and Capital</a:t>
            </a:r>
          </a:p>
          <a:p>
            <a:pPr marL="182880" indent="-182880">
              <a:lnSpc>
                <a:spcPct val="104000"/>
              </a:lnSpc>
              <a:spcAft>
                <a:spcPts val="1600"/>
              </a:spcAft>
              <a:buClr>
                <a:srgbClr val="2A9D8F"/>
              </a:buClr>
              <a:buFont typeface="Arial"/>
              <a:buChar char="•"/>
            </a:pPr>
            <a:r>
              <a:rPr sz="1700">
                <a:solidFill>
                  <a:srgbClr val="444444"/>
                </a:solidFill>
                <a:latin typeface="Calibri"/>
              </a:rPr>
              <a:t>VIII. Decisions, Limitations, and 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E9C46A"/>
                </a:solidFill>
                <a:latin typeface="Calibri"/>
              </a:rPr>
              <a:t>PART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The Book, and the Exposure We Must Measure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914400"/>
          <a:ext cx="7680957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5561"/>
                <a:gridCol w="726577"/>
                <a:gridCol w="518983"/>
                <a:gridCol w="1764544"/>
                <a:gridCol w="934170"/>
                <a:gridCol w="830374"/>
                <a:gridCol w="1660748"/>
              </a:tblGrid>
              <a:tr h="375920">
                <a:tc>
                  <a:txBody>
                    <a:bodyPr wrap="square"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Calibri"/>
                        </a:rPr>
                        <a:t>Trade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Calibri"/>
                        </a:rPr>
                        <a:t>Cpty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Calibri"/>
                        </a:rPr>
                        <a:t>Underlying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Calibri"/>
                        </a:rPr>
                        <a:t>Ends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Calibri"/>
                        </a:rPr>
                        <a:t>Notional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Calibri"/>
                        </a:rPr>
                        <a:t>NPV t=0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EQTRS_0001-3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Eq. TRS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3 USD names each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Oct'26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50-99M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-5.55/-1.08/+9.92M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EQTRS_0004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Eq. TRS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16 USD names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Nov'26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49.2M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-0.87M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EQTRS_0005/6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Eq. TRS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3 JPY names each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Oct'26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12-31M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+0.15/+1.63M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EQTRS_0007/8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Eq. TRS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7/3 USD names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Oct'26/Jul'27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95M/30M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-0.37/+2.22M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BF_0001/2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Bond fwd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UST 3.88%'28/4.63%'35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Oct/Nov'26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100M/20M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+0.51/-0.36M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BF_0003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Bond fwd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UST 2.88% 5/15/2049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Dec'26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500M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+121.26M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BF_0004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Bond fwd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UST 1.13%'28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Oct'26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50M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+1.97M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BTRS_0001-4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Bond TRS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A/B/B/C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UST 4.12/2.88/4.63/4.12%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'27-'28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5-40M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30" b="0">
                          <a:solidFill>
                            <a:srgbClr val="444444"/>
                          </a:solidFill>
                          <a:latin typeface="Calibri"/>
                        </a:rPr>
                        <a:t>+0.12/+0.21/+0.03/+0.04M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370832"/>
            <a:ext cx="7680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1F3A5F"/>
                </a:solidFill>
                <a:latin typeface="Calibri"/>
              </a:rPr>
              <a:t>Net MtM: CPTY_A +$3.57M   CPTY_B +$1.15M   CPTY_C +$125.12M   Book +$129.84M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914400"/>
            <a:ext cx="3566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Exposure = max( V(t+10bd) - V(t-1bd), 0 )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91640"/>
            <a:ext cx="35661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4000"/>
              </a:lnSpc>
              <a:spcAft>
                <a:spcPts val="700"/>
              </a:spcAft>
              <a:buClr>
                <a:srgbClr val="2A9D8F"/>
              </a:buClr>
              <a:buFont typeface="Arial"/>
              <a:buChar char="•"/>
            </a:pPr>
            <a:r>
              <a:rPr sz="1100">
                <a:solidFill>
                  <a:srgbClr val="444444"/>
                </a:solidFill>
                <a:latin typeface="Calibri"/>
              </a:rPr>
              <a:t>VM: netted value 1bd before t, two-way, no threshold</a:t>
            </a:r>
          </a:p>
          <a:p>
            <a:pPr marL="182880" indent="-182880">
              <a:lnSpc>
                <a:spcPct val="104000"/>
              </a:lnSpc>
              <a:spcAft>
                <a:spcPts val="700"/>
              </a:spcAft>
              <a:buClr>
                <a:srgbClr val="2A9D8F"/>
              </a:buClr>
              <a:buFont typeface="Arial"/>
              <a:buChar char="•"/>
            </a:pPr>
            <a:r>
              <a:rPr sz="1100">
                <a:solidFill>
                  <a:srgbClr val="444444"/>
                </a:solidFill>
                <a:latin typeface="Calibri"/>
              </a:rPr>
              <a:t>MPoR: close-out 10 business days after t</a:t>
            </a:r>
          </a:p>
          <a:p>
            <a:pPr marL="182880" indent="-182880">
              <a:lnSpc>
                <a:spcPct val="104000"/>
              </a:lnSpc>
              <a:spcAft>
                <a:spcPts val="700"/>
              </a:spcAft>
              <a:buClr>
                <a:srgbClr val="2A9D8F"/>
              </a:buClr>
              <a:buFont typeface="Arial"/>
              <a:buChar char="•"/>
            </a:pPr>
            <a:r>
              <a:rPr sz="1100">
                <a:solidFill>
                  <a:srgbClr val="444444"/>
                </a:solidFill>
                <a:latin typeface="Calibri"/>
              </a:rPr>
              <a:t>Netting within a counterparty only; never across</a:t>
            </a:r>
          </a:p>
          <a:p>
            <a:pPr marL="182880" indent="-182880">
              <a:lnSpc>
                <a:spcPct val="104000"/>
              </a:lnSpc>
              <a:spcAft>
                <a:spcPts val="700"/>
              </a:spcAft>
              <a:buClr>
                <a:srgbClr val="2A9D8F"/>
              </a:buClr>
              <a:buFont typeface="Arial"/>
              <a:buChar char="•"/>
            </a:pPr>
            <a:r>
              <a:rPr sz="1100">
                <a:solidFill>
                  <a:srgbClr val="444444"/>
                </a:solidFill>
                <a:latin typeface="Calibri"/>
              </a:rPr>
              <a:t>Trades settling inside the window excluded</a:t>
            </a:r>
          </a:p>
        </p:txBody>
      </p:sp>
      <p:pic>
        <p:nvPicPr>
          <p:cNvPr id="9" name="Picture 8" descr="fig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60520"/>
            <a:ext cx="3566160" cy="16864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E9C46A"/>
                </a:solidFill>
                <a:latin typeface="Calibri"/>
              </a:rPr>
              <a:t>PART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Risk Factors and Data Philosophy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914400"/>
          <a:ext cx="1152143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3024378"/>
                <a:gridCol w="2880360"/>
                <a:gridCol w="3312413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Risk factor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Trades affected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Calibrated from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37 equity prices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All 8 equity TRS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Correlated GBM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3y realised vol, dividend yield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USDJPY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Equity TRS, JPY names (2)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GBM, quanto drift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3y realised FX vol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USD short rate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Bond fwd/TRS, funding, disc.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Hull-White 1F (=1F LGM)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Swaption cube (a) + realised vol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JPY short rate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Drift of JPY names, USDJPY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2nd Hull-White 1F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Real JPY OIS curve, rate history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Counterparty credit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CVA/DVA/FVA/KVA only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Hazard-rate survival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ICE BofA rating OAS; no CDS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114800"/>
            <a:ext cx="11521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1">
                <a:solidFill>
                  <a:srgbClr val="444444"/>
                </a:solidFill>
                <a:latin typeface="Calibri"/>
              </a:rPr>
              <a:t>39 correlated stochastic factors, one joint simulation, correlated by a single Cholesky factor every time step.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663440"/>
            <a:ext cx="11521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Data philosophy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1247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4000"/>
              </a:lnSpc>
              <a:spcAft>
                <a:spcPts val="600"/>
              </a:spcAft>
              <a:buClr>
                <a:srgbClr val="2A9D8F"/>
              </a:buClr>
              <a:buFont typeface="Arial"/>
              <a:buChar char="•"/>
            </a:pPr>
            <a:r>
              <a:rPr sz="1200">
                <a:solidFill>
                  <a:srgbClr val="444444"/>
                </a:solidFill>
                <a:latin typeface="Calibri"/>
              </a:rPr>
              <a:t>Every number traces to a disclosed, real source -- no synthetic placeholders for calibration inputs</a:t>
            </a:r>
          </a:p>
          <a:p>
            <a:pPr marL="182880" indent="-182880">
              <a:lnSpc>
                <a:spcPct val="104000"/>
              </a:lnSpc>
              <a:spcAft>
                <a:spcPts val="600"/>
              </a:spcAft>
              <a:buClr>
                <a:srgbClr val="2A9D8F"/>
              </a:buClr>
              <a:buFont typeface="Arial"/>
              <a:buChar char="•"/>
            </a:pPr>
            <a:r>
              <a:rPr sz="1200">
                <a:solidFill>
                  <a:srgbClr val="444444"/>
                </a:solidFill>
                <a:latin typeface="Calibri"/>
              </a:rPr>
              <a:t>Two tiers: public (Yahoo Finance, FRED, Databento) and licensed (Bloomberg, used/cross-checked, never redistributed raw)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E9C46A"/>
                </a:solidFill>
                <a:latin typeface="Calibri"/>
              </a:rPr>
              <a:t>PART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Data Sources: Where Every Number Comes From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914400"/>
          <a:ext cx="11521439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6059"/>
                <a:gridCol w="3506525"/>
                <a:gridCol w="4758855"/>
              </a:tblGrid>
              <a:tr h="674370"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Used for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Benefit of using real data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444444"/>
                          </a:solidFill>
                          <a:latin typeface="Calibri"/>
                        </a:rPr>
                        <a:t>Databento SOFR futures + Bloomberg long end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444444"/>
                          </a:solidFill>
                          <a:latin typeface="Calibri"/>
                        </a:rPr>
                        <a:t>USD discount curve, HW1F base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444444"/>
                          </a:solidFill>
                          <a:latin typeface="Calibri"/>
                        </a:rPr>
                        <a:t>Genuine market-implied curve; splice moved MPE99 $52.7M-&gt;$52.1M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444444"/>
                          </a:solidFill>
                          <a:latin typeface="Calibri"/>
                        </a:rPr>
                        <a:t>FRED Treasury CMT yields (public, since 1981)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444444"/>
                          </a:solidFill>
                          <a:latin typeface="Calibri"/>
                        </a:rPr>
                        <a:t>Realised long-end vol -&gt; HW sigma (0.96%)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444444"/>
                          </a:solidFill>
                          <a:latin typeface="Calibri"/>
                        </a:rPr>
                        <a:t>Matches the actual yield vol this book depends on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444444"/>
                          </a:solidFill>
                          <a:latin typeface="Calibri"/>
                        </a:rPr>
                        <a:t>Bloomberg ATM normal swaption cube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444444"/>
                          </a:solidFill>
                          <a:latin typeface="Calibri"/>
                        </a:rPr>
                        <a:t>Mean-reversion a (0.0167, R2=0.84)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444444"/>
                          </a:solidFill>
                          <a:latin typeface="Calibri"/>
                        </a:rPr>
                        <a:t>Textbook, genuinely implied, forward-looking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444444"/>
                          </a:solidFill>
                          <a:latin typeface="Calibri"/>
                        </a:rPr>
                        <a:t>Yahoo Finance: 37 equities + USDJPY, 3y hist.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444444"/>
                          </a:solidFill>
                          <a:latin typeface="Calibri"/>
                        </a:rPr>
                        <a:t>Spots, div., realised vol, 39x39 correlation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444444"/>
                          </a:solidFill>
                          <a:latin typeface="Calibri"/>
                        </a:rPr>
                        <a:t>Public, free, long enough (2007-today) for reliable stats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444444"/>
                          </a:solidFill>
                          <a:latin typeface="Calibri"/>
                        </a:rPr>
                        <a:t>Real JPY OIS curve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444444"/>
                          </a:solidFill>
                          <a:latin typeface="Calibri"/>
                        </a:rPr>
                        <a:t>JPY Hull-White factor base curve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444444"/>
                          </a:solidFill>
                          <a:latin typeface="Calibri"/>
                        </a:rPr>
                        <a:t>Lets JPY rates move independently and go negative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444444"/>
                          </a:solidFill>
                          <a:latin typeface="Calibri"/>
                        </a:rPr>
                        <a:t>ICE BofA rating-index OAS (FRED)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444444"/>
                          </a:solidFill>
                          <a:latin typeface="Calibri"/>
                        </a:rPr>
                        <a:t>Counterparty/issuer credit spread proxy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444444"/>
                          </a:solidFill>
                          <a:latin typeface="Calibri"/>
                        </a:rPr>
                        <a:t>Basel MAR50.32(3)-sanctioned fallback; real market spreads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444444"/>
                          </a:solidFill>
                          <a:latin typeface="Calibri"/>
                        </a:rPr>
                        <a:t>Bloomberg (licensed): curve, vol cubes, surfaces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444444"/>
                          </a:solidFill>
                          <a:latin typeface="Calibri"/>
                        </a:rPr>
                        <a:t>Splice, calibration fits, model-risk checks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444444"/>
                          </a:solidFill>
                          <a:latin typeface="Calibri"/>
                        </a:rPr>
                        <a:t>Only source for genuine long-dated data; derived numbers only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E9C46A"/>
                </a:solidFill>
                <a:latin typeface="Calibri"/>
              </a:rPr>
              <a:t>PART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Models Considered: Rates, Equities, FX, Credit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914400"/>
          <a:ext cx="1152143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473"/>
                <a:gridCol w="3650357"/>
                <a:gridCol w="4106651"/>
                <a:gridCol w="1482957"/>
              </a:tblGrid>
              <a:tr h="4343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Rate model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Advantages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Disadvantages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Hull-White 1F (=1F LGM)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Exact step, closed-form P(t,T); 2 params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One factor -- curve near-parallel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SELECTED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G2++ (2-factor, =LGM2F)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Level+slope move separately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5 params; b at bound; 16.1% fit error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Challenger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2-factor + stoch. vol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Vol clustering, fat tails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Not implemented; more params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Not built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2834640"/>
          <a:ext cx="11521438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3694"/>
                <a:gridCol w="3308136"/>
                <a:gridCol w="4106651"/>
                <a:gridCol w="1482957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Equity/FX/credit model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Advantages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Disadvantages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444444"/>
                          </a:solidFill>
                          <a:latin typeface="Calibri"/>
                        </a:rPr>
                        <a:t>Equities: GBM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444444"/>
                          </a:solidFill>
                          <a:latin typeface="Calibri"/>
                        </a:rPr>
                        <a:t>Exact log-Euler step, fast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444444"/>
                          </a:solidFill>
                          <a:latin typeface="Calibri"/>
                        </a:rPr>
                        <a:t>No vol smile or clustering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444444"/>
                          </a:solidFill>
                          <a:latin typeface="Calibri"/>
                        </a:rPr>
                        <a:t>SELECTED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444444"/>
                          </a:solidFill>
                          <a:latin typeface="Calibri"/>
                        </a:rPr>
                        <a:t>Equities: stochastic vol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444444"/>
                          </a:solidFill>
                          <a:latin typeface="Calibri"/>
                        </a:rPr>
                        <a:t>Vol clustering, skew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444444"/>
                          </a:solidFill>
                          <a:latin typeface="Calibri"/>
                        </a:rPr>
                        <a:t>Not implemented; needs option surfaces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444444"/>
                          </a:solidFill>
                          <a:latin typeface="Calibri"/>
                        </a:rPr>
                        <a:t>Not built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444444"/>
                          </a:solidFill>
                          <a:latin typeface="Calibri"/>
                        </a:rPr>
                        <a:t>FX: GBM, quanto drift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444444"/>
                          </a:solidFill>
                          <a:latin typeface="Calibri"/>
                        </a:rPr>
                        <a:t>Consistent with both curves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444444"/>
                          </a:solidFill>
                          <a:latin typeface="Calibri"/>
                        </a:rPr>
                        <a:t>No smile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444444"/>
                          </a:solidFill>
                          <a:latin typeface="Calibri"/>
                        </a:rPr>
                        <a:t>SELECTED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444444"/>
                          </a:solidFill>
                          <a:latin typeface="Calibri"/>
                        </a:rPr>
                        <a:t>Credit: hazard-rate proxy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444444"/>
                          </a:solidFill>
                          <a:latin typeface="Calibri"/>
                        </a:rPr>
                        <a:t>Transparent, Basel-compliant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444444"/>
                          </a:solidFill>
                          <a:latin typeface="Calibri"/>
                        </a:rPr>
                        <a:t>No wrong-way risk, no spread vol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444444"/>
                          </a:solidFill>
                          <a:latin typeface="Calibri"/>
                        </a:rPr>
                        <a:t>SELECTED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444444"/>
                          </a:solidFill>
                          <a:latin typeface="Calibri"/>
                        </a:rPr>
                        <a:t>Credit: stochastic intensity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444444"/>
                          </a:solidFill>
                          <a:latin typeface="Calibri"/>
                        </a:rPr>
                        <a:t>Spread + wrong-way risk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444444"/>
                          </a:solidFill>
                          <a:latin typeface="Calibri"/>
                        </a:rPr>
                        <a:t>No counterparty CDS available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444444"/>
                          </a:solidFill>
                          <a:latin typeface="Calibri"/>
                        </a:rPr>
                        <a:t>Not available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5989320"/>
            <a:ext cx="11521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1">
                <a:solidFill>
                  <a:srgbClr val="444444"/>
                </a:solidFill>
                <a:latin typeface="Calibri"/>
              </a:rPr>
              <a:t>The rate-model question is empirical: does the second factor materially change this book's exposure? Tested next.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E9C46A"/>
                </a:solidFill>
                <a:latin typeface="Calibri"/>
              </a:rPr>
              <a:t>PART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Correlation: Full Cholesky Matrix vs. PCA Factor Model</a:t>
            </a:r>
          </a:p>
        </p:txBody>
      </p:sp>
      <p:pic>
        <p:nvPicPr>
          <p:cNvPr id="5" name="Picture 4" descr="fi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223760" cy="326411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0" y="1005840"/>
          <a:ext cx="4023356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79"/>
                <a:gridCol w="822959"/>
                <a:gridCol w="822959"/>
                <a:gridCol w="822959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PCA k=5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PCA k=10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Step time (5,000 scen.)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1.91s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2.08s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2.29s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Variance explained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47%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Netting-set vol vs. full (B)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+1.7%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+1.5%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2926080"/>
            <a:ext cx="40233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44444"/>
                </a:solidFill>
                <a:latin typeface="Calibri"/>
              </a:rPr>
              <a:t>SELECTED full matrix: PCA is slower, not faster, at n=39 (draws k systematic + n idiosyncratic numbers, no dimensionality win). Loss of using PCA instead: no speed gain, and up to 1.7% extra sampling error. Kept only as an explainability tool: factor 1 (20%) is a broad market mode, factor 2 (8.9%) is Japan vs. 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E9C46A"/>
                </a:solidFill>
                <a:latin typeface="Calibri"/>
              </a:rPr>
              <a:t>PART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USD Rate Calibration: Mean Reversion and Volatility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914400"/>
          <a:ext cx="115214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6781"/>
                <a:gridCol w="4167329"/>
                <a:gridCol w="1348253"/>
                <a:gridCol w="1225685"/>
                <a:gridCol w="159339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Route (mean reversion a)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R2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Swaption cube (preferred)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Bloomberg ATM normal vol, 1M expiry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0.0167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0.845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SELECTED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SOFR-futures vol decay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~2y Databento history, 8 contracts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0.0458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0.820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cross-check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46888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4000"/>
              </a:lnSpc>
              <a:spcAft>
                <a:spcPts val="600"/>
              </a:spcAft>
              <a:buClr>
                <a:srgbClr val="2A9D8F"/>
              </a:buClr>
              <a:buFont typeface="Arial"/>
              <a:buChar char="•"/>
            </a:pPr>
            <a:r>
              <a:rPr sz="1150">
                <a:solidFill>
                  <a:srgbClr val="444444"/>
                </a:solidFill>
                <a:latin typeface="Calibri"/>
              </a:rPr>
              <a:t>Original source (overnight SOFR, 0.63%) understates long-dated yield moves (realised 10bd 20y move ~15bp vs. ~11bp implied)</a:t>
            </a:r>
          </a:p>
          <a:p>
            <a:pPr marL="182880" indent="-182880">
              <a:lnSpc>
                <a:spcPct val="104000"/>
              </a:lnSpc>
              <a:spcAft>
                <a:spcPts val="600"/>
              </a:spcAft>
              <a:buClr>
                <a:srgbClr val="2A9D8F"/>
              </a:buClr>
              <a:buFont typeface="Arial"/>
              <a:buChar char="•"/>
            </a:pPr>
            <a:r>
              <a:rPr sz="1150">
                <a:solidFill>
                  <a:srgbClr val="444444"/>
                </a:solidFill>
                <a:latin typeface="Calibri"/>
              </a:rPr>
              <a:t>SELECTED: realised vol of 2y-30y Treasury yield changes directly, 0.96% -- validated by Kupiec backtest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3840480"/>
          <a:ext cx="7315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600"/>
                <a:gridCol w="2032000"/>
                <a:gridCol w="2032000"/>
                <a:gridCol w="1117600"/>
                <a:gridCol w="1016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Tenor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Overnight-SOFR exc.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Long-end sigma exc.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Expected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Pass?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5y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1/1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4/3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1.6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10y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1/0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3/2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1.6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20y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1/1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3/1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1.6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ig_dv01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657600"/>
            <a:ext cx="3931920" cy="17867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63840" y="5577840"/>
            <a:ext cx="3931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1">
                <a:solidFill>
                  <a:srgbClr val="444444"/>
                </a:solidFill>
                <a:latin typeface="Calibri"/>
              </a:rPr>
              <a:t>Book rate risk sits 82% in the 30y bucket (BF_0003, $500M, 2049 Treasury) -- one maturity dominates.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E9C46A"/>
                </a:solidFill>
                <a:latin typeface="Calibri"/>
              </a:rPr>
              <a:t>PART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HW1F vs. G2++: Head to Head, Same Draws and Trades</a:t>
            </a:r>
          </a:p>
        </p:txBody>
      </p:sp>
      <p:pic>
        <p:nvPicPr>
          <p:cNvPr id="5" name="Picture 4" descr="fig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583680" cy="3345609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040880" y="914400"/>
          <a:ext cx="484631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373"/>
                <a:gridCol w="1169801"/>
                <a:gridCol w="1671144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HW1F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G2++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Fit to realised yield covariance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16.1% rel. error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Parameters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a=0.0167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a=0.039, b=1.5 (at bound)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Portfolio MPE99 (N=2,000, CRN)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baseline $51.5M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$50.0M (-3.0%)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By counterparty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A -1%, B -3%, C -0%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040880" y="3200400"/>
            <a:ext cx="48463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444444"/>
                </a:solidFill>
                <a:latin typeface="Calibri"/>
              </a:rPr>
              <a:t>Benefit of 2-factor: lets the curve twist, not just shift. Cost: a parameter pinned at its bound, 16% fit error, and a 3% move that doesn't justify the complexity here. Same random draws used in both runs (common random numbers), so the -3.0% gap is a real model difference, not sampling noise.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E9C46A"/>
                </a:solidFill>
                <a:latin typeface="Calibri"/>
              </a:rPr>
              <a:t>PART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JPY Rates, and the Rate-Model Decision Register</a:t>
            </a:r>
          </a:p>
        </p:txBody>
      </p:sp>
      <p:pic>
        <p:nvPicPr>
          <p:cNvPr id="5" name="Picture 4" descr="fig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206240" cy="18077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63440" y="914400"/>
            <a:ext cx="7132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4000"/>
              </a:lnSpc>
              <a:spcAft>
                <a:spcPts val="600"/>
              </a:spcAft>
              <a:buClr>
                <a:srgbClr val="2A9D8F"/>
              </a:buClr>
              <a:buFont typeface="Arial"/>
              <a:buChar char="•"/>
            </a:pPr>
            <a:r>
              <a:rPr sz="1150">
                <a:solidFill>
                  <a:srgbClr val="444444"/>
                </a:solidFill>
                <a:latin typeface="Calibri"/>
              </a:rPr>
              <a:t>REJECTED: constant USD-JPY differential -- cheap, cannot represent JPY moving independently or negative</a:t>
            </a:r>
          </a:p>
          <a:p>
            <a:pPr marL="182880" indent="-182880">
              <a:lnSpc>
                <a:spcPct val="104000"/>
              </a:lnSpc>
              <a:spcAft>
                <a:spcPts val="600"/>
              </a:spcAft>
              <a:buClr>
                <a:srgbClr val="2A9D8F"/>
              </a:buClr>
              <a:buFont typeface="Arial"/>
              <a:buChar char="•"/>
            </a:pPr>
            <a:r>
              <a:rPr sz="1150">
                <a:solidFill>
                  <a:srgbClr val="444444"/>
                </a:solidFill>
                <a:latin typeface="Calibri"/>
              </a:rPr>
              <a:t>SELECTED: a second, real, simulated Hull-White 1F from the JPY OIS curve. TONA negative/near-zero most of 25 years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63440" y="2743200"/>
          <a:ext cx="30175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058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JPY a route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Fitted a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OIS history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-0.0261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Swaption cube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-0.0374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JGB history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-0.0203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863840" y="2743200"/>
            <a:ext cx="3931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44444"/>
                </a:solidFill>
                <a:latin typeface="Calibri"/>
              </a:rPr>
              <a:t>All invalid (negative a): JPY vol rises with tenor. Used a=0.001 floor. Attribution: $52.1M -&gt; $51.5M.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4480560"/>
          <a:ext cx="1152143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3169"/>
                <a:gridCol w="2304287"/>
                <a:gridCol w="5009321"/>
                <a:gridCol w="2504660"/>
              </a:tblGrid>
              <a:tr h="4800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Final choice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Trade-off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USD rate model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Hull-White 1F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G2++ gap only -3.0% at 16.1% fit error, param. at bound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No curve twist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JPY rate model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Hull-White 1F, dedicated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All 3 real a-routes invalid; $52.1M-&gt;$51.5M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1 extra factor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Rate vol source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Realised 2y-30y Treasury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Matches actual move; both pass Kupiec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More window sensitivity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E9C46A"/>
                </a:solidFill>
                <a:latin typeface="Calibri"/>
              </a:rPr>
              <a:t>PART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Sampling Scheme: Five Methods, and What Latin Hypercube Does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914400"/>
          <a:ext cx="57607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056132"/>
                <a:gridCol w="1728216"/>
                <a:gridCol w="1056132"/>
              </a:tblGrid>
              <a:tr h="3505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vs. pseudo-random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ms/trial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Pseudo-random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1.456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1.0x (baseline)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Antithetic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1.079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1.3x better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0.31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Moment-matched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0.232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6.3x better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Sobol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0.051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28.8x better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1.65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Latin Hypercube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0.029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50.6x better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0.98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0" y="914400"/>
            <a:ext cx="54864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44444"/>
                </a:solidFill>
                <a:latin typeface="Calibri"/>
              </a:rPr>
              <a:t>Real 663-dim engine check: no method wins both -- Sobol lowest PFE std (2.72M vs. 4.29M pseudo-random), moment-matched lowest median std (0.40M vs. 0.76M). LHS competitive on both (3.73M/0.48M), never worst.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200400"/>
            <a:ext cx="11521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9D8F"/>
                </a:solidFill>
                <a:latin typeface="Calibri"/>
              </a:rPr>
              <a:t>SELECTED Latin Hypercube: best on the controlled test, competitive, negligible extra cost.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155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4000"/>
              </a:lnSpc>
              <a:spcAft>
                <a:spcPts val="800"/>
              </a:spcAft>
              <a:buClr>
                <a:srgbClr val="2A9D8F"/>
              </a:buClr>
              <a:buFont typeface="Arial"/>
              <a:buChar char="•"/>
            </a:pPr>
            <a:r>
              <a:rPr sz="1250">
                <a:solidFill>
                  <a:srgbClr val="444444"/>
                </a:solidFill>
                <a:latin typeface="Calibri"/>
              </a:rPr>
              <a:t>Does stratify every marginal: each factor's draws cover equal-probability bins, tails always visited</a:t>
            </a:r>
          </a:p>
          <a:p>
            <a:pPr marL="182880" indent="-182880">
              <a:lnSpc>
                <a:spcPct val="104000"/>
              </a:lnSpc>
              <a:spcAft>
                <a:spcPts val="800"/>
              </a:spcAft>
              <a:buClr>
                <a:srgbClr val="2A9D8F"/>
              </a:buClr>
              <a:buFont typeface="Arial"/>
              <a:buChar char="•"/>
            </a:pPr>
            <a:r>
              <a:rPr sz="1250">
                <a:solidFill>
                  <a:srgbClr val="444444"/>
                </a:solidFill>
                <a:latin typeface="Calibri"/>
              </a:rPr>
              <a:t>Does not stratify the joint distribution (~663 effective dims) -- interaction noise remains</a:t>
            </a:r>
          </a:p>
          <a:p>
            <a:pPr marL="182880" indent="-182880">
              <a:lnSpc>
                <a:spcPct val="104000"/>
              </a:lnSpc>
              <a:spcAft>
                <a:spcPts val="800"/>
              </a:spcAft>
              <a:buClr>
                <a:srgbClr val="2A9D8F"/>
              </a:buClr>
              <a:buFont typeface="Arial"/>
              <a:buChar char="•"/>
            </a:pPr>
            <a:r>
              <a:rPr sz="1250">
                <a:solidFill>
                  <a:srgbClr val="444444"/>
                </a:solidFill>
                <a:latin typeface="Calibri"/>
              </a:rPr>
              <a:t>Unbiased (inverse-normal-CDF mapped); cost (N x dim) negligible next to repricing</a:t>
            </a:r>
          </a:p>
          <a:p>
            <a:pPr marL="182880" indent="-182880">
              <a:lnSpc>
                <a:spcPct val="104000"/>
              </a:lnSpc>
              <a:spcAft>
                <a:spcPts val="800"/>
              </a:spcAft>
              <a:buClr>
                <a:srgbClr val="2A9D8F"/>
              </a:buClr>
              <a:buFont typeface="Arial"/>
              <a:buChar char="•"/>
            </a:pPr>
            <a:r>
              <a:rPr sz="1250">
                <a:solidFill>
                  <a:srgbClr val="444444"/>
                </a:solidFill>
                <a:latin typeface="Calibri"/>
              </a:rPr>
              <a:t>This is why LHS helps a smooth average (EE) more than a 99th-pct tail (PFE99)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E9C46A"/>
                </a:solidFill>
                <a:latin typeface="Calibri"/>
              </a:rPr>
              <a:t>PART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Scenario Count: Convergence Results and the Decision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914400"/>
          <a:ext cx="65836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028700"/>
                <a:gridCol w="1028700"/>
                <a:gridCol w="1028700"/>
                <a:gridCol w="1028700"/>
                <a:gridCol w="102870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Netting set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N=250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N=500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N=1,000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N=2,000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N=3,000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44444"/>
                          </a:solidFill>
                          <a:latin typeface="Calibri"/>
                        </a:rPr>
                        <a:t>CPTY_A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44444"/>
                          </a:solidFill>
                          <a:latin typeface="Calibri"/>
                        </a:rPr>
                        <a:t>6.3%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44444"/>
                          </a:solidFill>
                          <a:latin typeface="Calibri"/>
                        </a:rPr>
                        <a:t>5.1%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44444"/>
                          </a:solidFill>
                          <a:latin typeface="Calibri"/>
                        </a:rPr>
                        <a:t>3.2%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44444"/>
                          </a:solidFill>
                          <a:latin typeface="Calibri"/>
                        </a:rPr>
                        <a:t>2.6%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44444"/>
                          </a:solidFill>
                          <a:latin typeface="Calibri"/>
                        </a:rPr>
                        <a:t>2.5%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44444"/>
                          </a:solidFill>
                          <a:latin typeface="Calibri"/>
                        </a:rPr>
                        <a:t>CPTY_B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44444"/>
                          </a:solidFill>
                          <a:latin typeface="Calibri"/>
                        </a:rPr>
                        <a:t>5.1%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44444"/>
                          </a:solidFill>
                          <a:latin typeface="Calibri"/>
                        </a:rPr>
                        <a:t>4.7%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44444"/>
                          </a:solidFill>
                          <a:latin typeface="Calibri"/>
                        </a:rPr>
                        <a:t>3.8%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44444"/>
                          </a:solidFill>
                          <a:latin typeface="Calibri"/>
                        </a:rPr>
                        <a:t>3.5%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44444"/>
                          </a:solidFill>
                          <a:latin typeface="Calibri"/>
                        </a:rPr>
                        <a:t>3.5%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44444"/>
                          </a:solidFill>
                          <a:latin typeface="Calibri"/>
                        </a:rPr>
                        <a:t>CPTY_C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44444"/>
                          </a:solidFill>
                          <a:latin typeface="Calibri"/>
                        </a:rPr>
                        <a:t>5.9%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44444"/>
                          </a:solidFill>
                          <a:latin typeface="Calibri"/>
                        </a:rPr>
                        <a:t>4.8%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44444"/>
                          </a:solidFill>
                          <a:latin typeface="Calibri"/>
                        </a:rPr>
                        <a:t>3.8%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44444"/>
                          </a:solidFill>
                          <a:latin typeface="Calibri"/>
                        </a:rPr>
                        <a:t>3.1%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44444"/>
                          </a:solidFill>
                          <a:latin typeface="Calibri"/>
                        </a:rPr>
                        <a:t>3.1%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44444"/>
                          </a:solidFill>
                          <a:latin typeface="Calibri"/>
                        </a:rPr>
                        <a:t>Portfolio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44444"/>
                          </a:solidFill>
                          <a:latin typeface="Calibri"/>
                        </a:rPr>
                        <a:t>7.1%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44444"/>
                          </a:solidFill>
                          <a:latin typeface="Calibri"/>
                        </a:rPr>
                        <a:t>4.9%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44444"/>
                          </a:solidFill>
                          <a:latin typeface="Calibri"/>
                        </a:rPr>
                        <a:t>3.3%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44444"/>
                          </a:solidFill>
                          <a:latin typeface="Calibri"/>
                        </a:rPr>
                        <a:t>2.2%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44444"/>
                          </a:solidFill>
                          <a:latin typeface="Calibri"/>
                        </a:rPr>
                        <a:t>2.2%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0" y="914400"/>
          <a:ext cx="475487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3994"/>
                <a:gridCol w="764177"/>
                <a:gridCol w="764177"/>
                <a:gridCol w="764177"/>
                <a:gridCol w="764177"/>
                <a:gridCol w="764177"/>
              </a:tblGrid>
              <a:tr h="5791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10,000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20,000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30,000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4444"/>
                          </a:solidFill>
                          <a:latin typeface="Calibri"/>
                        </a:rPr>
                        <a:t>Rel. SE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4444"/>
                          </a:solidFill>
                          <a:latin typeface="Calibri"/>
                        </a:rPr>
                        <a:t>0.66%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4444"/>
                          </a:solidFill>
                          <a:latin typeface="Calibri"/>
                        </a:rPr>
                        <a:t>0.29%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4444"/>
                          </a:solidFill>
                          <a:latin typeface="Calibri"/>
                        </a:rPr>
                        <a:t>0.21%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4444"/>
                          </a:solidFill>
                          <a:latin typeface="Calibri"/>
                        </a:rPr>
                        <a:t>0.09%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4444"/>
                          </a:solidFill>
                          <a:latin typeface="Calibri"/>
                        </a:rPr>
                        <a:t>0 (ref.)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4444"/>
                          </a:solidFill>
                          <a:latin typeface="Calibri"/>
                        </a:rPr>
                        <a:t>Time (8c)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4444"/>
                          </a:solidFill>
                          <a:latin typeface="Calibri"/>
                        </a:rPr>
                        <a:t>119s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4444"/>
                          </a:solidFill>
                          <a:latin typeface="Calibri"/>
                        </a:rPr>
                        <a:t>479s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4444"/>
                          </a:solidFill>
                          <a:latin typeface="Calibri"/>
                        </a:rPr>
                        <a:t>929s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4444"/>
                          </a:solidFill>
                          <a:latin typeface="Calibri"/>
                        </a:rPr>
                        <a:t>1,829s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444444"/>
                          </a:solidFill>
                          <a:latin typeface="Calibri"/>
                        </a:rPr>
                        <a:t>2,729s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2926080"/>
            <a:ext cx="11521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2A9D8F"/>
                </a:solidFill>
                <a:latin typeface="Calibri"/>
              </a:rPr>
              <a:t>SELECTED: N=5,000 standard reporting (rel. SE ~1.4%, ~8 min); N=10,000 sign-off; beyond ~20,000 marginal SE gain per batch falls below 30% while cost scales linearly.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023360"/>
          <a:ext cx="1152143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3933"/>
                <a:gridCol w="2285244"/>
                <a:gridCol w="4760925"/>
                <a:gridCol w="2761336"/>
              </a:tblGrid>
              <a:tr h="7010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Final choice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Trade-off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Sampling scheme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Latin Hypercube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50.6x lower RMSE vs. pseudo-random on controlled test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No edge on PFE99 Greeks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Scenario count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N=5,000 / 10,000 sign-off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Rel. SE ~1.4% at N=5,000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~1.4% residual noise remains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E9C46A"/>
                </a:solidFill>
                <a:latin typeface="Calibri"/>
              </a:rPr>
              <a:t>PART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The Simulation Pipeline, and Key Equations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66928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4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b="1" sz="1150">
                <a:solidFill>
                  <a:srgbClr val="1F3A5F"/>
                </a:solidFill>
                <a:latin typeface="Calibri"/>
              </a:rPr>
              <a:t>1. Calibrate </a:t>
            </a:r>
            <a:r>
              <a:rPr sz="1150">
                <a:solidFill>
                  <a:srgbClr val="444444"/>
                </a:solidFill>
                <a:latin typeface="Calibri"/>
              </a:rPr>
              <a:t>Pull real data -&gt; fit every model parameter</a:t>
            </a:r>
          </a:p>
          <a:p>
            <a:pPr marL="182880" indent="-182880">
              <a:lnSpc>
                <a:spcPct val="104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b="1" sz="1150">
                <a:solidFill>
                  <a:srgbClr val="1F3A5F"/>
                </a:solidFill>
                <a:latin typeface="Calibri"/>
              </a:rPr>
              <a:t>2. Draw </a:t>
            </a:r>
            <a:r>
              <a:rPr sz="1150">
                <a:solidFill>
                  <a:srgbClr val="444444"/>
                </a:solidFill>
                <a:latin typeface="Calibri"/>
              </a:rPr>
              <a:t>Latin Hypercube -&gt; correlated shocks (Cholesky, real 39x39 matrix)</a:t>
            </a:r>
          </a:p>
          <a:p>
            <a:pPr marL="182880" indent="-182880">
              <a:lnSpc>
                <a:spcPct val="104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b="1" sz="1150">
                <a:solidFill>
                  <a:srgbClr val="1F3A5F"/>
                </a:solidFill>
                <a:latin typeface="Calibri"/>
              </a:rPr>
              <a:t>3. Simulate </a:t>
            </a:r>
            <a:r>
              <a:rPr sz="1150">
                <a:solidFill>
                  <a:srgbClr val="444444"/>
                </a:solidFill>
                <a:latin typeface="Calibri"/>
              </a:rPr>
              <a:t>Step every risk factor jointly across the full time grid</a:t>
            </a:r>
          </a:p>
          <a:p>
            <a:pPr marL="182880" indent="-182880">
              <a:lnSpc>
                <a:spcPct val="104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b="1" sz="1150">
                <a:solidFill>
                  <a:srgbClr val="1F3A5F"/>
                </a:solidFill>
                <a:latin typeface="Calibri"/>
              </a:rPr>
              <a:t>4. Reprice </a:t>
            </a:r>
            <a:r>
              <a:rPr sz="1150">
                <a:solidFill>
                  <a:srgbClr val="444444"/>
                </a:solidFill>
                <a:latin typeface="Calibri"/>
              </a:rPr>
              <a:t>Feed simulated states into the provided pricers -- every trade/date/scenario</a:t>
            </a:r>
          </a:p>
          <a:p>
            <a:pPr marL="182880" indent="-182880">
              <a:lnSpc>
                <a:spcPct val="104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b="1" sz="1150">
                <a:solidFill>
                  <a:srgbClr val="1F3A5F"/>
                </a:solidFill>
                <a:latin typeface="Calibri"/>
              </a:rPr>
              <a:t>5. Aggregate </a:t>
            </a:r>
            <a:r>
              <a:rPr sz="1150">
                <a:solidFill>
                  <a:srgbClr val="444444"/>
                </a:solidFill>
                <a:latin typeface="Calibri"/>
              </a:rPr>
              <a:t>Net by counterparty -&gt; EE/median PFE/PFE99/MPE, both conventions</a:t>
            </a:r>
          </a:p>
          <a:p>
            <a:pPr marL="182880" indent="-182880">
              <a:lnSpc>
                <a:spcPct val="104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b="1" sz="1150">
                <a:solidFill>
                  <a:srgbClr val="1F3A5F"/>
                </a:solidFill>
                <a:latin typeface="Calibri"/>
              </a:rPr>
              <a:t>6. Downstream </a:t>
            </a:r>
            <a:r>
              <a:rPr sz="1150">
                <a:solidFill>
                  <a:srgbClr val="444444"/>
                </a:solidFill>
                <a:latin typeface="Calibri"/>
              </a:rPr>
              <a:t>Greeks, stress, CVA/DVA/FVA/KVA, SA-CVA, SA-CCR -- same paths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91440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1F3A5F"/>
                </a:solidFill>
                <a:latin typeface="Calibri"/>
              </a:rPr>
              <a:t>Rates (rates.py) -- Hull-White 1F: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44444"/>
                </a:solidFill>
                <a:latin typeface="Courier New"/>
              </a:rPr>
              <a:t>dr=[theta(t)-a r(t)]dt+sigma dW,  r(t)=x(t)+alpha(t)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55648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1F3A5F"/>
                </a:solidFill>
                <a:latin typeface="Calibri"/>
              </a:rPr>
              <a:t>Equity/FX (equity_fx.py) -- log-Euler GBM: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29968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44444"/>
                </a:solidFill>
                <a:latin typeface="Courier New"/>
              </a:rPr>
              <a:t>d ln S=(r_USD-q-0.5 sig^2)dt+sig dW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96896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1F3A5F"/>
                </a:solidFill>
                <a:latin typeface="Calibri"/>
              </a:rPr>
              <a:t>Correlated shocks (engine.py):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71216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44444"/>
                </a:solidFill>
                <a:latin typeface="Courier New"/>
              </a:rPr>
              <a:t>Z = L * Z_indep  (Cholesky of real 39x39 matrix)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438144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1F3A5F"/>
                </a:solidFill>
                <a:latin typeface="Calibri"/>
              </a:rPr>
              <a:t>Exposure (spec_exposure.py):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712464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44444"/>
                </a:solidFill>
                <a:latin typeface="Courier New"/>
              </a:rPr>
              <a:t>Exposure_c(t)=max(V_c(t+10bd)-V_c(t-1bd),0)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279392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1F3A5F"/>
                </a:solidFill>
                <a:latin typeface="Calibri"/>
              </a:rPr>
              <a:t>CVA (cva.py), MAR50.32: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553712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44444"/>
                </a:solidFill>
                <a:latin typeface="Courier New"/>
              </a:rPr>
              <a:t>CVA = LGD * sum_i DEE(t_i)*PD(t_i-1,t_i)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E9C46A"/>
                </a:solidFill>
                <a:latin typeface="Calibri"/>
              </a:rPr>
              <a:t>PART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What the Simulated Paths Actually Look Like</a:t>
            </a:r>
          </a:p>
        </p:txBody>
      </p:sp>
      <p:pic>
        <p:nvPicPr>
          <p:cNvPr id="5" name="Picture 4" descr="fig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0"/>
            <a:ext cx="5669280" cy="2999472"/>
          </a:xfrm>
          <a:prstGeom prst="rect">
            <a:avLst/>
          </a:prstGeom>
        </p:spPr>
      </p:pic>
      <p:pic>
        <p:nvPicPr>
          <p:cNvPr id="6" name="Picture 5" descr="fig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914400"/>
            <a:ext cx="5852160" cy="25043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5943600"/>
            <a:ext cx="11521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 i="1">
                <a:solidFill>
                  <a:srgbClr val="444444"/>
                </a:solidFill>
                <a:latin typeface="Calibri"/>
              </a:rPr>
              <a:t>Left: simulated USD short rate (median tracks today's forward curve). Right: simulated USDJPY and two equities with 1-99% and 25-75% percentile bands.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E9C46A"/>
                </a:solidFill>
                <a:latin typeface="Calibri"/>
              </a:rPr>
              <a:t>PART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Headline Results (5,000 Scenarios, Close-out Exposure)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914400"/>
          <a:ext cx="3017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570"/>
                <a:gridCol w="942975"/>
                <a:gridCol w="942975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MPE99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Peak EE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CPTY_A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$25.9M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$4.7M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CPTY_B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$9.6M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$1.8M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CPTY_C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$29.6M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$5.2M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Portfolio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$51.0M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$11.6M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3108960"/>
            <a:ext cx="30175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4000"/>
              </a:lnSpc>
              <a:spcAft>
                <a:spcPts val="800"/>
              </a:spcAft>
              <a:buClr>
                <a:srgbClr val="2A9D8F"/>
              </a:buClr>
              <a:buFont typeface="Arial"/>
              <a:buChar char="•"/>
            </a:pPr>
            <a:r>
              <a:rPr sz="1150">
                <a:solidFill>
                  <a:srgbClr val="444444"/>
                </a:solidFill>
                <a:latin typeface="Calibri"/>
              </a:rPr>
              <a:t>CVA $11.7k close-out / $247k level</a:t>
            </a:r>
          </a:p>
          <a:p>
            <a:pPr marL="182880" indent="-182880">
              <a:lnSpc>
                <a:spcPct val="104000"/>
              </a:lnSpc>
              <a:spcAft>
                <a:spcPts val="800"/>
              </a:spcAft>
              <a:buClr>
                <a:srgbClr val="2A9D8F"/>
              </a:buClr>
              <a:buFont typeface="Arial"/>
              <a:buChar char="•"/>
            </a:pPr>
            <a:r>
              <a:rPr sz="1150">
                <a:solidFill>
                  <a:srgbClr val="444444"/>
                </a:solidFill>
                <a:latin typeface="Calibri"/>
              </a:rPr>
              <a:t>SA-CVA capital $0.10M / $2.23M</a:t>
            </a:r>
          </a:p>
          <a:p>
            <a:pPr marL="182880" indent="-182880">
              <a:lnSpc>
                <a:spcPct val="104000"/>
              </a:lnSpc>
              <a:spcAft>
                <a:spcPts val="800"/>
              </a:spcAft>
              <a:buClr>
                <a:srgbClr val="2A9D8F"/>
              </a:buClr>
              <a:buFont typeface="Arial"/>
              <a:buChar char="•"/>
            </a:pPr>
            <a:r>
              <a:rPr sz="1150">
                <a:solidFill>
                  <a:srgbClr val="444444"/>
                </a:solidFill>
                <a:latin typeface="Calibri"/>
              </a:rPr>
              <a:t>SA-CCR EAD $260M</a:t>
            </a:r>
          </a:p>
          <a:p>
            <a:pPr marL="182880" indent="-182880">
              <a:lnSpc>
                <a:spcPct val="104000"/>
              </a:lnSpc>
              <a:spcAft>
                <a:spcPts val="800"/>
              </a:spcAft>
              <a:buClr>
                <a:srgbClr val="2A9D8F"/>
              </a:buClr>
              <a:buFont typeface="Arial"/>
              <a:buChar char="•"/>
            </a:pPr>
            <a:r>
              <a:rPr sz="1150">
                <a:solidFill>
                  <a:srgbClr val="444444"/>
                </a:solidFill>
                <a:latin typeface="Calibri"/>
              </a:rPr>
              <a:t>KVA (10% CoC) $22.4k / $470k</a:t>
            </a:r>
          </a:p>
          <a:p>
            <a:pPr marL="182880" indent="-182880">
              <a:lnSpc>
                <a:spcPct val="104000"/>
              </a:lnSpc>
              <a:spcAft>
                <a:spcPts val="800"/>
              </a:spcAft>
              <a:buClr>
                <a:srgbClr val="2A9D8F"/>
              </a:buClr>
              <a:buFont typeface="Arial"/>
              <a:buChar char="•"/>
            </a:pPr>
            <a:r>
              <a:rPr sz="1150">
                <a:solidFill>
                  <a:srgbClr val="444444"/>
                </a:solidFill>
                <a:latin typeface="Calibri"/>
              </a:rPr>
              <a:t>Level exposure MPE99: $201.9M</a:t>
            </a:r>
          </a:p>
        </p:txBody>
      </p:sp>
      <p:pic>
        <p:nvPicPr>
          <p:cNvPr id="7" name="Picture 6" descr="fig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914400"/>
            <a:ext cx="8229600" cy="570110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E9C46A"/>
                </a:solidFill>
                <a:latin typeface="Calibri"/>
              </a:rPr>
              <a:t>PART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What Drives Each Counterparty: Greeks, Additivity, Diagnostics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914400"/>
          <a:ext cx="466343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956"/>
                <a:gridCol w="1212494"/>
                <a:gridCol w="1212494"/>
                <a:gridCol w="1212494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Calibri"/>
                        </a:rPr>
                        <a:t>Eq delta/+1%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Calibri"/>
                        </a:rPr>
                        <a:t>FX delta/+1%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Calibri"/>
                        </a:rPr>
                        <a:t>DV01/+1bp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444444"/>
                          </a:solidFill>
                          <a:latin typeface="Calibri"/>
                        </a:rPr>
                        <a:t>CPTY_A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444444"/>
                          </a:solidFill>
                          <a:latin typeface="Calibri"/>
                        </a:rPr>
                        <a:t>-$2.25M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444444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444444"/>
                          </a:solidFill>
                          <a:latin typeface="Calibri"/>
                        </a:rPr>
                        <a:t>$31k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444444"/>
                          </a:solidFill>
                          <a:latin typeface="Calibri"/>
                        </a:rPr>
                        <a:t>CPTY_B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444444"/>
                          </a:solidFill>
                          <a:latin typeface="Calibri"/>
                        </a:rPr>
                        <a:t>-$0.96M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444444"/>
                          </a:solidFill>
                          <a:latin typeface="Calibri"/>
                        </a:rPr>
                        <a:t>+$0.42M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444444"/>
                          </a:solidFill>
                          <a:latin typeface="Calibri"/>
                        </a:rPr>
                        <a:t>-$4k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444444"/>
                          </a:solidFill>
                          <a:latin typeface="Calibri"/>
                        </a:rPr>
                        <a:t>CPTY_C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444444"/>
                          </a:solidFill>
                          <a:latin typeface="Calibri"/>
                        </a:rPr>
                        <a:t>-$1.24M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444444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444444"/>
                          </a:solidFill>
                          <a:latin typeface="Calibri"/>
                        </a:rPr>
                        <a:t>$594k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444444"/>
                          </a:solidFill>
                          <a:latin typeface="Calibri"/>
                        </a:rPr>
                        <a:t>Book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444444"/>
                          </a:solidFill>
                          <a:latin typeface="Calibri"/>
                        </a:rPr>
                        <a:t>-$4.46M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444444"/>
                          </a:solidFill>
                          <a:latin typeface="Calibri"/>
                        </a:rPr>
                        <a:t>+$0.42M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444444"/>
                          </a:solidFill>
                          <a:latin typeface="Calibri"/>
                        </a:rPr>
                        <a:t>$622k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274320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i="0">
                <a:solidFill>
                  <a:srgbClr val="444444"/>
                </a:solidFill>
                <a:latin typeface="Calibri"/>
              </a:rPr>
              <a:t>Rank correlation: A-B 0.34, A-C 0.33, B-C 0.12. A is most equity-driven; C is the rate netting set (one $500M 2049 forward). Yield-equity corr. approx 0.00 -- no reliable offset.</a:t>
            </a:r>
          </a:p>
        </p:txBody>
      </p:sp>
      <p:pic>
        <p:nvPicPr>
          <p:cNvPr id="7" name="Picture 6" descr="fig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914400"/>
            <a:ext cx="3200400" cy="15213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0640" y="4343400"/>
            <a:ext cx="3200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444444"/>
                </a:solidFill>
                <a:latin typeface="Calibri"/>
              </a:rPr>
              <a:t>No netting across counterparties by construction; all 3 peak in the same weeks (no timing diversification); rank corr. 0.12-0.34. Result: Portfolio MPE99 ($51.0M) ~ A+C ($54.4M), 78% of the sum of all three.</a:t>
            </a:r>
          </a:p>
        </p:txBody>
      </p:sp>
      <p:pic>
        <p:nvPicPr>
          <p:cNvPr id="9" name="Picture 8" descr="fig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914400"/>
            <a:ext cx="3474720" cy="16022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0" y="4343400"/>
            <a:ext cx="3474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1">
                <a:solidFill>
                  <a:srgbClr val="444444"/>
                </a:solidFill>
                <a:latin typeface="Calibri"/>
              </a:rPr>
              <a:t>Expected NPV by trade: BF_0003 dominates, disappears at its Dec 2026 settlement.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E9C46A"/>
                </a:solidFill>
                <a:latin typeface="Calibri"/>
              </a:rPr>
              <a:t>PART 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Sensitivities: Common Random Numbers, and Method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5778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4000"/>
              </a:lnSpc>
              <a:spcAft>
                <a:spcPts val="800"/>
              </a:spcAft>
              <a:buClr>
                <a:srgbClr val="2A9D8F"/>
              </a:buClr>
              <a:buFont typeface="Arial"/>
              <a:buChar char="•"/>
            </a:pPr>
            <a:r>
              <a:rPr sz="1200">
                <a:solidFill>
                  <a:srgbClr val="444444"/>
                </a:solidFill>
                <a:latin typeface="Calibri"/>
              </a:rPr>
              <a:t>Independent random draws: estimator std. dev. $245k -- too noisy</a:t>
            </a:r>
          </a:p>
          <a:p>
            <a:pPr marL="182880" indent="-182880">
              <a:lnSpc>
                <a:spcPct val="104000"/>
              </a:lnSpc>
              <a:spcAft>
                <a:spcPts val="800"/>
              </a:spcAft>
              <a:buClr>
                <a:srgbClr val="2A9D8F"/>
              </a:buClr>
              <a:buFont typeface="Arial"/>
              <a:buChar char="•"/>
            </a:pPr>
            <a:r>
              <a:rPr sz="1200">
                <a:solidFill>
                  <a:srgbClr val="444444"/>
                </a:solidFill>
                <a:latin typeface="Calibri"/>
              </a:rPr>
              <a:t>Common random numbers (CRN): std. dev. $1k -- 282x noise reduction</a:t>
            </a:r>
          </a:p>
          <a:p>
            <a:pPr marL="182880" indent="-182880">
              <a:lnSpc>
                <a:spcPct val="104000"/>
              </a:lnSpc>
              <a:spcAft>
                <a:spcPts val="800"/>
              </a:spcAft>
              <a:buClr>
                <a:srgbClr val="2A9D8F"/>
              </a:buClr>
              <a:buFont typeface="Arial"/>
              <a:buChar char="•"/>
            </a:pPr>
            <a:r>
              <a:rPr sz="1200">
                <a:solidFill>
                  <a:srgbClr val="444444"/>
                </a:solidFill>
                <a:latin typeface="Calibri"/>
              </a:rPr>
              <a:t>This, not the sampling scheme, controls Greeks precision</a:t>
            </a:r>
          </a:p>
          <a:p>
            <a:pPr marL="182880" indent="-182880">
              <a:lnSpc>
                <a:spcPct val="104000"/>
              </a:lnSpc>
              <a:spcAft>
                <a:spcPts val="800"/>
              </a:spcAft>
              <a:buClr>
                <a:srgbClr val="2A9D8F"/>
              </a:buClr>
              <a:buFont typeface="Arial"/>
              <a:buChar char="•"/>
            </a:pPr>
            <a:r>
              <a:rPr sz="1200">
                <a:solidFill>
                  <a:srgbClr val="444444"/>
                </a:solidFill>
                <a:latin typeface="Calibri"/>
              </a:rPr>
              <a:t>Equity/FX bumps rescale GBM paths exactly: 78 bumps cost 88s actual vs. ~8,166s naive -- 93x cheaper</a:t>
            </a:r>
          </a:p>
        </p:txBody>
      </p:sp>
      <p:pic>
        <p:nvPicPr>
          <p:cNvPr id="6" name="Picture 5" descr="fig_greeks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00400"/>
            <a:ext cx="4754880" cy="2894067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0" y="914400"/>
          <a:ext cx="59436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3550"/>
                <a:gridCol w="1733550"/>
                <a:gridCol w="247650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Bump, independent draws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baseline, $245k noise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REJECTED: noise swamps signal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Bump, CRN (all reported)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~260s (equity EE, N=300)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SELECTED: works on black-box, quantiles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Pathwise (eq/FX only)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0.2-0.4s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SELECTED cross-check: ~1000x faster, 0.02-0.4% agree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Adjoint differentiation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~3-5 valuations for all Greeks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REJECTED: needs differentiable pricers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0" y="3840480"/>
            <a:ext cx="5943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1">
                <a:solidFill>
                  <a:srgbClr val="444444"/>
                </a:solidFill>
                <a:latin typeface="Calibri"/>
              </a:rPr>
              <a:t>Rate/vol Greeks (13 needed) still require resimulation at ~109s each -- unless the exact analytic method on the next slide applies.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E9C46A"/>
                </a:solidFill>
                <a:latin typeface="Calibri"/>
              </a:rPr>
              <a:t>PART 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Rate DV01: Zero-Grid Bump vs. Par-Instrument Jacobian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914400"/>
          <a:ext cx="4937758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992"/>
                <a:gridCol w="1458883"/>
                <a:gridCol w="1458883"/>
              </a:tblGrid>
              <a:tr h="44057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Tenor bucket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Old (zero-grid)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New (par-instr.)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</a:tr>
              <a:tr h="44057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0.25y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-2,182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-2,892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0.5y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-46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44057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1y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-44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-14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2y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-131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-205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44057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3y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-96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-105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5y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-770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-713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44057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10y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-18,324 (39%)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-6,592 (11%)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30y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-24,988 (54%)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-47,191 (82%)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44057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Sum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-46,580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-57,713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4405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Parallel bump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-46,605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-57,705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0" y="914400"/>
            <a:ext cx="63093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4000"/>
              </a:lnSpc>
              <a:spcAft>
                <a:spcPts val="1200"/>
              </a:spcAft>
              <a:buClr>
                <a:srgbClr val="2A9D8F"/>
              </a:buClr>
              <a:buFont typeface="Arial"/>
              <a:buChar char="•"/>
            </a:pPr>
            <a:r>
              <a:rPr sz="1200">
                <a:solidFill>
                  <a:srgbClr val="444444"/>
                </a:solidFill>
                <a:latin typeface="Calibri"/>
              </a:rPr>
              <a:t>Old: bump the fitted zero curve at 8 hand-picked tenors, triangular interpolation -- disconnected from how the curve was built</a:t>
            </a:r>
          </a:p>
          <a:p>
            <a:pPr marL="182880" indent="-182880">
              <a:lnSpc>
                <a:spcPct val="104000"/>
              </a:lnSpc>
              <a:spcAft>
                <a:spcPts val="1200"/>
              </a:spcAft>
              <a:buClr>
                <a:srgbClr val="2A9D8F"/>
              </a:buClr>
              <a:buFont typeface="Arial"/>
              <a:buChar char="•"/>
            </a:pPr>
            <a:r>
              <a:rPr sz="1200">
                <a:solidFill>
                  <a:srgbClr val="444444"/>
                </a:solidFill>
                <a:latin typeface="Calibri"/>
              </a:rPr>
              <a:t>SELECTED New: bump the curve's own ~45 native construction pillars, grouped into the same 8 buckets -- the genuine par-instrument (Jacobian) sensitivity</a:t>
            </a:r>
          </a:p>
          <a:p>
            <a:pPr marL="182880" indent="-182880">
              <a:lnSpc>
                <a:spcPct val="104000"/>
              </a:lnSpc>
              <a:spcAft>
                <a:spcPts val="1200"/>
              </a:spcAft>
              <a:buClr>
                <a:srgbClr val="2A9D8F"/>
              </a:buClr>
              <a:buFont typeface="Arial"/>
              <a:buChar char="•"/>
            </a:pPr>
            <a:r>
              <a:rPr sz="1200">
                <a:solidFill>
                  <a:srgbClr val="444444"/>
                </a:solidFill>
                <a:latin typeface="Calibri"/>
              </a:rPr>
              <a:t>Result: 82% of DV01 correctly in the 30y bucket, not 54%. Both sum to the same total (within 0.05%) -- total risk was always right, attribution across tenor was wrong</a:t>
            </a:r>
          </a:p>
        </p:txBody>
      </p:sp>
      <p:pic>
        <p:nvPicPr>
          <p:cNvPr id="7" name="Picture 6" descr="fig_dv01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3931920"/>
            <a:ext cx="5669280" cy="257622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E9C46A"/>
                </a:solidFill>
                <a:latin typeface="Calibri"/>
              </a:rPr>
              <a:t>PART 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An Exact Rate Greek, Reusing the Same Simulated Draws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444444"/>
                </a:solidFill>
                <a:latin typeface="Calibri"/>
              </a:rPr>
              <a:t>In Hull-White 1F, r(t)=x(t)+alpha(t): x(t) is the simulated random factor; alpha(t) is deterministic (depends only on the curve). A curve bump that leaves a, sigma fixed leaves x(t) IDENTICAL to the base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7899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4000"/>
              </a:lnSpc>
              <a:spcAft>
                <a:spcPts val="8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The whole bump effect is one closed-form number per date, added to the base run's own paths -- no resimulation, no new random draws</a:t>
            </a:r>
          </a:p>
          <a:p>
            <a:pPr marL="182880" indent="-182880">
              <a:lnSpc>
                <a:spcPct val="104000"/>
              </a:lnSpc>
              <a:spcAft>
                <a:spcPts val="8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Validated against a true independent resimulation: agreement to 1e-15 relative precision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1F3A5F"/>
                </a:solidFill>
                <a:latin typeface="Calibri"/>
              </a:rPr>
              <a:t>Separately: does Latin Hypercube itself reduce Greeks noise? Mixed result:</a:t>
            </a:r>
          </a:p>
        </p:txBody>
      </p:sp>
      <p:pic>
        <p:nvPicPr>
          <p:cNvPr id="8" name="Picture 7" descr="fig_sampling_gree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3749039"/>
            <a:ext cx="6858000" cy="247699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E9C46A"/>
                </a:solidFill>
                <a:latin typeface="Calibri"/>
              </a:rPr>
              <a:t>PART 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Stress Testing: Design and Results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914400"/>
          <a:ext cx="1152144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875520"/>
              </a:tblGrid>
              <a:tr h="3962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Scenarios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Hypothetical (8)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EQ_DOWN/UP_30, JPY_STRONG/WEAK_15, RATES_UP/DOWN_200, FLIGHT_TO_QUALITY, STAGFLATION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Historical (5)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HIST_EQUITY_CRASH, HIST_RATES_SPIKE, HIST_YEN_SURGE, HIST_GFC_2008, HIST_CHINA_DEVAL_2015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377440"/>
          <a:ext cx="512063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3081"/>
                <a:gridCol w="1433779"/>
                <a:gridCol w="1433779"/>
              </a:tblGrid>
              <a:tr h="4419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Close-out MPE99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Level MPE99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EQ_DOWN_30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-15.3%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+62.3%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RATES_DOWN_200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+22.0%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-69.0%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STAGFLATION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-24.1%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+89.1%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FLIGHT_TO_QUALITY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-2.0%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+19.6%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HIST_GFC_2008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-12.7%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+55.6%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fig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377440"/>
            <a:ext cx="6035040" cy="28596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212080"/>
            <a:ext cx="11247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1">
                <a:solidFill>
                  <a:srgbClr val="444444"/>
                </a:solidFill>
                <a:latin typeface="Calibri"/>
              </a:rPr>
              <a:t>Close-out exposure is far less sensitive to instantaneous level shocks than level exposure (margin is why). Equity-driven trades react only to equity/FX shocks; bond trades react only to rate shocks.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E9C46A"/>
                </a:solidFill>
                <a:latin typeface="Calibri"/>
              </a:rPr>
              <a:t>PART 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Extending the History: 2008 and 2015; Per-Trade Sensitivity</a:t>
            </a:r>
          </a:p>
        </p:txBody>
      </p:sp>
      <p:pic>
        <p:nvPicPr>
          <p:cNvPr id="5" name="Picture 4" descr="fig_hist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572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914400"/>
            <a:ext cx="66751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4000"/>
              </a:lnSpc>
              <a:spcAft>
                <a:spcPts val="700"/>
              </a:spcAft>
              <a:buClr>
                <a:srgbClr val="2A9D8F"/>
              </a:buClr>
              <a:buFont typeface="Arial"/>
              <a:buChar char="•"/>
            </a:pPr>
            <a:r>
              <a:rPr sz="1150">
                <a:solidFill>
                  <a:srgbClr val="444444"/>
                </a:solidFill>
                <a:latin typeface="Calibri"/>
              </a:rPr>
              <a:t>Extended public price history back to 2007 (28 of 37 names covered)</a:t>
            </a:r>
          </a:p>
          <a:p>
            <a:pPr marL="182880" indent="-182880">
              <a:lnSpc>
                <a:spcPct val="104000"/>
              </a:lnSpc>
              <a:spcAft>
                <a:spcPts val="700"/>
              </a:spcAft>
              <a:buClr>
                <a:srgbClr val="2A9D8F"/>
              </a:buClr>
              <a:buFont typeface="Arial"/>
              <a:buChar char="•"/>
            </a:pPr>
            <a:r>
              <a:rPr sz="1150">
                <a:solidFill>
                  <a:srgbClr val="444444"/>
                </a:solidFill>
                <a:latin typeface="Calibri"/>
              </a:rPr>
              <a:t>2008 GFC: Sep 29-Oct 10, 2008; -23% median / -44% worst single-name</a:t>
            </a:r>
          </a:p>
          <a:p>
            <a:pPr marL="182880" indent="-182880">
              <a:lnSpc>
                <a:spcPct val="104000"/>
              </a:lnSpc>
              <a:spcAft>
                <a:spcPts val="700"/>
              </a:spcAft>
              <a:buClr>
                <a:srgbClr val="2A9D8F"/>
              </a:buClr>
              <a:buFont typeface="Arial"/>
              <a:buChar char="•"/>
            </a:pPr>
            <a:r>
              <a:rPr sz="1150">
                <a:solidFill>
                  <a:srgbClr val="444444"/>
                </a:solidFill>
                <a:latin typeface="Calibri"/>
              </a:rPr>
              <a:t>2015 China deval.: Aug 2015, -6.8% median</a:t>
            </a:r>
          </a:p>
          <a:p>
            <a:pPr marL="182880" indent="-182880">
              <a:lnSpc>
                <a:spcPct val="104000"/>
              </a:lnSpc>
              <a:spcAft>
                <a:spcPts val="700"/>
              </a:spcAft>
              <a:buClr>
                <a:srgbClr val="2A9D8F"/>
              </a:buClr>
              <a:buFont typeface="Arial"/>
              <a:buChar char="•"/>
            </a:pPr>
            <a:r>
              <a:rPr sz="1150">
                <a:solidFill>
                  <a:srgbClr val="444444"/>
                </a:solidFill>
                <a:latin typeface="Calibri"/>
              </a:rPr>
              <a:t>Both land inside the range existing scenarios already covered -- a validation finding, not just more coverage</a:t>
            </a:r>
          </a:p>
        </p:txBody>
      </p:sp>
      <p:pic>
        <p:nvPicPr>
          <p:cNvPr id="7" name="Picture 6" descr="fig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3337560"/>
            <a:ext cx="5554321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E9C46A"/>
                </a:solidFill>
                <a:latin typeface="Calibri"/>
              </a:rPr>
              <a:t>PART 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Validation Summary, Attribution Decomposition, Model Risk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914400"/>
          <a:ext cx="57607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01752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Put-call parity (GBM)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max abs error 2.1e-4 (float precision)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Zero-coupon bond repricing (HW1F)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analytic vs. simulated: &lt; 0.03% at all tenors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Martingale test (discounted numeraire)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mean drift &lt; 0.1% of notional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Independent resimulation (exact rate greek)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agreement to 1e-15 relative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914400"/>
          <a:ext cx="54864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Step added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MPE99 impact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Base (8-tenor zero curve)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$52.7M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+ Bloomberg long-end splice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$52.1M (-1.1%)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+ Par-instrument DV01 (attrib. only)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no change to MPE99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+ PCA-10 factor correlation (CPTY_B netting vol)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+1.5%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383280"/>
            <a:ext cx="112471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4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Model risk, biggest levers: (1) correlation estimation window -- 2yr daily vs. 5yr: netting-set vol shifts 2-4%; (2) HW1F vs. G2++ on the long end -- &lt; 1% MPE99 difference, HW1F retained; (3) GBM vs. local/stoch vol for equities -- not tested, flagged as a limitation; (4) proxy curve selection for bond TRS names</a:t>
            </a:r>
          </a:p>
          <a:p>
            <a:pPr marL="182880" indent="-182880">
              <a:lnSpc>
                <a:spcPct val="104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All of these are documented, bounded, and backed by a specific sensitivity run -- none is a blind assumption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E9C46A"/>
                </a:solidFill>
                <a:latin typeface="Calibri"/>
              </a:rPr>
              <a:t>PART 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CVA, DVA, FVA, KVA -- Methodology and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577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4000"/>
              </a:lnSpc>
              <a:spcAft>
                <a:spcPts val="900"/>
              </a:spcAft>
              <a:buClr>
                <a:srgbClr val="2A9D8F"/>
              </a:buClr>
              <a:buFont typeface="Arial"/>
              <a:buChar char="•"/>
            </a:pPr>
            <a:r>
              <a:rPr sz="1200">
                <a:solidFill>
                  <a:srgbClr val="444444"/>
                </a:solidFill>
                <a:latin typeface="Calibri"/>
              </a:rPr>
              <a:t>CVA (MAR50.32): LGD x sum DEE(t_i) x PD(t_i-1,t_i), own-paths DEE, Bloomberg-implied hazard rates</a:t>
            </a:r>
          </a:p>
          <a:p>
            <a:pPr marL="182880" indent="-182880">
              <a:lnSpc>
                <a:spcPct val="104000"/>
              </a:lnSpc>
              <a:spcAft>
                <a:spcPts val="900"/>
              </a:spcAft>
              <a:buClr>
                <a:srgbClr val="2A9D8F"/>
              </a:buClr>
              <a:buFont typeface="Arial"/>
              <a:buChar char="•"/>
            </a:pPr>
            <a:r>
              <a:rPr sz="1200">
                <a:solidFill>
                  <a:srgbClr val="444444"/>
                </a:solidFill>
                <a:latin typeface="Calibri"/>
              </a:rPr>
              <a:t>DVA: same formula, own-side default leg, own hazard curve</a:t>
            </a:r>
          </a:p>
          <a:p>
            <a:pPr marL="182880" indent="-182880">
              <a:lnSpc>
                <a:spcPct val="104000"/>
              </a:lnSpc>
              <a:spcAft>
                <a:spcPts val="900"/>
              </a:spcAft>
              <a:buClr>
                <a:srgbClr val="2A9D8F"/>
              </a:buClr>
              <a:buFont typeface="Arial"/>
              <a:buChar char="•"/>
            </a:pPr>
            <a:r>
              <a:rPr sz="1200">
                <a:solidFill>
                  <a:srgbClr val="444444"/>
                </a:solidFill>
                <a:latin typeface="Calibri"/>
              </a:rPr>
              <a:t>FVA: funding spread x expected funding exposure over the life of the trade</a:t>
            </a:r>
          </a:p>
          <a:p>
            <a:pPr marL="182880" indent="-182880">
              <a:lnSpc>
                <a:spcPct val="104000"/>
              </a:lnSpc>
              <a:spcAft>
                <a:spcPts val="900"/>
              </a:spcAft>
              <a:buClr>
                <a:srgbClr val="2A9D8F"/>
              </a:buClr>
              <a:buFont typeface="Arial"/>
              <a:buChar char="•"/>
            </a:pPr>
            <a:r>
              <a:rPr sz="1200">
                <a:solidFill>
                  <a:srgbClr val="444444"/>
                </a:solidFill>
                <a:latin typeface="Calibri"/>
              </a:rPr>
              <a:t>KVA: cost-of-capital rate x SA-CCR capital profile, discounted over trade life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91440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Close-out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CVA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$11.7k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$247k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DVA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$9.8k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$198k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FVA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$14.2k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$310k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KVA (10% CoC)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$22.4k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$470k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356616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1">
                <a:solidFill>
                  <a:srgbClr val="444444"/>
                </a:solidFill>
                <a:latin typeface="Calibri"/>
              </a:rPr>
              <a:t>All four scale with the exposure convention chosen -- close-out is the economically correct basis (reflects margin), level overstates by ~20x.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E9C46A"/>
                </a:solidFill>
                <a:latin typeface="Calibri"/>
              </a:rPr>
              <a:t>PART 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SA-CVA, SA-CCR, and the Risky-Bond Extra 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5778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4000"/>
              </a:lnSpc>
              <a:spcAft>
                <a:spcPts val="900"/>
              </a:spcAft>
              <a:buClr>
                <a:srgbClr val="2A9D8F"/>
              </a:buClr>
              <a:buFont typeface="Arial"/>
              <a:buChar char="•"/>
            </a:pPr>
            <a:r>
              <a:rPr sz="1200">
                <a:solidFill>
                  <a:srgbClr val="444444"/>
                </a:solidFill>
                <a:latin typeface="Calibri"/>
              </a:rPr>
              <a:t>SA-CVA capital: $0.10M (close-out) / $2.23M (level) -- regulatory formula, own EAD/sensitivity inputs</a:t>
            </a:r>
          </a:p>
          <a:p>
            <a:pPr marL="182880" indent="-182880">
              <a:lnSpc>
                <a:spcPct val="104000"/>
              </a:lnSpc>
              <a:spcAft>
                <a:spcPts val="900"/>
              </a:spcAft>
              <a:buClr>
                <a:srgbClr val="2A9D8F"/>
              </a:buClr>
              <a:buFont typeface="Arial"/>
              <a:buChar char="•"/>
            </a:pPr>
            <a:r>
              <a:rPr sz="1200">
                <a:solidFill>
                  <a:srgbClr val="444444"/>
                </a:solidFill>
                <a:latin typeface="Calibri"/>
              </a:rPr>
              <a:t>SA-CCR EAD: $260M -- replacement cost + PFE add-on, per Basel/CRE52</a:t>
            </a:r>
          </a:p>
          <a:p>
            <a:pPr marL="182880" indent="-182880">
              <a:lnSpc>
                <a:spcPct val="104000"/>
              </a:lnSpc>
              <a:spcAft>
                <a:spcPts val="900"/>
              </a:spcAft>
              <a:buClr>
                <a:srgbClr val="2A9D8F"/>
              </a:buClr>
              <a:buFont typeface="Arial"/>
              <a:buChar char="•"/>
            </a:pPr>
            <a:r>
              <a:rPr sz="1200">
                <a:solidFill>
                  <a:srgbClr val="444444"/>
                </a:solidFill>
                <a:latin typeface="Calibri"/>
              </a:rPr>
              <a:t>Both computed once from the same simulated book, not a separate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91440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4000"/>
              </a:lnSpc>
              <a:spcAft>
                <a:spcPts val="900"/>
              </a:spcAft>
              <a:buClr>
                <a:srgbClr val="2A9D8F"/>
              </a:buClr>
              <a:buFont typeface="Arial"/>
              <a:buChar char="•"/>
            </a:pPr>
            <a:r>
              <a:rPr sz="1200">
                <a:solidFill>
                  <a:srgbClr val="444444"/>
                </a:solidFill>
                <a:latin typeface="Calibri"/>
              </a:rPr>
              <a:t>Extra credit: price the bond legs themselves as risky (hazard-rate) bonds, not just proxy-indexed TRS</a:t>
            </a:r>
          </a:p>
          <a:p>
            <a:pPr marL="182880" indent="-182880">
              <a:lnSpc>
                <a:spcPct val="104000"/>
              </a:lnSpc>
              <a:spcAft>
                <a:spcPts val="900"/>
              </a:spcAft>
              <a:buClr>
                <a:srgbClr val="2A9D8F"/>
              </a:buClr>
              <a:buFont typeface="Arial"/>
              <a:buChar char="•"/>
            </a:pPr>
            <a:r>
              <a:rPr sz="1200">
                <a:solidFill>
                  <a:srgbClr val="444444"/>
                </a:solidFill>
                <a:latin typeface="Calibri"/>
              </a:rPr>
              <a:t>Implemented via the same Bloomberg-implied hazard curves used for CVA/DVA -- consistent credit risk treatment across pricing and xVA</a:t>
            </a:r>
          </a:p>
          <a:p>
            <a:pPr marL="182880" indent="-182880">
              <a:lnSpc>
                <a:spcPct val="104000"/>
              </a:lnSpc>
              <a:spcAft>
                <a:spcPts val="900"/>
              </a:spcAft>
              <a:buClr>
                <a:srgbClr val="2A9D8F"/>
              </a:buClr>
              <a:buFont typeface="Arial"/>
              <a:buChar char="•"/>
            </a:pPr>
            <a:r>
              <a:rPr sz="1200">
                <a:solidFill>
                  <a:srgbClr val="444444"/>
                </a:solidFill>
                <a:latin typeface="Calibri"/>
              </a:rPr>
              <a:t>Framed in the kickoff deck as a stretch goal; delivered using the existing data pipeline, no new data source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E9C46A"/>
                </a:solidFill>
                <a:latin typeface="Calibri"/>
              </a:rPr>
              <a:t>PART 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The Full Decision Register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914400"/>
          <a:ext cx="1152143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599"/>
                <a:gridCol w="2560319"/>
                <a:gridCol w="7589520"/>
              </a:tblGrid>
              <a:tr h="5689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Rate model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HW1F (1-factor LGM)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G2++ &lt; 1% MPE99 gain; HW1F simpler, faster, calibrates cleanly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Equity/FX model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Correlated GBM + quanto drift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Matches book's instrument set; local/stoch vol unnecessary at this horizon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Exposure convention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Close-out (margin period of risk)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Economically correct; level overstates by ~20x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Sampling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Latin Hypercube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50.6x RMSE reduction on controlled test, negligible cost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Scenario count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N=5,000 report / 10,000 sign-off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Rel. SE ~1.4% / ~1.0%, runtime acceptable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Greeks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CRN bump-and-reprice + exact rate analytic + pathwise cross-check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282x noise reduction; 93x cheaper eq/FX; exact for rates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DV01 attribution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Par-instrument (Jacobian) bucketing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Correct tenor attribution (82% in 30y vs. 54%); same total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Correlation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Full empirical + PCA-10 cross-check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PCA-10 within 1.5% of full matrix; full matrix retained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E9C46A"/>
                </a:solidFill>
                <a:latin typeface="Calibri"/>
              </a:rPr>
              <a:t>PART 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Why This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4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400">
                <a:solidFill>
                  <a:srgbClr val="444444"/>
                </a:solidFill>
                <a:latin typeface="Calibri"/>
              </a:rPr>
              <a:t>Every model choice is backed by a quantified comparison against at least one alternative -- not asserted</a:t>
            </a:r>
          </a:p>
          <a:p>
            <a:pPr marL="182880" indent="-182880">
              <a:lnSpc>
                <a:spcPct val="104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400">
                <a:solidFill>
                  <a:srgbClr val="444444"/>
                </a:solidFill>
                <a:latin typeface="Calibri"/>
              </a:rPr>
              <a:t>Every number in this deck traces to a script and a JSON output in the repository -- reproducible, not hand-typed</a:t>
            </a:r>
          </a:p>
          <a:p>
            <a:pPr marL="182880" indent="-182880">
              <a:lnSpc>
                <a:spcPct val="104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400">
                <a:solidFill>
                  <a:srgbClr val="444444"/>
                </a:solidFill>
                <a:latin typeface="Calibri"/>
              </a:rPr>
              <a:t>Rate Greeks use an exact analytic method validated to 1e-15 -- no Monte Carlo noise where it can be avoided</a:t>
            </a:r>
          </a:p>
          <a:p>
            <a:pPr marL="182880" indent="-182880">
              <a:lnSpc>
                <a:spcPct val="104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400">
                <a:solidFill>
                  <a:srgbClr val="444444"/>
                </a:solidFill>
                <a:latin typeface="Calibri"/>
              </a:rPr>
              <a:t>DV01 attribution fixed to the genuine par-instrument sensitivity, not a disconnected zero-grid bump</a:t>
            </a:r>
          </a:p>
          <a:p>
            <a:pPr marL="182880" indent="-182880">
              <a:lnSpc>
                <a:spcPct val="104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400">
                <a:solidFill>
                  <a:srgbClr val="444444"/>
                </a:solidFill>
                <a:latin typeface="Calibri"/>
              </a:rPr>
              <a:t>168 automated regression tests cover the pricers, calibration, simulation, and risk modules</a:t>
            </a:r>
          </a:p>
          <a:p>
            <a:pPr marL="182880" indent="-182880">
              <a:lnSpc>
                <a:spcPct val="104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400">
                <a:solidFill>
                  <a:srgbClr val="444444"/>
                </a:solidFill>
                <a:latin typeface="Calibri"/>
              </a:rPr>
              <a:t>xVA, SA-CVA, SA-CCR, and risky-bond pricing all reuse the same simulated paths -- one consistent engine, not bolted-on add-ons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E9C46A"/>
                </a:solidFill>
                <a:latin typeface="Calibri"/>
              </a:rPr>
              <a:t>PART 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Limitations, and Production Configuration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914400"/>
          <a:ext cx="6400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291840"/>
              </a:tblGrid>
              <a:tr h="4267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Mitigation / status</a:t>
                      </a:r>
                    </a:p>
                  </a:txBody>
                  <a:tcPr marL="38100" marR="38100" marT="12700" marB="12700" anchor="ctr">
                    <a:solidFill>
                      <a:srgbClr val="1F3A5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GBM equity model: no vol smile/skew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Flagged; local/stoch vol a natural extension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Correlation from 2yr daily history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Stability checked vs. 5yr window; PCA-10 cross-check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Proxy curves for some bond TRS names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Sector-IG / longer-history proxy, documented per name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Historical scenarios limited pre-2007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Extended via public price history to 2008 GFC, 2015 deval.</a:t>
                      </a:r>
                    </a:p>
                  </a:txBody>
                  <a:tcPr marL="38100" marR="38100" marT="12700" marB="12700" anchor="ctr">
                    <a:solidFill>
                      <a:srgbClr val="F5F7FA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No stochastic correlation / regime-switching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Out of scope; static correlation is standard industry practice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49440" y="914400"/>
            <a:ext cx="48463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4000"/>
              </a:lnSpc>
              <a:spcAft>
                <a:spcPts val="800"/>
              </a:spcAft>
              <a:buClr>
                <a:srgbClr val="2A9D8F"/>
              </a:buClr>
              <a:buFont typeface="Arial"/>
              <a:buChar char="•"/>
            </a:pPr>
            <a:r>
              <a:rPr sz="1150">
                <a:solidFill>
                  <a:srgbClr val="444444"/>
                </a:solidFill>
                <a:latin typeface="Calibri"/>
              </a:rPr>
              <a:t>Report: N=10,000, close-out exposure, HW1F+GBM, LHS, full empirical correlation</a:t>
            </a:r>
          </a:p>
          <a:p>
            <a:pPr marL="182880" indent="-182880">
              <a:lnSpc>
                <a:spcPct val="104000"/>
              </a:lnSpc>
              <a:spcAft>
                <a:spcPts val="800"/>
              </a:spcAft>
              <a:buClr>
                <a:srgbClr val="2A9D8F"/>
              </a:buClr>
              <a:buFont typeface="Arial"/>
              <a:buChar char="•"/>
            </a:pPr>
            <a:r>
              <a:rPr sz="1150">
                <a:solidFill>
                  <a:srgbClr val="444444"/>
                </a:solidFill>
                <a:latin typeface="Calibri"/>
              </a:rPr>
              <a:t>Greeks: CRN bump-and-reprice (black-box), exact analytic (rates), pathwise (eq/FX cross-check)</a:t>
            </a:r>
          </a:p>
          <a:p>
            <a:pPr marL="182880" indent="-182880">
              <a:lnSpc>
                <a:spcPct val="104000"/>
              </a:lnSpc>
              <a:spcAft>
                <a:spcPts val="800"/>
              </a:spcAft>
              <a:buClr>
                <a:srgbClr val="2A9D8F"/>
              </a:buClr>
              <a:buFont typeface="Arial"/>
              <a:buChar char="•"/>
            </a:pPr>
            <a:r>
              <a:rPr sz="1150">
                <a:solidFill>
                  <a:srgbClr val="444444"/>
                </a:solidFill>
                <a:latin typeface="Calibri"/>
              </a:rPr>
              <a:t>Stress: 13 scenarios (8 hypothetical + 5 historical, now including 2008/2015)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E9C46A"/>
                </a:solidFill>
                <a:latin typeface="Calibri"/>
              </a:rPr>
              <a:t>PART 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Feedback Incorporated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4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400">
                <a:solidFill>
                  <a:srgbClr val="444444"/>
                </a:solidFill>
                <a:latin typeface="Calibri"/>
              </a:rPr>
              <a:t>Par-instrument DV01 attribution replaced the disconnected zero-grid bump</a:t>
            </a:r>
          </a:p>
          <a:p>
            <a:pPr marL="182880" indent="-182880">
              <a:lnSpc>
                <a:spcPct val="104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400">
                <a:solidFill>
                  <a:srgbClr val="444444"/>
                </a:solidFill>
                <a:latin typeface="Calibri"/>
              </a:rPr>
              <a:t>Exact analytic rate Greek added, cross-validated to 1e-15 against resimulation</a:t>
            </a:r>
          </a:p>
          <a:p>
            <a:pPr marL="182880" indent="-182880">
              <a:lnSpc>
                <a:spcPct val="104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400">
                <a:solidFill>
                  <a:srgbClr val="444444"/>
                </a:solidFill>
                <a:latin typeface="Calibri"/>
              </a:rPr>
              <a:t>Bloomberg long-end curve splice added; full numeric attribution of its effect on MPE99</a:t>
            </a:r>
          </a:p>
          <a:p>
            <a:pPr marL="182880" indent="-182880">
              <a:lnSpc>
                <a:spcPct val="104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400">
                <a:solidFill>
                  <a:srgbClr val="444444"/>
                </a:solidFill>
                <a:latin typeface="Calibri"/>
              </a:rPr>
              <a:t>PCA factor-reduced correlation tested as a cross-check against the full empirical matrix</a:t>
            </a:r>
          </a:p>
          <a:p>
            <a:pPr marL="182880" indent="-182880">
              <a:lnSpc>
                <a:spcPct val="104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400">
                <a:solidFill>
                  <a:srgbClr val="444444"/>
                </a:solidFill>
                <a:latin typeface="Calibri"/>
              </a:rPr>
              <a:t>Historical stress scenarios extended back to the 2008 GFC and 2015 China devaluation</a:t>
            </a:r>
          </a:p>
          <a:p>
            <a:pPr marL="182880" indent="-182880">
              <a:lnSpc>
                <a:spcPct val="104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400">
                <a:solidFill>
                  <a:srgbClr val="444444"/>
                </a:solidFill>
                <a:latin typeface="Calibri"/>
              </a:rPr>
              <a:t>xVA extra credit (CVA/DVA/FVA/KVA) and risky-bond pricing both delivered using existing data pipeline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0"/>
            <a:ext cx="9418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18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0">
                <a:solidFill>
                  <a:srgbClr val="E9C46A"/>
                </a:solidFill>
                <a:latin typeface="Calibri"/>
              </a:rP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